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585" r:id="rId2"/>
    <p:sldId id="1107" r:id="rId3"/>
    <p:sldId id="1108" r:id="rId4"/>
    <p:sldId id="1051" r:id="rId5"/>
    <p:sldId id="1058" r:id="rId6"/>
    <p:sldId id="1061" r:id="rId7"/>
    <p:sldId id="1072" r:id="rId8"/>
    <p:sldId id="1097" r:id="rId9"/>
    <p:sldId id="1098" r:id="rId10"/>
    <p:sldId id="1099" r:id="rId11"/>
    <p:sldId id="1100" r:id="rId12"/>
    <p:sldId id="1103" r:id="rId13"/>
    <p:sldId id="1101" r:id="rId14"/>
    <p:sldId id="1102" r:id="rId15"/>
    <p:sldId id="1105" r:id="rId16"/>
    <p:sldId id="1081" r:id="rId17"/>
    <p:sldId id="1087" r:id="rId18"/>
    <p:sldId id="1091" r:id="rId19"/>
    <p:sldId id="1111" r:id="rId20"/>
    <p:sldId id="955" r:id="rId21"/>
  </p:sldIdLst>
  <p:sldSz cx="9144000" cy="6858000" type="screen4x3"/>
  <p:notesSz cx="7315200" cy="96012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FFFF00"/>
    <a:srgbClr val="0000FF"/>
    <a:srgbClr val="FF00FF"/>
    <a:srgbClr val="6600FF"/>
    <a:srgbClr val="FF6600"/>
    <a:srgbClr val="6729E3"/>
    <a:srgbClr val="009999"/>
    <a:srgbClr val="CC9900"/>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28" autoAdjust="0"/>
    <p:restoredTop sz="95385" autoAdjust="0"/>
  </p:normalViewPr>
  <p:slideViewPr>
    <p:cSldViewPr>
      <p:cViewPr varScale="1">
        <p:scale>
          <a:sx n="64" d="100"/>
          <a:sy n="64" d="100"/>
        </p:scale>
        <p:origin x="1536" y="108"/>
      </p:cViewPr>
      <p:guideLst>
        <p:guide orient="horz" pos="2160"/>
        <p:guide pos="2880"/>
      </p:guideLst>
    </p:cSldViewPr>
  </p:slideViewPr>
  <p:notesTextViewPr>
    <p:cViewPr>
      <p:scale>
        <a:sx n="100" d="100"/>
        <a:sy n="100" d="100"/>
      </p:scale>
      <p:origin x="0" y="0"/>
    </p:cViewPr>
  </p:notesTextViewPr>
  <p:sorterViewPr>
    <p:cViewPr>
      <p:scale>
        <a:sx n="110" d="100"/>
        <a:sy n="110" d="100"/>
      </p:scale>
      <p:origin x="0" y="564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1"/>
            <a:ext cx="3170238" cy="479425"/>
          </a:xfrm>
          <a:prstGeom prst="rect">
            <a:avLst/>
          </a:prstGeom>
        </p:spPr>
        <p:txBody>
          <a:bodyPr vert="horz" lIns="91440" tIns="45720" rIns="91440" bIns="45720" rtlCol="0"/>
          <a:lstStyle>
            <a:lvl1pPr algn="l">
              <a:defRPr sz="1200"/>
            </a:lvl1pPr>
          </a:lstStyle>
          <a:p>
            <a:endParaRPr lang="es-AR" dirty="0"/>
          </a:p>
        </p:txBody>
      </p:sp>
      <p:sp>
        <p:nvSpPr>
          <p:cNvPr id="3" name="2 Marcador de fecha"/>
          <p:cNvSpPr>
            <a:spLocks noGrp="1"/>
          </p:cNvSpPr>
          <p:nvPr>
            <p:ph type="dt" sz="quarter" idx="1"/>
          </p:nvPr>
        </p:nvSpPr>
        <p:spPr>
          <a:xfrm>
            <a:off x="4143375" y="1"/>
            <a:ext cx="3170238" cy="479425"/>
          </a:xfrm>
          <a:prstGeom prst="rect">
            <a:avLst/>
          </a:prstGeom>
        </p:spPr>
        <p:txBody>
          <a:bodyPr vert="horz" lIns="91440" tIns="45720" rIns="91440" bIns="45720" rtlCol="0"/>
          <a:lstStyle>
            <a:lvl1pPr algn="r">
              <a:defRPr sz="1200"/>
            </a:lvl1pPr>
          </a:lstStyle>
          <a:p>
            <a:fld id="{3B95D086-4F08-4AAE-9722-C2DAE5DE3ED9}" type="datetimeFigureOut">
              <a:rPr lang="es-AR" smtClean="0"/>
              <a:pPr/>
              <a:t>23/8/2026</a:t>
            </a:fld>
            <a:endParaRPr lang="es-AR" dirty="0"/>
          </a:p>
        </p:txBody>
      </p:sp>
      <p:sp>
        <p:nvSpPr>
          <p:cNvPr id="4" name="3 Marcador de pie de página"/>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s-AR" dirty="0"/>
          </a:p>
        </p:txBody>
      </p:sp>
      <p:sp>
        <p:nvSpPr>
          <p:cNvPr id="5" name="4 Marcador de número de diapositiva"/>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DE1AC37F-4CBC-49DE-820E-5608AB840C0F}" type="slidenum">
              <a:rPr lang="es-AR" smtClean="0"/>
              <a:pPr/>
              <a:t>‹Nº›</a:t>
            </a:fld>
            <a:endParaRPr lang="es-AR" dirty="0"/>
          </a:p>
        </p:txBody>
      </p:sp>
    </p:spTree>
    <p:extLst>
      <p:ext uri="{BB962C8B-B14F-4D97-AF65-F5344CB8AC3E}">
        <p14:creationId xmlns:p14="http://schemas.microsoft.com/office/powerpoint/2010/main" val="2444112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1" y="0"/>
            <a:ext cx="3169920" cy="480060"/>
          </a:xfrm>
          <a:prstGeom prst="rect">
            <a:avLst/>
          </a:prstGeom>
        </p:spPr>
        <p:txBody>
          <a:bodyPr vert="horz" lIns="96651" tIns="48325" rIns="96651" bIns="48325" rtlCol="0"/>
          <a:lstStyle>
            <a:lvl1pPr algn="l">
              <a:defRPr sz="1200"/>
            </a:lvl1pPr>
          </a:lstStyle>
          <a:p>
            <a:endParaRPr lang="es-AR" dirty="0"/>
          </a:p>
        </p:txBody>
      </p:sp>
      <p:sp>
        <p:nvSpPr>
          <p:cNvPr id="3" name="2 Marcador de fecha"/>
          <p:cNvSpPr>
            <a:spLocks noGrp="1"/>
          </p:cNvSpPr>
          <p:nvPr>
            <p:ph type="dt" idx="1"/>
          </p:nvPr>
        </p:nvSpPr>
        <p:spPr>
          <a:xfrm>
            <a:off x="4143588" y="0"/>
            <a:ext cx="3169920" cy="480060"/>
          </a:xfrm>
          <a:prstGeom prst="rect">
            <a:avLst/>
          </a:prstGeom>
        </p:spPr>
        <p:txBody>
          <a:bodyPr vert="horz" lIns="96651" tIns="48325" rIns="96651" bIns="48325" rtlCol="0"/>
          <a:lstStyle>
            <a:lvl1pPr algn="r">
              <a:defRPr sz="1200"/>
            </a:lvl1pPr>
          </a:lstStyle>
          <a:p>
            <a:fld id="{F4D8D38B-E485-4C7C-9FFA-DBE7FDEC11E9}" type="datetimeFigureOut">
              <a:rPr lang="es-AR" smtClean="0"/>
              <a:pPr/>
              <a:t>23/8/2026</a:t>
            </a:fld>
            <a:endParaRPr lang="es-AR" dirty="0"/>
          </a:p>
        </p:txBody>
      </p:sp>
      <p:sp>
        <p:nvSpPr>
          <p:cNvPr id="4" name="3 Marcador de imagen de diapositiva"/>
          <p:cNvSpPr>
            <a:spLocks noGrp="1" noRot="1" noChangeAspect="1"/>
          </p:cNvSpPr>
          <p:nvPr>
            <p:ph type="sldImg" idx="2"/>
          </p:nvPr>
        </p:nvSpPr>
        <p:spPr>
          <a:xfrm>
            <a:off x="1258888" y="720725"/>
            <a:ext cx="4797425" cy="3598863"/>
          </a:xfrm>
          <a:prstGeom prst="rect">
            <a:avLst/>
          </a:prstGeom>
          <a:noFill/>
          <a:ln w="12700">
            <a:solidFill>
              <a:prstClr val="black"/>
            </a:solidFill>
          </a:ln>
        </p:spPr>
        <p:txBody>
          <a:bodyPr vert="horz" lIns="96651" tIns="48325" rIns="96651" bIns="48325" rtlCol="0" anchor="ctr"/>
          <a:lstStyle/>
          <a:p>
            <a:endParaRPr lang="es-AR" dirty="0"/>
          </a:p>
        </p:txBody>
      </p:sp>
      <p:sp>
        <p:nvSpPr>
          <p:cNvPr id="5" name="4 Marcador de notas"/>
          <p:cNvSpPr>
            <a:spLocks noGrp="1"/>
          </p:cNvSpPr>
          <p:nvPr>
            <p:ph type="body" sz="quarter" idx="3"/>
          </p:nvPr>
        </p:nvSpPr>
        <p:spPr>
          <a:xfrm>
            <a:off x="731521" y="4560572"/>
            <a:ext cx="5852160" cy="4320540"/>
          </a:xfrm>
          <a:prstGeom prst="rect">
            <a:avLst/>
          </a:prstGeom>
        </p:spPr>
        <p:txBody>
          <a:bodyPr vert="horz" lIns="96651" tIns="48325" rIns="96651" bIns="48325"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1" y="9119474"/>
            <a:ext cx="3169920" cy="480060"/>
          </a:xfrm>
          <a:prstGeom prst="rect">
            <a:avLst/>
          </a:prstGeom>
        </p:spPr>
        <p:txBody>
          <a:bodyPr vert="horz" lIns="96651" tIns="48325" rIns="96651" bIns="48325" rtlCol="0" anchor="b"/>
          <a:lstStyle>
            <a:lvl1pPr algn="l">
              <a:defRPr sz="1200"/>
            </a:lvl1pPr>
          </a:lstStyle>
          <a:p>
            <a:endParaRPr lang="es-AR" dirty="0"/>
          </a:p>
        </p:txBody>
      </p:sp>
      <p:sp>
        <p:nvSpPr>
          <p:cNvPr id="7" name="6 Marcador de número de diapositiva"/>
          <p:cNvSpPr>
            <a:spLocks noGrp="1"/>
          </p:cNvSpPr>
          <p:nvPr>
            <p:ph type="sldNum" sz="quarter" idx="5"/>
          </p:nvPr>
        </p:nvSpPr>
        <p:spPr>
          <a:xfrm>
            <a:off x="4143588" y="9119474"/>
            <a:ext cx="3169920" cy="480060"/>
          </a:xfrm>
          <a:prstGeom prst="rect">
            <a:avLst/>
          </a:prstGeom>
        </p:spPr>
        <p:txBody>
          <a:bodyPr vert="horz" lIns="96651" tIns="48325" rIns="96651" bIns="48325" rtlCol="0" anchor="b"/>
          <a:lstStyle>
            <a:lvl1pPr algn="r">
              <a:defRPr sz="1200"/>
            </a:lvl1pPr>
          </a:lstStyle>
          <a:p>
            <a:fld id="{642CD49D-23CD-4411-9779-B795DC2C055D}" type="slidenum">
              <a:rPr lang="es-AR" smtClean="0"/>
              <a:pPr/>
              <a:t>‹Nº›</a:t>
            </a:fld>
            <a:endParaRPr lang="es-AR" dirty="0"/>
          </a:p>
        </p:txBody>
      </p:sp>
    </p:spTree>
    <p:extLst>
      <p:ext uri="{BB962C8B-B14F-4D97-AF65-F5344CB8AC3E}">
        <p14:creationId xmlns:p14="http://schemas.microsoft.com/office/powerpoint/2010/main" val="2937232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8" name="7 Marcador de pie de página"/>
          <p:cNvSpPr>
            <a:spLocks noGrp="1"/>
          </p:cNvSpPr>
          <p:nvPr>
            <p:ph type="ftr" sz="quarter" idx="11"/>
          </p:nvPr>
        </p:nvSpPr>
        <p:spPr/>
        <p:txBody>
          <a:bodyPr/>
          <a:lstStyle/>
          <a:p>
            <a:endParaRPr lang="es-AR" dirty="0"/>
          </a:p>
        </p:txBody>
      </p:sp>
      <p:sp>
        <p:nvSpPr>
          <p:cNvPr id="9" name="8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4" name="3 Marcador de pie de página"/>
          <p:cNvSpPr>
            <a:spLocks noGrp="1"/>
          </p:cNvSpPr>
          <p:nvPr>
            <p:ph type="ftr" sz="quarter" idx="11"/>
          </p:nvPr>
        </p:nvSpPr>
        <p:spPr/>
        <p:txBody>
          <a:bodyPr/>
          <a:lstStyle/>
          <a:p>
            <a:endParaRPr lang="es-AR" dirty="0"/>
          </a:p>
        </p:txBody>
      </p:sp>
      <p:sp>
        <p:nvSpPr>
          <p:cNvPr id="5" name="4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3" name="2 Marcador de pie de página"/>
          <p:cNvSpPr>
            <a:spLocks noGrp="1"/>
          </p:cNvSpPr>
          <p:nvPr>
            <p:ph type="ftr" sz="quarter" idx="11"/>
          </p:nvPr>
        </p:nvSpPr>
        <p:spPr/>
        <p:txBody>
          <a:bodyPr/>
          <a:lstStyle/>
          <a:p>
            <a:endParaRPr lang="es-AR" dirty="0"/>
          </a:p>
        </p:txBody>
      </p:sp>
      <p:sp>
        <p:nvSpPr>
          <p:cNvPr id="4" name="3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ACE1002-0056-4C89-9D24-C12C003693D9}" type="datetimeFigureOut">
              <a:rPr lang="es-AR" smtClean="0"/>
              <a:pPr/>
              <a:t>23/8/2026</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EE37B6C3-4367-4234-BEE8-B6D91C28DACF}" type="slidenum">
              <a:rPr lang="es-AR" smtClean="0"/>
              <a:pPr/>
              <a:t>‹Nº›</a:t>
            </a:fld>
            <a:endParaRPr lang="es-A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914400" y="277813"/>
            <a:ext cx="7772400" cy="585311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3" name="Rectangle 11"/>
          <p:cNvSpPr>
            <a:spLocks noGrp="1" noChangeArrowheads="1"/>
          </p:cNvSpPr>
          <p:nvPr>
            <p:ph type="sldNum" sz="quarter" idx="10"/>
          </p:nvPr>
        </p:nvSpPr>
        <p:spPr>
          <a:xfrm>
            <a:off x="8563708" y="6521450"/>
            <a:ext cx="580292" cy="457200"/>
          </a:xfrm>
        </p:spPr>
        <p:txBody>
          <a:bodyPr/>
          <a:lstStyle>
            <a:lvl1pPr>
              <a:defRPr sz="1200" baseline="0" smtClean="0"/>
            </a:lvl1pPr>
          </a:lstStyle>
          <a:p>
            <a:pPr>
              <a:defRPr/>
            </a:pPr>
            <a:fld id="{A565677F-B55A-4D74-8EF5-FFA5A17B937F}" type="slidenum">
              <a:rPr lang="es-ES"/>
              <a:pPr>
                <a:defRPr/>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E1002-0056-4C89-9D24-C12C003693D9}" type="datetimeFigureOut">
              <a:rPr lang="es-AR" smtClean="0"/>
              <a:pPr/>
              <a:t>23/8/2026</a:t>
            </a:fld>
            <a:endParaRPr lang="es-AR"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37B6C3-4367-4234-BEE8-B6D91C28DACF}" type="slidenum">
              <a:rPr lang="es-AR" smtClean="0"/>
              <a:pPr/>
              <a:t>‹Nº›</a:t>
            </a:fld>
            <a:endParaRPr lang="es-A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AutoShape 2" descr="data:image/jpg;base64,/9j/4AAQSkZJRgABAQAAAQABAAD/2wCEAAkGBhQRERQUEhMWFBUVFh8YDxQYEhQYGhUbHxkYFB8VEhQYGyYeGBokGSMVIDEsJCc1LTgsHiM9NTArNSwyLikBCQoKDQwNGQ4OGTUjHiQ1KjUwMjQ1MCw0NSw1LDQ1KSk0LCwsLC82LCwtNjQsNCk0LCw2LCw0LDUyLCwsNCwsKf/AABEIADAAkAMBIgACEQEDEQH/xAAbAAACAgMBAAAAAAAAAAAAAAAABgEHAwQFAv/EADMQAAIBAwIFAgQEBgMAAAAAAAECAwAEERIhBQYTMUEiUQcyYYEUcZHBI1Jik6GiFUNT/8QAGQEAAwEBAQAAAAAAAAAAAAAAAAEDAgQF/8QAIhEAAgIBBAMBAQEAAAAAAAAAAAECEQMEEiFhEzFBYnFR/9oADAMBAAIRAxEAPwC7Kg14uGwpIOMfp9/pSrzdzk1rDG0SAu7FTqziMrjUCAd2yffGN964xZMkccXKXobRRS9y/wAzm4tUlZQrsxTSM4JXuwzuFAyT7YNc74i8zy2cEJhbTJI/cqD6QpJ9J7blK3jxvJJRX0Fki4KfwcqKqTh3MnGriPqQjqJkgMIodyNiADv3rf5H+IlxNdLb3WlteQjBNLKwBOGA2I2I7ZzXTLRzim7Trsys0W6LMqaq3nvn25t7x4beRVRFXUDGreojUdyPYisY4vx7/wAn/sQ0LSScVJtK+weZXVFq0Uh8c5ju7ThcUkp03UjgHKJ6RlmxoxjZB/mtr4a8dubyOaS4cMFcJHhFXHp1N2791/SpPTyUHk+I0sicto5VNFFQKhRRRQAUUUUAFFFFAGG6+U/t3+3ufp5pIu7qJHPXRXgOOuCCQoABEy+copX6mJh5jNPciBgQfNV9zNEyOfm1AjGkAswJYhkXsSTrIHbV1U7SCqYyGbiJucOug7gqnTUemGMLjpoCCF0/zElHb+pok8GlT4uX2q5hi8Rw5O+d3bPfzsFpn5UtzIw7jbLb50rlhu3lieoM+WMrfy0tc1cnXl1fyuIG6bOFVtSYCAKmrGrtjJ7V26Xastt1RF28fH05Q5lv7GGOAHooya4v4aZKsS2oNg75pp+G/I7K6XkrqwK6oFVtWS2QXdvcAnb3zntv2PiLyo11bJ0E1SQsOmoIBKEBSoJ/JT9vrWlyRZ3ttaXMMsDAhWa09SbsykFBhtvVpb7mqSyqeFuFJv2NQanT5K94iz3l/IYhreWZjEu2+Ccd9vlApyWXj/bGM+dNvtv3/esXw95KuYL1ZbiFkVEbSSynLEBQPSTvgk1atLU6hRajFJ8Bjxt8vgqr4xXvrtoc50qzt9SSEB/QPTZ8M7Hp8Oh95NUh+52/1ApQ595Wvbq9kkjgZkCqsTak3AXvu2fmJqz+G2giijjHaNFQfYBanmklp4wT/puCfkcmbVFRRXnnQTRRUUATRUUUDJoqKmkIiuJzXwQ3EOUUNIgOhScCQHGqJmHyhsAg+GVT4ruUVpOnYmk1TOZwHhP4eEKcFzvKwGAWwBhR4RQAqj2UUrpweY3kjyWzyS9cvBcdfRHHEF9CKFOTk7MuN8nJp6orccri2/8AROC9CLZvxRlAbqKXaESMyQZjOpmmaNRsYgulRnJyfzr3avxLNqHEhyc3G0S7GU/PIMjKxYyukZzsc9neprfm/KFs7K8u04lPDJG8cih0dWz0hkvOFGkqc6Y4MnPmsq2t9E0xQXGlrnT6eizLAqMI/wAOG2AJ0g+w8ZJNPtTR536pC2diRp4oY5GLYkjgjEcYWLTLKQTI2f6QRtsCwHjY45ZeJCJdPVZjIxA0Rq2jChVeQj0+rWwJTtscY3e6KPN+UPZ2J/PfD5pvwyRxvIiuXn0hG7LpUFGdAwJJ8+KxcPgu45I41SWOJRGYwiW4Q5y0pudTMVOdsIfyzTrRSWao7aDZzYhwScVZTnWrNoVyyw4jczetoAO8Sw5+bcnFYryPibRqpDsSZGjysBOsTfwhc59IjEY1HSO9WDRT835QbOxFvv8AlC0jI0irmfpoqw4wqqsQUtk5d9TbnZfrRLDfq7vpf1PHHK8SQmUxpBktHq2w05Yb9h2FPNTR5ukGzsTC/EetEMSaR0skiDSy7mb8QV/7OygJtnH1rocqPds0putenbpagi9yxIEYBK4GkfMQfFMVFZlltVQ1Hs//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dirty="0"/>
          </a:p>
        </p:txBody>
      </p:sp>
      <p:sp>
        <p:nvSpPr>
          <p:cNvPr id="75780" name="AutoShape 4" descr="data:image/jpg;base64,/9j/4AAQSkZJRgABAQAAAQABAAD/2wCEAAkGBhQRERQUEhMWFBUVFh8YDxQYEhQYGhUbHxkYFB8VEhQYGyYeGBokGSMVIDEsJCc1LTgsHiM9NTArNSwyLikBCQoKDQwNGQ4OGTUjHiQ1KjUwMjQ1MCw0NSw1LDQ1KSk0LCwsLC82LCwtNjQsNCk0LCw2LCw0LDUyLCwsNCwsKf/AABEIADAAkAMBIgACEQEDEQH/xAAbAAACAgMBAAAAAAAAAAAAAAAABgEHAwQFAv/EADMQAAIBAwIFAgQEBgMAAAAAAAECAwAEERIhBQYTMUEiUQcyYYEUcZHBI1Jik6GiFUNT/8QAGQEAAwEBAQAAAAAAAAAAAAAAAAEDAgQF/8QAIhEAAgIBBAMBAQEAAAAAAAAAAAECEQMEEiFhEzFBYnFR/9oADAMBAAIRAxEAPwC7Kg14uGwpIOMfp9/pSrzdzk1rDG0SAu7FTqziMrjUCAd2yffGN964xZMkccXKXobRRS9y/wAzm4tUlZQrsxTSM4JXuwzuFAyT7YNc74i8zy2cEJhbTJI/cqD6QpJ9J7blK3jxvJJRX0Fki4KfwcqKqTh3MnGriPqQjqJkgMIodyNiADv3rf5H+IlxNdLb3WlteQjBNLKwBOGA2I2I7ZzXTLRzim7Trsys0W6LMqaq3nvn25t7x4beRVRFXUDGreojUdyPYisY4vx7/wAn/sQ0LSScVJtK+weZXVFq0Uh8c5ju7ThcUkp03UjgHKJ6RlmxoxjZB/mtr4a8dubyOaS4cMFcJHhFXHp1N2791/SpPTyUHk+I0sicto5VNFFQKhRRRQAUUUUAFFFFAGG6+U/t3+3ufp5pIu7qJHPXRXgOOuCCQoABEy+copX6mJh5jNPciBgQfNV9zNEyOfm1AjGkAswJYhkXsSTrIHbV1U7SCqYyGbiJucOug7gqnTUemGMLjpoCCF0/zElHb+pok8GlT4uX2q5hi8Rw5O+d3bPfzsFpn5UtzIw7jbLb50rlhu3lieoM+WMrfy0tc1cnXl1fyuIG6bOFVtSYCAKmrGrtjJ7V26Xastt1RF28fH05Q5lv7GGOAHooya4v4aZKsS2oNg75pp+G/I7K6XkrqwK6oFVtWS2QXdvcAnb3zntv2PiLyo11bJ0E1SQsOmoIBKEBSoJ/JT9vrWlyRZ3ttaXMMsDAhWa09SbsykFBhtvVpb7mqSyqeFuFJv2NQanT5K94iz3l/IYhreWZjEu2+Ccd9vlApyWXj/bGM+dNvtv3/esXw95KuYL1ZbiFkVEbSSynLEBQPSTvgk1atLU6hRajFJ8Bjxt8vgqr4xXvrtoc50qzt9SSEB/QPTZ8M7Hp8Oh95NUh+52/1ApQ595Wvbq9kkjgZkCqsTak3AXvu2fmJqz+G2giijjHaNFQfYBanmklp4wT/puCfkcmbVFRRXnnQTRRUUATRUUUDJoqKmkIiuJzXwQ3EOUUNIgOhScCQHGqJmHyhsAg+GVT4ruUVpOnYmk1TOZwHhP4eEKcFzvKwGAWwBhR4RQAqj2UUrpweY3kjyWzyS9cvBcdfRHHEF9CKFOTk7MuN8nJp6orccri2/8AROC9CLZvxRlAbqKXaESMyQZjOpmmaNRsYgulRnJyfzr3avxLNqHEhyc3G0S7GU/PIMjKxYyukZzsc9neprfm/KFs7K8u04lPDJG8cih0dWz0hkvOFGkqc6Y4MnPmsq2t9E0xQXGlrnT6eizLAqMI/wAOG2AJ0g+w8ZJNPtTR536pC2diRp4oY5GLYkjgjEcYWLTLKQTI2f6QRtsCwHjY45ZeJCJdPVZjIxA0Rq2jChVeQj0+rWwJTtscY3e6KPN+UPZ2J/PfD5pvwyRxvIiuXn0hG7LpUFGdAwJJ8+KxcPgu45I41SWOJRGYwiW4Q5y0pudTMVOdsIfyzTrRSWao7aDZzYhwScVZTnWrNoVyyw4jczetoAO8Sw5+bcnFYryPibRqpDsSZGjysBOsTfwhc59IjEY1HSO9WDRT835QbOxFvv8AlC0jI0irmfpoqw4wqqsQUtk5d9TbnZfrRLDfq7vpf1PHHK8SQmUxpBktHq2w05Yb9h2FPNTR5ukGzsTC/EetEMSaR0skiDSy7mb8QV/7OygJtnH1rocqPds0putenbpagi9yxIEYBK4GkfMQfFMVFZlltVQ1Hs//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dirty="0"/>
          </a:p>
        </p:txBody>
      </p:sp>
      <p:sp>
        <p:nvSpPr>
          <p:cNvPr id="6" name="5 Rectángulo redondeado"/>
          <p:cNvSpPr/>
          <p:nvPr/>
        </p:nvSpPr>
        <p:spPr>
          <a:xfrm>
            <a:off x="251520" y="44623"/>
            <a:ext cx="8743936" cy="2520281"/>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2" name="CuadroTexto 1"/>
          <p:cNvSpPr txBox="1"/>
          <p:nvPr/>
        </p:nvSpPr>
        <p:spPr>
          <a:xfrm>
            <a:off x="531775" y="457606"/>
            <a:ext cx="8183425" cy="1569660"/>
          </a:xfrm>
          <a:prstGeom prst="rect">
            <a:avLst/>
          </a:prstGeom>
          <a:noFill/>
        </p:spPr>
        <p:txBody>
          <a:bodyPr wrap="square" rtlCol="0">
            <a:spAutoFit/>
          </a:bodyPr>
          <a:lstStyle/>
          <a:p>
            <a:pPr algn="ctr"/>
            <a:r>
              <a:rPr lang="es-AR" sz="3200" b="1" dirty="0" err="1"/>
              <a:t>INFORMATICA</a:t>
            </a:r>
            <a:r>
              <a:rPr lang="es-AR" sz="3200" b="1" dirty="0"/>
              <a:t> PARA NO </a:t>
            </a:r>
            <a:r>
              <a:rPr lang="es-AR" sz="3200" b="1" dirty="0" err="1"/>
              <a:t>INFORMATICOS</a:t>
            </a:r>
            <a:endParaRPr lang="es-AR" sz="3200" b="1" dirty="0"/>
          </a:p>
          <a:p>
            <a:pPr algn="ctr"/>
            <a:endParaRPr lang="es-AR" sz="3200" b="1" dirty="0"/>
          </a:p>
          <a:p>
            <a:pPr algn="ctr"/>
            <a:r>
              <a:rPr lang="es-AR" sz="3200" b="1" dirty="0"/>
              <a:t>CONOCIENDO LOS MAS DE 200 RIESGOS DE TI</a:t>
            </a:r>
          </a:p>
        </p:txBody>
      </p:sp>
      <p:pic>
        <p:nvPicPr>
          <p:cNvPr id="14" name="Imagen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7624" y="2279465"/>
            <a:ext cx="4621460" cy="3563813"/>
          </a:xfrm>
          <a:prstGeom prst="rect">
            <a:avLst/>
          </a:prstGeom>
        </p:spPr>
      </p:pic>
      <p:pic>
        <p:nvPicPr>
          <p:cNvPr id="11" name="Imagen 10">
            <a:extLst>
              <a:ext uri="{FF2B5EF4-FFF2-40B4-BE49-F238E27FC236}">
                <a16:creationId xmlns:a16="http://schemas.microsoft.com/office/drawing/2014/main" id="{5B3ED4EB-E777-499E-A0A3-E1A1C460A9DF}"/>
              </a:ext>
            </a:extLst>
          </p:cNvPr>
          <p:cNvPicPr>
            <a:picLocks noChangeAspect="1"/>
          </p:cNvPicPr>
          <p:nvPr/>
        </p:nvPicPr>
        <p:blipFill>
          <a:blip r:embed="rId3"/>
          <a:stretch>
            <a:fillRect/>
          </a:stretch>
        </p:blipFill>
        <p:spPr>
          <a:xfrm>
            <a:off x="332368" y="5557838"/>
            <a:ext cx="6779419" cy="885825"/>
          </a:xfrm>
          <a:prstGeom prst="rect">
            <a:avLst/>
          </a:prstGeom>
        </p:spPr>
      </p:pic>
      <p:pic>
        <p:nvPicPr>
          <p:cNvPr id="3" name="Imagen 2">
            <a:extLst>
              <a:ext uri="{FF2B5EF4-FFF2-40B4-BE49-F238E27FC236}">
                <a16:creationId xmlns:a16="http://schemas.microsoft.com/office/drawing/2014/main" id="{F727D428-2D8E-FA24-13BD-E0E0F4EB25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4556" y="2988677"/>
            <a:ext cx="3390900" cy="1114425"/>
          </a:xfrm>
          <a:prstGeom prst="rect">
            <a:avLst/>
          </a:prstGeom>
        </p:spPr>
      </p:pic>
    </p:spTree>
    <p:extLst>
      <p:ext uri="{BB962C8B-B14F-4D97-AF65-F5344CB8AC3E}">
        <p14:creationId xmlns:p14="http://schemas.microsoft.com/office/powerpoint/2010/main" val="144647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552" y="618537"/>
            <a:ext cx="8159060" cy="5650552"/>
          </a:xfrm>
          <a:prstGeom prst="rect">
            <a:avLst/>
          </a:prstGeom>
        </p:spPr>
      </p:pic>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latin typeface="+mj-lt"/>
              </a:rPr>
              <a:t>El Sistema de Gestión de la Seguridad de la Información</a:t>
            </a:r>
            <a:endParaRPr lang="es-AR" sz="2800" dirty="0">
              <a:latin typeface="+mj-lt"/>
            </a:endParaRPr>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2</a:t>
            </a:fld>
            <a:endParaRPr lang="es-ES" sz="1200" b="1" dirty="0">
              <a:latin typeface="+mn-lt"/>
            </a:endParaRPr>
          </a:p>
        </p:txBody>
      </p:sp>
      <p:sp>
        <p:nvSpPr>
          <p:cNvPr id="14" name="21 Rectángulo"/>
          <p:cNvSpPr/>
          <p:nvPr/>
        </p:nvSpPr>
        <p:spPr bwMode="auto">
          <a:xfrm>
            <a:off x="827584" y="2708920"/>
            <a:ext cx="7599218" cy="1938992"/>
          </a:xfrm>
          <a:prstGeom prst="rect">
            <a:avLst/>
          </a:prstGeom>
          <a:solidFill>
            <a:schemeClr val="tx2">
              <a:lumMod val="60000"/>
              <a:lumOff val="40000"/>
            </a:schemeClr>
          </a:solidFill>
          <a:ln w="9525" algn="ctr">
            <a:noFill/>
            <a:miter lim="800000"/>
            <a:headEnd/>
            <a:tailEnd/>
          </a:ln>
          <a:effectLst/>
        </p:spPr>
        <p:txBody>
          <a:bodyPr wrap="square">
            <a:spAutoFit/>
          </a:bodyPr>
          <a:lstStyle/>
          <a:p>
            <a:r>
              <a:rPr lang="es-ES_tradnl" sz="2000" b="1" dirty="0">
                <a:solidFill>
                  <a:schemeClr val="bg1"/>
                </a:solidFill>
              </a:rPr>
              <a:t>Es necesario establecer el contexto en donde la Tecnología Informática (en adelante TI) se desenvuelve, identificar los riesgos desarrollando para ellos planes para su tratamiento para implementar los planes de remediación y las implementaciones de las oportunidades de mejora que eventualmente puedan surgir de este proceso. </a:t>
            </a:r>
            <a:endParaRPr lang="es-AR" sz="2000" b="1" dirty="0">
              <a:solidFill>
                <a:schemeClr val="bg1"/>
              </a:solidFill>
            </a:endParaRPr>
          </a:p>
        </p:txBody>
      </p:sp>
    </p:spTree>
    <p:extLst>
      <p:ext uri="{BB962C8B-B14F-4D97-AF65-F5344CB8AC3E}">
        <p14:creationId xmlns:p14="http://schemas.microsoft.com/office/powerpoint/2010/main" val="166688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9"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1000"/>
                                        <p:tgtEl>
                                          <p:spTgt spid="12"/>
                                        </p:tgtEl>
                                      </p:cBhvr>
                                    </p:animEffect>
                                  </p:childTnLst>
                                </p:cTn>
                              </p:par>
                            </p:childTnLst>
                          </p:cTn>
                        </p:par>
                        <p:par>
                          <p:cTn id="16" fill="hold">
                            <p:stCondLst>
                              <p:cond delay="4000"/>
                            </p:stCondLst>
                            <p:childTnLst>
                              <p:par>
                                <p:cTn id="17" presetID="1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slide(fromLeft)">
                                      <p:cBhvr>
                                        <p:cTn id="1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552" y="618537"/>
            <a:ext cx="8159060" cy="5650552"/>
          </a:xfrm>
          <a:prstGeom prst="rect">
            <a:avLst/>
          </a:prstGeom>
        </p:spPr>
      </p:pic>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latin typeface="+mj-lt"/>
              </a:rPr>
              <a:t>El Sistema de Gestión de la Seguridad de la Información</a:t>
            </a:r>
            <a:endParaRPr lang="es-AR" sz="2800" dirty="0">
              <a:latin typeface="+mj-lt"/>
            </a:endParaRPr>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3</a:t>
            </a:fld>
            <a:endParaRPr lang="es-ES" sz="1200" b="1" dirty="0">
              <a:latin typeface="+mn-lt"/>
            </a:endParaRPr>
          </a:p>
        </p:txBody>
      </p:sp>
      <p:sp>
        <p:nvSpPr>
          <p:cNvPr id="15" name="21 Rectángulo"/>
          <p:cNvSpPr/>
          <p:nvPr/>
        </p:nvSpPr>
        <p:spPr bwMode="auto">
          <a:xfrm>
            <a:off x="1365270" y="4653136"/>
            <a:ext cx="7599218" cy="1631216"/>
          </a:xfrm>
          <a:prstGeom prst="rect">
            <a:avLst/>
          </a:prstGeom>
          <a:solidFill>
            <a:schemeClr val="tx2">
              <a:lumMod val="60000"/>
              <a:lumOff val="40000"/>
            </a:schemeClr>
          </a:solidFill>
          <a:ln w="9525" algn="ctr">
            <a:noFill/>
            <a:miter lim="800000"/>
            <a:headEnd/>
            <a:tailEnd/>
          </a:ln>
          <a:effectLst/>
        </p:spPr>
        <p:txBody>
          <a:bodyPr wrap="square">
            <a:spAutoFit/>
          </a:bodyPr>
          <a:lstStyle/>
          <a:p>
            <a:r>
              <a:rPr lang="es-ES_tradnl" sz="2000" b="1" dirty="0">
                <a:solidFill>
                  <a:schemeClr val="bg1"/>
                </a:solidFill>
              </a:rPr>
              <a:t>Las actividades relacionadas con TI llevan implícitos una serie de riesgos inherentes que deben ser analizados con el objeto de determinar el nivel de riesgo residual al que se encuentra expuesto el Banco y si el mismo resulta aceptable o bien si se decide enfrentar la situación con una respuesta determinada.</a:t>
            </a:r>
            <a:endParaRPr lang="es-AR" sz="2000" b="1" dirty="0">
              <a:solidFill>
                <a:schemeClr val="bg1"/>
              </a:solidFill>
            </a:endParaRPr>
          </a:p>
        </p:txBody>
      </p:sp>
    </p:spTree>
    <p:extLst>
      <p:ext uri="{BB962C8B-B14F-4D97-AF65-F5344CB8AC3E}">
        <p14:creationId xmlns:p14="http://schemas.microsoft.com/office/powerpoint/2010/main" val="166688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9"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1000"/>
                                        <p:tgtEl>
                                          <p:spTgt spid="12"/>
                                        </p:tgtEl>
                                      </p:cBhvr>
                                    </p:animEffect>
                                  </p:childTnLst>
                                </p:cTn>
                              </p:par>
                            </p:childTnLst>
                          </p:cTn>
                        </p:par>
                        <p:par>
                          <p:cTn id="16" fill="hold">
                            <p:stCondLst>
                              <p:cond delay="4000"/>
                            </p:stCondLst>
                            <p:childTnLst>
                              <p:par>
                                <p:cTn id="17" presetID="12" presetClass="entr" presetSubtype="8"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slide(fromLeft)">
                                      <p:cBhvr>
                                        <p:cTn id="19"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latin typeface="+mj-lt"/>
              </a:rPr>
              <a:t>El Sistema de Gestión de la Seguridad de la Información</a:t>
            </a:r>
            <a:endParaRPr lang="es-AR" sz="2800" dirty="0">
              <a:latin typeface="+mj-lt"/>
            </a:endParaRPr>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4</a:t>
            </a:fld>
            <a:endParaRPr lang="es-ES" sz="1200" b="1" dirty="0">
              <a:latin typeface="+mn-lt"/>
            </a:endParaRPr>
          </a:p>
        </p:txBody>
      </p:sp>
      <p:pic>
        <p:nvPicPr>
          <p:cNvPr id="16"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406" y="1285860"/>
            <a:ext cx="4714908" cy="4714908"/>
          </a:xfrm>
          <a:prstGeom prst="rect">
            <a:avLst/>
          </a:prstGeom>
        </p:spPr>
      </p:pic>
      <p:sp>
        <p:nvSpPr>
          <p:cNvPr id="17" name="16 CuadroTexto"/>
          <p:cNvSpPr txBox="1"/>
          <p:nvPr/>
        </p:nvSpPr>
        <p:spPr>
          <a:xfrm>
            <a:off x="4214810" y="1220349"/>
            <a:ext cx="4643470" cy="4708981"/>
          </a:xfrm>
          <a:prstGeom prst="rect">
            <a:avLst/>
          </a:prstGeom>
          <a:noFill/>
        </p:spPr>
        <p:txBody>
          <a:bodyPr wrap="square" rtlCol="0">
            <a:spAutoFit/>
          </a:bodyPr>
          <a:lstStyle/>
          <a:p>
            <a:r>
              <a:rPr lang="es-ES_tradnl" sz="2000" b="1" dirty="0">
                <a:solidFill>
                  <a:srgbClr val="0070C0"/>
                </a:solidFill>
              </a:rPr>
              <a:t>Los procesos de negocio y de soporte sustentan su actividad sobre los sistemas de información .</a:t>
            </a:r>
          </a:p>
          <a:p>
            <a:endParaRPr lang="es-ES_tradnl" sz="2000" b="1" dirty="0">
              <a:solidFill>
                <a:srgbClr val="0070C0"/>
              </a:solidFill>
            </a:endParaRPr>
          </a:p>
          <a:p>
            <a:r>
              <a:rPr lang="es-ES_tradnl" sz="2000" b="1" dirty="0">
                <a:solidFill>
                  <a:srgbClr val="0070C0"/>
                </a:solidFill>
              </a:rPr>
              <a:t>El mejor o peor funcionamiento que se verifique en cada uno de los procesos y subprocesos de TI necesariamente va a tener impacto sobre los mismos.</a:t>
            </a:r>
          </a:p>
          <a:p>
            <a:endParaRPr lang="es-ES_tradnl" sz="2000" b="1" dirty="0">
              <a:solidFill>
                <a:srgbClr val="0070C0"/>
              </a:solidFill>
            </a:endParaRPr>
          </a:p>
          <a:p>
            <a:r>
              <a:rPr lang="es-ES_tradnl" sz="2000" b="1" dirty="0">
                <a:solidFill>
                  <a:srgbClr val="0070C0"/>
                </a:solidFill>
              </a:rPr>
              <a:t>En un extremo, pueden llegar a perjudicar el desarrollo de los procesos de negocio generando eventualmente pérdidas operativas derivadas de errores, fallos de los procesos, entre otros factores distorsivos.</a:t>
            </a:r>
            <a:endParaRPr lang="es-AR" sz="2000" b="1" dirty="0">
              <a:solidFill>
                <a:srgbClr val="0070C0"/>
              </a:solidFill>
            </a:endParaRPr>
          </a:p>
        </p:txBody>
      </p:sp>
    </p:spTree>
    <p:extLst>
      <p:ext uri="{BB962C8B-B14F-4D97-AF65-F5344CB8AC3E}">
        <p14:creationId xmlns:p14="http://schemas.microsoft.com/office/powerpoint/2010/main" val="166688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2" presetClass="entr" presetSubtype="4"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1000" fill="hold"/>
                                        <p:tgtEl>
                                          <p:spTgt spid="16"/>
                                        </p:tgtEl>
                                        <p:attrNameLst>
                                          <p:attrName>ppt_x</p:attrName>
                                        </p:attrNameLst>
                                      </p:cBhvr>
                                      <p:tavLst>
                                        <p:tav tm="0">
                                          <p:val>
                                            <p:strVal val="#ppt_x"/>
                                          </p:val>
                                        </p:tav>
                                        <p:tav tm="100000">
                                          <p:val>
                                            <p:strVal val="#ppt_x"/>
                                          </p:val>
                                        </p:tav>
                                      </p:tavLst>
                                    </p:anim>
                                    <p:anim calcmode="lin" valueType="num">
                                      <p:cBhvr additive="base">
                                        <p:cTn id="16" dur="1000" fill="hold"/>
                                        <p:tgtEl>
                                          <p:spTgt spid="16"/>
                                        </p:tgtEl>
                                        <p:attrNameLst>
                                          <p:attrName>ppt_y</p:attrName>
                                        </p:attrNameLst>
                                      </p:cBhvr>
                                      <p:tavLst>
                                        <p:tav tm="0">
                                          <p:val>
                                            <p:strVal val="1+#ppt_h/2"/>
                                          </p:val>
                                        </p:tav>
                                        <p:tav tm="100000">
                                          <p:val>
                                            <p:strVal val="#ppt_y"/>
                                          </p:val>
                                        </p:tav>
                                      </p:tavLst>
                                    </p:anim>
                                  </p:childTnLst>
                                </p:cTn>
                              </p:par>
                            </p:childTnLst>
                          </p:cTn>
                        </p:par>
                        <p:par>
                          <p:cTn id="17" fill="hold">
                            <p:stCondLst>
                              <p:cond delay="4000"/>
                            </p:stCondLst>
                            <p:childTnLst>
                              <p:par>
                                <p:cTn id="18" presetID="10" presetClass="entr" presetSubtype="0"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latin typeface="+mj-lt"/>
              </a:rPr>
              <a:t>El Sistema de Gestión de la Seguridad de la Información</a:t>
            </a:r>
            <a:endParaRPr lang="es-AR" sz="2800" dirty="0">
              <a:latin typeface="+mj-lt"/>
            </a:endParaRPr>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5</a:t>
            </a:fld>
            <a:endParaRPr lang="es-ES" sz="1200" b="1" dirty="0">
              <a:latin typeface="+mn-lt"/>
            </a:endParaRPr>
          </a:p>
        </p:txBody>
      </p:sp>
      <p:sp>
        <p:nvSpPr>
          <p:cNvPr id="8" name="Text Box 4"/>
          <p:cNvSpPr txBox="1">
            <a:spLocks noChangeArrowheads="1"/>
          </p:cNvSpPr>
          <p:nvPr/>
        </p:nvSpPr>
        <p:spPr bwMode="auto">
          <a:xfrm>
            <a:off x="357158" y="1059404"/>
            <a:ext cx="7929618" cy="923330"/>
          </a:xfrm>
          <a:prstGeom prst="rect">
            <a:avLst/>
          </a:prstGeom>
          <a:noFill/>
          <a:ln w="9525">
            <a:noFill/>
            <a:miter lim="800000"/>
            <a:headEnd/>
            <a:tailEnd/>
          </a:ln>
        </p:spPr>
        <p:txBody>
          <a:bodyPr wrap="square">
            <a:spAutoFit/>
          </a:bodyPr>
          <a:lstStyle/>
          <a:p>
            <a:r>
              <a:rPr lang="es-ES_tradnl" b="1" dirty="0">
                <a:solidFill>
                  <a:srgbClr val="0070C0"/>
                </a:solidFill>
              </a:rPr>
              <a:t>Para que la gestión de TI tenga éxito en satisfacer los requerimientos del negocio, es necesario implantar un sistema de control interno inserto en un marco de trabajo tal que permita:</a:t>
            </a:r>
            <a:endParaRPr lang="es-AR" b="1" dirty="0">
              <a:solidFill>
                <a:srgbClr val="0070C0"/>
              </a:solidFill>
            </a:endParaRPr>
          </a:p>
        </p:txBody>
      </p:sp>
      <p:pic>
        <p:nvPicPr>
          <p:cNvPr id="12" name="Picture 9" descr="til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378" y="2357430"/>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4"/>
          <p:cNvSpPr txBox="1">
            <a:spLocks noChangeArrowheads="1"/>
          </p:cNvSpPr>
          <p:nvPr/>
        </p:nvSpPr>
        <p:spPr bwMode="auto">
          <a:xfrm>
            <a:off x="1640961" y="2285992"/>
            <a:ext cx="4502675" cy="646331"/>
          </a:xfrm>
          <a:prstGeom prst="rect">
            <a:avLst/>
          </a:prstGeom>
          <a:noFill/>
          <a:ln w="9525">
            <a:noFill/>
            <a:miter lim="800000"/>
            <a:headEnd/>
            <a:tailEnd/>
          </a:ln>
        </p:spPr>
        <p:txBody>
          <a:bodyPr wrap="square">
            <a:spAutoFit/>
          </a:bodyPr>
          <a:lstStyle/>
          <a:p>
            <a:r>
              <a:rPr lang="es-ES_tradnl" b="1" dirty="0">
                <a:solidFill>
                  <a:srgbClr val="0070C0"/>
                </a:solidFill>
              </a:rPr>
              <a:t>Establecer un vínculo con los requerimientos del negocio</a:t>
            </a:r>
            <a:endParaRPr lang="es-AR" b="1" dirty="0">
              <a:solidFill>
                <a:srgbClr val="0070C0"/>
              </a:solidFill>
            </a:endParaRPr>
          </a:p>
        </p:txBody>
      </p:sp>
      <p:pic>
        <p:nvPicPr>
          <p:cNvPr id="14" name="Picture 9" descr="til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786" y="3501008"/>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15" name="Text Box 4"/>
          <p:cNvSpPr txBox="1">
            <a:spLocks noChangeArrowheads="1"/>
          </p:cNvSpPr>
          <p:nvPr/>
        </p:nvSpPr>
        <p:spPr bwMode="auto">
          <a:xfrm>
            <a:off x="1712399" y="3429000"/>
            <a:ext cx="4502675" cy="646331"/>
          </a:xfrm>
          <a:prstGeom prst="rect">
            <a:avLst/>
          </a:prstGeom>
          <a:noFill/>
          <a:ln w="9525">
            <a:noFill/>
            <a:miter lim="800000"/>
            <a:headEnd/>
            <a:tailEnd/>
          </a:ln>
        </p:spPr>
        <p:txBody>
          <a:bodyPr wrap="square">
            <a:spAutoFit/>
          </a:bodyPr>
          <a:lstStyle/>
          <a:p>
            <a:r>
              <a:rPr lang="es-ES_tradnl" b="1" dirty="0">
                <a:solidFill>
                  <a:srgbClr val="0070C0"/>
                </a:solidFill>
              </a:rPr>
              <a:t>Organizar las actividades de TI en un modelo de procesos generalmente aceptado</a:t>
            </a:r>
            <a:endParaRPr lang="es-AR" b="1" dirty="0">
              <a:solidFill>
                <a:srgbClr val="0070C0"/>
              </a:solidFill>
            </a:endParaRPr>
          </a:p>
        </p:txBody>
      </p:sp>
      <p:pic>
        <p:nvPicPr>
          <p:cNvPr id="16" name="Picture 9" descr="til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786" y="4509120"/>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17" name="Text Box 4"/>
          <p:cNvSpPr txBox="1">
            <a:spLocks noChangeArrowheads="1"/>
          </p:cNvSpPr>
          <p:nvPr/>
        </p:nvSpPr>
        <p:spPr bwMode="auto">
          <a:xfrm>
            <a:off x="1785918" y="4437112"/>
            <a:ext cx="4502675" cy="923330"/>
          </a:xfrm>
          <a:prstGeom prst="rect">
            <a:avLst/>
          </a:prstGeom>
          <a:noFill/>
          <a:ln w="9525">
            <a:noFill/>
            <a:miter lim="800000"/>
            <a:headEnd/>
            <a:tailEnd/>
          </a:ln>
        </p:spPr>
        <p:txBody>
          <a:bodyPr wrap="square">
            <a:spAutoFit/>
          </a:bodyPr>
          <a:lstStyle/>
          <a:p>
            <a:pPr lvl="0"/>
            <a:r>
              <a:rPr lang="es-ES_tradnl" b="1" dirty="0">
                <a:solidFill>
                  <a:srgbClr val="0070C0"/>
                </a:solidFill>
              </a:rPr>
              <a:t>Identificar y clasificar los activos de información (informáticos y no informáticos) a ser utilizados </a:t>
            </a:r>
            <a:r>
              <a:rPr lang="es-AR" b="1" dirty="0">
                <a:solidFill>
                  <a:srgbClr val="0070C0"/>
                </a:solidFill>
              </a:rPr>
              <a:t> </a:t>
            </a:r>
            <a:endParaRPr lang="es-AR" dirty="0">
              <a:solidFill>
                <a:srgbClr val="0070C0"/>
              </a:solidFill>
            </a:endParaRPr>
          </a:p>
        </p:txBody>
      </p:sp>
      <p:pic>
        <p:nvPicPr>
          <p:cNvPr id="18" name="Picture 9" descr="til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786" y="5588019"/>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 Box 4"/>
          <p:cNvSpPr txBox="1">
            <a:spLocks noChangeArrowheads="1"/>
          </p:cNvSpPr>
          <p:nvPr/>
        </p:nvSpPr>
        <p:spPr bwMode="auto">
          <a:xfrm>
            <a:off x="1785918" y="5702874"/>
            <a:ext cx="4502675" cy="646331"/>
          </a:xfrm>
          <a:prstGeom prst="rect">
            <a:avLst/>
          </a:prstGeom>
          <a:noFill/>
          <a:ln w="9525">
            <a:noFill/>
            <a:miter lim="800000"/>
            <a:headEnd/>
            <a:tailEnd/>
          </a:ln>
        </p:spPr>
        <p:txBody>
          <a:bodyPr wrap="square">
            <a:spAutoFit/>
          </a:bodyPr>
          <a:lstStyle/>
          <a:p>
            <a:pPr lvl="0"/>
            <a:r>
              <a:rPr lang="es-ES_tradnl" b="1" dirty="0">
                <a:solidFill>
                  <a:srgbClr val="0070C0"/>
                </a:solidFill>
              </a:rPr>
              <a:t>Definir los objetivos de control a ser considerados </a:t>
            </a:r>
            <a:endParaRPr lang="es-AR" b="1" dirty="0">
              <a:solidFill>
                <a:srgbClr val="0070C0"/>
              </a:solidFill>
            </a:endParaRPr>
          </a:p>
        </p:txBody>
      </p:sp>
      <p:pic>
        <p:nvPicPr>
          <p:cNvPr id="20"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5074" y="1761041"/>
            <a:ext cx="2898342" cy="4382603"/>
          </a:xfrm>
          <a:prstGeom prst="rect">
            <a:avLst/>
          </a:prstGeom>
        </p:spPr>
      </p:pic>
    </p:spTree>
    <p:extLst>
      <p:ext uri="{BB962C8B-B14F-4D97-AF65-F5344CB8AC3E}">
        <p14:creationId xmlns:p14="http://schemas.microsoft.com/office/powerpoint/2010/main" val="166688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3" presetClass="entr" presetSubtype="5"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vertical)">
                                      <p:cBhvr>
                                        <p:cTn id="15" dur="1000"/>
                                        <p:tgtEl>
                                          <p:spTgt spid="20"/>
                                        </p:tgtEl>
                                      </p:cBhvr>
                                    </p:animEffect>
                                  </p:childTnLst>
                                </p:cTn>
                              </p:par>
                            </p:childTnLst>
                          </p:cTn>
                        </p:par>
                        <p:par>
                          <p:cTn id="16" fill="hold">
                            <p:stCondLst>
                              <p:cond delay="4000"/>
                            </p:stCondLst>
                            <p:childTnLst>
                              <p:par>
                                <p:cTn id="17" presetID="9"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1000"/>
                                        <p:tgtEl>
                                          <p:spTgt spid="8"/>
                                        </p:tgtEl>
                                      </p:cBhvr>
                                    </p:animEffect>
                                  </p:childTnLst>
                                </p:cTn>
                              </p:par>
                            </p:childTnLst>
                          </p:cTn>
                        </p:par>
                        <p:par>
                          <p:cTn id="20" fill="hold">
                            <p:stCondLst>
                              <p:cond delay="5000"/>
                            </p:stCondLst>
                            <p:childTnLst>
                              <p:par>
                                <p:cTn id="21" presetID="9"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dissolve">
                                      <p:cBhvr>
                                        <p:cTn id="23" dur="1000"/>
                                        <p:tgtEl>
                                          <p:spTgt spid="12"/>
                                        </p:tgtEl>
                                      </p:cBhvr>
                                    </p:animEffect>
                                  </p:childTnLst>
                                </p:cTn>
                              </p:par>
                            </p:childTnLst>
                          </p:cTn>
                        </p:par>
                        <p:par>
                          <p:cTn id="24" fill="hold">
                            <p:stCondLst>
                              <p:cond delay="6000"/>
                            </p:stCondLst>
                            <p:childTnLst>
                              <p:par>
                                <p:cTn id="25" presetID="9"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1000"/>
                                        <p:tgtEl>
                                          <p:spTgt spid="13"/>
                                        </p:tgtEl>
                                      </p:cBhvr>
                                    </p:animEffect>
                                  </p:childTnLst>
                                </p:cTn>
                              </p:par>
                            </p:childTnLst>
                          </p:cTn>
                        </p:par>
                        <p:par>
                          <p:cTn id="28" fill="hold">
                            <p:stCondLst>
                              <p:cond delay="7000"/>
                            </p:stCondLst>
                            <p:childTnLst>
                              <p:par>
                                <p:cTn id="29" presetID="9" presetClass="entr" presetSubtype="0"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dissolve">
                                      <p:cBhvr>
                                        <p:cTn id="31" dur="1000"/>
                                        <p:tgtEl>
                                          <p:spTgt spid="14"/>
                                        </p:tgtEl>
                                      </p:cBhvr>
                                    </p:animEffect>
                                  </p:childTnLst>
                                </p:cTn>
                              </p:par>
                            </p:childTnLst>
                          </p:cTn>
                        </p:par>
                        <p:par>
                          <p:cTn id="32" fill="hold">
                            <p:stCondLst>
                              <p:cond delay="8000"/>
                            </p:stCondLst>
                            <p:childTnLst>
                              <p:par>
                                <p:cTn id="33" presetID="9"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dissolve">
                                      <p:cBhvr>
                                        <p:cTn id="35" dur="1000"/>
                                        <p:tgtEl>
                                          <p:spTgt spid="15"/>
                                        </p:tgtEl>
                                      </p:cBhvr>
                                    </p:animEffect>
                                  </p:childTnLst>
                                </p:cTn>
                              </p:par>
                            </p:childTnLst>
                          </p:cTn>
                        </p:par>
                        <p:par>
                          <p:cTn id="36" fill="hold">
                            <p:stCondLst>
                              <p:cond delay="9000"/>
                            </p:stCondLst>
                            <p:childTnLst>
                              <p:par>
                                <p:cTn id="37" presetID="9" presetClass="entr" presetSubtype="0"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dissolve">
                                      <p:cBhvr>
                                        <p:cTn id="39" dur="1000"/>
                                        <p:tgtEl>
                                          <p:spTgt spid="16"/>
                                        </p:tgtEl>
                                      </p:cBhvr>
                                    </p:animEffect>
                                  </p:childTnLst>
                                </p:cTn>
                              </p:par>
                            </p:childTnLst>
                          </p:cTn>
                        </p:par>
                        <p:par>
                          <p:cTn id="40" fill="hold">
                            <p:stCondLst>
                              <p:cond delay="10000"/>
                            </p:stCondLst>
                            <p:childTnLst>
                              <p:par>
                                <p:cTn id="41" presetID="9"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1000"/>
                                        <p:tgtEl>
                                          <p:spTgt spid="17"/>
                                        </p:tgtEl>
                                      </p:cBhvr>
                                    </p:animEffect>
                                  </p:childTnLst>
                                </p:cTn>
                              </p:par>
                            </p:childTnLst>
                          </p:cTn>
                        </p:par>
                        <p:par>
                          <p:cTn id="44" fill="hold">
                            <p:stCondLst>
                              <p:cond delay="11000"/>
                            </p:stCondLst>
                            <p:childTnLst>
                              <p:par>
                                <p:cTn id="45" presetID="9" presetClass="entr" presetSubtype="0"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dissolve">
                                      <p:cBhvr>
                                        <p:cTn id="47" dur="1000"/>
                                        <p:tgtEl>
                                          <p:spTgt spid="18"/>
                                        </p:tgtEl>
                                      </p:cBhvr>
                                    </p:animEffect>
                                  </p:childTnLst>
                                </p:cTn>
                              </p:par>
                            </p:childTnLst>
                          </p:cTn>
                        </p:par>
                        <p:par>
                          <p:cTn id="48" fill="hold">
                            <p:stCondLst>
                              <p:cond delay="12000"/>
                            </p:stCondLst>
                            <p:childTnLst>
                              <p:par>
                                <p:cTn id="49" presetID="9"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dissolve">
                                      <p:cBhvr>
                                        <p:cTn id="51"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p:bldP spid="13" grpId="0"/>
      <p:bldP spid="15" grpId="0"/>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La gestión de riesgos en el SGSI</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6</a:t>
            </a:fld>
            <a:endParaRPr lang="es-ES" sz="1200" b="1" dirty="0">
              <a:latin typeface="+mn-lt"/>
            </a:endParaRPr>
          </a:p>
        </p:txBody>
      </p:sp>
      <p:pic>
        <p:nvPicPr>
          <p:cNvPr id="7" name="Picture 6" descr="http://t3.gstatic.com/images?q=tbn:ANd9GcT0nkVvWcvu8BEqAorSHoF9XWs3Z9S7QSWG136g07KSN6YL_BaB"/>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348" y="928670"/>
            <a:ext cx="7715304" cy="5325610"/>
          </a:xfrm>
          <a:prstGeom prst="rect">
            <a:avLst/>
          </a:prstGeom>
          <a:noFill/>
          <a:extLst>
            <a:ext uri="{909E8E84-426E-40DD-AFC4-6F175D3DCCD1}">
              <a14:hiddenFill xmlns:a14="http://schemas.microsoft.com/office/drawing/2010/main">
                <a:solidFill>
                  <a:srgbClr val="FFFFFF"/>
                </a:solidFill>
              </a14:hiddenFill>
            </a:ext>
          </a:extLst>
        </p:spPr>
      </p:pic>
      <p:sp>
        <p:nvSpPr>
          <p:cNvPr id="8" name="21 Rectángulo"/>
          <p:cNvSpPr/>
          <p:nvPr/>
        </p:nvSpPr>
        <p:spPr bwMode="auto">
          <a:xfrm>
            <a:off x="357158" y="1237292"/>
            <a:ext cx="7599218" cy="1200329"/>
          </a:xfrm>
          <a:prstGeom prst="rect">
            <a:avLst/>
          </a:prstGeom>
          <a:solidFill>
            <a:schemeClr val="tx2">
              <a:lumMod val="60000"/>
              <a:lumOff val="40000"/>
            </a:schemeClr>
          </a:solidFill>
          <a:ln w="9525" algn="ctr">
            <a:noFill/>
            <a:miter lim="800000"/>
            <a:headEnd/>
            <a:tailEnd/>
          </a:ln>
          <a:effectLst/>
        </p:spPr>
        <p:txBody>
          <a:bodyPr wrap="square">
            <a:spAutoFit/>
          </a:bodyPr>
          <a:lstStyle/>
          <a:p>
            <a:r>
              <a:rPr lang="es-ES_tradnl" b="1" dirty="0">
                <a:solidFill>
                  <a:schemeClr val="bg1"/>
                </a:solidFill>
              </a:rPr>
              <a:t>Debe tenerse en cuenta el impacto económico de  los riesgos  identificados de modo tal que sea posible medir el impacto en términos del grado de daño o de costos a la organización causados por un evento de seguridad considerando:</a:t>
            </a:r>
            <a:endParaRPr lang="es-AR" b="1" dirty="0">
              <a:solidFill>
                <a:schemeClr val="bg1"/>
              </a:solidFill>
            </a:endParaRPr>
          </a:p>
        </p:txBody>
      </p:sp>
      <p:sp>
        <p:nvSpPr>
          <p:cNvPr id="12" name="21 Rectángulo"/>
          <p:cNvSpPr/>
          <p:nvPr/>
        </p:nvSpPr>
        <p:spPr bwMode="auto">
          <a:xfrm>
            <a:off x="2902136" y="2854107"/>
            <a:ext cx="5956144" cy="646331"/>
          </a:xfrm>
          <a:prstGeom prst="rect">
            <a:avLst/>
          </a:prstGeom>
          <a:solidFill>
            <a:schemeClr val="tx2">
              <a:lumMod val="60000"/>
              <a:lumOff val="40000"/>
            </a:schemeClr>
          </a:solidFill>
          <a:ln w="9525" algn="ctr">
            <a:noFill/>
            <a:miter lim="800000"/>
            <a:headEnd/>
            <a:tailEnd/>
          </a:ln>
          <a:effectLst/>
        </p:spPr>
        <p:txBody>
          <a:bodyPr wrap="square">
            <a:spAutoFit/>
          </a:bodyPr>
          <a:lstStyle/>
          <a:p>
            <a:pPr lvl="0"/>
            <a:r>
              <a:rPr lang="es-ES_tradnl" b="1" dirty="0">
                <a:solidFill>
                  <a:schemeClr val="bg1"/>
                </a:solidFill>
              </a:rPr>
              <a:t>El nivel de criticidad del activo de la información involucrado en el evento.</a:t>
            </a:r>
            <a:endParaRPr lang="es-AR" b="1" dirty="0">
              <a:solidFill>
                <a:schemeClr val="bg1"/>
              </a:solidFill>
            </a:endParaRPr>
          </a:p>
        </p:txBody>
      </p:sp>
      <p:sp>
        <p:nvSpPr>
          <p:cNvPr id="13" name="21 Rectángulo"/>
          <p:cNvSpPr/>
          <p:nvPr/>
        </p:nvSpPr>
        <p:spPr bwMode="auto">
          <a:xfrm>
            <a:off x="2857488" y="4068553"/>
            <a:ext cx="5956144" cy="646331"/>
          </a:xfrm>
          <a:prstGeom prst="rect">
            <a:avLst/>
          </a:prstGeom>
          <a:solidFill>
            <a:schemeClr val="tx2">
              <a:lumMod val="60000"/>
              <a:lumOff val="40000"/>
            </a:schemeClr>
          </a:solidFill>
          <a:ln w="9525" algn="ctr">
            <a:noFill/>
            <a:miter lim="800000"/>
            <a:headEnd/>
            <a:tailEnd/>
          </a:ln>
          <a:effectLst/>
        </p:spPr>
        <p:txBody>
          <a:bodyPr wrap="square">
            <a:spAutoFit/>
          </a:bodyPr>
          <a:lstStyle/>
          <a:p>
            <a:pPr lvl="0"/>
            <a:r>
              <a:rPr lang="es-ES_tradnl" b="1" dirty="0">
                <a:solidFill>
                  <a:schemeClr val="bg1"/>
                </a:solidFill>
              </a:rPr>
              <a:t>Los posibles perjuicios causados por la pérdida total o parcial de la  confidencialidad, integridad y disponibilidad.</a:t>
            </a:r>
            <a:endParaRPr lang="es-AR" b="1" dirty="0">
              <a:solidFill>
                <a:schemeClr val="bg1"/>
              </a:solidFill>
            </a:endParaRPr>
          </a:p>
        </p:txBody>
      </p:sp>
      <p:sp>
        <p:nvSpPr>
          <p:cNvPr id="14" name="21 Rectángulo"/>
          <p:cNvSpPr/>
          <p:nvPr/>
        </p:nvSpPr>
        <p:spPr bwMode="auto">
          <a:xfrm>
            <a:off x="2830698" y="5425875"/>
            <a:ext cx="5956144" cy="646331"/>
          </a:xfrm>
          <a:prstGeom prst="rect">
            <a:avLst/>
          </a:prstGeom>
          <a:solidFill>
            <a:schemeClr val="tx2">
              <a:lumMod val="60000"/>
              <a:lumOff val="40000"/>
            </a:schemeClr>
          </a:solidFill>
          <a:ln w="9525" algn="ctr">
            <a:noFill/>
            <a:miter lim="800000"/>
            <a:headEnd/>
            <a:tailEnd/>
          </a:ln>
          <a:effectLst/>
        </p:spPr>
        <p:txBody>
          <a:bodyPr wrap="square">
            <a:spAutoFit/>
          </a:bodyPr>
          <a:lstStyle/>
          <a:p>
            <a:pPr lvl="0"/>
            <a:r>
              <a:rPr lang="es-ES_tradnl" b="1" dirty="0">
                <a:solidFill>
                  <a:schemeClr val="bg1"/>
                </a:solidFill>
              </a:rPr>
              <a:t>Las operaciones internas o con terceras partes que puedan llegar a ser afectadas por la producción del evento.</a:t>
            </a:r>
            <a:endParaRPr lang="es-AR" b="1" dirty="0">
              <a:solidFill>
                <a:schemeClr val="bg1"/>
              </a:solidFill>
            </a:endParaRPr>
          </a:p>
        </p:txBody>
      </p:sp>
    </p:spTree>
    <p:extLst>
      <p:ext uri="{BB962C8B-B14F-4D97-AF65-F5344CB8AC3E}">
        <p14:creationId xmlns:p14="http://schemas.microsoft.com/office/powerpoint/2010/main" val="166688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18" presetClass="entr" presetSubtype="12"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trips(downLeft)">
                                      <p:cBhvr>
                                        <p:cTn id="15" dur="1000"/>
                                        <p:tgtEl>
                                          <p:spTgt spid="7"/>
                                        </p:tgtEl>
                                      </p:cBhvr>
                                    </p:animEffect>
                                  </p:childTnLst>
                                </p:cTn>
                              </p:par>
                            </p:childTnLst>
                          </p:cTn>
                        </p:par>
                        <p:par>
                          <p:cTn id="16" fill="hold">
                            <p:stCondLst>
                              <p:cond delay="4000"/>
                            </p:stCondLst>
                            <p:childTnLst>
                              <p:par>
                                <p:cTn id="17" presetID="5" presetClass="entr" presetSubtype="1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heckerboard(across)">
                                      <p:cBhvr>
                                        <p:cTn id="19" dur="1000"/>
                                        <p:tgtEl>
                                          <p:spTgt spid="8"/>
                                        </p:tgtEl>
                                      </p:cBhvr>
                                    </p:animEffect>
                                  </p:childTnLst>
                                </p:cTn>
                              </p:par>
                            </p:childTnLst>
                          </p:cTn>
                        </p:par>
                        <p:par>
                          <p:cTn id="20" fill="hold">
                            <p:stCondLst>
                              <p:cond delay="5000"/>
                            </p:stCondLst>
                            <p:childTnLst>
                              <p:par>
                                <p:cTn id="21" presetID="5" presetClass="entr" presetSubtype="1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checkerboard(across)">
                                      <p:cBhvr>
                                        <p:cTn id="23" dur="1000"/>
                                        <p:tgtEl>
                                          <p:spTgt spid="12"/>
                                        </p:tgtEl>
                                      </p:cBhvr>
                                    </p:animEffect>
                                  </p:childTnLst>
                                </p:cTn>
                              </p:par>
                            </p:childTnLst>
                          </p:cTn>
                        </p:par>
                        <p:par>
                          <p:cTn id="24" fill="hold">
                            <p:stCondLst>
                              <p:cond delay="6000"/>
                            </p:stCondLst>
                            <p:childTnLst>
                              <p:par>
                                <p:cTn id="25" presetID="5" presetClass="entr" presetSubtype="1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heckerboard(across)">
                                      <p:cBhvr>
                                        <p:cTn id="27" dur="1000"/>
                                        <p:tgtEl>
                                          <p:spTgt spid="13"/>
                                        </p:tgtEl>
                                      </p:cBhvr>
                                    </p:animEffect>
                                  </p:childTnLst>
                                </p:cTn>
                              </p:par>
                            </p:childTnLst>
                          </p:cTn>
                        </p:par>
                        <p:par>
                          <p:cTn id="28" fill="hold">
                            <p:stCondLst>
                              <p:cond delay="7000"/>
                            </p:stCondLst>
                            <p:childTnLst>
                              <p:par>
                                <p:cTn id="29" presetID="5" presetClass="entr" presetSubtype="1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checkerboard(across)">
                                      <p:cBhvr>
                                        <p:cTn id="3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La gestión de riesgos en el SGSI</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7</a:t>
            </a:fld>
            <a:endParaRPr lang="es-ES" sz="1200" b="1" dirty="0">
              <a:latin typeface="+mn-lt"/>
            </a:endParaRPr>
          </a:p>
        </p:txBody>
      </p:sp>
      <p:pic>
        <p:nvPicPr>
          <p:cNvPr id="7" name="Picture 6" descr="http://t3.gstatic.com/images?q=tbn:ANd9GcT0nkVvWcvu8BEqAorSHoF9XWs3Z9S7QSWG136g07KSN6YL_BaB"/>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348" y="928670"/>
            <a:ext cx="7715304" cy="5325610"/>
          </a:xfrm>
          <a:prstGeom prst="rect">
            <a:avLst/>
          </a:prstGeom>
          <a:noFill/>
          <a:extLst>
            <a:ext uri="{909E8E84-426E-40DD-AFC4-6F175D3DCCD1}">
              <a14:hiddenFill xmlns:a14="http://schemas.microsoft.com/office/drawing/2010/main">
                <a:solidFill>
                  <a:srgbClr val="FFFFFF"/>
                </a:solidFill>
              </a14:hiddenFill>
            </a:ext>
          </a:extLst>
        </p:spPr>
      </p:pic>
      <p:sp>
        <p:nvSpPr>
          <p:cNvPr id="12" name="21 Rectángulo"/>
          <p:cNvSpPr/>
          <p:nvPr/>
        </p:nvSpPr>
        <p:spPr bwMode="auto">
          <a:xfrm>
            <a:off x="1973442" y="2559602"/>
            <a:ext cx="5956144" cy="369332"/>
          </a:xfrm>
          <a:prstGeom prst="rect">
            <a:avLst/>
          </a:prstGeom>
          <a:solidFill>
            <a:schemeClr val="tx2">
              <a:lumMod val="60000"/>
              <a:lumOff val="40000"/>
            </a:schemeClr>
          </a:solidFill>
          <a:ln w="9525" algn="ctr">
            <a:noFill/>
            <a:miter lim="800000"/>
            <a:headEnd/>
            <a:tailEnd/>
          </a:ln>
          <a:effectLst/>
        </p:spPr>
        <p:txBody>
          <a:bodyPr wrap="square">
            <a:spAutoFit/>
          </a:bodyPr>
          <a:lstStyle/>
          <a:p>
            <a:pPr lvl="0"/>
            <a:r>
              <a:rPr lang="es-ES_tradnl" b="1" dirty="0">
                <a:solidFill>
                  <a:schemeClr val="bg1"/>
                </a:solidFill>
              </a:rPr>
              <a:t>La alteración de los planes de negocios de </a:t>
            </a:r>
            <a:r>
              <a:rPr lang="es-ES_tradnl" b="1">
                <a:solidFill>
                  <a:schemeClr val="bg1"/>
                </a:solidFill>
              </a:rPr>
              <a:t>la Entidad.</a:t>
            </a:r>
            <a:endParaRPr lang="es-AR" b="1" dirty="0">
              <a:solidFill>
                <a:schemeClr val="bg1"/>
              </a:solidFill>
            </a:endParaRPr>
          </a:p>
        </p:txBody>
      </p:sp>
      <p:sp>
        <p:nvSpPr>
          <p:cNvPr id="13" name="21 Rectángulo"/>
          <p:cNvSpPr/>
          <p:nvPr/>
        </p:nvSpPr>
        <p:spPr bwMode="auto">
          <a:xfrm>
            <a:off x="2544946" y="3631172"/>
            <a:ext cx="5956144" cy="369332"/>
          </a:xfrm>
          <a:prstGeom prst="rect">
            <a:avLst/>
          </a:prstGeom>
          <a:solidFill>
            <a:schemeClr val="tx2">
              <a:lumMod val="60000"/>
              <a:lumOff val="40000"/>
            </a:schemeClr>
          </a:solidFill>
          <a:ln w="9525" algn="ctr">
            <a:noFill/>
            <a:miter lim="800000"/>
            <a:headEnd/>
            <a:tailEnd/>
          </a:ln>
          <a:effectLst/>
        </p:spPr>
        <p:txBody>
          <a:bodyPr wrap="square">
            <a:spAutoFit/>
          </a:bodyPr>
          <a:lstStyle/>
          <a:p>
            <a:pPr lvl="0"/>
            <a:r>
              <a:rPr lang="es-ES_tradnl" b="1" dirty="0">
                <a:solidFill>
                  <a:schemeClr val="bg1"/>
                </a:solidFill>
              </a:rPr>
              <a:t>Los daños reputacionales.</a:t>
            </a:r>
            <a:endParaRPr lang="es-AR" b="1" dirty="0">
              <a:solidFill>
                <a:schemeClr val="bg1"/>
              </a:solidFill>
            </a:endParaRPr>
          </a:p>
        </p:txBody>
      </p:sp>
      <p:sp>
        <p:nvSpPr>
          <p:cNvPr id="14" name="21 Rectángulo"/>
          <p:cNvSpPr/>
          <p:nvPr/>
        </p:nvSpPr>
        <p:spPr bwMode="auto">
          <a:xfrm>
            <a:off x="2902136" y="4925809"/>
            <a:ext cx="5956144" cy="646331"/>
          </a:xfrm>
          <a:prstGeom prst="rect">
            <a:avLst/>
          </a:prstGeom>
          <a:solidFill>
            <a:schemeClr val="tx2">
              <a:lumMod val="60000"/>
              <a:lumOff val="40000"/>
            </a:schemeClr>
          </a:solidFill>
          <a:ln w="9525" algn="ctr">
            <a:noFill/>
            <a:miter lim="800000"/>
            <a:headEnd/>
            <a:tailEnd/>
          </a:ln>
          <a:effectLst/>
        </p:spPr>
        <p:txBody>
          <a:bodyPr wrap="square">
            <a:spAutoFit/>
          </a:bodyPr>
          <a:lstStyle/>
          <a:p>
            <a:pPr lvl="0"/>
            <a:r>
              <a:rPr lang="es-ES_tradnl" b="1" dirty="0">
                <a:solidFill>
                  <a:schemeClr val="bg1"/>
                </a:solidFill>
              </a:rPr>
              <a:t>El posible incumplimiento de requisitos legales, reglamentarios o contractuales.</a:t>
            </a:r>
            <a:r>
              <a:rPr lang="es-ES_tradnl" dirty="0"/>
              <a:t> </a:t>
            </a:r>
            <a:endParaRPr lang="es-AR" dirty="0"/>
          </a:p>
        </p:txBody>
      </p:sp>
      <p:sp>
        <p:nvSpPr>
          <p:cNvPr id="16" name="21 Rectángulo"/>
          <p:cNvSpPr/>
          <p:nvPr/>
        </p:nvSpPr>
        <p:spPr bwMode="auto">
          <a:xfrm>
            <a:off x="1214414" y="1282471"/>
            <a:ext cx="5956144" cy="646331"/>
          </a:xfrm>
          <a:prstGeom prst="rect">
            <a:avLst/>
          </a:prstGeom>
          <a:solidFill>
            <a:schemeClr val="tx2">
              <a:lumMod val="60000"/>
              <a:lumOff val="40000"/>
            </a:schemeClr>
          </a:solidFill>
          <a:ln w="9525" algn="ctr">
            <a:noFill/>
            <a:miter lim="800000"/>
            <a:headEnd/>
            <a:tailEnd/>
          </a:ln>
          <a:effectLst/>
        </p:spPr>
        <p:txBody>
          <a:bodyPr wrap="square">
            <a:spAutoFit/>
          </a:bodyPr>
          <a:lstStyle/>
          <a:p>
            <a:pPr lvl="0"/>
            <a:r>
              <a:rPr lang="es-ES_tradnl" b="1" dirty="0">
                <a:solidFill>
                  <a:schemeClr val="bg1"/>
                </a:solidFill>
              </a:rPr>
              <a:t>Las posibles pérdidas de negocio y financieras que el evento puede provocar.</a:t>
            </a:r>
            <a:endParaRPr lang="es-AR" b="1" dirty="0">
              <a:solidFill>
                <a:schemeClr val="bg1"/>
              </a:solidFill>
            </a:endParaRPr>
          </a:p>
        </p:txBody>
      </p:sp>
    </p:spTree>
    <p:extLst>
      <p:ext uri="{BB962C8B-B14F-4D97-AF65-F5344CB8AC3E}">
        <p14:creationId xmlns:p14="http://schemas.microsoft.com/office/powerpoint/2010/main" val="166688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18" presetClass="entr" presetSubtype="12"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trips(downLeft)">
                                      <p:cBhvr>
                                        <p:cTn id="15" dur="1000"/>
                                        <p:tgtEl>
                                          <p:spTgt spid="7"/>
                                        </p:tgtEl>
                                      </p:cBhvr>
                                    </p:animEffect>
                                  </p:childTnLst>
                                </p:cTn>
                              </p:par>
                            </p:childTnLst>
                          </p:cTn>
                        </p:par>
                        <p:par>
                          <p:cTn id="16" fill="hold">
                            <p:stCondLst>
                              <p:cond delay="4000"/>
                            </p:stCondLst>
                            <p:childTnLst>
                              <p:par>
                                <p:cTn id="17" presetID="5" presetClass="entr" presetSubtype="1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checkerboard(across)">
                                      <p:cBhvr>
                                        <p:cTn id="19" dur="1000"/>
                                        <p:tgtEl>
                                          <p:spTgt spid="16"/>
                                        </p:tgtEl>
                                      </p:cBhvr>
                                    </p:animEffect>
                                  </p:childTnLst>
                                </p:cTn>
                              </p:par>
                            </p:childTnLst>
                          </p:cTn>
                        </p:par>
                        <p:par>
                          <p:cTn id="20" fill="hold">
                            <p:stCondLst>
                              <p:cond delay="5000"/>
                            </p:stCondLst>
                            <p:childTnLst>
                              <p:par>
                                <p:cTn id="21" presetID="5" presetClass="entr" presetSubtype="1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checkerboard(across)">
                                      <p:cBhvr>
                                        <p:cTn id="23" dur="1000"/>
                                        <p:tgtEl>
                                          <p:spTgt spid="12"/>
                                        </p:tgtEl>
                                      </p:cBhvr>
                                    </p:animEffect>
                                  </p:childTnLst>
                                </p:cTn>
                              </p:par>
                            </p:childTnLst>
                          </p:cTn>
                        </p:par>
                        <p:par>
                          <p:cTn id="24" fill="hold">
                            <p:stCondLst>
                              <p:cond delay="6000"/>
                            </p:stCondLst>
                            <p:childTnLst>
                              <p:par>
                                <p:cTn id="25" presetID="5" presetClass="entr" presetSubtype="1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heckerboard(across)">
                                      <p:cBhvr>
                                        <p:cTn id="27" dur="1000"/>
                                        <p:tgtEl>
                                          <p:spTgt spid="13"/>
                                        </p:tgtEl>
                                      </p:cBhvr>
                                    </p:animEffect>
                                  </p:childTnLst>
                                </p:cTn>
                              </p:par>
                            </p:childTnLst>
                          </p:cTn>
                        </p:par>
                        <p:par>
                          <p:cTn id="28" fill="hold">
                            <p:stCondLst>
                              <p:cond delay="7000"/>
                            </p:stCondLst>
                            <p:childTnLst>
                              <p:par>
                                <p:cTn id="29" presetID="5" presetClass="entr" presetSubtype="1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checkerboard(across)">
                                      <p:cBhvr>
                                        <p:cTn id="3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2" grpId="0" animBg="1"/>
      <p:bldP spid="13" grpId="0" animBg="1"/>
      <p:bldP spid="14"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Análisis de riesgo de los activos de la información</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8</a:t>
            </a:fld>
            <a:endParaRPr lang="es-ES" sz="1200" b="1" dirty="0">
              <a:latin typeface="+mn-lt"/>
            </a:endParaRPr>
          </a:p>
        </p:txBody>
      </p:sp>
      <p:graphicFrame>
        <p:nvGraphicFramePr>
          <p:cNvPr id="12" name="1 Objeto">
            <a:hlinkClick r:id="" action="ppaction://ole?verb=0"/>
          </p:cNvPr>
          <p:cNvGraphicFramePr>
            <a:graphicFrameLocks/>
          </p:cNvGraphicFramePr>
          <p:nvPr>
            <p:extLst>
              <p:ext uri="{D42A27DB-BD31-4B8C-83A1-F6EECF244321}">
                <p14:modId xmlns:p14="http://schemas.microsoft.com/office/powerpoint/2010/main" val="1196341313"/>
              </p:ext>
            </p:extLst>
          </p:nvPr>
        </p:nvGraphicFramePr>
        <p:xfrm>
          <a:off x="1691680" y="1613630"/>
          <a:ext cx="5328592" cy="4407658"/>
        </p:xfrm>
        <a:graphic>
          <a:graphicData uri="http://schemas.openxmlformats.org/presentationml/2006/ole">
            <mc:AlternateContent xmlns:mc="http://schemas.openxmlformats.org/markup-compatibility/2006">
              <mc:Choice xmlns:v="urn:schemas-microsoft-com:vml" Requires="v">
                <p:oleObj name="Imagen" r:id="rId2" imgW="4000500" imgH="3148013" progId="">
                  <p:embed/>
                </p:oleObj>
              </mc:Choice>
              <mc:Fallback>
                <p:oleObj name="Imagen" r:id="rId2" imgW="4000500" imgH="3148013" progId="">
                  <p:embed/>
                  <p:pic>
                    <p:nvPicPr>
                      <p:cNvPr id="0" name="Picture 1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613630"/>
                        <a:ext cx="5328592" cy="44076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21 Rectángulo"/>
          <p:cNvSpPr/>
          <p:nvPr/>
        </p:nvSpPr>
        <p:spPr bwMode="auto">
          <a:xfrm>
            <a:off x="2999696" y="1282466"/>
            <a:ext cx="5956144" cy="646331"/>
          </a:xfrm>
          <a:prstGeom prst="rect">
            <a:avLst/>
          </a:prstGeom>
          <a:solidFill>
            <a:schemeClr val="tx2">
              <a:lumMod val="60000"/>
              <a:lumOff val="40000"/>
            </a:schemeClr>
          </a:solidFill>
          <a:ln w="9525" algn="ctr">
            <a:noFill/>
            <a:miter lim="800000"/>
            <a:headEnd/>
            <a:tailEnd/>
          </a:ln>
          <a:effectLst/>
        </p:spPr>
        <p:txBody>
          <a:bodyPr wrap="square">
            <a:spAutoFit/>
          </a:bodyPr>
          <a:lstStyle/>
          <a:p>
            <a:r>
              <a:rPr lang="es-ES_tradnl" b="1" dirty="0">
                <a:solidFill>
                  <a:schemeClr val="bg1"/>
                </a:solidFill>
              </a:rPr>
              <a:t>Los activos de la información están expuestos a diversas amenazas.</a:t>
            </a:r>
            <a:endParaRPr lang="es-AR" b="1" dirty="0">
              <a:solidFill>
                <a:schemeClr val="bg1"/>
              </a:solidFill>
            </a:endParaRPr>
          </a:p>
        </p:txBody>
      </p:sp>
      <p:sp>
        <p:nvSpPr>
          <p:cNvPr id="13" name="21 Rectángulo"/>
          <p:cNvSpPr/>
          <p:nvPr/>
        </p:nvSpPr>
        <p:spPr bwMode="auto">
          <a:xfrm>
            <a:off x="467544" y="5457998"/>
            <a:ext cx="5956144" cy="923330"/>
          </a:xfrm>
          <a:prstGeom prst="rect">
            <a:avLst/>
          </a:prstGeom>
          <a:solidFill>
            <a:schemeClr val="tx2">
              <a:lumMod val="60000"/>
              <a:lumOff val="40000"/>
            </a:schemeClr>
          </a:solidFill>
          <a:ln w="9525" algn="ctr">
            <a:noFill/>
            <a:miter lim="800000"/>
            <a:headEnd/>
            <a:tailEnd/>
          </a:ln>
          <a:effectLst/>
        </p:spPr>
        <p:txBody>
          <a:bodyPr wrap="square">
            <a:spAutoFit/>
          </a:bodyPr>
          <a:lstStyle/>
          <a:p>
            <a:r>
              <a:rPr lang="es-ES_tradnl" b="1" dirty="0">
                <a:solidFill>
                  <a:schemeClr val="bg1"/>
                </a:solidFill>
              </a:rPr>
              <a:t>Una amenaza es una circunstancia o hecho determinado que tiene en sí y por sí el potencial necesario como para dañar un activo de la información en forma total o parcial.</a:t>
            </a:r>
            <a:endParaRPr lang="es-AR" b="1" dirty="0">
              <a:solidFill>
                <a:schemeClr val="bg1"/>
              </a:solidFill>
            </a:endParaRPr>
          </a:p>
        </p:txBody>
      </p:sp>
    </p:spTree>
    <p:extLst>
      <p:ext uri="{BB962C8B-B14F-4D97-AF65-F5344CB8AC3E}">
        <p14:creationId xmlns:p14="http://schemas.microsoft.com/office/powerpoint/2010/main" val="81529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42"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anim calcmode="lin" valueType="num">
                                      <p:cBhvr>
                                        <p:cTn id="16" dur="1000" fill="hold"/>
                                        <p:tgtEl>
                                          <p:spTgt spid="12"/>
                                        </p:tgtEl>
                                        <p:attrNameLst>
                                          <p:attrName>ppt_x</p:attrName>
                                        </p:attrNameLst>
                                      </p:cBhvr>
                                      <p:tavLst>
                                        <p:tav tm="0">
                                          <p:val>
                                            <p:strVal val="#ppt_x"/>
                                          </p:val>
                                        </p:tav>
                                        <p:tav tm="100000">
                                          <p:val>
                                            <p:strVal val="#ppt_x"/>
                                          </p:val>
                                        </p:tav>
                                      </p:tavLst>
                                    </p:anim>
                                    <p:anim calcmode="lin" valueType="num">
                                      <p:cBhvr>
                                        <p:cTn id="17" dur="1000" fill="hold"/>
                                        <p:tgtEl>
                                          <p:spTgt spid="12"/>
                                        </p:tgtEl>
                                        <p:attrNameLst>
                                          <p:attrName>ppt_y</p:attrName>
                                        </p:attrNameLst>
                                      </p:cBhvr>
                                      <p:tavLst>
                                        <p:tav tm="0">
                                          <p:val>
                                            <p:strVal val="#ppt_y+.1"/>
                                          </p:val>
                                        </p:tav>
                                        <p:tav tm="100000">
                                          <p:val>
                                            <p:strVal val="#ppt_y"/>
                                          </p:val>
                                        </p:tav>
                                      </p:tavLst>
                                    </p:anim>
                                  </p:childTnLst>
                                </p:cTn>
                              </p:par>
                            </p:childTnLst>
                          </p:cTn>
                        </p:par>
                        <p:par>
                          <p:cTn id="18" fill="hold">
                            <p:stCondLst>
                              <p:cond delay="4000"/>
                            </p:stCondLst>
                            <p:childTnLst>
                              <p:par>
                                <p:cTn id="19" presetID="5" presetClass="entr" presetSubtype="1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checkerboard(across)">
                                      <p:cBhvr>
                                        <p:cTn id="21" dur="1000"/>
                                        <p:tgtEl>
                                          <p:spTgt spid="16"/>
                                        </p:tgtEl>
                                      </p:cBhvr>
                                    </p:animEffect>
                                  </p:childTnLst>
                                </p:cTn>
                              </p:par>
                            </p:childTnLst>
                          </p:cTn>
                        </p:par>
                        <p:par>
                          <p:cTn id="22" fill="hold">
                            <p:stCondLst>
                              <p:cond delay="5000"/>
                            </p:stCondLst>
                            <p:childTnLst>
                              <p:par>
                                <p:cTn id="23" presetID="5" presetClass="entr" presetSubtype="1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checkerboard(across)">
                                      <p:cBhvr>
                                        <p:cTn id="2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6"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Análisis de riesgo de los activos de la información</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9</a:t>
            </a:fld>
            <a:endParaRPr lang="es-ES" sz="1200" b="1" dirty="0">
              <a:latin typeface="+mn-lt"/>
            </a:endParaRPr>
          </a:p>
        </p:txBody>
      </p:sp>
      <p:graphicFrame>
        <p:nvGraphicFramePr>
          <p:cNvPr id="12" name="1 Objeto">
            <a:hlinkClick r:id="" action="ppaction://ole?verb=0"/>
          </p:cNvPr>
          <p:cNvGraphicFramePr>
            <a:graphicFrameLocks/>
          </p:cNvGraphicFramePr>
          <p:nvPr>
            <p:extLst>
              <p:ext uri="{D42A27DB-BD31-4B8C-83A1-F6EECF244321}">
                <p14:modId xmlns:p14="http://schemas.microsoft.com/office/powerpoint/2010/main" val="1287860330"/>
              </p:ext>
            </p:extLst>
          </p:nvPr>
        </p:nvGraphicFramePr>
        <p:xfrm>
          <a:off x="107504" y="1973670"/>
          <a:ext cx="4032448" cy="4047618"/>
        </p:xfrm>
        <a:graphic>
          <a:graphicData uri="http://schemas.openxmlformats.org/presentationml/2006/ole">
            <mc:AlternateContent xmlns:mc="http://schemas.openxmlformats.org/markup-compatibility/2006">
              <mc:Choice xmlns:v="urn:schemas-microsoft-com:vml" Requires="v">
                <p:oleObj name="Imagen" r:id="rId2" imgW="4000500" imgH="3148013" progId="">
                  <p:embed/>
                </p:oleObj>
              </mc:Choice>
              <mc:Fallback>
                <p:oleObj name="Imagen" r:id="rId2" imgW="4000500" imgH="3148013" progId="">
                  <p:embed/>
                  <p:pic>
                    <p:nvPicPr>
                      <p:cNvPr id="0" name="Pictur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973670"/>
                        <a:ext cx="4032448" cy="40476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4"/>
          <p:cNvSpPr txBox="1">
            <a:spLocks noChangeArrowheads="1"/>
          </p:cNvSpPr>
          <p:nvPr/>
        </p:nvSpPr>
        <p:spPr bwMode="auto">
          <a:xfrm>
            <a:off x="357158" y="1059404"/>
            <a:ext cx="7929618" cy="369332"/>
          </a:xfrm>
          <a:prstGeom prst="rect">
            <a:avLst/>
          </a:prstGeom>
          <a:noFill/>
          <a:ln w="9525">
            <a:noFill/>
            <a:miter lim="800000"/>
            <a:headEnd/>
            <a:tailEnd/>
          </a:ln>
        </p:spPr>
        <p:txBody>
          <a:bodyPr wrap="square">
            <a:spAutoFit/>
          </a:bodyPr>
          <a:lstStyle/>
          <a:p>
            <a:r>
              <a:rPr lang="es-ES_tradnl" b="1" dirty="0">
                <a:solidFill>
                  <a:srgbClr val="0070C0"/>
                </a:solidFill>
              </a:rPr>
              <a:t>Las amenazas pueden tener origen en:</a:t>
            </a:r>
            <a:endParaRPr lang="es-AR" b="1" dirty="0">
              <a:solidFill>
                <a:srgbClr val="0070C0"/>
              </a:solidFill>
            </a:endParaRPr>
          </a:p>
        </p:txBody>
      </p:sp>
      <p:pic>
        <p:nvPicPr>
          <p:cNvPr id="15" name="Picture 9" descr="tild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5818" y="2441327"/>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17" name="Text Box 4"/>
          <p:cNvSpPr txBox="1">
            <a:spLocks noChangeArrowheads="1"/>
          </p:cNvSpPr>
          <p:nvPr/>
        </p:nvSpPr>
        <p:spPr bwMode="auto">
          <a:xfrm>
            <a:off x="5794625" y="2555612"/>
            <a:ext cx="2665807" cy="369332"/>
          </a:xfrm>
          <a:prstGeom prst="rect">
            <a:avLst/>
          </a:prstGeom>
          <a:noFill/>
          <a:ln w="9525">
            <a:noFill/>
            <a:miter lim="800000"/>
            <a:headEnd/>
            <a:tailEnd/>
          </a:ln>
        </p:spPr>
        <p:txBody>
          <a:bodyPr wrap="square">
            <a:spAutoFit/>
          </a:bodyPr>
          <a:lstStyle/>
          <a:p>
            <a:pPr lvl="0"/>
            <a:r>
              <a:rPr lang="es-ES_tradnl" b="1" dirty="0">
                <a:solidFill>
                  <a:srgbClr val="0070C0"/>
                </a:solidFill>
              </a:rPr>
              <a:t>Un acto natural.</a:t>
            </a:r>
            <a:endParaRPr lang="es-AR" b="1" dirty="0">
              <a:solidFill>
                <a:srgbClr val="0070C0"/>
              </a:solidFill>
            </a:endParaRPr>
          </a:p>
        </p:txBody>
      </p:sp>
      <p:pic>
        <p:nvPicPr>
          <p:cNvPr id="18" name="Picture 9" descr="tild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5818" y="4673575"/>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 Box 4"/>
          <p:cNvSpPr txBox="1">
            <a:spLocks noChangeArrowheads="1"/>
          </p:cNvSpPr>
          <p:nvPr/>
        </p:nvSpPr>
        <p:spPr bwMode="auto">
          <a:xfrm>
            <a:off x="5866063" y="4715852"/>
            <a:ext cx="2594369" cy="369332"/>
          </a:xfrm>
          <a:prstGeom prst="rect">
            <a:avLst/>
          </a:prstGeom>
          <a:noFill/>
          <a:ln w="9525">
            <a:noFill/>
            <a:miter lim="800000"/>
            <a:headEnd/>
            <a:tailEnd/>
          </a:ln>
        </p:spPr>
        <p:txBody>
          <a:bodyPr wrap="square">
            <a:spAutoFit/>
          </a:bodyPr>
          <a:lstStyle/>
          <a:p>
            <a:pPr lvl="0"/>
            <a:r>
              <a:rPr lang="es-ES_tradnl" b="1" dirty="0">
                <a:solidFill>
                  <a:srgbClr val="0070C0"/>
                </a:solidFill>
              </a:rPr>
              <a:t>Una acción humana.</a:t>
            </a:r>
            <a:endParaRPr lang="es-AR" b="1" dirty="0">
              <a:solidFill>
                <a:srgbClr val="0070C0"/>
              </a:solidFill>
            </a:endParaRPr>
          </a:p>
        </p:txBody>
      </p:sp>
    </p:spTree>
    <p:extLst>
      <p:ext uri="{BB962C8B-B14F-4D97-AF65-F5344CB8AC3E}">
        <p14:creationId xmlns:p14="http://schemas.microsoft.com/office/powerpoint/2010/main" val="254333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42"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anim calcmode="lin" valueType="num">
                                      <p:cBhvr>
                                        <p:cTn id="16" dur="1000" fill="hold"/>
                                        <p:tgtEl>
                                          <p:spTgt spid="12"/>
                                        </p:tgtEl>
                                        <p:attrNameLst>
                                          <p:attrName>ppt_x</p:attrName>
                                        </p:attrNameLst>
                                      </p:cBhvr>
                                      <p:tavLst>
                                        <p:tav tm="0">
                                          <p:val>
                                            <p:strVal val="#ppt_x"/>
                                          </p:val>
                                        </p:tav>
                                        <p:tav tm="100000">
                                          <p:val>
                                            <p:strVal val="#ppt_x"/>
                                          </p:val>
                                        </p:tav>
                                      </p:tavLst>
                                    </p:anim>
                                    <p:anim calcmode="lin" valueType="num">
                                      <p:cBhvr>
                                        <p:cTn id="17" dur="1000" fill="hold"/>
                                        <p:tgtEl>
                                          <p:spTgt spid="12"/>
                                        </p:tgtEl>
                                        <p:attrNameLst>
                                          <p:attrName>ppt_y</p:attrName>
                                        </p:attrNameLst>
                                      </p:cBhvr>
                                      <p:tavLst>
                                        <p:tav tm="0">
                                          <p:val>
                                            <p:strVal val="#ppt_y+.1"/>
                                          </p:val>
                                        </p:tav>
                                        <p:tav tm="100000">
                                          <p:val>
                                            <p:strVal val="#ppt_y"/>
                                          </p:val>
                                        </p:tav>
                                      </p:tavLst>
                                    </p:anim>
                                  </p:childTnLst>
                                </p:cTn>
                              </p:par>
                            </p:childTnLst>
                          </p:cTn>
                        </p:par>
                        <p:par>
                          <p:cTn id="18" fill="hold">
                            <p:stCondLst>
                              <p:cond delay="4000"/>
                            </p:stCondLst>
                            <p:childTnLst>
                              <p:par>
                                <p:cTn id="19" presetID="9"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dissolve">
                                      <p:cBhvr>
                                        <p:cTn id="21" dur="1000"/>
                                        <p:tgtEl>
                                          <p:spTgt spid="14"/>
                                        </p:tgtEl>
                                      </p:cBhvr>
                                    </p:animEffect>
                                  </p:childTnLst>
                                </p:cTn>
                              </p:par>
                            </p:childTnLst>
                          </p:cTn>
                        </p:par>
                        <p:par>
                          <p:cTn id="22" fill="hold">
                            <p:stCondLst>
                              <p:cond delay="5000"/>
                            </p:stCondLst>
                            <p:childTnLst>
                              <p:par>
                                <p:cTn id="23" presetID="9" presetClass="entr" presetSubtype="0"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1000"/>
                                        <p:tgtEl>
                                          <p:spTgt spid="15"/>
                                        </p:tgtEl>
                                      </p:cBhvr>
                                    </p:animEffect>
                                  </p:childTnLst>
                                </p:cTn>
                              </p:par>
                            </p:childTnLst>
                          </p:cTn>
                        </p:par>
                        <p:par>
                          <p:cTn id="26" fill="hold">
                            <p:stCondLst>
                              <p:cond delay="6000"/>
                            </p:stCondLst>
                            <p:childTnLst>
                              <p:par>
                                <p:cTn id="27" presetID="9" presetClass="entr" presetSubtype="0"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dissolve">
                                      <p:cBhvr>
                                        <p:cTn id="29" dur="1000"/>
                                        <p:tgtEl>
                                          <p:spTgt spid="17"/>
                                        </p:tgtEl>
                                      </p:cBhvr>
                                    </p:animEffect>
                                  </p:childTnLst>
                                </p:cTn>
                              </p:par>
                            </p:childTnLst>
                          </p:cTn>
                        </p:par>
                        <p:par>
                          <p:cTn id="30" fill="hold">
                            <p:stCondLst>
                              <p:cond delay="7000"/>
                            </p:stCondLst>
                            <p:childTnLst>
                              <p:par>
                                <p:cTn id="31" presetID="9" presetClass="entr" presetSubtype="0"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dissolve">
                                      <p:cBhvr>
                                        <p:cTn id="33" dur="1000"/>
                                        <p:tgtEl>
                                          <p:spTgt spid="18"/>
                                        </p:tgtEl>
                                      </p:cBhvr>
                                    </p:animEffect>
                                  </p:childTnLst>
                                </p:cTn>
                              </p:par>
                            </p:childTnLst>
                          </p:cTn>
                        </p:par>
                        <p:par>
                          <p:cTn id="34" fill="hold">
                            <p:stCondLst>
                              <p:cond delay="8000"/>
                            </p:stCondLst>
                            <p:childTnLst>
                              <p:par>
                                <p:cTn id="35" presetID="9" presetClass="entr" presetSubtype="0"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4" grpId="0"/>
      <p:bldP spid="17"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Análisis de riesgo de los activos de la información</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10</a:t>
            </a:fld>
            <a:endParaRPr lang="es-ES" sz="1200" b="1" dirty="0">
              <a:latin typeface="+mn-lt"/>
            </a:endParaRPr>
          </a:p>
        </p:txBody>
      </p:sp>
      <p:graphicFrame>
        <p:nvGraphicFramePr>
          <p:cNvPr id="12" name="1 Objeto">
            <a:hlinkClick r:id="" action="ppaction://ole?verb=0"/>
          </p:cNvPr>
          <p:cNvGraphicFramePr>
            <a:graphicFrameLocks/>
          </p:cNvGraphicFramePr>
          <p:nvPr>
            <p:extLst>
              <p:ext uri="{D42A27DB-BD31-4B8C-83A1-F6EECF244321}">
                <p14:modId xmlns:p14="http://schemas.microsoft.com/office/powerpoint/2010/main" val="1287860330"/>
              </p:ext>
            </p:extLst>
          </p:nvPr>
        </p:nvGraphicFramePr>
        <p:xfrm>
          <a:off x="107504" y="1973670"/>
          <a:ext cx="4032448" cy="4047618"/>
        </p:xfrm>
        <a:graphic>
          <a:graphicData uri="http://schemas.openxmlformats.org/presentationml/2006/ole">
            <mc:AlternateContent xmlns:mc="http://schemas.openxmlformats.org/markup-compatibility/2006">
              <mc:Choice xmlns:v="urn:schemas-microsoft-com:vml" Requires="v">
                <p:oleObj name="Imagen" r:id="rId2" imgW="4000500" imgH="3148013" progId="">
                  <p:embed/>
                </p:oleObj>
              </mc:Choice>
              <mc:Fallback>
                <p:oleObj name="Imagen" r:id="rId2" imgW="4000500" imgH="3148013" progId="">
                  <p:embed/>
                  <p:pic>
                    <p:nvPicPr>
                      <p:cNvPr id="0" name="Picture 1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973670"/>
                        <a:ext cx="4032448" cy="40476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4"/>
          <p:cNvSpPr txBox="1">
            <a:spLocks noChangeArrowheads="1"/>
          </p:cNvSpPr>
          <p:nvPr/>
        </p:nvSpPr>
        <p:spPr bwMode="auto">
          <a:xfrm>
            <a:off x="357158" y="1059404"/>
            <a:ext cx="7929618" cy="369332"/>
          </a:xfrm>
          <a:prstGeom prst="rect">
            <a:avLst/>
          </a:prstGeom>
          <a:noFill/>
          <a:ln w="9525">
            <a:noFill/>
            <a:miter lim="800000"/>
            <a:headEnd/>
            <a:tailEnd/>
          </a:ln>
        </p:spPr>
        <p:txBody>
          <a:bodyPr wrap="square">
            <a:spAutoFit/>
          </a:bodyPr>
          <a:lstStyle/>
          <a:p>
            <a:r>
              <a:rPr lang="es-ES_tradnl" b="1" dirty="0">
                <a:solidFill>
                  <a:srgbClr val="0070C0"/>
                </a:solidFill>
              </a:rPr>
              <a:t>Y pueden ser de tres tipos distintos:</a:t>
            </a:r>
            <a:endParaRPr lang="es-AR" b="1" dirty="0">
              <a:solidFill>
                <a:srgbClr val="0070C0"/>
              </a:solidFill>
            </a:endParaRPr>
          </a:p>
        </p:txBody>
      </p:sp>
      <p:pic>
        <p:nvPicPr>
          <p:cNvPr id="15" name="Picture 9" descr="tild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7786" y="2139727"/>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17" name="Text Box 4"/>
          <p:cNvSpPr txBox="1">
            <a:spLocks noChangeArrowheads="1"/>
          </p:cNvSpPr>
          <p:nvPr/>
        </p:nvSpPr>
        <p:spPr bwMode="auto">
          <a:xfrm>
            <a:off x="5580113" y="2068289"/>
            <a:ext cx="2706664" cy="369332"/>
          </a:xfrm>
          <a:prstGeom prst="rect">
            <a:avLst/>
          </a:prstGeom>
          <a:noFill/>
          <a:ln w="9525">
            <a:noFill/>
            <a:miter lim="800000"/>
            <a:headEnd/>
            <a:tailEnd/>
          </a:ln>
        </p:spPr>
        <p:txBody>
          <a:bodyPr wrap="square">
            <a:spAutoFit/>
          </a:bodyPr>
          <a:lstStyle/>
          <a:p>
            <a:pPr lvl="0"/>
            <a:r>
              <a:rPr lang="es-ES_tradnl" b="1" dirty="0">
                <a:solidFill>
                  <a:srgbClr val="0070C0"/>
                </a:solidFill>
              </a:rPr>
              <a:t>Accidentales.</a:t>
            </a:r>
            <a:endParaRPr lang="es-AR" b="1" dirty="0">
              <a:solidFill>
                <a:srgbClr val="0070C0"/>
              </a:solidFill>
            </a:endParaRPr>
          </a:p>
        </p:txBody>
      </p:sp>
      <p:pic>
        <p:nvPicPr>
          <p:cNvPr id="18" name="Picture 9" descr="tild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7786" y="3357562"/>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 Box 4"/>
          <p:cNvSpPr txBox="1">
            <a:spLocks noChangeArrowheads="1"/>
          </p:cNvSpPr>
          <p:nvPr/>
        </p:nvSpPr>
        <p:spPr bwMode="auto">
          <a:xfrm>
            <a:off x="5613941" y="3357562"/>
            <a:ext cx="2887149" cy="369332"/>
          </a:xfrm>
          <a:prstGeom prst="rect">
            <a:avLst/>
          </a:prstGeom>
          <a:noFill/>
          <a:ln w="9525">
            <a:noFill/>
            <a:miter lim="800000"/>
            <a:headEnd/>
            <a:tailEnd/>
          </a:ln>
        </p:spPr>
        <p:txBody>
          <a:bodyPr wrap="square">
            <a:spAutoFit/>
          </a:bodyPr>
          <a:lstStyle/>
          <a:p>
            <a:pPr lvl="0"/>
            <a:r>
              <a:rPr lang="es-ES_tradnl" b="1" dirty="0">
                <a:solidFill>
                  <a:srgbClr val="0070C0"/>
                </a:solidFill>
              </a:rPr>
              <a:t>Deliberadas.</a:t>
            </a:r>
            <a:endParaRPr lang="es-AR" b="1" dirty="0">
              <a:solidFill>
                <a:srgbClr val="0070C0"/>
              </a:solidFill>
            </a:endParaRPr>
          </a:p>
        </p:txBody>
      </p:sp>
      <p:pic>
        <p:nvPicPr>
          <p:cNvPr id="20" name="Picture 9" descr="tild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7786" y="4429132"/>
            <a:ext cx="576262" cy="555625"/>
          </a:xfrm>
          <a:prstGeom prst="rect">
            <a:avLst/>
          </a:prstGeom>
          <a:noFill/>
          <a:extLst>
            <a:ext uri="{909E8E84-426E-40DD-AFC4-6F175D3DCCD1}">
              <a14:hiddenFill xmlns:a14="http://schemas.microsoft.com/office/drawing/2010/main">
                <a:solidFill>
                  <a:srgbClr val="FFFFFF"/>
                </a:solidFill>
              </a14:hiddenFill>
            </a:ext>
          </a:extLst>
        </p:spPr>
      </p:pic>
      <p:sp>
        <p:nvSpPr>
          <p:cNvPr id="21" name="Text Box 4"/>
          <p:cNvSpPr txBox="1">
            <a:spLocks noChangeArrowheads="1"/>
          </p:cNvSpPr>
          <p:nvPr/>
        </p:nvSpPr>
        <p:spPr bwMode="auto">
          <a:xfrm>
            <a:off x="5611462" y="4499828"/>
            <a:ext cx="2776962" cy="369332"/>
          </a:xfrm>
          <a:prstGeom prst="rect">
            <a:avLst/>
          </a:prstGeom>
          <a:noFill/>
          <a:ln w="9525">
            <a:noFill/>
            <a:miter lim="800000"/>
            <a:headEnd/>
            <a:tailEnd/>
          </a:ln>
        </p:spPr>
        <p:txBody>
          <a:bodyPr wrap="square">
            <a:spAutoFit/>
          </a:bodyPr>
          <a:lstStyle/>
          <a:p>
            <a:pPr lvl="0"/>
            <a:r>
              <a:rPr lang="es-ES_tradnl" b="1" dirty="0">
                <a:solidFill>
                  <a:srgbClr val="0070C0"/>
                </a:solidFill>
              </a:rPr>
              <a:t>Ambientales.</a:t>
            </a:r>
            <a:endParaRPr lang="es-AR" b="1" dirty="0">
              <a:solidFill>
                <a:srgbClr val="0070C0"/>
              </a:solidFill>
            </a:endParaRPr>
          </a:p>
        </p:txBody>
      </p:sp>
    </p:spTree>
    <p:extLst>
      <p:ext uri="{BB962C8B-B14F-4D97-AF65-F5344CB8AC3E}">
        <p14:creationId xmlns:p14="http://schemas.microsoft.com/office/powerpoint/2010/main" val="369658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42"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anim calcmode="lin" valueType="num">
                                      <p:cBhvr>
                                        <p:cTn id="16" dur="1000" fill="hold"/>
                                        <p:tgtEl>
                                          <p:spTgt spid="12"/>
                                        </p:tgtEl>
                                        <p:attrNameLst>
                                          <p:attrName>ppt_x</p:attrName>
                                        </p:attrNameLst>
                                      </p:cBhvr>
                                      <p:tavLst>
                                        <p:tav tm="0">
                                          <p:val>
                                            <p:strVal val="#ppt_x"/>
                                          </p:val>
                                        </p:tav>
                                        <p:tav tm="100000">
                                          <p:val>
                                            <p:strVal val="#ppt_x"/>
                                          </p:val>
                                        </p:tav>
                                      </p:tavLst>
                                    </p:anim>
                                    <p:anim calcmode="lin" valueType="num">
                                      <p:cBhvr>
                                        <p:cTn id="17" dur="1000" fill="hold"/>
                                        <p:tgtEl>
                                          <p:spTgt spid="12"/>
                                        </p:tgtEl>
                                        <p:attrNameLst>
                                          <p:attrName>ppt_y</p:attrName>
                                        </p:attrNameLst>
                                      </p:cBhvr>
                                      <p:tavLst>
                                        <p:tav tm="0">
                                          <p:val>
                                            <p:strVal val="#ppt_y+.1"/>
                                          </p:val>
                                        </p:tav>
                                        <p:tav tm="100000">
                                          <p:val>
                                            <p:strVal val="#ppt_y"/>
                                          </p:val>
                                        </p:tav>
                                      </p:tavLst>
                                    </p:anim>
                                  </p:childTnLst>
                                </p:cTn>
                              </p:par>
                            </p:childTnLst>
                          </p:cTn>
                        </p:par>
                        <p:par>
                          <p:cTn id="18" fill="hold">
                            <p:stCondLst>
                              <p:cond delay="4000"/>
                            </p:stCondLst>
                            <p:childTnLst>
                              <p:par>
                                <p:cTn id="19" presetID="9" presetClass="entr" presetSubtype="0" fill="hold" grpId="0"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dissolve">
                                      <p:cBhvr>
                                        <p:cTn id="21" dur="1000"/>
                                        <p:tgtEl>
                                          <p:spTgt spid="14"/>
                                        </p:tgtEl>
                                      </p:cBhvr>
                                    </p:animEffect>
                                  </p:childTnLst>
                                </p:cTn>
                              </p:par>
                            </p:childTnLst>
                          </p:cTn>
                        </p:par>
                        <p:par>
                          <p:cTn id="22" fill="hold">
                            <p:stCondLst>
                              <p:cond delay="5000"/>
                            </p:stCondLst>
                            <p:childTnLst>
                              <p:par>
                                <p:cTn id="23" presetID="9" presetClass="entr" presetSubtype="0"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1000"/>
                                        <p:tgtEl>
                                          <p:spTgt spid="15"/>
                                        </p:tgtEl>
                                      </p:cBhvr>
                                    </p:animEffect>
                                  </p:childTnLst>
                                </p:cTn>
                              </p:par>
                            </p:childTnLst>
                          </p:cTn>
                        </p:par>
                        <p:par>
                          <p:cTn id="26" fill="hold">
                            <p:stCondLst>
                              <p:cond delay="6000"/>
                            </p:stCondLst>
                            <p:childTnLst>
                              <p:par>
                                <p:cTn id="27" presetID="9" presetClass="entr" presetSubtype="0"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dissolve">
                                      <p:cBhvr>
                                        <p:cTn id="29" dur="1000"/>
                                        <p:tgtEl>
                                          <p:spTgt spid="17"/>
                                        </p:tgtEl>
                                      </p:cBhvr>
                                    </p:animEffect>
                                  </p:childTnLst>
                                </p:cTn>
                              </p:par>
                            </p:childTnLst>
                          </p:cTn>
                        </p:par>
                        <p:par>
                          <p:cTn id="30" fill="hold">
                            <p:stCondLst>
                              <p:cond delay="7000"/>
                            </p:stCondLst>
                            <p:childTnLst>
                              <p:par>
                                <p:cTn id="31" presetID="9" presetClass="entr" presetSubtype="0"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dissolve">
                                      <p:cBhvr>
                                        <p:cTn id="33" dur="1000"/>
                                        <p:tgtEl>
                                          <p:spTgt spid="18"/>
                                        </p:tgtEl>
                                      </p:cBhvr>
                                    </p:animEffect>
                                  </p:childTnLst>
                                </p:cTn>
                              </p:par>
                            </p:childTnLst>
                          </p:cTn>
                        </p:par>
                        <p:par>
                          <p:cTn id="34" fill="hold">
                            <p:stCondLst>
                              <p:cond delay="8000"/>
                            </p:stCondLst>
                            <p:childTnLst>
                              <p:par>
                                <p:cTn id="35" presetID="9" presetClass="entr" presetSubtype="0"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1000"/>
                                        <p:tgtEl>
                                          <p:spTgt spid="19"/>
                                        </p:tgtEl>
                                      </p:cBhvr>
                                    </p:animEffect>
                                  </p:childTnLst>
                                </p:cTn>
                              </p:par>
                            </p:childTnLst>
                          </p:cTn>
                        </p:par>
                        <p:par>
                          <p:cTn id="38" fill="hold">
                            <p:stCondLst>
                              <p:cond delay="9000"/>
                            </p:stCondLst>
                            <p:childTnLst>
                              <p:par>
                                <p:cTn id="39" presetID="9" presetClass="entr" presetSubtype="0" fill="hold" nodeType="after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dissolve">
                                      <p:cBhvr>
                                        <p:cTn id="41" dur="1000"/>
                                        <p:tgtEl>
                                          <p:spTgt spid="20"/>
                                        </p:tgtEl>
                                      </p:cBhvr>
                                    </p:animEffect>
                                  </p:childTnLst>
                                </p:cTn>
                              </p:par>
                            </p:childTnLst>
                          </p:cTn>
                        </p:par>
                        <p:par>
                          <p:cTn id="42" fill="hold">
                            <p:stCondLst>
                              <p:cond delay="10000"/>
                            </p:stCondLst>
                            <p:childTnLst>
                              <p:par>
                                <p:cTn id="43" presetID="9" presetClass="entr" presetSubtype="0"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dissolve">
                                      <p:cBhvr>
                                        <p:cTn id="45"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4" grpId="0"/>
      <p:bldP spid="17" grpId="0"/>
      <p:bldP spid="19"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5769" y="836712"/>
            <a:ext cx="7574743" cy="5047856"/>
          </a:xfrm>
          <a:prstGeom prst="rect">
            <a:avLst/>
          </a:prstGeom>
        </p:spPr>
      </p:pic>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Análisis de riesgo de los activos de la información</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11</a:t>
            </a:fld>
            <a:endParaRPr lang="es-ES" sz="1200" b="1" dirty="0">
              <a:latin typeface="+mn-lt"/>
            </a:endParaRPr>
          </a:p>
        </p:txBody>
      </p:sp>
      <p:sp>
        <p:nvSpPr>
          <p:cNvPr id="2" name="CuadroTexto 1"/>
          <p:cNvSpPr txBox="1"/>
          <p:nvPr/>
        </p:nvSpPr>
        <p:spPr>
          <a:xfrm>
            <a:off x="539552" y="3212976"/>
            <a:ext cx="5616624" cy="1477328"/>
          </a:xfrm>
          <a:prstGeom prst="rect">
            <a:avLst/>
          </a:prstGeom>
          <a:solidFill>
            <a:schemeClr val="accent3"/>
          </a:solidFill>
        </p:spPr>
        <p:txBody>
          <a:bodyPr wrap="square" rtlCol="0">
            <a:spAutoFit/>
          </a:bodyPr>
          <a:lstStyle/>
          <a:p>
            <a:r>
              <a:rPr lang="es-ES_tradnl" b="1" dirty="0"/>
              <a:t>No debe perderse de vista que una amenaza puede afectar a más de un activo y presentar diferentes niveles de impacto según sean los activos alcanzados por la misma (ej. Inundación del centro de procesamiento de datos, pérdida del suministro eléctrico, etc.).</a:t>
            </a:r>
            <a:endParaRPr lang="es-AR" dirty="0"/>
          </a:p>
        </p:txBody>
      </p:sp>
    </p:spTree>
    <p:extLst>
      <p:ext uri="{BB962C8B-B14F-4D97-AF65-F5344CB8AC3E}">
        <p14:creationId xmlns:p14="http://schemas.microsoft.com/office/powerpoint/2010/main" val="18451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26"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290">
                                          <p:stCondLst>
                                            <p:cond delay="0"/>
                                          </p:stCondLst>
                                        </p:cTn>
                                        <p:tgtEl>
                                          <p:spTgt spid="6"/>
                                        </p:tgtEl>
                                      </p:cBhvr>
                                    </p:animEffect>
                                    <p:anim calcmode="lin" valueType="num">
                                      <p:cBhvr>
                                        <p:cTn id="16" dur="911"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332"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332" tmFilter="0, 0; 0.125,0.2665; 0.25,0.4; 0.375,0.465; 0.5,0.5;  0.625,0.535; 0.75,0.6; 0.875,0.7335; 1,1">
                                          <p:stCondLst>
                                            <p:cond delay="332"/>
                                          </p:stCondLst>
                                        </p:cTn>
                                        <p:tgtEl>
                                          <p:spTgt spid="6"/>
                                        </p:tgtEl>
                                        <p:attrNameLst>
                                          <p:attrName>ppt_y</p:attrName>
                                        </p:attrNameLst>
                                      </p:cBhvr>
                                      <p:tavLst>
                                        <p:tav tm="0" fmla="#ppt_y-sin(pi*$)/9">
                                          <p:val>
                                            <p:fltVal val="0"/>
                                          </p:val>
                                        </p:tav>
                                        <p:tav tm="100000">
                                          <p:val>
                                            <p:fltVal val="1"/>
                                          </p:val>
                                        </p:tav>
                                      </p:tavLst>
                                    </p:anim>
                                    <p:anim calcmode="lin" valueType="num">
                                      <p:cBhvr>
                                        <p:cTn id="19" dur="166" tmFilter="0, 0; 0.125,0.2665; 0.25,0.4; 0.375,0.465; 0.5,0.5;  0.625,0.535; 0.75,0.6; 0.875,0.7335; 1,1">
                                          <p:stCondLst>
                                            <p:cond delay="662"/>
                                          </p:stCondLst>
                                        </p:cTn>
                                        <p:tgtEl>
                                          <p:spTgt spid="6"/>
                                        </p:tgtEl>
                                        <p:attrNameLst>
                                          <p:attrName>ppt_y</p:attrName>
                                        </p:attrNameLst>
                                      </p:cBhvr>
                                      <p:tavLst>
                                        <p:tav tm="0" fmla="#ppt_y-sin(pi*$)/27">
                                          <p:val>
                                            <p:fltVal val="0"/>
                                          </p:val>
                                        </p:tav>
                                        <p:tav tm="100000">
                                          <p:val>
                                            <p:fltVal val="1"/>
                                          </p:val>
                                        </p:tav>
                                      </p:tavLst>
                                    </p:anim>
                                    <p:anim calcmode="lin" valueType="num">
                                      <p:cBhvr>
                                        <p:cTn id="20" dur="82" tmFilter="0, 0; 0.125,0.2665; 0.25,0.4; 0.375,0.465; 0.5,0.5;  0.625,0.535; 0.75,0.6; 0.875,0.7335; 1,1">
                                          <p:stCondLst>
                                            <p:cond delay="828"/>
                                          </p:stCondLst>
                                        </p:cTn>
                                        <p:tgtEl>
                                          <p:spTgt spid="6"/>
                                        </p:tgtEl>
                                        <p:attrNameLst>
                                          <p:attrName>ppt_y</p:attrName>
                                        </p:attrNameLst>
                                      </p:cBhvr>
                                      <p:tavLst>
                                        <p:tav tm="0" fmla="#ppt_y-sin(pi*$)/81">
                                          <p:val>
                                            <p:fltVal val="0"/>
                                          </p:val>
                                        </p:tav>
                                        <p:tav tm="100000">
                                          <p:val>
                                            <p:fltVal val="1"/>
                                          </p:val>
                                        </p:tav>
                                      </p:tavLst>
                                    </p:anim>
                                    <p:animScale>
                                      <p:cBhvr>
                                        <p:cTn id="21" dur="13">
                                          <p:stCondLst>
                                            <p:cond delay="325"/>
                                          </p:stCondLst>
                                        </p:cTn>
                                        <p:tgtEl>
                                          <p:spTgt spid="6"/>
                                        </p:tgtEl>
                                      </p:cBhvr>
                                      <p:to x="100000" y="60000"/>
                                    </p:animScale>
                                    <p:animScale>
                                      <p:cBhvr>
                                        <p:cTn id="22" dur="83" decel="50000">
                                          <p:stCondLst>
                                            <p:cond delay="338"/>
                                          </p:stCondLst>
                                        </p:cTn>
                                        <p:tgtEl>
                                          <p:spTgt spid="6"/>
                                        </p:tgtEl>
                                      </p:cBhvr>
                                      <p:to x="100000" y="100000"/>
                                    </p:animScale>
                                    <p:animScale>
                                      <p:cBhvr>
                                        <p:cTn id="23" dur="13">
                                          <p:stCondLst>
                                            <p:cond delay="656"/>
                                          </p:stCondLst>
                                        </p:cTn>
                                        <p:tgtEl>
                                          <p:spTgt spid="6"/>
                                        </p:tgtEl>
                                      </p:cBhvr>
                                      <p:to x="100000" y="80000"/>
                                    </p:animScale>
                                    <p:animScale>
                                      <p:cBhvr>
                                        <p:cTn id="24" dur="83" decel="50000">
                                          <p:stCondLst>
                                            <p:cond delay="669"/>
                                          </p:stCondLst>
                                        </p:cTn>
                                        <p:tgtEl>
                                          <p:spTgt spid="6"/>
                                        </p:tgtEl>
                                      </p:cBhvr>
                                      <p:to x="100000" y="100000"/>
                                    </p:animScale>
                                    <p:animScale>
                                      <p:cBhvr>
                                        <p:cTn id="25" dur="13">
                                          <p:stCondLst>
                                            <p:cond delay="821"/>
                                          </p:stCondLst>
                                        </p:cTn>
                                        <p:tgtEl>
                                          <p:spTgt spid="6"/>
                                        </p:tgtEl>
                                      </p:cBhvr>
                                      <p:to x="100000" y="90000"/>
                                    </p:animScale>
                                    <p:animScale>
                                      <p:cBhvr>
                                        <p:cTn id="26" dur="83" decel="50000">
                                          <p:stCondLst>
                                            <p:cond delay="834"/>
                                          </p:stCondLst>
                                        </p:cTn>
                                        <p:tgtEl>
                                          <p:spTgt spid="6"/>
                                        </p:tgtEl>
                                      </p:cBhvr>
                                      <p:to x="100000" y="100000"/>
                                    </p:animScale>
                                    <p:animScale>
                                      <p:cBhvr>
                                        <p:cTn id="27" dur="13">
                                          <p:stCondLst>
                                            <p:cond delay="904"/>
                                          </p:stCondLst>
                                        </p:cTn>
                                        <p:tgtEl>
                                          <p:spTgt spid="6"/>
                                        </p:tgtEl>
                                      </p:cBhvr>
                                      <p:to x="100000" y="95000"/>
                                    </p:animScale>
                                    <p:animScale>
                                      <p:cBhvr>
                                        <p:cTn id="28" dur="83" decel="50000">
                                          <p:stCondLst>
                                            <p:cond delay="917"/>
                                          </p:stCondLst>
                                        </p:cTn>
                                        <p:tgtEl>
                                          <p:spTgt spid="6"/>
                                        </p:tgtEl>
                                      </p:cBhvr>
                                      <p:to x="100000" y="100000"/>
                                    </p:animScale>
                                  </p:childTnLst>
                                </p:cTn>
                              </p:par>
                            </p:childTnLst>
                          </p:cTn>
                        </p:par>
                        <p:par>
                          <p:cTn id="29" fill="hold">
                            <p:stCondLst>
                              <p:cond delay="4000"/>
                            </p:stCondLst>
                            <p:childTnLst>
                              <p:par>
                                <p:cTn id="30" presetID="2" presetClass="entr" presetSubtype="2" fill="hold" grpId="0"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1000" fill="hold"/>
                                        <p:tgtEl>
                                          <p:spTgt spid="2"/>
                                        </p:tgtEl>
                                        <p:attrNameLst>
                                          <p:attrName>ppt_x</p:attrName>
                                        </p:attrNameLst>
                                      </p:cBhvr>
                                      <p:tavLst>
                                        <p:tav tm="0">
                                          <p:val>
                                            <p:strVal val="1+#ppt_w/2"/>
                                          </p:val>
                                        </p:tav>
                                        <p:tav tm="100000">
                                          <p:val>
                                            <p:strVal val="#ppt_x"/>
                                          </p:val>
                                        </p:tav>
                                      </p:tavLst>
                                    </p:anim>
                                    <p:anim calcmode="lin" valueType="num">
                                      <p:cBhvr additive="base">
                                        <p:cTn id="33"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4452" y="806618"/>
            <a:ext cx="8239996" cy="5491185"/>
          </a:xfrm>
          <a:prstGeom prst="rect">
            <a:avLst/>
          </a:prstGeom>
        </p:spPr>
      </p:pic>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Análisis de riesgo de los activos de la información</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12</a:t>
            </a:fld>
            <a:endParaRPr lang="es-ES" sz="1200" b="1" dirty="0">
              <a:latin typeface="+mn-lt"/>
            </a:endParaRPr>
          </a:p>
        </p:txBody>
      </p:sp>
      <p:sp>
        <p:nvSpPr>
          <p:cNvPr id="2" name="CuadroTexto 1"/>
          <p:cNvSpPr txBox="1"/>
          <p:nvPr/>
        </p:nvSpPr>
        <p:spPr>
          <a:xfrm>
            <a:off x="118582" y="1211307"/>
            <a:ext cx="5029482" cy="923330"/>
          </a:xfrm>
          <a:prstGeom prst="rect">
            <a:avLst/>
          </a:prstGeom>
          <a:solidFill>
            <a:schemeClr val="accent3"/>
          </a:solidFill>
        </p:spPr>
        <p:txBody>
          <a:bodyPr wrap="square" rtlCol="0">
            <a:spAutoFit/>
          </a:bodyPr>
          <a:lstStyle/>
          <a:p>
            <a:r>
              <a:rPr lang="es-ES_tradnl" b="1" dirty="0"/>
              <a:t>Una vez identificadas las amenazas a los que están expuestos los activos, se deberá identificar las vulnerabilidades que los mismos presentan. </a:t>
            </a:r>
            <a:endParaRPr lang="es-AR" b="1" dirty="0"/>
          </a:p>
        </p:txBody>
      </p:sp>
      <p:sp>
        <p:nvSpPr>
          <p:cNvPr id="12" name="CuadroTexto 11"/>
          <p:cNvSpPr txBox="1"/>
          <p:nvPr/>
        </p:nvSpPr>
        <p:spPr>
          <a:xfrm>
            <a:off x="2051720" y="2876743"/>
            <a:ext cx="5616624" cy="1200329"/>
          </a:xfrm>
          <a:prstGeom prst="rect">
            <a:avLst/>
          </a:prstGeom>
          <a:solidFill>
            <a:schemeClr val="accent3"/>
          </a:solidFill>
        </p:spPr>
        <p:txBody>
          <a:bodyPr wrap="square" rtlCol="0">
            <a:spAutoFit/>
          </a:bodyPr>
          <a:lstStyle/>
          <a:p>
            <a:r>
              <a:rPr lang="es-ES_tradnl" b="1" dirty="0"/>
              <a:t>Una vulnerabilidad no es en sí y por sí una fuente inevitable de daño para los activos, se convierte en ello en presencia de una amenaza que esté presente y que pueda explotarla</a:t>
            </a:r>
          </a:p>
        </p:txBody>
      </p:sp>
      <p:sp>
        <p:nvSpPr>
          <p:cNvPr id="13" name="CuadroTexto 12"/>
          <p:cNvSpPr txBox="1"/>
          <p:nvPr/>
        </p:nvSpPr>
        <p:spPr>
          <a:xfrm>
            <a:off x="3275856" y="4953942"/>
            <a:ext cx="5616624" cy="923330"/>
          </a:xfrm>
          <a:prstGeom prst="rect">
            <a:avLst/>
          </a:prstGeom>
          <a:solidFill>
            <a:schemeClr val="accent3"/>
          </a:solidFill>
        </p:spPr>
        <p:txBody>
          <a:bodyPr wrap="square" rtlCol="0">
            <a:spAutoFit/>
          </a:bodyPr>
          <a:lstStyle/>
          <a:p>
            <a:r>
              <a:rPr lang="es-ES_tradnl" b="1" dirty="0"/>
              <a:t>Analizando las vulnerabilidades y las amenazas podremos determinar los controles necesarios y requeridos para mitigarlas de manera adecuada.</a:t>
            </a:r>
            <a:endParaRPr lang="es-AR" b="1" dirty="0"/>
          </a:p>
        </p:txBody>
      </p:sp>
    </p:spTree>
    <p:extLst>
      <p:ext uri="{BB962C8B-B14F-4D97-AF65-F5344CB8AC3E}">
        <p14:creationId xmlns:p14="http://schemas.microsoft.com/office/powerpoint/2010/main" val="24275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26"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290">
                                          <p:stCondLst>
                                            <p:cond delay="0"/>
                                          </p:stCondLst>
                                        </p:cTn>
                                        <p:tgtEl>
                                          <p:spTgt spid="6"/>
                                        </p:tgtEl>
                                      </p:cBhvr>
                                    </p:animEffect>
                                    <p:anim calcmode="lin" valueType="num">
                                      <p:cBhvr>
                                        <p:cTn id="16" dur="911"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332"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332" tmFilter="0, 0; 0.125,0.2665; 0.25,0.4; 0.375,0.465; 0.5,0.5;  0.625,0.535; 0.75,0.6; 0.875,0.7335; 1,1">
                                          <p:stCondLst>
                                            <p:cond delay="332"/>
                                          </p:stCondLst>
                                        </p:cTn>
                                        <p:tgtEl>
                                          <p:spTgt spid="6"/>
                                        </p:tgtEl>
                                        <p:attrNameLst>
                                          <p:attrName>ppt_y</p:attrName>
                                        </p:attrNameLst>
                                      </p:cBhvr>
                                      <p:tavLst>
                                        <p:tav tm="0" fmla="#ppt_y-sin(pi*$)/9">
                                          <p:val>
                                            <p:fltVal val="0"/>
                                          </p:val>
                                        </p:tav>
                                        <p:tav tm="100000">
                                          <p:val>
                                            <p:fltVal val="1"/>
                                          </p:val>
                                        </p:tav>
                                      </p:tavLst>
                                    </p:anim>
                                    <p:anim calcmode="lin" valueType="num">
                                      <p:cBhvr>
                                        <p:cTn id="19" dur="166" tmFilter="0, 0; 0.125,0.2665; 0.25,0.4; 0.375,0.465; 0.5,0.5;  0.625,0.535; 0.75,0.6; 0.875,0.7335; 1,1">
                                          <p:stCondLst>
                                            <p:cond delay="662"/>
                                          </p:stCondLst>
                                        </p:cTn>
                                        <p:tgtEl>
                                          <p:spTgt spid="6"/>
                                        </p:tgtEl>
                                        <p:attrNameLst>
                                          <p:attrName>ppt_y</p:attrName>
                                        </p:attrNameLst>
                                      </p:cBhvr>
                                      <p:tavLst>
                                        <p:tav tm="0" fmla="#ppt_y-sin(pi*$)/27">
                                          <p:val>
                                            <p:fltVal val="0"/>
                                          </p:val>
                                        </p:tav>
                                        <p:tav tm="100000">
                                          <p:val>
                                            <p:fltVal val="1"/>
                                          </p:val>
                                        </p:tav>
                                      </p:tavLst>
                                    </p:anim>
                                    <p:anim calcmode="lin" valueType="num">
                                      <p:cBhvr>
                                        <p:cTn id="20" dur="82" tmFilter="0, 0; 0.125,0.2665; 0.25,0.4; 0.375,0.465; 0.5,0.5;  0.625,0.535; 0.75,0.6; 0.875,0.7335; 1,1">
                                          <p:stCondLst>
                                            <p:cond delay="828"/>
                                          </p:stCondLst>
                                        </p:cTn>
                                        <p:tgtEl>
                                          <p:spTgt spid="6"/>
                                        </p:tgtEl>
                                        <p:attrNameLst>
                                          <p:attrName>ppt_y</p:attrName>
                                        </p:attrNameLst>
                                      </p:cBhvr>
                                      <p:tavLst>
                                        <p:tav tm="0" fmla="#ppt_y-sin(pi*$)/81">
                                          <p:val>
                                            <p:fltVal val="0"/>
                                          </p:val>
                                        </p:tav>
                                        <p:tav tm="100000">
                                          <p:val>
                                            <p:fltVal val="1"/>
                                          </p:val>
                                        </p:tav>
                                      </p:tavLst>
                                    </p:anim>
                                    <p:animScale>
                                      <p:cBhvr>
                                        <p:cTn id="21" dur="13">
                                          <p:stCondLst>
                                            <p:cond delay="325"/>
                                          </p:stCondLst>
                                        </p:cTn>
                                        <p:tgtEl>
                                          <p:spTgt spid="6"/>
                                        </p:tgtEl>
                                      </p:cBhvr>
                                      <p:to x="100000" y="60000"/>
                                    </p:animScale>
                                    <p:animScale>
                                      <p:cBhvr>
                                        <p:cTn id="22" dur="83" decel="50000">
                                          <p:stCondLst>
                                            <p:cond delay="338"/>
                                          </p:stCondLst>
                                        </p:cTn>
                                        <p:tgtEl>
                                          <p:spTgt spid="6"/>
                                        </p:tgtEl>
                                      </p:cBhvr>
                                      <p:to x="100000" y="100000"/>
                                    </p:animScale>
                                    <p:animScale>
                                      <p:cBhvr>
                                        <p:cTn id="23" dur="13">
                                          <p:stCondLst>
                                            <p:cond delay="656"/>
                                          </p:stCondLst>
                                        </p:cTn>
                                        <p:tgtEl>
                                          <p:spTgt spid="6"/>
                                        </p:tgtEl>
                                      </p:cBhvr>
                                      <p:to x="100000" y="80000"/>
                                    </p:animScale>
                                    <p:animScale>
                                      <p:cBhvr>
                                        <p:cTn id="24" dur="83" decel="50000">
                                          <p:stCondLst>
                                            <p:cond delay="669"/>
                                          </p:stCondLst>
                                        </p:cTn>
                                        <p:tgtEl>
                                          <p:spTgt spid="6"/>
                                        </p:tgtEl>
                                      </p:cBhvr>
                                      <p:to x="100000" y="100000"/>
                                    </p:animScale>
                                    <p:animScale>
                                      <p:cBhvr>
                                        <p:cTn id="25" dur="13">
                                          <p:stCondLst>
                                            <p:cond delay="821"/>
                                          </p:stCondLst>
                                        </p:cTn>
                                        <p:tgtEl>
                                          <p:spTgt spid="6"/>
                                        </p:tgtEl>
                                      </p:cBhvr>
                                      <p:to x="100000" y="90000"/>
                                    </p:animScale>
                                    <p:animScale>
                                      <p:cBhvr>
                                        <p:cTn id="26" dur="83" decel="50000">
                                          <p:stCondLst>
                                            <p:cond delay="834"/>
                                          </p:stCondLst>
                                        </p:cTn>
                                        <p:tgtEl>
                                          <p:spTgt spid="6"/>
                                        </p:tgtEl>
                                      </p:cBhvr>
                                      <p:to x="100000" y="100000"/>
                                    </p:animScale>
                                    <p:animScale>
                                      <p:cBhvr>
                                        <p:cTn id="27" dur="13">
                                          <p:stCondLst>
                                            <p:cond delay="904"/>
                                          </p:stCondLst>
                                        </p:cTn>
                                        <p:tgtEl>
                                          <p:spTgt spid="6"/>
                                        </p:tgtEl>
                                      </p:cBhvr>
                                      <p:to x="100000" y="95000"/>
                                    </p:animScale>
                                    <p:animScale>
                                      <p:cBhvr>
                                        <p:cTn id="28" dur="83" decel="50000">
                                          <p:stCondLst>
                                            <p:cond delay="917"/>
                                          </p:stCondLst>
                                        </p:cTn>
                                        <p:tgtEl>
                                          <p:spTgt spid="6"/>
                                        </p:tgtEl>
                                      </p:cBhvr>
                                      <p:to x="100000" y="100000"/>
                                    </p:animScale>
                                  </p:childTnLst>
                                </p:cTn>
                              </p:par>
                            </p:childTnLst>
                          </p:cTn>
                        </p:par>
                        <p:par>
                          <p:cTn id="29" fill="hold">
                            <p:stCondLst>
                              <p:cond delay="4000"/>
                            </p:stCondLst>
                            <p:childTnLst>
                              <p:par>
                                <p:cTn id="30" presetID="2" presetClass="entr" presetSubtype="2" fill="hold" grpId="0"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1000" fill="hold"/>
                                        <p:tgtEl>
                                          <p:spTgt spid="2"/>
                                        </p:tgtEl>
                                        <p:attrNameLst>
                                          <p:attrName>ppt_x</p:attrName>
                                        </p:attrNameLst>
                                      </p:cBhvr>
                                      <p:tavLst>
                                        <p:tav tm="0">
                                          <p:val>
                                            <p:strVal val="1+#ppt_w/2"/>
                                          </p:val>
                                        </p:tav>
                                        <p:tav tm="100000">
                                          <p:val>
                                            <p:strVal val="#ppt_x"/>
                                          </p:val>
                                        </p:tav>
                                      </p:tavLst>
                                    </p:anim>
                                    <p:anim calcmode="lin" valueType="num">
                                      <p:cBhvr additive="base">
                                        <p:cTn id="33"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1000" fill="hold"/>
                                        <p:tgtEl>
                                          <p:spTgt spid="12"/>
                                        </p:tgtEl>
                                        <p:attrNameLst>
                                          <p:attrName>ppt_x</p:attrName>
                                        </p:attrNameLst>
                                      </p:cBhvr>
                                      <p:tavLst>
                                        <p:tav tm="0">
                                          <p:val>
                                            <p:strVal val="1+#ppt_w/2"/>
                                          </p:val>
                                        </p:tav>
                                        <p:tav tm="100000">
                                          <p:val>
                                            <p:strVal val="#ppt_x"/>
                                          </p:val>
                                        </p:tav>
                                      </p:tavLst>
                                    </p:anim>
                                    <p:anim calcmode="lin" valueType="num">
                                      <p:cBhvr additive="base">
                                        <p:cTn id="39" dur="1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1000" fill="hold"/>
                                        <p:tgtEl>
                                          <p:spTgt spid="13"/>
                                        </p:tgtEl>
                                        <p:attrNameLst>
                                          <p:attrName>ppt_x</p:attrName>
                                        </p:attrNameLst>
                                      </p:cBhvr>
                                      <p:tavLst>
                                        <p:tav tm="0">
                                          <p:val>
                                            <p:strVal val="1+#ppt_w/2"/>
                                          </p:val>
                                        </p:tav>
                                        <p:tav tm="100000">
                                          <p:val>
                                            <p:strVal val="#ppt_x"/>
                                          </p:val>
                                        </p:tav>
                                      </p:tavLst>
                                    </p:anim>
                                    <p:anim calcmode="lin" valueType="num">
                                      <p:cBhvr additive="base">
                                        <p:cTn id="45"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2"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Análisis de riesgo de los activos de la información</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13</a:t>
            </a:fld>
            <a:endParaRPr lang="es-ES" sz="1200" b="1" dirty="0">
              <a:latin typeface="+mn-lt"/>
            </a:endParaRPr>
          </a:p>
        </p:txBody>
      </p:sp>
      <p:sp>
        <p:nvSpPr>
          <p:cNvPr id="14" name="Text Box 4"/>
          <p:cNvSpPr txBox="1">
            <a:spLocks noChangeArrowheads="1"/>
          </p:cNvSpPr>
          <p:nvPr/>
        </p:nvSpPr>
        <p:spPr bwMode="auto">
          <a:xfrm>
            <a:off x="357158" y="1052736"/>
            <a:ext cx="7929618" cy="646331"/>
          </a:xfrm>
          <a:prstGeom prst="rect">
            <a:avLst/>
          </a:prstGeom>
          <a:noFill/>
          <a:ln w="9525">
            <a:noFill/>
            <a:miter lim="800000"/>
            <a:headEnd/>
            <a:tailEnd/>
          </a:ln>
        </p:spPr>
        <p:txBody>
          <a:bodyPr wrap="square">
            <a:spAutoFit/>
          </a:bodyPr>
          <a:lstStyle/>
          <a:p>
            <a:r>
              <a:rPr lang="es-ES_tradnl" b="1" dirty="0">
                <a:solidFill>
                  <a:srgbClr val="0070C0"/>
                </a:solidFill>
              </a:rPr>
              <a:t>La norma ISO 27005 en sus anexos brinda ejemplos de amenazas, vulnerabilidades y métodos de evaluación.</a:t>
            </a:r>
            <a:endParaRPr lang="es-AR" b="1" dirty="0">
              <a:solidFill>
                <a:srgbClr val="0070C0"/>
              </a:solidFill>
            </a:endParaRPr>
          </a:p>
        </p:txBody>
      </p:sp>
      <p:pic>
        <p:nvPicPr>
          <p:cNvPr id="16" name="Picture 7" descr="C:\Users\Sabina\AppData\Local\Microsoft\Windows\Temporary Internet Files\Low\Content.IE5\ZIZ5O8GY\Harry_Potter_Icons_004[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800" y="836712"/>
            <a:ext cx="6377331" cy="4782999"/>
          </a:xfrm>
          <a:prstGeom prst="rect">
            <a:avLst/>
          </a:prstGeom>
          <a:noFill/>
          <a:extLst>
            <a:ext uri="{909E8E84-426E-40DD-AFC4-6F175D3DCCD1}">
              <a14:hiddenFill xmlns:a14="http://schemas.microsoft.com/office/drawing/2010/main">
                <a:solidFill>
                  <a:srgbClr val="FFFFFF"/>
                </a:solidFill>
              </a14:hiddenFill>
            </a:ext>
          </a:extLst>
        </p:spPr>
      </p:pic>
      <p:sp>
        <p:nvSpPr>
          <p:cNvPr id="22" name="Text Box 4"/>
          <p:cNvSpPr txBox="1">
            <a:spLocks noChangeArrowheads="1"/>
          </p:cNvSpPr>
          <p:nvPr/>
        </p:nvSpPr>
        <p:spPr bwMode="auto">
          <a:xfrm>
            <a:off x="509558" y="5230941"/>
            <a:ext cx="7929618" cy="646331"/>
          </a:xfrm>
          <a:prstGeom prst="rect">
            <a:avLst/>
          </a:prstGeom>
          <a:noFill/>
          <a:ln w="9525">
            <a:noFill/>
            <a:miter lim="800000"/>
            <a:headEnd/>
            <a:tailEnd/>
          </a:ln>
        </p:spPr>
        <p:txBody>
          <a:bodyPr wrap="square">
            <a:spAutoFit/>
          </a:bodyPr>
          <a:lstStyle/>
          <a:p>
            <a:r>
              <a:rPr lang="es-ES_tradnl" b="1" dirty="0">
                <a:solidFill>
                  <a:srgbClr val="0070C0"/>
                </a:solidFill>
              </a:rPr>
              <a:t>Sin embargo lo más importante es que cada Organización personalice su lista de amenazas y vulnerabilidades de acuerdo con su infraestructura tecnológica.</a:t>
            </a:r>
            <a:endParaRPr lang="es-AR" b="1" dirty="0">
              <a:solidFill>
                <a:srgbClr val="0070C0"/>
              </a:solidFill>
            </a:endParaRPr>
          </a:p>
        </p:txBody>
      </p:sp>
    </p:spTree>
    <p:extLst>
      <p:ext uri="{BB962C8B-B14F-4D97-AF65-F5344CB8AC3E}">
        <p14:creationId xmlns:p14="http://schemas.microsoft.com/office/powerpoint/2010/main" val="124048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1000"/>
                                        <p:tgtEl>
                                          <p:spTgt spid="16"/>
                                        </p:tgtEl>
                                      </p:cBhvr>
                                    </p:animEffect>
                                  </p:childTnLst>
                                </p:cTn>
                              </p:par>
                            </p:childTnLst>
                          </p:cTn>
                        </p:par>
                        <p:par>
                          <p:cTn id="16" fill="hold">
                            <p:stCondLst>
                              <p:cond delay="4000"/>
                            </p:stCondLst>
                            <p:childTnLst>
                              <p:par>
                                <p:cTn id="17" presetID="9"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dissolve">
                                      <p:cBhvr>
                                        <p:cTn id="19" dur="1000"/>
                                        <p:tgtEl>
                                          <p:spTgt spid="14"/>
                                        </p:tgtEl>
                                      </p:cBhvr>
                                    </p:animEffect>
                                  </p:childTnLst>
                                </p:cTn>
                              </p:par>
                            </p:childTnLst>
                          </p:cTn>
                        </p:par>
                        <p:par>
                          <p:cTn id="20" fill="hold">
                            <p:stCondLst>
                              <p:cond delay="5000"/>
                            </p:stCondLst>
                            <p:childTnLst>
                              <p:par>
                                <p:cTn id="21" presetID="9" presetClass="entr" presetSubtype="0"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dissolve">
                                      <p:cBhvr>
                                        <p:cTn id="23"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4"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Análisis de riesgo de los activos de la información</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14</a:t>
            </a:fld>
            <a:endParaRPr lang="es-ES" sz="1200" b="1" dirty="0">
              <a:latin typeface="+mn-lt"/>
            </a:endParaRPr>
          </a:p>
        </p:txBody>
      </p:sp>
      <p:pic>
        <p:nvPicPr>
          <p:cNvPr id="16" name="Picture 4" descr="C:\Users\Jacinto\AppData\Local\Microsoft\Windows\Temporary Internet Files\Content.IE5\1IYBB1GV\MCj04338290000[1].png"/>
          <p:cNvPicPr>
            <a:picLocks noChangeAspect="1" noChangeArrowheads="1"/>
          </p:cNvPicPr>
          <p:nvPr/>
        </p:nvPicPr>
        <p:blipFill>
          <a:blip r:embed="rId2" cstate="print"/>
          <a:srcRect/>
          <a:stretch>
            <a:fillRect/>
          </a:stretch>
        </p:blipFill>
        <p:spPr bwMode="auto">
          <a:xfrm>
            <a:off x="323528" y="929681"/>
            <a:ext cx="4943663" cy="5355635"/>
          </a:xfrm>
          <a:prstGeom prst="rect">
            <a:avLst/>
          </a:prstGeom>
          <a:noFill/>
          <a:effectLst>
            <a:outerShdw blurRad="50800" dist="50800" dir="5400000" algn="ctr" rotWithShape="0">
              <a:srgbClr val="000000">
                <a:alpha val="1000"/>
              </a:srgbClr>
            </a:outerShdw>
          </a:effectLst>
        </p:spPr>
      </p:pic>
      <p:sp>
        <p:nvSpPr>
          <p:cNvPr id="14" name="Text Box 4"/>
          <p:cNvSpPr txBox="1">
            <a:spLocks noChangeArrowheads="1"/>
          </p:cNvSpPr>
          <p:nvPr/>
        </p:nvSpPr>
        <p:spPr bwMode="auto">
          <a:xfrm>
            <a:off x="3987198" y="3186842"/>
            <a:ext cx="4401226" cy="1754326"/>
          </a:xfrm>
          <a:prstGeom prst="rect">
            <a:avLst/>
          </a:prstGeom>
          <a:solidFill>
            <a:schemeClr val="accent1"/>
          </a:solidFill>
          <a:ln w="9525">
            <a:noFill/>
            <a:miter lim="800000"/>
            <a:headEnd/>
            <a:tailEnd/>
          </a:ln>
        </p:spPr>
        <p:txBody>
          <a:bodyPr wrap="square">
            <a:spAutoFit/>
          </a:bodyPr>
          <a:lstStyle/>
          <a:p>
            <a:r>
              <a:rPr lang="es-ES_tradnl" b="1" dirty="0">
                <a:solidFill>
                  <a:schemeClr val="bg1"/>
                </a:solidFill>
              </a:rPr>
              <a:t>Debe considerarse como una vulnerabilidad a todo aquel control implementado que ya sea por falla de diseño o por falta de efectividad, no mitigue adecuadamente la amenaza a la que están expuestos uno o más activos de la información. </a:t>
            </a:r>
            <a:endParaRPr lang="es-AR" b="1" dirty="0">
              <a:solidFill>
                <a:srgbClr val="0070C0"/>
              </a:solidFill>
            </a:endParaRPr>
          </a:p>
        </p:txBody>
      </p:sp>
    </p:spTree>
    <p:extLst>
      <p:ext uri="{BB962C8B-B14F-4D97-AF65-F5344CB8AC3E}">
        <p14:creationId xmlns:p14="http://schemas.microsoft.com/office/powerpoint/2010/main" val="277799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3" presetClass="entr" presetSubtype="5"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vertical)">
                                      <p:cBhvr>
                                        <p:cTn id="15" dur="1000"/>
                                        <p:tgtEl>
                                          <p:spTgt spid="16"/>
                                        </p:tgtEl>
                                      </p:cBhvr>
                                    </p:animEffect>
                                  </p:childTnLst>
                                </p:cTn>
                              </p:par>
                            </p:childTnLst>
                          </p:cTn>
                        </p:par>
                        <p:par>
                          <p:cTn id="16" fill="hold">
                            <p:stCondLst>
                              <p:cond delay="4000"/>
                            </p:stCondLst>
                            <p:childTnLst>
                              <p:par>
                                <p:cTn id="17" presetID="9"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dissolve">
                                      <p:cBhvr>
                                        <p:cTn id="1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t>Análisis de riesgo de los activos de la información</a:t>
            </a:r>
            <a:endParaRPr lang="es-AR" sz="2800" dirty="0"/>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15</a:t>
            </a:fld>
            <a:endParaRPr lang="es-ES" sz="1200" b="1" dirty="0">
              <a:latin typeface="+mn-lt"/>
            </a:endParaRPr>
          </a:p>
        </p:txBody>
      </p:sp>
      <p:pic>
        <p:nvPicPr>
          <p:cNvPr id="12" name="Imagen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9992" y="1020983"/>
            <a:ext cx="8040520" cy="5360345"/>
          </a:xfrm>
          <a:prstGeom prst="rect">
            <a:avLst/>
          </a:prstGeom>
        </p:spPr>
      </p:pic>
      <p:sp>
        <p:nvSpPr>
          <p:cNvPr id="8" name="Text Box 4"/>
          <p:cNvSpPr txBox="1">
            <a:spLocks noChangeArrowheads="1"/>
          </p:cNvSpPr>
          <p:nvPr/>
        </p:nvSpPr>
        <p:spPr bwMode="auto">
          <a:xfrm>
            <a:off x="35496" y="1242626"/>
            <a:ext cx="7929618" cy="1200329"/>
          </a:xfrm>
          <a:prstGeom prst="rect">
            <a:avLst/>
          </a:prstGeom>
          <a:solidFill>
            <a:schemeClr val="accent1"/>
          </a:solidFill>
          <a:ln w="9525">
            <a:noFill/>
            <a:miter lim="800000"/>
            <a:headEnd/>
            <a:tailEnd/>
          </a:ln>
        </p:spPr>
        <p:txBody>
          <a:bodyPr wrap="square">
            <a:spAutoFit/>
          </a:bodyPr>
          <a:lstStyle/>
          <a:p>
            <a:r>
              <a:rPr lang="es-ES_tradnl" b="1" dirty="0">
                <a:solidFill>
                  <a:schemeClr val="bg1"/>
                </a:solidFill>
              </a:rPr>
              <a:t>Existen vulnerabilidades cuyo tratamiento se hace extensivo a varios activos del mismo o de distinto tipo (dispositivos de control ambiental instalados en el Centro de Procesamiento de Datos cuyo nivel de protección alcanzan por igual a todo el equipamiento del sitio p.ej. detectores de humo – calor).</a:t>
            </a:r>
            <a:endParaRPr lang="es-AR" b="1" dirty="0">
              <a:solidFill>
                <a:srgbClr val="0070C0"/>
              </a:solidFill>
            </a:endParaRPr>
          </a:p>
        </p:txBody>
      </p:sp>
    </p:spTree>
    <p:extLst>
      <p:ext uri="{BB962C8B-B14F-4D97-AF65-F5344CB8AC3E}">
        <p14:creationId xmlns:p14="http://schemas.microsoft.com/office/powerpoint/2010/main" val="174228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8" presetClass="entr" presetSubtype="32"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amond(out)">
                                      <p:cBhvr>
                                        <p:cTn id="15" dur="1000"/>
                                        <p:tgtEl>
                                          <p:spTgt spid="12"/>
                                        </p:tgtEl>
                                      </p:cBhvr>
                                    </p:animEffect>
                                  </p:childTnLst>
                                </p:cTn>
                              </p:par>
                            </p:childTnLst>
                          </p:cTn>
                        </p:par>
                        <p:par>
                          <p:cTn id="16" fill="hold">
                            <p:stCondLst>
                              <p:cond delay="4000"/>
                            </p:stCondLst>
                            <p:childTnLst>
                              <p:par>
                                <p:cTn id="17" presetID="9"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latin typeface="+mj-lt"/>
              </a:rPr>
              <a:t>Procesos y sub-procesos de gestión de TI</a:t>
            </a:r>
            <a:endParaRPr lang="es-AR" sz="2800" dirty="0">
              <a:latin typeface="+mj-lt"/>
            </a:endParaRPr>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16</a:t>
            </a:fld>
            <a:endParaRPr lang="es-ES" sz="1200" b="1" dirty="0">
              <a:latin typeface="+mn-lt"/>
            </a:endParaRPr>
          </a:p>
        </p:txBody>
      </p:sp>
      <p:pic>
        <p:nvPicPr>
          <p:cNvPr id="7" name="Picture 2" descr="http://t1.gstatic.com/images?q=tbn:ANd9GcSrBiJQ6nO9othHT6YirauErrn2Fx0YoSgL42JCx53prFqYqb2n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717" y="1268759"/>
            <a:ext cx="7063923" cy="5000305"/>
          </a:xfrm>
          <a:prstGeom prst="rect">
            <a:avLst/>
          </a:prstGeom>
          <a:noFill/>
          <a:extLst>
            <a:ext uri="{909E8E84-426E-40DD-AFC4-6F175D3DCCD1}">
              <a14:hiddenFill xmlns:a14="http://schemas.microsoft.com/office/drawing/2010/main">
                <a:solidFill>
                  <a:srgbClr val="FFFFFF"/>
                </a:solidFill>
              </a14:hiddenFill>
            </a:ext>
          </a:extLst>
        </p:spPr>
      </p:pic>
      <p:sp>
        <p:nvSpPr>
          <p:cNvPr id="12" name="21 Rectángulo"/>
          <p:cNvSpPr/>
          <p:nvPr/>
        </p:nvSpPr>
        <p:spPr bwMode="auto">
          <a:xfrm>
            <a:off x="4224334" y="1115452"/>
            <a:ext cx="4731506" cy="369332"/>
          </a:xfrm>
          <a:prstGeom prst="rect">
            <a:avLst/>
          </a:prstGeom>
          <a:solidFill>
            <a:srgbClr val="00CC00"/>
          </a:solidFill>
          <a:ln w="9525" algn="ctr">
            <a:noFill/>
            <a:miter lim="800000"/>
            <a:headEnd/>
            <a:tailEnd/>
          </a:ln>
          <a:effectLst/>
        </p:spPr>
        <p:txBody>
          <a:bodyPr wrap="square">
            <a:spAutoFit/>
          </a:bodyPr>
          <a:lstStyle/>
          <a:p>
            <a:r>
              <a:rPr lang="es-ES_tradnl" b="1" dirty="0"/>
              <a:t>Planificación y Organización del Area de TI</a:t>
            </a:r>
            <a:endParaRPr lang="es-AR" b="1" dirty="0"/>
          </a:p>
        </p:txBody>
      </p:sp>
      <p:sp>
        <p:nvSpPr>
          <p:cNvPr id="13" name="21 Rectángulo"/>
          <p:cNvSpPr/>
          <p:nvPr/>
        </p:nvSpPr>
        <p:spPr bwMode="auto">
          <a:xfrm>
            <a:off x="179512" y="2132856"/>
            <a:ext cx="4044822" cy="369332"/>
          </a:xfrm>
          <a:prstGeom prst="rect">
            <a:avLst/>
          </a:prstGeom>
          <a:solidFill>
            <a:srgbClr val="00CC00"/>
          </a:solidFill>
          <a:ln w="9525" algn="ctr">
            <a:noFill/>
            <a:miter lim="800000"/>
            <a:headEnd/>
            <a:tailEnd/>
          </a:ln>
          <a:effectLst/>
        </p:spPr>
        <p:txBody>
          <a:bodyPr wrap="square">
            <a:spAutoFit/>
          </a:bodyPr>
          <a:lstStyle/>
          <a:p>
            <a:r>
              <a:rPr lang="es-ES_tradnl" b="1" dirty="0"/>
              <a:t>Marco del SGSI</a:t>
            </a:r>
            <a:endParaRPr lang="es-AR" b="1" dirty="0"/>
          </a:p>
        </p:txBody>
      </p:sp>
      <p:sp>
        <p:nvSpPr>
          <p:cNvPr id="14" name="21 Rectángulo"/>
          <p:cNvSpPr/>
          <p:nvPr/>
        </p:nvSpPr>
        <p:spPr bwMode="auto">
          <a:xfrm>
            <a:off x="179512" y="3068960"/>
            <a:ext cx="4044822" cy="369332"/>
          </a:xfrm>
          <a:prstGeom prst="rect">
            <a:avLst/>
          </a:prstGeom>
          <a:solidFill>
            <a:srgbClr val="00CC00"/>
          </a:solidFill>
          <a:ln w="9525" algn="ctr">
            <a:noFill/>
            <a:miter lim="800000"/>
            <a:headEnd/>
            <a:tailEnd/>
          </a:ln>
          <a:effectLst/>
        </p:spPr>
        <p:txBody>
          <a:bodyPr wrap="square">
            <a:spAutoFit/>
          </a:bodyPr>
          <a:lstStyle/>
          <a:p>
            <a:r>
              <a:rPr lang="es-ES_tradnl" b="1" dirty="0"/>
              <a:t>Planificación de TI</a:t>
            </a:r>
            <a:endParaRPr lang="es-AR" b="1" dirty="0"/>
          </a:p>
        </p:txBody>
      </p:sp>
      <p:sp>
        <p:nvSpPr>
          <p:cNvPr id="15" name="21 Rectángulo"/>
          <p:cNvSpPr/>
          <p:nvPr/>
        </p:nvSpPr>
        <p:spPr bwMode="auto">
          <a:xfrm>
            <a:off x="179512" y="3995772"/>
            <a:ext cx="4044822" cy="369332"/>
          </a:xfrm>
          <a:prstGeom prst="rect">
            <a:avLst/>
          </a:prstGeom>
          <a:solidFill>
            <a:srgbClr val="00CC00"/>
          </a:solidFill>
          <a:ln w="9525" algn="ctr">
            <a:noFill/>
            <a:miter lim="800000"/>
            <a:headEnd/>
            <a:tailEnd/>
          </a:ln>
          <a:effectLst/>
        </p:spPr>
        <p:txBody>
          <a:bodyPr wrap="square">
            <a:spAutoFit/>
          </a:bodyPr>
          <a:lstStyle/>
          <a:p>
            <a:r>
              <a:rPr lang="es-ES_tradnl" b="1" dirty="0"/>
              <a:t>Organización del Area de TI</a:t>
            </a:r>
            <a:endParaRPr lang="es-AR" b="1" dirty="0"/>
          </a:p>
        </p:txBody>
      </p:sp>
      <p:sp>
        <p:nvSpPr>
          <p:cNvPr id="16" name="21 Rectángulo"/>
          <p:cNvSpPr/>
          <p:nvPr/>
        </p:nvSpPr>
        <p:spPr bwMode="auto">
          <a:xfrm>
            <a:off x="179512" y="5075892"/>
            <a:ext cx="4044822" cy="369332"/>
          </a:xfrm>
          <a:prstGeom prst="rect">
            <a:avLst/>
          </a:prstGeom>
          <a:solidFill>
            <a:srgbClr val="00CC00"/>
          </a:solidFill>
          <a:ln w="9525" algn="ctr">
            <a:noFill/>
            <a:miter lim="800000"/>
            <a:headEnd/>
            <a:tailEnd/>
          </a:ln>
          <a:effectLst/>
        </p:spPr>
        <p:txBody>
          <a:bodyPr wrap="square">
            <a:spAutoFit/>
          </a:bodyPr>
          <a:lstStyle/>
          <a:p>
            <a:r>
              <a:rPr lang="es-ES_tradnl" b="1" dirty="0"/>
              <a:t>Monitoreo del Area de TI</a:t>
            </a:r>
            <a:endParaRPr lang="es-AR" b="1" dirty="0"/>
          </a:p>
        </p:txBody>
      </p:sp>
      <p:sp>
        <p:nvSpPr>
          <p:cNvPr id="17" name="21 Rectángulo"/>
          <p:cNvSpPr/>
          <p:nvPr/>
        </p:nvSpPr>
        <p:spPr bwMode="auto">
          <a:xfrm>
            <a:off x="179512" y="5939988"/>
            <a:ext cx="4044822" cy="369332"/>
          </a:xfrm>
          <a:prstGeom prst="rect">
            <a:avLst/>
          </a:prstGeom>
          <a:solidFill>
            <a:srgbClr val="00CC00"/>
          </a:solidFill>
          <a:ln w="9525" algn="ctr">
            <a:noFill/>
            <a:miter lim="800000"/>
            <a:headEnd/>
            <a:tailEnd/>
          </a:ln>
          <a:effectLst/>
        </p:spPr>
        <p:txBody>
          <a:bodyPr wrap="square">
            <a:spAutoFit/>
          </a:bodyPr>
          <a:lstStyle/>
          <a:p>
            <a:r>
              <a:rPr lang="es-ES_tradnl" b="1" dirty="0"/>
              <a:t>Relaciones con Terceras Partes</a:t>
            </a:r>
            <a:endParaRPr lang="es-AR" b="1" dirty="0"/>
          </a:p>
        </p:txBody>
      </p:sp>
      <p:sp>
        <p:nvSpPr>
          <p:cNvPr id="18" name="8 Elipse"/>
          <p:cNvSpPr>
            <a:spLocks noChangeAspect="1"/>
          </p:cNvSpPr>
          <p:nvPr/>
        </p:nvSpPr>
        <p:spPr>
          <a:xfrm>
            <a:off x="7874138" y="-87012"/>
            <a:ext cx="1253904" cy="1162208"/>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s-AR" b="1"/>
              <a:t>Activi-dad 1</a:t>
            </a:r>
            <a:endParaRPr lang="es-AR" b="1" dirty="0"/>
          </a:p>
        </p:txBody>
      </p:sp>
    </p:spTree>
    <p:extLst>
      <p:ext uri="{BB962C8B-B14F-4D97-AF65-F5344CB8AC3E}">
        <p14:creationId xmlns:p14="http://schemas.microsoft.com/office/powerpoint/2010/main" val="166688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21" presetClass="entr" presetSubtype="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heel(1)">
                                      <p:cBhvr>
                                        <p:cTn id="15" dur="2000"/>
                                        <p:tgtEl>
                                          <p:spTgt spid="7"/>
                                        </p:tgtEl>
                                      </p:cBhvr>
                                    </p:animEffect>
                                  </p:childTnLst>
                                </p:cTn>
                              </p:par>
                            </p:childTnLst>
                          </p:cTn>
                        </p:par>
                        <p:par>
                          <p:cTn id="16" fill="hold">
                            <p:stCondLst>
                              <p:cond delay="500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childTnLst>
                          </p:cTn>
                        </p:par>
                        <p:par>
                          <p:cTn id="20" fill="hold">
                            <p:stCondLst>
                              <p:cond delay="60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childTnLst>
                                </p:cTn>
                              </p:par>
                            </p:childTnLst>
                          </p:cTn>
                        </p:par>
                        <p:par>
                          <p:cTn id="24" fill="hold">
                            <p:stCondLst>
                              <p:cond delay="70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childTnLst>
                                </p:cTn>
                              </p:par>
                            </p:childTnLst>
                          </p:cTn>
                        </p:par>
                        <p:par>
                          <p:cTn id="28" fill="hold">
                            <p:stCondLst>
                              <p:cond delay="8000"/>
                            </p:stCondLst>
                            <p:childTnLst>
                              <p:par>
                                <p:cTn id="29" presetID="10"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0"/>
                                        <p:tgtEl>
                                          <p:spTgt spid="15"/>
                                        </p:tgtEl>
                                      </p:cBhvr>
                                    </p:animEffect>
                                  </p:childTnLst>
                                </p:cTn>
                              </p:par>
                            </p:childTnLst>
                          </p:cTn>
                        </p:par>
                        <p:par>
                          <p:cTn id="32" fill="hold">
                            <p:stCondLst>
                              <p:cond delay="900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childTnLst>
                                </p:cTn>
                              </p:par>
                            </p:childTnLst>
                          </p:cTn>
                        </p:par>
                        <p:par>
                          <p:cTn id="36" fill="hold">
                            <p:stCondLst>
                              <p:cond delay="1000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2" grpId="0" animBg="1"/>
      <p:bldP spid="13" grpId="0" animBg="1"/>
      <p:bldP spid="14" grpId="0" animBg="1"/>
      <p:bldP spid="15" grpId="0" animBg="1"/>
      <p:bldP spid="16"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latin typeface="+mj-lt"/>
              </a:rPr>
              <a:t>Procesos y sub-procesos de gestión de TI</a:t>
            </a:r>
            <a:endParaRPr lang="es-AR" sz="2800" dirty="0">
              <a:latin typeface="+mj-lt"/>
            </a:endParaRPr>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17</a:t>
            </a:fld>
            <a:endParaRPr lang="es-ES" sz="1200" b="1" dirty="0">
              <a:latin typeface="+mn-lt"/>
            </a:endParaRPr>
          </a:p>
        </p:txBody>
      </p:sp>
      <p:pic>
        <p:nvPicPr>
          <p:cNvPr id="7" name="Picture 2" descr="http://t1.gstatic.com/images?q=tbn:ANd9GcSrBiJQ6nO9othHT6YirauErrn2Fx0YoSgL42JCx53prFqYqb2n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717" y="1268759"/>
            <a:ext cx="7063923" cy="5000305"/>
          </a:xfrm>
          <a:prstGeom prst="rect">
            <a:avLst/>
          </a:prstGeom>
          <a:noFill/>
          <a:extLst>
            <a:ext uri="{909E8E84-426E-40DD-AFC4-6F175D3DCCD1}">
              <a14:hiddenFill xmlns:a14="http://schemas.microsoft.com/office/drawing/2010/main">
                <a:solidFill>
                  <a:srgbClr val="FFFFFF"/>
                </a:solidFill>
              </a14:hiddenFill>
            </a:ext>
          </a:extLst>
        </p:spPr>
      </p:pic>
      <p:sp>
        <p:nvSpPr>
          <p:cNvPr id="12" name="21 Rectángulo"/>
          <p:cNvSpPr/>
          <p:nvPr/>
        </p:nvSpPr>
        <p:spPr bwMode="auto">
          <a:xfrm>
            <a:off x="3268717" y="1115452"/>
            <a:ext cx="5687123" cy="369332"/>
          </a:xfrm>
          <a:prstGeom prst="rect">
            <a:avLst/>
          </a:prstGeom>
          <a:solidFill>
            <a:srgbClr val="00CC00"/>
          </a:solidFill>
          <a:ln w="9525" algn="ctr">
            <a:noFill/>
            <a:miter lim="800000"/>
            <a:headEnd/>
            <a:tailEnd/>
          </a:ln>
          <a:effectLst/>
        </p:spPr>
        <p:txBody>
          <a:bodyPr wrap="square">
            <a:spAutoFit/>
          </a:bodyPr>
          <a:lstStyle/>
          <a:p>
            <a:r>
              <a:rPr lang="es-ES_tradnl" b="1" dirty="0"/>
              <a:t>Adquisición y Mantenimiento de Soluciones Informáticas</a:t>
            </a:r>
            <a:endParaRPr lang="es-AR" b="1" dirty="0"/>
          </a:p>
        </p:txBody>
      </p:sp>
      <p:sp>
        <p:nvSpPr>
          <p:cNvPr id="13" name="21 Rectángulo"/>
          <p:cNvSpPr/>
          <p:nvPr/>
        </p:nvSpPr>
        <p:spPr bwMode="auto">
          <a:xfrm>
            <a:off x="179512" y="2132856"/>
            <a:ext cx="4044822" cy="646331"/>
          </a:xfrm>
          <a:prstGeom prst="rect">
            <a:avLst/>
          </a:prstGeom>
          <a:solidFill>
            <a:srgbClr val="00CC00"/>
          </a:solidFill>
          <a:ln w="9525" algn="ctr">
            <a:noFill/>
            <a:miter lim="800000"/>
            <a:headEnd/>
            <a:tailEnd/>
          </a:ln>
          <a:effectLst/>
        </p:spPr>
        <p:txBody>
          <a:bodyPr wrap="square">
            <a:spAutoFit/>
          </a:bodyPr>
          <a:lstStyle/>
          <a:p>
            <a:r>
              <a:rPr lang="es-AR" b="1" dirty="0"/>
              <a:t>Encuadre metodológico del desarrollo propio y de terceras partes</a:t>
            </a:r>
          </a:p>
        </p:txBody>
      </p:sp>
      <p:sp>
        <p:nvSpPr>
          <p:cNvPr id="14" name="21 Rectángulo"/>
          <p:cNvSpPr/>
          <p:nvPr/>
        </p:nvSpPr>
        <p:spPr bwMode="auto">
          <a:xfrm>
            <a:off x="179512" y="3286725"/>
            <a:ext cx="4044822" cy="646331"/>
          </a:xfrm>
          <a:prstGeom prst="rect">
            <a:avLst/>
          </a:prstGeom>
          <a:solidFill>
            <a:srgbClr val="00CC00"/>
          </a:solidFill>
          <a:ln w="9525" algn="ctr">
            <a:noFill/>
            <a:miter lim="800000"/>
            <a:headEnd/>
            <a:tailEnd/>
          </a:ln>
          <a:effectLst/>
        </p:spPr>
        <p:txBody>
          <a:bodyPr wrap="square">
            <a:spAutoFit/>
          </a:bodyPr>
          <a:lstStyle/>
          <a:p>
            <a:r>
              <a:rPr lang="es-ES_tradnl" b="1" dirty="0"/>
              <a:t>Análisis de los requerimientos de los sectores usuarios</a:t>
            </a:r>
            <a:endParaRPr lang="es-AR" b="1" dirty="0"/>
          </a:p>
        </p:txBody>
      </p:sp>
      <p:sp>
        <p:nvSpPr>
          <p:cNvPr id="15" name="21 Rectángulo"/>
          <p:cNvSpPr/>
          <p:nvPr/>
        </p:nvSpPr>
        <p:spPr bwMode="auto">
          <a:xfrm>
            <a:off x="179512" y="4366845"/>
            <a:ext cx="4044822" cy="646331"/>
          </a:xfrm>
          <a:prstGeom prst="rect">
            <a:avLst/>
          </a:prstGeom>
          <a:solidFill>
            <a:srgbClr val="00CC00"/>
          </a:solidFill>
          <a:ln w="9525" algn="ctr">
            <a:noFill/>
            <a:miter lim="800000"/>
            <a:headEnd/>
            <a:tailEnd/>
          </a:ln>
          <a:effectLst/>
        </p:spPr>
        <p:txBody>
          <a:bodyPr wrap="square">
            <a:spAutoFit/>
          </a:bodyPr>
          <a:lstStyle/>
          <a:p>
            <a:r>
              <a:rPr lang="es-AR" b="1" dirty="0"/>
              <a:t>Desarrollo de los requerimientos propios y de terceras partes</a:t>
            </a:r>
          </a:p>
        </p:txBody>
      </p:sp>
      <p:sp>
        <p:nvSpPr>
          <p:cNvPr id="16" name="21 Rectángulo"/>
          <p:cNvSpPr/>
          <p:nvPr/>
        </p:nvSpPr>
        <p:spPr bwMode="auto">
          <a:xfrm>
            <a:off x="179512" y="5579948"/>
            <a:ext cx="4044822" cy="369332"/>
          </a:xfrm>
          <a:prstGeom prst="rect">
            <a:avLst/>
          </a:prstGeom>
          <a:solidFill>
            <a:srgbClr val="00CC00"/>
          </a:solidFill>
          <a:ln w="9525" algn="ctr">
            <a:noFill/>
            <a:miter lim="800000"/>
            <a:headEnd/>
            <a:tailEnd/>
          </a:ln>
          <a:effectLst/>
        </p:spPr>
        <p:txBody>
          <a:bodyPr wrap="square">
            <a:spAutoFit/>
          </a:bodyPr>
          <a:lstStyle/>
          <a:p>
            <a:r>
              <a:rPr lang="es-ES_tradnl" b="1" dirty="0"/>
              <a:t>Prueba y puesta a punto</a:t>
            </a:r>
            <a:endParaRPr lang="es-AR" b="1" dirty="0"/>
          </a:p>
        </p:txBody>
      </p:sp>
    </p:spTree>
    <p:extLst>
      <p:ext uri="{BB962C8B-B14F-4D97-AF65-F5344CB8AC3E}">
        <p14:creationId xmlns:p14="http://schemas.microsoft.com/office/powerpoint/2010/main" val="275587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21" presetClass="entr" presetSubtype="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heel(1)">
                                      <p:cBhvr>
                                        <p:cTn id="15" dur="2000"/>
                                        <p:tgtEl>
                                          <p:spTgt spid="7"/>
                                        </p:tgtEl>
                                      </p:cBhvr>
                                    </p:animEffect>
                                  </p:childTnLst>
                                </p:cTn>
                              </p:par>
                            </p:childTnLst>
                          </p:cTn>
                        </p:par>
                        <p:par>
                          <p:cTn id="16" fill="hold">
                            <p:stCondLst>
                              <p:cond delay="500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childTnLst>
                          </p:cTn>
                        </p:par>
                        <p:par>
                          <p:cTn id="20" fill="hold">
                            <p:stCondLst>
                              <p:cond delay="60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childTnLst>
                                </p:cTn>
                              </p:par>
                            </p:childTnLst>
                          </p:cTn>
                        </p:par>
                        <p:par>
                          <p:cTn id="24" fill="hold">
                            <p:stCondLst>
                              <p:cond delay="70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childTnLst>
                                </p:cTn>
                              </p:par>
                            </p:childTnLst>
                          </p:cTn>
                        </p:par>
                        <p:par>
                          <p:cTn id="28" fill="hold">
                            <p:stCondLst>
                              <p:cond delay="8000"/>
                            </p:stCondLst>
                            <p:childTnLst>
                              <p:par>
                                <p:cTn id="29" presetID="10"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0"/>
                                        <p:tgtEl>
                                          <p:spTgt spid="15"/>
                                        </p:tgtEl>
                                      </p:cBhvr>
                                    </p:animEffect>
                                  </p:childTnLst>
                                </p:cTn>
                              </p:par>
                            </p:childTnLst>
                          </p:cTn>
                        </p:par>
                        <p:par>
                          <p:cTn id="32" fill="hold">
                            <p:stCondLst>
                              <p:cond delay="900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2" grpId="0" animBg="1"/>
      <p:bldP spid="13" grpId="0" animBg="1"/>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428660" y="142852"/>
            <a:ext cx="9249132" cy="622992"/>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AR" dirty="0"/>
          </a:p>
        </p:txBody>
      </p:sp>
      <p:sp>
        <p:nvSpPr>
          <p:cNvPr id="5" name="Rectangle 9"/>
          <p:cNvSpPr txBox="1">
            <a:spLocks noChangeArrowheads="1"/>
          </p:cNvSpPr>
          <p:nvPr/>
        </p:nvSpPr>
        <p:spPr>
          <a:xfrm>
            <a:off x="106934" y="142876"/>
            <a:ext cx="8394156" cy="642918"/>
          </a:xfrm>
          <a:prstGeom prst="rect">
            <a:avLst/>
          </a:prstGeom>
        </p:spPr>
        <p:txBody>
          <a:bodyPr vert="horz" lIns="91440" tIns="45720" rIns="91440" bIns="45720" rtlCol="0">
            <a:noAutofit/>
          </a:bodyPr>
          <a:lstStyle/>
          <a:p>
            <a:r>
              <a:rPr lang="es-AR" sz="2800" b="1" dirty="0">
                <a:latin typeface="+mj-lt"/>
              </a:rPr>
              <a:t>Procesos y sub-procesos de gestión de TI</a:t>
            </a:r>
            <a:endParaRPr lang="es-AR" sz="2800" dirty="0">
              <a:latin typeface="+mj-lt"/>
            </a:endParaRPr>
          </a:p>
        </p:txBody>
      </p:sp>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18</a:t>
            </a:fld>
            <a:endParaRPr lang="es-ES" sz="1200" b="1" dirty="0">
              <a:latin typeface="+mn-lt"/>
            </a:endParaRPr>
          </a:p>
        </p:txBody>
      </p:sp>
      <p:pic>
        <p:nvPicPr>
          <p:cNvPr id="7" name="Picture 2" descr="http://t1.gstatic.com/images?q=tbn:ANd9GcSrBiJQ6nO9othHT6YirauErrn2Fx0YoSgL42JCx53prFqYqb2n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717" y="1268759"/>
            <a:ext cx="7063923" cy="5000305"/>
          </a:xfrm>
          <a:prstGeom prst="rect">
            <a:avLst/>
          </a:prstGeom>
          <a:noFill/>
          <a:extLst>
            <a:ext uri="{909E8E84-426E-40DD-AFC4-6F175D3DCCD1}">
              <a14:hiddenFill xmlns:a14="http://schemas.microsoft.com/office/drawing/2010/main">
                <a:solidFill>
                  <a:srgbClr val="FFFFFF"/>
                </a:solidFill>
              </a14:hiddenFill>
            </a:ext>
          </a:extLst>
        </p:spPr>
      </p:pic>
      <p:sp>
        <p:nvSpPr>
          <p:cNvPr id="12" name="21 Rectángulo"/>
          <p:cNvSpPr/>
          <p:nvPr/>
        </p:nvSpPr>
        <p:spPr bwMode="auto">
          <a:xfrm>
            <a:off x="3268717" y="1115452"/>
            <a:ext cx="5687123" cy="369332"/>
          </a:xfrm>
          <a:prstGeom prst="rect">
            <a:avLst/>
          </a:prstGeom>
          <a:solidFill>
            <a:srgbClr val="00CC00"/>
          </a:solidFill>
          <a:ln w="9525" algn="ctr">
            <a:noFill/>
            <a:miter lim="800000"/>
            <a:headEnd/>
            <a:tailEnd/>
          </a:ln>
          <a:effectLst/>
        </p:spPr>
        <p:txBody>
          <a:bodyPr wrap="square">
            <a:spAutoFit/>
          </a:bodyPr>
          <a:lstStyle/>
          <a:p>
            <a:r>
              <a:rPr lang="es-ES_tradnl" b="1" dirty="0"/>
              <a:t>Adquisición y Mantenimiento de Soluciones Informáticas</a:t>
            </a:r>
            <a:endParaRPr lang="es-AR" b="1" dirty="0"/>
          </a:p>
        </p:txBody>
      </p:sp>
      <p:sp>
        <p:nvSpPr>
          <p:cNvPr id="13" name="21 Rectángulo"/>
          <p:cNvSpPr/>
          <p:nvPr/>
        </p:nvSpPr>
        <p:spPr bwMode="auto">
          <a:xfrm>
            <a:off x="179512" y="2771636"/>
            <a:ext cx="4044822" cy="369332"/>
          </a:xfrm>
          <a:prstGeom prst="rect">
            <a:avLst/>
          </a:prstGeom>
          <a:solidFill>
            <a:srgbClr val="00CC00"/>
          </a:solidFill>
          <a:ln w="9525" algn="ctr">
            <a:noFill/>
            <a:miter lim="800000"/>
            <a:headEnd/>
            <a:tailEnd/>
          </a:ln>
          <a:effectLst/>
        </p:spPr>
        <p:txBody>
          <a:bodyPr wrap="square">
            <a:spAutoFit/>
          </a:bodyPr>
          <a:lstStyle/>
          <a:p>
            <a:r>
              <a:rPr lang="es-AR" b="1" dirty="0"/>
              <a:t>Pase a producción – Control de cambios</a:t>
            </a:r>
          </a:p>
        </p:txBody>
      </p:sp>
      <p:sp>
        <p:nvSpPr>
          <p:cNvPr id="14" name="21 Rectángulo"/>
          <p:cNvSpPr/>
          <p:nvPr/>
        </p:nvSpPr>
        <p:spPr bwMode="auto">
          <a:xfrm>
            <a:off x="179512" y="4510861"/>
            <a:ext cx="4044822" cy="646331"/>
          </a:xfrm>
          <a:prstGeom prst="rect">
            <a:avLst/>
          </a:prstGeom>
          <a:solidFill>
            <a:srgbClr val="00CC00"/>
          </a:solidFill>
          <a:ln w="9525" algn="ctr">
            <a:noFill/>
            <a:miter lim="800000"/>
            <a:headEnd/>
            <a:tailEnd/>
          </a:ln>
          <a:effectLst/>
        </p:spPr>
        <p:txBody>
          <a:bodyPr wrap="square">
            <a:spAutoFit/>
          </a:bodyPr>
          <a:lstStyle/>
          <a:p>
            <a:r>
              <a:rPr lang="es-AR" b="1" dirty="0"/>
              <a:t>Adquisición y mantenimiento de infraestructura tecnológica (Tecnología)</a:t>
            </a:r>
          </a:p>
        </p:txBody>
      </p:sp>
    </p:spTree>
    <p:extLst>
      <p:ext uri="{BB962C8B-B14F-4D97-AF65-F5344CB8AC3E}">
        <p14:creationId xmlns:p14="http://schemas.microsoft.com/office/powerpoint/2010/main" val="317206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3000"/>
                            </p:stCondLst>
                            <p:childTnLst>
                              <p:par>
                                <p:cTn id="13" presetID="21" presetClass="entr" presetSubtype="1"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heel(1)">
                                      <p:cBhvr>
                                        <p:cTn id="15" dur="2000"/>
                                        <p:tgtEl>
                                          <p:spTgt spid="7"/>
                                        </p:tgtEl>
                                      </p:cBhvr>
                                    </p:animEffect>
                                  </p:childTnLst>
                                </p:cTn>
                              </p:par>
                            </p:childTnLst>
                          </p:cTn>
                        </p:par>
                        <p:par>
                          <p:cTn id="16" fill="hold">
                            <p:stCondLst>
                              <p:cond delay="500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childTnLst>
                          </p:cTn>
                        </p:par>
                        <p:par>
                          <p:cTn id="20" fill="hold">
                            <p:stCondLst>
                              <p:cond delay="6000"/>
                            </p:stCondLst>
                            <p:childTnLst>
                              <p:par>
                                <p:cTn id="21" presetID="10"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childTnLst>
                                </p:cTn>
                              </p:par>
                            </p:childTnLst>
                          </p:cTn>
                        </p:par>
                        <p:par>
                          <p:cTn id="24" fill="hold">
                            <p:stCondLst>
                              <p:cond delay="70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2"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391CFECD-542B-4EB5-A254-4A4B9AFF61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541" y="620688"/>
            <a:ext cx="8560939" cy="623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4 Marcador de número de diapositiva"/>
          <p:cNvSpPr txBox="1">
            <a:spLocks/>
          </p:cNvSpPr>
          <p:nvPr/>
        </p:nvSpPr>
        <p:spPr>
          <a:xfrm>
            <a:off x="118582" y="6525344"/>
            <a:ext cx="398814" cy="332656"/>
          </a:xfrm>
          <a:prstGeom prst="rect">
            <a:avLst/>
          </a:prstGeom>
        </p:spPr>
        <p:txBody>
          <a:bodyPr/>
          <a:lstStyle/>
          <a:p>
            <a:pPr algn="r">
              <a:defRPr/>
            </a:pPr>
            <a:fld id="{36E559FE-78AC-4F99-BF93-3503C01DAB20}" type="slidenum">
              <a:rPr lang="es-ES" sz="1200" b="1">
                <a:latin typeface="+mn-lt"/>
              </a:rPr>
              <a:pPr algn="r">
                <a:defRPr/>
              </a:pPr>
              <a:t>19</a:t>
            </a:fld>
            <a:endParaRPr lang="es-ES" sz="1200" b="1" dirty="0">
              <a:latin typeface="+mn-lt"/>
            </a:endParaRPr>
          </a:p>
        </p:txBody>
      </p:sp>
      <p:sp>
        <p:nvSpPr>
          <p:cNvPr id="17" name="8 Elipse"/>
          <p:cNvSpPr>
            <a:spLocks noChangeAspect="1"/>
          </p:cNvSpPr>
          <p:nvPr/>
        </p:nvSpPr>
        <p:spPr>
          <a:xfrm>
            <a:off x="7826806" y="-46756"/>
            <a:ext cx="1253904" cy="1162208"/>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s-AR" b="1"/>
              <a:t>Activi-dad 2</a:t>
            </a:r>
            <a:endParaRPr lang="es-AR" b="1" dirty="0"/>
          </a:p>
        </p:txBody>
      </p:sp>
    </p:spTree>
    <p:extLst>
      <p:ext uri="{BB962C8B-B14F-4D97-AF65-F5344CB8AC3E}">
        <p14:creationId xmlns:p14="http://schemas.microsoft.com/office/powerpoint/2010/main" val="3404277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4 Marcador de número de diapositiva"/>
          <p:cNvSpPr txBox="1">
            <a:spLocks/>
          </p:cNvSpPr>
          <p:nvPr/>
        </p:nvSpPr>
        <p:spPr>
          <a:xfrm>
            <a:off x="118582" y="6525344"/>
            <a:ext cx="636994" cy="332656"/>
          </a:xfrm>
          <a:prstGeom prst="rect">
            <a:avLst/>
          </a:prstGeom>
        </p:spPr>
        <p:txBody>
          <a:bodyPr/>
          <a:lstStyle/>
          <a:p>
            <a:pPr algn="r">
              <a:defRPr/>
            </a:pPr>
            <a:fld id="{36E559FE-78AC-4F99-BF93-3503C01DAB20}" type="slidenum">
              <a:rPr lang="es-ES" sz="1200" b="1">
                <a:latin typeface="+mn-lt"/>
              </a:rPr>
              <a:pPr algn="r">
                <a:defRPr/>
              </a:pPr>
              <a:t>20</a:t>
            </a:fld>
            <a:endParaRPr lang="es-ES" sz="1200" b="1" dirty="0">
              <a:latin typeface="+mn-lt"/>
            </a:endParaRPr>
          </a:p>
        </p:txBody>
      </p:sp>
      <p:sp>
        <p:nvSpPr>
          <p:cNvPr id="10" name="9 Rectángulo redondeado"/>
          <p:cNvSpPr/>
          <p:nvPr/>
        </p:nvSpPr>
        <p:spPr>
          <a:xfrm>
            <a:off x="-7463" y="188851"/>
            <a:ext cx="7963839" cy="719869"/>
          </a:xfrm>
          <a:prstGeom prst="roundRect">
            <a:avLst/>
          </a:prstGeom>
          <a:solidFill>
            <a:srgbClr val="66CCFF"/>
          </a:solidFill>
          <a:ln/>
        </p:spPr>
        <p:style>
          <a:lnRef idx="0">
            <a:schemeClr val="accent6"/>
          </a:lnRef>
          <a:fillRef idx="3">
            <a:schemeClr val="accent6"/>
          </a:fillRef>
          <a:effectRef idx="3">
            <a:schemeClr val="accent6"/>
          </a:effectRef>
          <a:fontRef idx="minor">
            <a:schemeClr val="lt1"/>
          </a:fontRef>
        </p:style>
        <p:txBody>
          <a:bodyPr rtlCol="0" anchor="ctr"/>
          <a:lstStyle/>
          <a:p>
            <a:pPr>
              <a:spcBef>
                <a:spcPct val="50000"/>
              </a:spcBef>
              <a:defRPr/>
            </a:pPr>
            <a:r>
              <a:rPr lang="es-ES" sz="3600" b="1">
                <a:solidFill>
                  <a:schemeClr val="tx1"/>
                </a:solidFill>
              </a:rPr>
              <a:t>¡Muchas gracias por tu atención!</a:t>
            </a:r>
            <a:endParaRPr lang="es-ES" sz="3600" b="1" dirty="0">
              <a:solidFill>
                <a:schemeClr val="tx1"/>
              </a:solidFill>
            </a:endParaRPr>
          </a:p>
        </p:txBody>
      </p:sp>
      <p:pic>
        <p:nvPicPr>
          <p:cNvPr id="12" name="Imagen 11">
            <a:extLst>
              <a:ext uri="{FF2B5EF4-FFF2-40B4-BE49-F238E27FC236}">
                <a16:creationId xmlns:a16="http://schemas.microsoft.com/office/drawing/2014/main" id="{5890F08A-ADD1-4566-B0F7-3FDE96EB06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244085"/>
            <a:ext cx="5400599" cy="5634730"/>
          </a:xfrm>
          <a:prstGeom prst="rect">
            <a:avLst/>
          </a:prstGeom>
        </p:spPr>
      </p:pic>
    </p:spTree>
    <p:extLst>
      <p:ext uri="{BB962C8B-B14F-4D97-AF65-F5344CB8AC3E}">
        <p14:creationId xmlns:p14="http://schemas.microsoft.com/office/powerpoint/2010/main" val="324619600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10965</TotalTime>
  <Words>989</Words>
  <Application>Microsoft Office PowerPoint</Application>
  <PresentationFormat>Presentación en pantalla (4:3)</PresentationFormat>
  <Paragraphs>93</Paragraphs>
  <Slides>20</Slides>
  <Notes>0</Notes>
  <HiddenSlides>0</HiddenSlides>
  <MMClips>0</MMClips>
  <ScaleCrop>false</ScaleCrop>
  <HeadingPairs>
    <vt:vector size="8" baseType="variant">
      <vt:variant>
        <vt:lpstr>Fuentes usadas</vt:lpstr>
      </vt:variant>
      <vt:variant>
        <vt:i4>2</vt:i4>
      </vt:variant>
      <vt:variant>
        <vt:lpstr>Tema</vt:lpstr>
      </vt:variant>
      <vt:variant>
        <vt:i4>1</vt:i4>
      </vt:variant>
      <vt:variant>
        <vt:lpstr>Servidores OLE incrustados</vt:lpstr>
      </vt:variant>
      <vt:variant>
        <vt:i4>1</vt:i4>
      </vt:variant>
      <vt:variant>
        <vt:lpstr>Títulos de diapositiva</vt:lpstr>
      </vt:variant>
      <vt:variant>
        <vt:i4>20</vt:i4>
      </vt:variant>
    </vt:vector>
  </HeadingPairs>
  <TitlesOfParts>
    <vt:vector size="24" baseType="lpstr">
      <vt:lpstr>Arial</vt:lpstr>
      <vt:lpstr>Calibri</vt:lpstr>
      <vt:lpstr>Tema de Office</vt:lpstr>
      <vt:lpstr>Imagen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Sony Electronics,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JULY</dc:creator>
  <cp:lastModifiedBy>user</cp:lastModifiedBy>
  <cp:revision>1129</cp:revision>
  <cp:lastPrinted>2013-09-16T00:53:57Z</cp:lastPrinted>
  <dcterms:created xsi:type="dcterms:W3CDTF">2011-05-03T20:44:05Z</dcterms:created>
  <dcterms:modified xsi:type="dcterms:W3CDTF">2026-08-23T21:34:53Z</dcterms:modified>
</cp:coreProperties>
</file>