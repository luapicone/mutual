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notesSlides/notesSlide2.xml" ContentType="application/vnd.openxmlformats-officedocument.presentationml.notesSlide+xml"/>
  <Override PartName="/ppt/diagrams/quickStyle4.xml" ContentType="application/vnd.openxmlformats-officedocument.drawingml.diagramStyl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theme/theme3.xml" ContentType="application/vnd.openxmlformats-officedocument.theme+xml"/>
  <Override PartName="/ppt/diagrams/quickStyle2.xml" ContentType="application/vnd.openxmlformats-officedocument.drawingml.diagramStyl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diagrams/layout3.xml" ContentType="application/vnd.openxmlformats-officedocument.drawingml.diagramLayout+xml"/>
  <Override PartName="/ppt/diagrams/data4.xml" ContentType="application/vnd.openxmlformats-officedocument.drawingml.diagramData+xml"/>
  <Override PartName="/ppt/notesSlides/notesSlide9.xml" ContentType="application/vnd.openxmlformats-officedocument.presentationml.notesSlide+xml"/>
  <Override PartName="/ppt/notesSlides/notesSlide12.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diagrams/colors4.xml" ContentType="application/vnd.openxmlformats-officedocument.drawingml.diagramColors+xml"/>
  <Override PartName="/ppt/notesSlides/notesSlide5.xml" ContentType="application/vnd.openxmlformats-officedocument.presentationml.notesSlide+xml"/>
  <Override PartName="/ppt/diagrams/drawing10.xml" ContentType="application/vnd.ms-office.drawingml.diagramDrawing+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diagrams/quickStyle3.xml" ContentType="application/vnd.openxmlformats-officedocument.drawingml.diagramStyl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Override PartName="/ppt/diagrams/quickStyle1.xml" ContentType="application/vnd.openxmlformats-officedocument.drawingml.diagramStyl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diagrams/layout4.xml" ContentType="application/vnd.openxmlformats-officedocument.drawingml.diagramLayout+xml"/>
  <Override PartName="/ppt/slideLayouts/slideLayout10.xml" ContentType="application/vnd.openxmlformats-officedocument.presentationml.slideLayout+xml"/>
  <Override PartName="/ppt/diagrams/layout2.xml" ContentType="application/vnd.openxmlformats-officedocument.drawingml.diagram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notesSlides/notesSlide6.xml" ContentType="application/vnd.openxmlformats-officedocument.presentationml.notesSlide+xml"/>
  <Override PartName="/ppt/slides/slide8.xml" ContentType="application/vnd.openxmlformats-officedocument.presentationml.slide+xml"/>
  <Override PartName="/ppt/handoutMasters/handoutMaster1.xml" ContentType="application/vnd.openxmlformats-officedocument.presentationml.handoutMaster+xml"/>
  <Override PartName="/ppt/diagrams/data1.xml" ContentType="application/vnd.openxmlformats-officedocument.drawingml.diagramData+xml"/>
  <Override PartName="/ppt/diagrams/colors3.xml" ContentType="application/vnd.openxmlformats-officedocument.drawingml.diagramColors+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320" r:id="rId1"/>
  </p:sldMasterIdLst>
  <p:notesMasterIdLst>
    <p:notesMasterId r:id="rId37"/>
  </p:notesMasterIdLst>
  <p:handoutMasterIdLst>
    <p:handoutMasterId r:id="rId38"/>
  </p:handoutMasterIdLst>
  <p:sldIdLst>
    <p:sldId id="459" r:id="rId2"/>
    <p:sldId id="460" r:id="rId3"/>
    <p:sldId id="357" r:id="rId4"/>
    <p:sldId id="453" r:id="rId5"/>
    <p:sldId id="389" r:id="rId6"/>
    <p:sldId id="390" r:id="rId7"/>
    <p:sldId id="434" r:id="rId8"/>
    <p:sldId id="392" r:id="rId9"/>
    <p:sldId id="458" r:id="rId10"/>
    <p:sldId id="461" r:id="rId11"/>
    <p:sldId id="462" r:id="rId12"/>
    <p:sldId id="463" r:id="rId13"/>
    <p:sldId id="451" r:id="rId14"/>
    <p:sldId id="336" r:id="rId15"/>
    <p:sldId id="364" r:id="rId16"/>
    <p:sldId id="470" r:id="rId17"/>
    <p:sldId id="446" r:id="rId18"/>
    <p:sldId id="464" r:id="rId19"/>
    <p:sldId id="447" r:id="rId20"/>
    <p:sldId id="423" r:id="rId21"/>
    <p:sldId id="471" r:id="rId22"/>
    <p:sldId id="472" r:id="rId23"/>
    <p:sldId id="473" r:id="rId24"/>
    <p:sldId id="474" r:id="rId25"/>
    <p:sldId id="317" r:id="rId26"/>
    <p:sldId id="387" r:id="rId27"/>
    <p:sldId id="388" r:id="rId28"/>
    <p:sldId id="318" r:id="rId29"/>
    <p:sldId id="348" r:id="rId30"/>
    <p:sldId id="441" r:id="rId31"/>
    <p:sldId id="442" r:id="rId32"/>
    <p:sldId id="309" r:id="rId33"/>
    <p:sldId id="326" r:id="rId34"/>
    <p:sldId id="310" r:id="rId35"/>
    <p:sldId id="339" r:id="rId36"/>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63F9A"/>
    <a:srgbClr val="EB641B"/>
    <a:srgbClr val="31F927"/>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6250" autoAdjust="0"/>
    <p:restoredTop sz="96880" autoAdjust="0"/>
  </p:normalViewPr>
  <p:slideViewPr>
    <p:cSldViewPr>
      <p:cViewPr>
        <p:scale>
          <a:sx n="71" d="100"/>
          <a:sy n="71" d="100"/>
        </p:scale>
        <p:origin x="-1326" y="-66"/>
      </p:cViewPr>
      <p:guideLst>
        <p:guide orient="horz" pos="2160"/>
        <p:guide pos="2880"/>
      </p:guideLst>
    </p:cSldViewPr>
  </p:slideViewPr>
  <p:outlineViewPr>
    <p:cViewPr>
      <p:scale>
        <a:sx n="33" d="100"/>
        <a:sy n="33" d="100"/>
      </p:scale>
      <p:origin x="0" y="88206"/>
    </p:cViewPr>
  </p:outlineViewPr>
  <p:notesTextViewPr>
    <p:cViewPr>
      <p:scale>
        <a:sx n="100" d="100"/>
        <a:sy n="100" d="100"/>
      </p:scale>
      <p:origin x="0" y="0"/>
    </p:cViewPr>
  </p:notesTextViewPr>
  <p:sorterViewPr>
    <p:cViewPr>
      <p:scale>
        <a:sx n="66" d="100"/>
        <a:sy n="66" d="100"/>
      </p:scale>
      <p:origin x="0" y="621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43D9F2A-921F-461E-BDED-1D19C1C906BA}" type="doc">
      <dgm:prSet loTypeId="urn:microsoft.com/office/officeart/2005/8/layout/radial6" loCatId="cycle" qsTypeId="urn:microsoft.com/office/officeart/2005/8/quickstyle/simple1" qsCatId="simple" csTypeId="urn:microsoft.com/office/officeart/2005/8/colors/accent1_2" csCatId="accent1" phldr="1"/>
      <dgm:spPr/>
      <dgm:t>
        <a:bodyPr/>
        <a:lstStyle/>
        <a:p>
          <a:endParaRPr lang="es-ES"/>
        </a:p>
      </dgm:t>
    </dgm:pt>
    <dgm:pt modelId="{E66A3BF2-41F1-4EA6-B8BD-478CFE8BDD7D}">
      <dgm:prSet phldrT="[Texto]" custT="1"/>
      <dgm:spPr>
        <a:solidFill>
          <a:schemeClr val="accent4">
            <a:lumMod val="20000"/>
            <a:lumOff val="80000"/>
          </a:schemeClr>
        </a:solidFill>
      </dgm:spPr>
      <dgm:t>
        <a:bodyPr/>
        <a:lstStyle/>
        <a:p>
          <a:r>
            <a:rPr lang="es-ES" sz="1400" b="1" dirty="0" smtClean="0">
              <a:solidFill>
                <a:srgbClr val="002060"/>
              </a:solidFill>
            </a:rPr>
            <a:t>Naturaleza Mutual</a:t>
          </a:r>
          <a:endParaRPr lang="es-ES" sz="1400" b="1" dirty="0">
            <a:solidFill>
              <a:srgbClr val="002060"/>
            </a:solidFill>
          </a:endParaRPr>
        </a:p>
      </dgm:t>
    </dgm:pt>
    <dgm:pt modelId="{876D73C4-AC6D-4DB4-A169-4A98A8A81DF9}" type="parTrans" cxnId="{ABCC5F0D-82D7-43E5-AA7A-C1D7B0B8F25C}">
      <dgm:prSet/>
      <dgm:spPr/>
      <dgm:t>
        <a:bodyPr/>
        <a:lstStyle/>
        <a:p>
          <a:endParaRPr lang="es-ES"/>
        </a:p>
      </dgm:t>
    </dgm:pt>
    <dgm:pt modelId="{D5C6068B-6F41-4E01-8982-1267843B0039}" type="sibTrans" cxnId="{ABCC5F0D-82D7-43E5-AA7A-C1D7B0B8F25C}">
      <dgm:prSet/>
      <dgm:spPr/>
      <dgm:t>
        <a:bodyPr/>
        <a:lstStyle/>
        <a:p>
          <a:endParaRPr lang="es-ES"/>
        </a:p>
      </dgm:t>
    </dgm:pt>
    <dgm:pt modelId="{6AA5FBF1-7BE3-41F5-93EB-3B61A935D37C}">
      <dgm:prSet phldrT="[Texto]" custT="1"/>
      <dgm:spPr>
        <a:solidFill>
          <a:srgbClr val="FFC000"/>
        </a:solidFill>
      </dgm:spPr>
      <dgm:t>
        <a:bodyPr/>
        <a:lstStyle/>
        <a:p>
          <a:r>
            <a:rPr lang="es-AR" sz="1400" b="1" dirty="0" smtClean="0">
              <a:solidFill>
                <a:srgbClr val="002060"/>
              </a:solidFill>
            </a:rPr>
            <a:t>Jurisprudencia</a:t>
          </a:r>
          <a:endParaRPr lang="es-ES" sz="1400" b="1" dirty="0">
            <a:solidFill>
              <a:srgbClr val="002060"/>
            </a:solidFill>
          </a:endParaRPr>
        </a:p>
      </dgm:t>
    </dgm:pt>
    <dgm:pt modelId="{F487EE29-63D4-404F-8AE5-49927E7E6C2A}" type="parTrans" cxnId="{396D1351-8C18-4F5C-B41A-917572174B35}">
      <dgm:prSet/>
      <dgm:spPr/>
      <dgm:t>
        <a:bodyPr/>
        <a:lstStyle/>
        <a:p>
          <a:endParaRPr lang="es-ES"/>
        </a:p>
      </dgm:t>
    </dgm:pt>
    <dgm:pt modelId="{539E598B-BD3B-40BF-AE39-30C71B2D5ECE}" type="sibTrans" cxnId="{396D1351-8C18-4F5C-B41A-917572174B35}">
      <dgm:prSet/>
      <dgm:spPr/>
      <dgm:t>
        <a:bodyPr/>
        <a:lstStyle/>
        <a:p>
          <a:endParaRPr lang="es-ES"/>
        </a:p>
      </dgm:t>
    </dgm:pt>
    <dgm:pt modelId="{8AA4B0BD-5724-406B-ADDE-C0163A976A8B}">
      <dgm:prSet phldrT="[Texto]" custT="1"/>
      <dgm:spPr>
        <a:solidFill>
          <a:schemeClr val="accent1">
            <a:lumMod val="60000"/>
            <a:lumOff val="40000"/>
          </a:schemeClr>
        </a:solidFill>
      </dgm:spPr>
      <dgm:t>
        <a:bodyPr/>
        <a:lstStyle/>
        <a:p>
          <a:r>
            <a:rPr lang="es-AR" sz="1400" b="1" dirty="0" smtClean="0">
              <a:solidFill>
                <a:srgbClr val="002060"/>
              </a:solidFill>
            </a:rPr>
            <a:t>Ley 20.321</a:t>
          </a:r>
          <a:endParaRPr lang="es-ES" sz="1400" b="1" dirty="0">
            <a:solidFill>
              <a:srgbClr val="002060"/>
            </a:solidFill>
          </a:endParaRPr>
        </a:p>
      </dgm:t>
    </dgm:pt>
    <dgm:pt modelId="{0DF87A3F-56CF-4CAF-86F8-C1FCC43876B0}" type="parTrans" cxnId="{8666C010-9DA7-4260-82E5-FB31D331C274}">
      <dgm:prSet/>
      <dgm:spPr/>
      <dgm:t>
        <a:bodyPr/>
        <a:lstStyle/>
        <a:p>
          <a:endParaRPr lang="es-ES"/>
        </a:p>
      </dgm:t>
    </dgm:pt>
    <dgm:pt modelId="{81A54017-F078-417F-B6A1-A9395462218B}" type="sibTrans" cxnId="{8666C010-9DA7-4260-82E5-FB31D331C274}">
      <dgm:prSet/>
      <dgm:spPr/>
      <dgm:t>
        <a:bodyPr/>
        <a:lstStyle/>
        <a:p>
          <a:endParaRPr lang="es-ES"/>
        </a:p>
      </dgm:t>
    </dgm:pt>
    <dgm:pt modelId="{FB414603-E588-4D21-82E6-CD193477B823}">
      <dgm:prSet phldrT="[Texto]" custT="1"/>
      <dgm:spPr>
        <a:solidFill>
          <a:srgbClr val="92D050"/>
        </a:solidFill>
      </dgm:spPr>
      <dgm:t>
        <a:bodyPr/>
        <a:lstStyle/>
        <a:p>
          <a:r>
            <a:rPr lang="es-ES" sz="1400" b="1" dirty="0" smtClean="0">
              <a:solidFill>
                <a:srgbClr val="002060"/>
              </a:solidFill>
            </a:rPr>
            <a:t>Constituciones Provinciales</a:t>
          </a:r>
          <a:endParaRPr lang="es-ES" sz="1400" b="1" dirty="0">
            <a:solidFill>
              <a:srgbClr val="002060"/>
            </a:solidFill>
          </a:endParaRPr>
        </a:p>
      </dgm:t>
    </dgm:pt>
    <dgm:pt modelId="{9689F60D-6F7B-4F8C-AE58-EDE693FAE27F}" type="parTrans" cxnId="{72DA1CDA-7BE6-4C9C-9C68-2E2E95E24F8E}">
      <dgm:prSet/>
      <dgm:spPr/>
      <dgm:t>
        <a:bodyPr/>
        <a:lstStyle/>
        <a:p>
          <a:endParaRPr lang="es-ES"/>
        </a:p>
      </dgm:t>
    </dgm:pt>
    <dgm:pt modelId="{060E1800-3BE5-4AD7-AB0D-5C1AE8A735A3}" type="sibTrans" cxnId="{72DA1CDA-7BE6-4C9C-9C68-2E2E95E24F8E}">
      <dgm:prSet/>
      <dgm:spPr/>
      <dgm:t>
        <a:bodyPr/>
        <a:lstStyle/>
        <a:p>
          <a:endParaRPr lang="es-ES"/>
        </a:p>
      </dgm:t>
    </dgm:pt>
    <dgm:pt modelId="{8733A2DF-E1BE-435C-998B-CC4D8AEE397B}">
      <dgm:prSet phldrT="[Texto]" custT="1"/>
      <dgm:spPr>
        <a:solidFill>
          <a:srgbClr val="FFFF00"/>
        </a:solidFill>
      </dgm:spPr>
      <dgm:t>
        <a:bodyPr/>
        <a:lstStyle/>
        <a:p>
          <a:r>
            <a:rPr lang="es-AR" sz="1400" b="1" dirty="0" smtClean="0">
              <a:solidFill>
                <a:srgbClr val="002060"/>
              </a:solidFill>
            </a:rPr>
            <a:t>Res. 477/20 </a:t>
          </a:r>
        </a:p>
        <a:p>
          <a:r>
            <a:rPr lang="es-AR" sz="1400" b="1" dirty="0" smtClean="0">
              <a:solidFill>
                <a:srgbClr val="002060"/>
              </a:solidFill>
            </a:rPr>
            <a:t>Res. 5460/23 (INAES)</a:t>
          </a:r>
          <a:endParaRPr lang="es-ES" sz="1400" b="1" dirty="0">
            <a:solidFill>
              <a:srgbClr val="002060"/>
            </a:solidFill>
          </a:endParaRPr>
        </a:p>
      </dgm:t>
    </dgm:pt>
    <dgm:pt modelId="{4891EA74-D6D7-444C-93E6-A20053DF58BE}" type="parTrans" cxnId="{3B78E2F1-B35D-4C8A-B8AA-718FCD0512C7}">
      <dgm:prSet/>
      <dgm:spPr/>
      <dgm:t>
        <a:bodyPr/>
        <a:lstStyle/>
        <a:p>
          <a:endParaRPr lang="es-ES"/>
        </a:p>
      </dgm:t>
    </dgm:pt>
    <dgm:pt modelId="{D22D7436-17A3-444F-BC1F-3B31504A63F8}" type="sibTrans" cxnId="{3B78E2F1-B35D-4C8A-B8AA-718FCD0512C7}">
      <dgm:prSet/>
      <dgm:spPr/>
      <dgm:t>
        <a:bodyPr/>
        <a:lstStyle/>
        <a:p>
          <a:endParaRPr lang="es-ES"/>
        </a:p>
      </dgm:t>
    </dgm:pt>
    <dgm:pt modelId="{E141C112-AD1B-4FCE-A4F3-8F5504995740}">
      <dgm:prSet phldrT="[Texto]" custT="1"/>
      <dgm:spPr>
        <a:solidFill>
          <a:schemeClr val="bg2">
            <a:lumMod val="90000"/>
          </a:schemeClr>
        </a:solidFill>
      </dgm:spPr>
      <dgm:t>
        <a:bodyPr/>
        <a:lstStyle/>
        <a:p>
          <a:r>
            <a:rPr lang="es-AR" sz="1400" b="1" dirty="0" smtClean="0">
              <a:solidFill>
                <a:srgbClr val="002060"/>
              </a:solidFill>
            </a:rPr>
            <a:t>Pruebas</a:t>
          </a:r>
          <a:endParaRPr lang="es-ES" sz="1400" b="1" dirty="0">
            <a:solidFill>
              <a:srgbClr val="002060"/>
            </a:solidFill>
          </a:endParaRPr>
        </a:p>
      </dgm:t>
    </dgm:pt>
    <dgm:pt modelId="{29BB2285-E121-4D4F-97C8-DD63BED25939}" type="parTrans" cxnId="{6D6B0130-18CB-4D30-A677-E151F2DD6BC7}">
      <dgm:prSet/>
      <dgm:spPr/>
      <dgm:t>
        <a:bodyPr/>
        <a:lstStyle/>
        <a:p>
          <a:endParaRPr lang="es-ES"/>
        </a:p>
      </dgm:t>
    </dgm:pt>
    <dgm:pt modelId="{4F15BADC-5DCF-43FA-8588-56D7B32A8E3E}" type="sibTrans" cxnId="{6D6B0130-18CB-4D30-A677-E151F2DD6BC7}">
      <dgm:prSet/>
      <dgm:spPr/>
      <dgm:t>
        <a:bodyPr/>
        <a:lstStyle/>
        <a:p>
          <a:endParaRPr lang="es-ES"/>
        </a:p>
      </dgm:t>
    </dgm:pt>
    <dgm:pt modelId="{1165D1CF-02DC-44E4-B64A-317208B9E70E}">
      <dgm:prSet phldrT="[Texto]"/>
      <dgm:spPr>
        <a:solidFill>
          <a:srgbClr val="FF0000"/>
        </a:solidFill>
      </dgm:spPr>
      <dgm:t>
        <a:bodyPr/>
        <a:lstStyle/>
        <a:p>
          <a:r>
            <a:rPr lang="es-AR" b="1" dirty="0" smtClean="0">
              <a:solidFill>
                <a:schemeClr val="bg1"/>
              </a:solidFill>
            </a:rPr>
            <a:t>Sin Fin de Lucro</a:t>
          </a:r>
          <a:endParaRPr lang="es-ES" b="1" dirty="0">
            <a:solidFill>
              <a:schemeClr val="bg1"/>
            </a:solidFill>
          </a:endParaRPr>
        </a:p>
      </dgm:t>
    </dgm:pt>
    <dgm:pt modelId="{7024CD2B-0877-49A3-95E9-1009BF340275}" type="sibTrans" cxnId="{75E185C0-520D-4C6A-B068-98D0880D0B2C}">
      <dgm:prSet/>
      <dgm:spPr/>
      <dgm:t>
        <a:bodyPr/>
        <a:lstStyle/>
        <a:p>
          <a:endParaRPr lang="es-ES"/>
        </a:p>
      </dgm:t>
    </dgm:pt>
    <dgm:pt modelId="{0E03B138-3018-4FA2-909A-2E616E160267}" type="parTrans" cxnId="{75E185C0-520D-4C6A-B068-98D0880D0B2C}">
      <dgm:prSet/>
      <dgm:spPr/>
      <dgm:t>
        <a:bodyPr/>
        <a:lstStyle/>
        <a:p>
          <a:endParaRPr lang="es-ES"/>
        </a:p>
      </dgm:t>
    </dgm:pt>
    <dgm:pt modelId="{A99BAFB8-1B8F-41A5-AE75-27D12DA9F516}" type="pres">
      <dgm:prSet presAssocID="{143D9F2A-921F-461E-BDED-1D19C1C906BA}" presName="Name0" presStyleCnt="0">
        <dgm:presLayoutVars>
          <dgm:chMax val="1"/>
          <dgm:dir/>
          <dgm:animLvl val="ctr"/>
          <dgm:resizeHandles val="exact"/>
        </dgm:presLayoutVars>
      </dgm:prSet>
      <dgm:spPr/>
      <dgm:t>
        <a:bodyPr/>
        <a:lstStyle/>
        <a:p>
          <a:endParaRPr lang="es-ES"/>
        </a:p>
      </dgm:t>
    </dgm:pt>
    <dgm:pt modelId="{6CCDDF8F-C456-4E2A-8A36-821ED76BEF15}" type="pres">
      <dgm:prSet presAssocID="{1165D1CF-02DC-44E4-B64A-317208B9E70E}" presName="centerShape" presStyleLbl="node0" presStyleIdx="0" presStyleCnt="1" custLinFactNeighborX="1069"/>
      <dgm:spPr/>
      <dgm:t>
        <a:bodyPr/>
        <a:lstStyle/>
        <a:p>
          <a:endParaRPr lang="es-ES"/>
        </a:p>
      </dgm:t>
    </dgm:pt>
    <dgm:pt modelId="{7F25A14E-031A-4AF0-A35E-0B6DA87B102A}" type="pres">
      <dgm:prSet presAssocID="{8AA4B0BD-5724-406B-ADDE-C0163A976A8B}" presName="node" presStyleLbl="node1" presStyleIdx="0" presStyleCnt="6" custScaleX="161531" custScaleY="82589" custRadScaleRad="96894" custRadScaleInc="34211">
        <dgm:presLayoutVars>
          <dgm:bulletEnabled val="1"/>
        </dgm:presLayoutVars>
      </dgm:prSet>
      <dgm:spPr/>
      <dgm:t>
        <a:bodyPr/>
        <a:lstStyle/>
        <a:p>
          <a:endParaRPr lang="es-ES"/>
        </a:p>
      </dgm:t>
    </dgm:pt>
    <dgm:pt modelId="{DA47B42A-A596-42D5-8896-6BAEF123B7F8}" type="pres">
      <dgm:prSet presAssocID="{8AA4B0BD-5724-406B-ADDE-C0163A976A8B}" presName="dummy" presStyleCnt="0"/>
      <dgm:spPr/>
    </dgm:pt>
    <dgm:pt modelId="{072D8A2F-9FBA-4342-B387-9FE516492F63}" type="pres">
      <dgm:prSet presAssocID="{81A54017-F078-417F-B6A1-A9395462218B}" presName="sibTrans" presStyleLbl="sibTrans2D1" presStyleIdx="0" presStyleCnt="6"/>
      <dgm:spPr/>
      <dgm:t>
        <a:bodyPr/>
        <a:lstStyle/>
        <a:p>
          <a:endParaRPr lang="es-ES"/>
        </a:p>
      </dgm:t>
    </dgm:pt>
    <dgm:pt modelId="{B3FABEFF-F552-4A02-9CAD-8AFBE6E5C129}" type="pres">
      <dgm:prSet presAssocID="{E66A3BF2-41F1-4EA6-B8BD-478CFE8BDD7D}" presName="node" presStyleLbl="node1" presStyleIdx="1" presStyleCnt="6" custScaleX="167179" custScaleY="89816" custRadScaleRad="103223" custRadScaleInc="45458">
        <dgm:presLayoutVars>
          <dgm:bulletEnabled val="1"/>
        </dgm:presLayoutVars>
      </dgm:prSet>
      <dgm:spPr/>
      <dgm:t>
        <a:bodyPr/>
        <a:lstStyle/>
        <a:p>
          <a:endParaRPr lang="es-ES"/>
        </a:p>
      </dgm:t>
    </dgm:pt>
    <dgm:pt modelId="{4F4FF92F-1233-4622-B57D-B68A3A86A8C0}" type="pres">
      <dgm:prSet presAssocID="{E66A3BF2-41F1-4EA6-B8BD-478CFE8BDD7D}" presName="dummy" presStyleCnt="0"/>
      <dgm:spPr/>
    </dgm:pt>
    <dgm:pt modelId="{04A88317-2906-40A9-A167-D50271449BBA}" type="pres">
      <dgm:prSet presAssocID="{D5C6068B-6F41-4E01-8982-1267843B0039}" presName="sibTrans" presStyleLbl="sibTrans2D1" presStyleIdx="1" presStyleCnt="6"/>
      <dgm:spPr/>
      <dgm:t>
        <a:bodyPr/>
        <a:lstStyle/>
        <a:p>
          <a:endParaRPr lang="es-ES"/>
        </a:p>
      </dgm:t>
    </dgm:pt>
    <dgm:pt modelId="{BB8F80A8-D2CE-4A7E-BF94-E84781B6F40C}" type="pres">
      <dgm:prSet presAssocID="{FB414603-E588-4D21-82E6-CD193477B823}" presName="node" presStyleLbl="node1" presStyleIdx="2" presStyleCnt="6" custScaleX="158313">
        <dgm:presLayoutVars>
          <dgm:bulletEnabled val="1"/>
        </dgm:presLayoutVars>
      </dgm:prSet>
      <dgm:spPr/>
      <dgm:t>
        <a:bodyPr/>
        <a:lstStyle/>
        <a:p>
          <a:endParaRPr lang="es-ES"/>
        </a:p>
      </dgm:t>
    </dgm:pt>
    <dgm:pt modelId="{43311B3F-7796-4A10-B6C9-DEB14D2877E3}" type="pres">
      <dgm:prSet presAssocID="{FB414603-E588-4D21-82E6-CD193477B823}" presName="dummy" presStyleCnt="0"/>
      <dgm:spPr/>
    </dgm:pt>
    <dgm:pt modelId="{DC259343-FD6D-48D6-BD1B-71117C7A61B3}" type="pres">
      <dgm:prSet presAssocID="{060E1800-3BE5-4AD7-AB0D-5C1AE8A735A3}" presName="sibTrans" presStyleLbl="sibTrans2D1" presStyleIdx="2" presStyleCnt="6"/>
      <dgm:spPr/>
      <dgm:t>
        <a:bodyPr/>
        <a:lstStyle/>
        <a:p>
          <a:endParaRPr lang="es-ES"/>
        </a:p>
      </dgm:t>
    </dgm:pt>
    <dgm:pt modelId="{BD68C5FB-ADAE-421A-A272-5BE74E5ADDA0}" type="pres">
      <dgm:prSet presAssocID="{8733A2DF-E1BE-435C-998B-CC4D8AEE397B}" presName="node" presStyleLbl="node1" presStyleIdx="3" presStyleCnt="6" custScaleX="168752" custRadScaleRad="100201" custRadScaleInc="5392">
        <dgm:presLayoutVars>
          <dgm:bulletEnabled val="1"/>
        </dgm:presLayoutVars>
      </dgm:prSet>
      <dgm:spPr/>
      <dgm:t>
        <a:bodyPr/>
        <a:lstStyle/>
        <a:p>
          <a:endParaRPr lang="es-ES"/>
        </a:p>
      </dgm:t>
    </dgm:pt>
    <dgm:pt modelId="{35E707C8-5E79-4D2B-B941-D94B2D89662B}" type="pres">
      <dgm:prSet presAssocID="{8733A2DF-E1BE-435C-998B-CC4D8AEE397B}" presName="dummy" presStyleCnt="0"/>
      <dgm:spPr/>
    </dgm:pt>
    <dgm:pt modelId="{4780F7FC-7ACB-481E-BAC9-0544C5DA238B}" type="pres">
      <dgm:prSet presAssocID="{D22D7436-17A3-444F-BC1F-3B31504A63F8}" presName="sibTrans" presStyleLbl="sibTrans2D1" presStyleIdx="3" presStyleCnt="6"/>
      <dgm:spPr/>
      <dgm:t>
        <a:bodyPr/>
        <a:lstStyle/>
        <a:p>
          <a:endParaRPr lang="es-ES"/>
        </a:p>
      </dgm:t>
    </dgm:pt>
    <dgm:pt modelId="{6DDAD937-14F6-4D24-8844-185EB6E3189E}" type="pres">
      <dgm:prSet presAssocID="{6AA5FBF1-7BE3-41F5-93EB-3B61A935D37C}" presName="node" presStyleLbl="node1" presStyleIdx="4" presStyleCnt="6" custScaleX="168052" custScaleY="96508">
        <dgm:presLayoutVars>
          <dgm:bulletEnabled val="1"/>
        </dgm:presLayoutVars>
      </dgm:prSet>
      <dgm:spPr/>
      <dgm:t>
        <a:bodyPr/>
        <a:lstStyle/>
        <a:p>
          <a:endParaRPr lang="es-ES"/>
        </a:p>
      </dgm:t>
    </dgm:pt>
    <dgm:pt modelId="{890D4123-3D20-41E6-923A-3F5723804356}" type="pres">
      <dgm:prSet presAssocID="{6AA5FBF1-7BE3-41F5-93EB-3B61A935D37C}" presName="dummy" presStyleCnt="0"/>
      <dgm:spPr/>
    </dgm:pt>
    <dgm:pt modelId="{DA365C25-4001-46F6-AD13-FFC288D23F92}" type="pres">
      <dgm:prSet presAssocID="{539E598B-BD3B-40BF-AE39-30C71B2D5ECE}" presName="sibTrans" presStyleLbl="sibTrans2D1" presStyleIdx="4" presStyleCnt="6"/>
      <dgm:spPr/>
      <dgm:t>
        <a:bodyPr/>
        <a:lstStyle/>
        <a:p>
          <a:endParaRPr lang="es-ES"/>
        </a:p>
      </dgm:t>
    </dgm:pt>
    <dgm:pt modelId="{E2DEAFC8-CEE8-4370-93AD-A07A37064B87}" type="pres">
      <dgm:prSet presAssocID="{E141C112-AD1B-4FCE-A4F3-8F5504995740}" presName="node" presStyleLbl="node1" presStyleIdx="5" presStyleCnt="6" custScaleX="163852" custRadScaleRad="95217" custRadScaleInc="2614">
        <dgm:presLayoutVars>
          <dgm:bulletEnabled val="1"/>
        </dgm:presLayoutVars>
      </dgm:prSet>
      <dgm:spPr/>
      <dgm:t>
        <a:bodyPr/>
        <a:lstStyle/>
        <a:p>
          <a:endParaRPr lang="es-ES"/>
        </a:p>
      </dgm:t>
    </dgm:pt>
    <dgm:pt modelId="{732255D3-E170-4E61-87D7-5D26B83844DF}" type="pres">
      <dgm:prSet presAssocID="{E141C112-AD1B-4FCE-A4F3-8F5504995740}" presName="dummy" presStyleCnt="0"/>
      <dgm:spPr/>
    </dgm:pt>
    <dgm:pt modelId="{1DE678FB-5CF9-407F-AE29-1E24617405A5}" type="pres">
      <dgm:prSet presAssocID="{4F15BADC-5DCF-43FA-8588-56D7B32A8E3E}" presName="sibTrans" presStyleLbl="sibTrans2D1" presStyleIdx="5" presStyleCnt="6"/>
      <dgm:spPr/>
      <dgm:t>
        <a:bodyPr/>
        <a:lstStyle/>
        <a:p>
          <a:endParaRPr lang="es-ES"/>
        </a:p>
      </dgm:t>
    </dgm:pt>
  </dgm:ptLst>
  <dgm:cxnLst>
    <dgm:cxn modelId="{10090C76-60FC-43F7-BD9E-87825B90E18D}" type="presOf" srcId="{D22D7436-17A3-444F-BC1F-3B31504A63F8}" destId="{4780F7FC-7ACB-481E-BAC9-0544C5DA238B}" srcOrd="0" destOrd="0" presId="urn:microsoft.com/office/officeart/2005/8/layout/radial6"/>
    <dgm:cxn modelId="{D5CCB282-F6B9-430C-B1E8-FB762AB1A4B0}" type="presOf" srcId="{E141C112-AD1B-4FCE-A4F3-8F5504995740}" destId="{E2DEAFC8-CEE8-4370-93AD-A07A37064B87}" srcOrd="0" destOrd="0" presId="urn:microsoft.com/office/officeart/2005/8/layout/radial6"/>
    <dgm:cxn modelId="{9802FA80-36F1-4B35-BCBF-CEE5CBBE62D9}" type="presOf" srcId="{4F15BADC-5DCF-43FA-8588-56D7B32A8E3E}" destId="{1DE678FB-5CF9-407F-AE29-1E24617405A5}" srcOrd="0" destOrd="0" presId="urn:microsoft.com/office/officeart/2005/8/layout/radial6"/>
    <dgm:cxn modelId="{8666C010-9DA7-4260-82E5-FB31D331C274}" srcId="{1165D1CF-02DC-44E4-B64A-317208B9E70E}" destId="{8AA4B0BD-5724-406B-ADDE-C0163A976A8B}" srcOrd="0" destOrd="0" parTransId="{0DF87A3F-56CF-4CAF-86F8-C1FCC43876B0}" sibTransId="{81A54017-F078-417F-B6A1-A9395462218B}"/>
    <dgm:cxn modelId="{72DA1CDA-7BE6-4C9C-9C68-2E2E95E24F8E}" srcId="{1165D1CF-02DC-44E4-B64A-317208B9E70E}" destId="{FB414603-E588-4D21-82E6-CD193477B823}" srcOrd="2" destOrd="0" parTransId="{9689F60D-6F7B-4F8C-AE58-EDE693FAE27F}" sibTransId="{060E1800-3BE5-4AD7-AB0D-5C1AE8A735A3}"/>
    <dgm:cxn modelId="{D8327BFB-527A-4861-B8F6-094748E0E2A9}" type="presOf" srcId="{143D9F2A-921F-461E-BDED-1D19C1C906BA}" destId="{A99BAFB8-1B8F-41A5-AE75-27D12DA9F516}" srcOrd="0" destOrd="0" presId="urn:microsoft.com/office/officeart/2005/8/layout/radial6"/>
    <dgm:cxn modelId="{A05F06ED-CD26-45B8-B3B6-20B4AA8BB145}" type="presOf" srcId="{060E1800-3BE5-4AD7-AB0D-5C1AE8A735A3}" destId="{DC259343-FD6D-48D6-BD1B-71117C7A61B3}" srcOrd="0" destOrd="0" presId="urn:microsoft.com/office/officeart/2005/8/layout/radial6"/>
    <dgm:cxn modelId="{D18E7178-1B0A-4C4D-8161-DA4C118452AD}" type="presOf" srcId="{E66A3BF2-41F1-4EA6-B8BD-478CFE8BDD7D}" destId="{B3FABEFF-F552-4A02-9CAD-8AFBE6E5C129}" srcOrd="0" destOrd="0" presId="urn:microsoft.com/office/officeart/2005/8/layout/radial6"/>
    <dgm:cxn modelId="{1117B3A6-5A44-4877-945D-0AAACAB9E54F}" type="presOf" srcId="{539E598B-BD3B-40BF-AE39-30C71B2D5ECE}" destId="{DA365C25-4001-46F6-AD13-FFC288D23F92}" srcOrd="0" destOrd="0" presId="urn:microsoft.com/office/officeart/2005/8/layout/radial6"/>
    <dgm:cxn modelId="{75E185C0-520D-4C6A-B068-98D0880D0B2C}" srcId="{143D9F2A-921F-461E-BDED-1D19C1C906BA}" destId="{1165D1CF-02DC-44E4-B64A-317208B9E70E}" srcOrd="0" destOrd="0" parTransId="{0E03B138-3018-4FA2-909A-2E616E160267}" sibTransId="{7024CD2B-0877-49A3-95E9-1009BF340275}"/>
    <dgm:cxn modelId="{4DF7467B-EA55-4AD4-9009-C0DCAE0ED2AC}" type="presOf" srcId="{D5C6068B-6F41-4E01-8982-1267843B0039}" destId="{04A88317-2906-40A9-A167-D50271449BBA}" srcOrd="0" destOrd="0" presId="urn:microsoft.com/office/officeart/2005/8/layout/radial6"/>
    <dgm:cxn modelId="{60E601F5-D0B7-4A18-803E-F9E03109E306}" type="presOf" srcId="{81A54017-F078-417F-B6A1-A9395462218B}" destId="{072D8A2F-9FBA-4342-B387-9FE516492F63}" srcOrd="0" destOrd="0" presId="urn:microsoft.com/office/officeart/2005/8/layout/radial6"/>
    <dgm:cxn modelId="{3B78E2F1-B35D-4C8A-B8AA-718FCD0512C7}" srcId="{1165D1CF-02DC-44E4-B64A-317208B9E70E}" destId="{8733A2DF-E1BE-435C-998B-CC4D8AEE397B}" srcOrd="3" destOrd="0" parTransId="{4891EA74-D6D7-444C-93E6-A20053DF58BE}" sibTransId="{D22D7436-17A3-444F-BC1F-3B31504A63F8}"/>
    <dgm:cxn modelId="{396D1351-8C18-4F5C-B41A-917572174B35}" srcId="{1165D1CF-02DC-44E4-B64A-317208B9E70E}" destId="{6AA5FBF1-7BE3-41F5-93EB-3B61A935D37C}" srcOrd="4" destOrd="0" parTransId="{F487EE29-63D4-404F-8AE5-49927E7E6C2A}" sibTransId="{539E598B-BD3B-40BF-AE39-30C71B2D5ECE}"/>
    <dgm:cxn modelId="{39C0AD52-2A70-4E10-9CDB-19A79E59857D}" type="presOf" srcId="{FB414603-E588-4D21-82E6-CD193477B823}" destId="{BB8F80A8-D2CE-4A7E-BF94-E84781B6F40C}" srcOrd="0" destOrd="0" presId="urn:microsoft.com/office/officeart/2005/8/layout/radial6"/>
    <dgm:cxn modelId="{ABCC5F0D-82D7-43E5-AA7A-C1D7B0B8F25C}" srcId="{1165D1CF-02DC-44E4-B64A-317208B9E70E}" destId="{E66A3BF2-41F1-4EA6-B8BD-478CFE8BDD7D}" srcOrd="1" destOrd="0" parTransId="{876D73C4-AC6D-4DB4-A169-4A98A8A81DF9}" sibTransId="{D5C6068B-6F41-4E01-8982-1267843B0039}"/>
    <dgm:cxn modelId="{84D302AC-0CB4-4F03-A884-123A6F7ED29C}" type="presOf" srcId="{6AA5FBF1-7BE3-41F5-93EB-3B61A935D37C}" destId="{6DDAD937-14F6-4D24-8844-185EB6E3189E}" srcOrd="0" destOrd="0" presId="urn:microsoft.com/office/officeart/2005/8/layout/radial6"/>
    <dgm:cxn modelId="{B3F10790-752F-42ED-9FD4-02D6EAED54EB}" type="presOf" srcId="{8733A2DF-E1BE-435C-998B-CC4D8AEE397B}" destId="{BD68C5FB-ADAE-421A-A272-5BE74E5ADDA0}" srcOrd="0" destOrd="0" presId="urn:microsoft.com/office/officeart/2005/8/layout/radial6"/>
    <dgm:cxn modelId="{6D6B0130-18CB-4D30-A677-E151F2DD6BC7}" srcId="{1165D1CF-02DC-44E4-B64A-317208B9E70E}" destId="{E141C112-AD1B-4FCE-A4F3-8F5504995740}" srcOrd="5" destOrd="0" parTransId="{29BB2285-E121-4D4F-97C8-DD63BED25939}" sibTransId="{4F15BADC-5DCF-43FA-8588-56D7B32A8E3E}"/>
    <dgm:cxn modelId="{209D05DA-C9B6-4256-A279-6F91EA0A0DA5}" type="presOf" srcId="{1165D1CF-02DC-44E4-B64A-317208B9E70E}" destId="{6CCDDF8F-C456-4E2A-8A36-821ED76BEF15}" srcOrd="0" destOrd="0" presId="urn:microsoft.com/office/officeart/2005/8/layout/radial6"/>
    <dgm:cxn modelId="{6C99F881-099D-4CBD-9BD3-ACD89947E2DF}" type="presOf" srcId="{8AA4B0BD-5724-406B-ADDE-C0163A976A8B}" destId="{7F25A14E-031A-4AF0-A35E-0B6DA87B102A}" srcOrd="0" destOrd="0" presId="urn:microsoft.com/office/officeart/2005/8/layout/radial6"/>
    <dgm:cxn modelId="{979D0838-B67E-4526-B59E-4975EFB6A6B7}" type="presParOf" srcId="{A99BAFB8-1B8F-41A5-AE75-27D12DA9F516}" destId="{6CCDDF8F-C456-4E2A-8A36-821ED76BEF15}" srcOrd="0" destOrd="0" presId="urn:microsoft.com/office/officeart/2005/8/layout/radial6"/>
    <dgm:cxn modelId="{F32E4D87-DB00-4FC2-B86A-08825384E642}" type="presParOf" srcId="{A99BAFB8-1B8F-41A5-AE75-27D12DA9F516}" destId="{7F25A14E-031A-4AF0-A35E-0B6DA87B102A}" srcOrd="1" destOrd="0" presId="urn:microsoft.com/office/officeart/2005/8/layout/radial6"/>
    <dgm:cxn modelId="{0E1D9FE0-A67E-4712-A95C-D983FCDD39A7}" type="presParOf" srcId="{A99BAFB8-1B8F-41A5-AE75-27D12DA9F516}" destId="{DA47B42A-A596-42D5-8896-6BAEF123B7F8}" srcOrd="2" destOrd="0" presId="urn:microsoft.com/office/officeart/2005/8/layout/radial6"/>
    <dgm:cxn modelId="{7BB4F165-92ED-4AF6-9C3A-D3C320FF9F7E}" type="presParOf" srcId="{A99BAFB8-1B8F-41A5-AE75-27D12DA9F516}" destId="{072D8A2F-9FBA-4342-B387-9FE516492F63}" srcOrd="3" destOrd="0" presId="urn:microsoft.com/office/officeart/2005/8/layout/radial6"/>
    <dgm:cxn modelId="{226BD67B-3162-49EB-9ADC-8463F1DDDA20}" type="presParOf" srcId="{A99BAFB8-1B8F-41A5-AE75-27D12DA9F516}" destId="{B3FABEFF-F552-4A02-9CAD-8AFBE6E5C129}" srcOrd="4" destOrd="0" presId="urn:microsoft.com/office/officeart/2005/8/layout/radial6"/>
    <dgm:cxn modelId="{EBC79109-A967-4ED4-A6E3-A3F1E31AAC1F}" type="presParOf" srcId="{A99BAFB8-1B8F-41A5-AE75-27D12DA9F516}" destId="{4F4FF92F-1233-4622-B57D-B68A3A86A8C0}" srcOrd="5" destOrd="0" presId="urn:microsoft.com/office/officeart/2005/8/layout/radial6"/>
    <dgm:cxn modelId="{1B902741-082F-4008-8921-D2B38EBD7EB0}" type="presParOf" srcId="{A99BAFB8-1B8F-41A5-AE75-27D12DA9F516}" destId="{04A88317-2906-40A9-A167-D50271449BBA}" srcOrd="6" destOrd="0" presId="urn:microsoft.com/office/officeart/2005/8/layout/radial6"/>
    <dgm:cxn modelId="{ED74D738-8877-4B4E-B7C3-06B197DF3849}" type="presParOf" srcId="{A99BAFB8-1B8F-41A5-AE75-27D12DA9F516}" destId="{BB8F80A8-D2CE-4A7E-BF94-E84781B6F40C}" srcOrd="7" destOrd="0" presId="urn:microsoft.com/office/officeart/2005/8/layout/radial6"/>
    <dgm:cxn modelId="{56881B0A-9186-409E-8F47-A133A061AB01}" type="presParOf" srcId="{A99BAFB8-1B8F-41A5-AE75-27D12DA9F516}" destId="{43311B3F-7796-4A10-B6C9-DEB14D2877E3}" srcOrd="8" destOrd="0" presId="urn:microsoft.com/office/officeart/2005/8/layout/radial6"/>
    <dgm:cxn modelId="{2691343E-1A5D-4C07-99F8-F2AAC79ECD3A}" type="presParOf" srcId="{A99BAFB8-1B8F-41A5-AE75-27D12DA9F516}" destId="{DC259343-FD6D-48D6-BD1B-71117C7A61B3}" srcOrd="9" destOrd="0" presId="urn:microsoft.com/office/officeart/2005/8/layout/radial6"/>
    <dgm:cxn modelId="{7BF2311A-E91F-46C8-8886-5BE8B38D2168}" type="presParOf" srcId="{A99BAFB8-1B8F-41A5-AE75-27D12DA9F516}" destId="{BD68C5FB-ADAE-421A-A272-5BE74E5ADDA0}" srcOrd="10" destOrd="0" presId="urn:microsoft.com/office/officeart/2005/8/layout/radial6"/>
    <dgm:cxn modelId="{411E93D4-691C-4E0A-AECC-4EE6792CCA88}" type="presParOf" srcId="{A99BAFB8-1B8F-41A5-AE75-27D12DA9F516}" destId="{35E707C8-5E79-4D2B-B941-D94B2D89662B}" srcOrd="11" destOrd="0" presId="urn:microsoft.com/office/officeart/2005/8/layout/radial6"/>
    <dgm:cxn modelId="{BCE0BA8E-E64F-46B7-823C-4766B9D130D1}" type="presParOf" srcId="{A99BAFB8-1B8F-41A5-AE75-27D12DA9F516}" destId="{4780F7FC-7ACB-481E-BAC9-0544C5DA238B}" srcOrd="12" destOrd="0" presId="urn:microsoft.com/office/officeart/2005/8/layout/radial6"/>
    <dgm:cxn modelId="{4D3D32E7-E7E1-43D5-9974-6B008490CE9D}" type="presParOf" srcId="{A99BAFB8-1B8F-41A5-AE75-27D12DA9F516}" destId="{6DDAD937-14F6-4D24-8844-185EB6E3189E}" srcOrd="13" destOrd="0" presId="urn:microsoft.com/office/officeart/2005/8/layout/radial6"/>
    <dgm:cxn modelId="{59A99F5F-50E6-446B-B5A7-1198E06CD277}" type="presParOf" srcId="{A99BAFB8-1B8F-41A5-AE75-27D12DA9F516}" destId="{890D4123-3D20-41E6-923A-3F5723804356}" srcOrd="14" destOrd="0" presId="urn:microsoft.com/office/officeart/2005/8/layout/radial6"/>
    <dgm:cxn modelId="{68D166BA-04F2-46F1-A67B-1885F46BD7D8}" type="presParOf" srcId="{A99BAFB8-1B8F-41A5-AE75-27D12DA9F516}" destId="{DA365C25-4001-46F6-AD13-FFC288D23F92}" srcOrd="15" destOrd="0" presId="urn:microsoft.com/office/officeart/2005/8/layout/radial6"/>
    <dgm:cxn modelId="{B84B6E36-51FA-4D59-9B2A-279F9F77EA2E}" type="presParOf" srcId="{A99BAFB8-1B8F-41A5-AE75-27D12DA9F516}" destId="{E2DEAFC8-CEE8-4370-93AD-A07A37064B87}" srcOrd="16" destOrd="0" presId="urn:microsoft.com/office/officeart/2005/8/layout/radial6"/>
    <dgm:cxn modelId="{90ADED5C-3A1B-4C04-9A0B-F4690BDA6771}" type="presParOf" srcId="{A99BAFB8-1B8F-41A5-AE75-27D12DA9F516}" destId="{732255D3-E170-4E61-87D7-5D26B83844DF}" srcOrd="17" destOrd="0" presId="urn:microsoft.com/office/officeart/2005/8/layout/radial6"/>
    <dgm:cxn modelId="{4B38133B-FBA5-46C3-8A20-48EFCE115C72}" type="presParOf" srcId="{A99BAFB8-1B8F-41A5-AE75-27D12DA9F516}" destId="{1DE678FB-5CF9-407F-AE29-1E24617405A5}" srcOrd="18" destOrd="0" presId="urn:microsoft.com/office/officeart/2005/8/layout/radial6"/>
  </dgm:cxnLst>
  <dgm:bg/>
  <dgm:whole/>
  <dgm:extLst>
    <a:ext uri="http://schemas.microsoft.com/office/drawing/2008/diagram">
      <dsp:dataModelExt xmlns:dsp="http://schemas.microsoft.com/office/drawing/2008/diagram" xmlns=""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0D5F70C-FB89-494A-825C-F71CAE78FCB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ES"/>
        </a:p>
      </dgm:t>
    </dgm:pt>
    <dgm:pt modelId="{3FA46406-E3B5-4E45-8BBF-63F497195FC5}">
      <dgm:prSet phldrT="[Texto]" custT="1"/>
      <dgm:spPr>
        <a:solidFill>
          <a:srgbClr val="92D050"/>
        </a:solidFill>
      </dgm:spPr>
      <dgm:t>
        <a:bodyPr/>
        <a:lstStyle/>
        <a:p>
          <a:pPr algn="ctr"/>
          <a:r>
            <a:rPr lang="es-AR" sz="2000" b="1" dirty="0" smtClean="0">
              <a:solidFill>
                <a:schemeClr val="tx1"/>
              </a:solidFill>
            </a:rPr>
            <a:t>Chaco (CSJN)</a:t>
          </a:r>
          <a:endParaRPr lang="es-ES" sz="2000" b="1" dirty="0">
            <a:solidFill>
              <a:schemeClr val="tx1"/>
            </a:solidFill>
          </a:endParaRPr>
        </a:p>
      </dgm:t>
    </dgm:pt>
    <dgm:pt modelId="{1474ED01-F251-4388-812D-70FBFA3B342E}" type="parTrans" cxnId="{F545F0DC-D298-4465-84C1-1129E9B029F6}">
      <dgm:prSet/>
      <dgm:spPr/>
      <dgm:t>
        <a:bodyPr/>
        <a:lstStyle/>
        <a:p>
          <a:endParaRPr lang="es-ES"/>
        </a:p>
      </dgm:t>
    </dgm:pt>
    <dgm:pt modelId="{6F86941B-8A0D-4226-AA48-D603CFC1D367}" type="sibTrans" cxnId="{F545F0DC-D298-4465-84C1-1129E9B029F6}">
      <dgm:prSet/>
      <dgm:spPr/>
      <dgm:t>
        <a:bodyPr/>
        <a:lstStyle/>
        <a:p>
          <a:endParaRPr lang="es-ES"/>
        </a:p>
      </dgm:t>
    </dgm:pt>
    <dgm:pt modelId="{31997D16-DA5C-4331-BDF7-E3B96D29E1CF}">
      <dgm:prSet phldrT="[Texto]" custT="1"/>
      <dgm:spPr>
        <a:solidFill>
          <a:srgbClr val="92D050"/>
        </a:solidFill>
      </dgm:spPr>
      <dgm:t>
        <a:bodyPr/>
        <a:lstStyle/>
        <a:p>
          <a:pPr algn="ctr"/>
          <a:r>
            <a:rPr lang="es-AR" sz="2000" b="1" dirty="0" smtClean="0">
              <a:solidFill>
                <a:schemeClr val="tx1"/>
              </a:solidFill>
            </a:rPr>
            <a:t>Tucumán (TST/CSJN)</a:t>
          </a:r>
          <a:endParaRPr lang="es-ES" sz="2000" b="1" dirty="0">
            <a:solidFill>
              <a:schemeClr val="tx1"/>
            </a:solidFill>
          </a:endParaRPr>
        </a:p>
      </dgm:t>
    </dgm:pt>
    <dgm:pt modelId="{53355757-5B13-4E57-A6C2-62DA1395D2E7}" type="parTrans" cxnId="{DC6C2202-3BC4-45DB-A7E8-C7A2FA5EAA76}">
      <dgm:prSet/>
      <dgm:spPr/>
      <dgm:t>
        <a:bodyPr/>
        <a:lstStyle/>
        <a:p>
          <a:endParaRPr lang="es-ES"/>
        </a:p>
      </dgm:t>
    </dgm:pt>
    <dgm:pt modelId="{95D59A30-7B81-4A87-B89D-42DFBEADF473}" type="sibTrans" cxnId="{DC6C2202-3BC4-45DB-A7E8-C7A2FA5EAA76}">
      <dgm:prSet/>
      <dgm:spPr/>
      <dgm:t>
        <a:bodyPr/>
        <a:lstStyle/>
        <a:p>
          <a:endParaRPr lang="es-ES"/>
        </a:p>
      </dgm:t>
    </dgm:pt>
    <dgm:pt modelId="{130079EF-47FC-4113-80E4-8E81EFF3D742}">
      <dgm:prSet phldrT="[Texto]" custT="1"/>
      <dgm:spPr>
        <a:solidFill>
          <a:srgbClr val="92D050"/>
        </a:solidFill>
      </dgm:spPr>
      <dgm:t>
        <a:bodyPr/>
        <a:lstStyle/>
        <a:p>
          <a:pPr algn="ctr"/>
          <a:r>
            <a:rPr lang="es-AR" sz="2000" b="1" dirty="0" smtClean="0">
              <a:solidFill>
                <a:schemeClr val="tx1"/>
              </a:solidFill>
            </a:rPr>
            <a:t>Corrientes (STJ)</a:t>
          </a:r>
          <a:endParaRPr lang="es-ES" sz="2000" b="1" dirty="0">
            <a:solidFill>
              <a:schemeClr val="tx1"/>
            </a:solidFill>
          </a:endParaRPr>
        </a:p>
      </dgm:t>
    </dgm:pt>
    <dgm:pt modelId="{E3A8EAF6-8072-478A-BDF4-B07017D7F3AF}" type="parTrans" cxnId="{3DEA2882-43D7-40A9-AAD7-BA3D657D4808}">
      <dgm:prSet/>
      <dgm:spPr/>
      <dgm:t>
        <a:bodyPr/>
        <a:lstStyle/>
        <a:p>
          <a:endParaRPr lang="es-ES"/>
        </a:p>
      </dgm:t>
    </dgm:pt>
    <dgm:pt modelId="{A5E5BA7E-7D88-4E2B-BC49-ECC50C2BFB15}" type="sibTrans" cxnId="{3DEA2882-43D7-40A9-AAD7-BA3D657D4808}">
      <dgm:prSet/>
      <dgm:spPr/>
      <dgm:t>
        <a:bodyPr/>
        <a:lstStyle/>
        <a:p>
          <a:endParaRPr lang="es-ES"/>
        </a:p>
      </dgm:t>
    </dgm:pt>
    <dgm:pt modelId="{2E616569-A4CB-4039-B6E7-350D89D95635}">
      <dgm:prSet phldrT="[Texto]" custT="1"/>
      <dgm:spPr>
        <a:solidFill>
          <a:srgbClr val="92D050"/>
        </a:solidFill>
      </dgm:spPr>
      <dgm:t>
        <a:bodyPr/>
        <a:lstStyle/>
        <a:p>
          <a:pPr algn="ctr"/>
          <a:r>
            <a:rPr lang="es-AR" sz="2000" b="1" dirty="0" smtClean="0">
              <a:solidFill>
                <a:schemeClr val="tx1"/>
              </a:solidFill>
            </a:rPr>
            <a:t>Buenos Aires (CSBA)</a:t>
          </a:r>
          <a:endParaRPr lang="es-ES" sz="2000" b="1" dirty="0">
            <a:solidFill>
              <a:schemeClr val="tx1"/>
            </a:solidFill>
          </a:endParaRPr>
        </a:p>
      </dgm:t>
    </dgm:pt>
    <dgm:pt modelId="{E6C2AEC0-6C35-40C4-821D-E8D204DF7214}" type="parTrans" cxnId="{E8EBB3B8-BE88-4E91-A41D-69E932141F7E}">
      <dgm:prSet/>
      <dgm:spPr/>
      <dgm:t>
        <a:bodyPr/>
        <a:lstStyle/>
        <a:p>
          <a:endParaRPr lang="es-ES"/>
        </a:p>
      </dgm:t>
    </dgm:pt>
    <dgm:pt modelId="{C198DC3A-87EC-4A9B-9CE7-036E09C9D6B6}" type="sibTrans" cxnId="{E8EBB3B8-BE88-4E91-A41D-69E932141F7E}">
      <dgm:prSet/>
      <dgm:spPr/>
      <dgm:t>
        <a:bodyPr/>
        <a:lstStyle/>
        <a:p>
          <a:endParaRPr lang="es-ES"/>
        </a:p>
      </dgm:t>
    </dgm:pt>
    <dgm:pt modelId="{10D2272A-92EF-4FB4-8BB8-4363424BEA1B}">
      <dgm:prSet phldrT="[Texto]" custT="1"/>
      <dgm:spPr>
        <a:solidFill>
          <a:srgbClr val="92D050"/>
        </a:solidFill>
      </dgm:spPr>
      <dgm:t>
        <a:bodyPr/>
        <a:lstStyle/>
        <a:p>
          <a:pPr algn="ctr"/>
          <a:r>
            <a:rPr lang="es-AR" sz="2000" b="1" dirty="0" smtClean="0">
              <a:solidFill>
                <a:schemeClr val="tx1"/>
              </a:solidFill>
            </a:rPr>
            <a:t>Entre </a:t>
          </a:r>
          <a:r>
            <a:rPr lang="es-AR" sz="2000" b="1" dirty="0" err="1" smtClean="0">
              <a:solidFill>
                <a:schemeClr val="tx1"/>
              </a:solidFill>
            </a:rPr>
            <a:t>Rios</a:t>
          </a:r>
          <a:r>
            <a:rPr lang="es-AR" sz="2000" b="1" dirty="0" smtClean="0">
              <a:solidFill>
                <a:schemeClr val="tx1"/>
              </a:solidFill>
            </a:rPr>
            <a:t> (CCA 2)</a:t>
          </a:r>
          <a:endParaRPr lang="es-ES" sz="2000" b="1" dirty="0">
            <a:solidFill>
              <a:schemeClr val="tx1"/>
            </a:solidFill>
          </a:endParaRPr>
        </a:p>
      </dgm:t>
    </dgm:pt>
    <dgm:pt modelId="{6D80066C-4C42-49B5-825C-4C93AAC1A8E4}" type="parTrans" cxnId="{3B77BBCD-53B0-4806-980D-B021494636CF}">
      <dgm:prSet/>
      <dgm:spPr/>
      <dgm:t>
        <a:bodyPr/>
        <a:lstStyle/>
        <a:p>
          <a:endParaRPr lang="es-ES"/>
        </a:p>
      </dgm:t>
    </dgm:pt>
    <dgm:pt modelId="{4907CC4D-4615-40E6-A5D4-06B47C0E3A1E}" type="sibTrans" cxnId="{3B77BBCD-53B0-4806-980D-B021494636CF}">
      <dgm:prSet/>
      <dgm:spPr/>
      <dgm:t>
        <a:bodyPr/>
        <a:lstStyle/>
        <a:p>
          <a:endParaRPr lang="es-ES"/>
        </a:p>
      </dgm:t>
    </dgm:pt>
    <dgm:pt modelId="{D1647534-4E08-435E-8D35-73BCF38FD28E}">
      <dgm:prSet phldrT="[Texto]" custT="1"/>
      <dgm:spPr>
        <a:solidFill>
          <a:srgbClr val="92D050"/>
        </a:solidFill>
      </dgm:spPr>
      <dgm:t>
        <a:bodyPr/>
        <a:lstStyle/>
        <a:p>
          <a:pPr algn="ctr"/>
          <a:r>
            <a:rPr lang="es-AR" sz="2000" b="1" dirty="0" smtClean="0">
              <a:solidFill>
                <a:schemeClr val="tx1"/>
              </a:solidFill>
            </a:rPr>
            <a:t>Cap. Federal (CCAT)</a:t>
          </a:r>
          <a:endParaRPr lang="es-ES" sz="2000" b="1" dirty="0">
            <a:solidFill>
              <a:schemeClr val="tx1"/>
            </a:solidFill>
          </a:endParaRPr>
        </a:p>
      </dgm:t>
    </dgm:pt>
    <dgm:pt modelId="{87DD05E3-1DFC-47CC-9836-F82F8EACCD12}" type="parTrans" cxnId="{61937164-9186-404E-8493-CF7DB492C3F0}">
      <dgm:prSet/>
      <dgm:spPr/>
      <dgm:t>
        <a:bodyPr/>
        <a:lstStyle/>
        <a:p>
          <a:endParaRPr lang="es-ES"/>
        </a:p>
      </dgm:t>
    </dgm:pt>
    <dgm:pt modelId="{B0A0F43C-A2C5-4219-BA7E-9D9EE4F8CFC8}" type="sibTrans" cxnId="{61937164-9186-404E-8493-CF7DB492C3F0}">
      <dgm:prSet/>
      <dgm:spPr/>
      <dgm:t>
        <a:bodyPr/>
        <a:lstStyle/>
        <a:p>
          <a:endParaRPr lang="es-ES"/>
        </a:p>
      </dgm:t>
    </dgm:pt>
    <dgm:pt modelId="{452D4C31-F002-4869-8D55-5C0F441A3EB8}" type="pres">
      <dgm:prSet presAssocID="{30D5F70C-FB89-494A-825C-F71CAE78FCB8}" presName="linear" presStyleCnt="0">
        <dgm:presLayoutVars>
          <dgm:dir/>
          <dgm:animLvl val="lvl"/>
          <dgm:resizeHandles val="exact"/>
        </dgm:presLayoutVars>
      </dgm:prSet>
      <dgm:spPr/>
      <dgm:t>
        <a:bodyPr/>
        <a:lstStyle/>
        <a:p>
          <a:endParaRPr lang="es-ES"/>
        </a:p>
      </dgm:t>
    </dgm:pt>
    <dgm:pt modelId="{4C2BE284-5691-4823-A323-AFAFD3E4D4FB}" type="pres">
      <dgm:prSet presAssocID="{3FA46406-E3B5-4E45-8BBF-63F497195FC5}" presName="parentLin" presStyleCnt="0"/>
      <dgm:spPr/>
    </dgm:pt>
    <dgm:pt modelId="{AC9F366F-BF7C-4BDE-92BD-48B8DE9BD90A}" type="pres">
      <dgm:prSet presAssocID="{3FA46406-E3B5-4E45-8BBF-63F497195FC5}" presName="parentLeftMargin" presStyleLbl="node1" presStyleIdx="0" presStyleCnt="6"/>
      <dgm:spPr/>
      <dgm:t>
        <a:bodyPr/>
        <a:lstStyle/>
        <a:p>
          <a:endParaRPr lang="es-ES"/>
        </a:p>
      </dgm:t>
    </dgm:pt>
    <dgm:pt modelId="{BF140798-08E3-45CB-8D01-568AC9FB43B4}" type="pres">
      <dgm:prSet presAssocID="{3FA46406-E3B5-4E45-8BBF-63F497195FC5}" presName="parentText" presStyleLbl="node1" presStyleIdx="0" presStyleCnt="6" custScaleY="157537" custLinFactNeighborX="14286" custLinFactNeighborY="-5243">
        <dgm:presLayoutVars>
          <dgm:chMax val="0"/>
          <dgm:bulletEnabled val="1"/>
        </dgm:presLayoutVars>
      </dgm:prSet>
      <dgm:spPr/>
      <dgm:t>
        <a:bodyPr/>
        <a:lstStyle/>
        <a:p>
          <a:endParaRPr lang="es-ES"/>
        </a:p>
      </dgm:t>
    </dgm:pt>
    <dgm:pt modelId="{4E3AC317-CD9E-4AF1-A5DF-2804585A6487}" type="pres">
      <dgm:prSet presAssocID="{3FA46406-E3B5-4E45-8BBF-63F497195FC5}" presName="negativeSpace" presStyleCnt="0"/>
      <dgm:spPr/>
    </dgm:pt>
    <dgm:pt modelId="{5F842034-8812-43FA-B1B8-6D3A613B0CFA}" type="pres">
      <dgm:prSet presAssocID="{3FA46406-E3B5-4E45-8BBF-63F497195FC5}" presName="childText" presStyleLbl="conFgAcc1" presStyleIdx="0" presStyleCnt="6">
        <dgm:presLayoutVars>
          <dgm:bulletEnabled val="1"/>
        </dgm:presLayoutVars>
      </dgm:prSet>
      <dgm:spPr/>
    </dgm:pt>
    <dgm:pt modelId="{DA976F4A-09BA-4E26-A475-618B274F6136}" type="pres">
      <dgm:prSet presAssocID="{6F86941B-8A0D-4226-AA48-D603CFC1D367}" presName="spaceBetweenRectangles" presStyleCnt="0"/>
      <dgm:spPr/>
    </dgm:pt>
    <dgm:pt modelId="{A49FCB95-31DD-42E0-B71F-BD24E5F78748}" type="pres">
      <dgm:prSet presAssocID="{31997D16-DA5C-4331-BDF7-E3B96D29E1CF}" presName="parentLin" presStyleCnt="0"/>
      <dgm:spPr/>
    </dgm:pt>
    <dgm:pt modelId="{E34DAB93-D277-4EBA-B122-234845D28E45}" type="pres">
      <dgm:prSet presAssocID="{31997D16-DA5C-4331-BDF7-E3B96D29E1CF}" presName="parentLeftMargin" presStyleLbl="node1" presStyleIdx="0" presStyleCnt="6"/>
      <dgm:spPr/>
      <dgm:t>
        <a:bodyPr/>
        <a:lstStyle/>
        <a:p>
          <a:endParaRPr lang="es-ES"/>
        </a:p>
      </dgm:t>
    </dgm:pt>
    <dgm:pt modelId="{5B1BCCFA-0939-4E66-8BBF-E46A05B0B99F}" type="pres">
      <dgm:prSet presAssocID="{31997D16-DA5C-4331-BDF7-E3B96D29E1CF}" presName="parentText" presStyleLbl="node1" presStyleIdx="1" presStyleCnt="6" custScaleY="154811" custLinFactNeighborX="14286" custLinFactNeighborY="-1065">
        <dgm:presLayoutVars>
          <dgm:chMax val="0"/>
          <dgm:bulletEnabled val="1"/>
        </dgm:presLayoutVars>
      </dgm:prSet>
      <dgm:spPr/>
      <dgm:t>
        <a:bodyPr/>
        <a:lstStyle/>
        <a:p>
          <a:endParaRPr lang="es-ES"/>
        </a:p>
      </dgm:t>
    </dgm:pt>
    <dgm:pt modelId="{0701C3AD-28FA-47B1-B3CA-8AF4D470578A}" type="pres">
      <dgm:prSet presAssocID="{31997D16-DA5C-4331-BDF7-E3B96D29E1CF}" presName="negativeSpace" presStyleCnt="0"/>
      <dgm:spPr/>
    </dgm:pt>
    <dgm:pt modelId="{98845C7B-49EC-4256-BC8B-932409B35AD5}" type="pres">
      <dgm:prSet presAssocID="{31997D16-DA5C-4331-BDF7-E3B96D29E1CF}" presName="childText" presStyleLbl="conFgAcc1" presStyleIdx="1" presStyleCnt="6">
        <dgm:presLayoutVars>
          <dgm:bulletEnabled val="1"/>
        </dgm:presLayoutVars>
      </dgm:prSet>
      <dgm:spPr/>
    </dgm:pt>
    <dgm:pt modelId="{5679F79F-A51A-4A19-BDC7-D223F51CC0C2}" type="pres">
      <dgm:prSet presAssocID="{95D59A30-7B81-4A87-B89D-42DFBEADF473}" presName="spaceBetweenRectangles" presStyleCnt="0"/>
      <dgm:spPr/>
    </dgm:pt>
    <dgm:pt modelId="{DAD636E2-0E98-4CB4-81C6-E8DDC9615426}" type="pres">
      <dgm:prSet presAssocID="{130079EF-47FC-4113-80E4-8E81EFF3D742}" presName="parentLin" presStyleCnt="0"/>
      <dgm:spPr/>
    </dgm:pt>
    <dgm:pt modelId="{7A69E149-9A6C-4CD8-B4FE-85C49FCAA144}" type="pres">
      <dgm:prSet presAssocID="{130079EF-47FC-4113-80E4-8E81EFF3D742}" presName="parentLeftMargin" presStyleLbl="node1" presStyleIdx="1" presStyleCnt="6"/>
      <dgm:spPr/>
      <dgm:t>
        <a:bodyPr/>
        <a:lstStyle/>
        <a:p>
          <a:endParaRPr lang="es-ES"/>
        </a:p>
      </dgm:t>
    </dgm:pt>
    <dgm:pt modelId="{E8717607-CF1C-4387-BAD5-AF51B856F97F}" type="pres">
      <dgm:prSet presAssocID="{130079EF-47FC-4113-80E4-8E81EFF3D742}" presName="parentText" presStyleLbl="node1" presStyleIdx="2" presStyleCnt="6" custScaleX="89796" custScaleY="161611">
        <dgm:presLayoutVars>
          <dgm:chMax val="0"/>
          <dgm:bulletEnabled val="1"/>
        </dgm:presLayoutVars>
      </dgm:prSet>
      <dgm:spPr/>
      <dgm:t>
        <a:bodyPr/>
        <a:lstStyle/>
        <a:p>
          <a:endParaRPr lang="es-ES"/>
        </a:p>
      </dgm:t>
    </dgm:pt>
    <dgm:pt modelId="{46427136-603B-46E2-94F7-0D80692DF643}" type="pres">
      <dgm:prSet presAssocID="{130079EF-47FC-4113-80E4-8E81EFF3D742}" presName="negativeSpace" presStyleCnt="0"/>
      <dgm:spPr/>
    </dgm:pt>
    <dgm:pt modelId="{86C62E78-7D50-4FF4-B6F7-0C7E8736ECDB}" type="pres">
      <dgm:prSet presAssocID="{130079EF-47FC-4113-80E4-8E81EFF3D742}" presName="childText" presStyleLbl="conFgAcc1" presStyleIdx="2" presStyleCnt="6">
        <dgm:presLayoutVars>
          <dgm:bulletEnabled val="1"/>
        </dgm:presLayoutVars>
      </dgm:prSet>
      <dgm:spPr/>
    </dgm:pt>
    <dgm:pt modelId="{96BCCFCF-7B5F-4C57-A188-E305487B21A9}" type="pres">
      <dgm:prSet presAssocID="{A5E5BA7E-7D88-4E2B-BC49-ECC50C2BFB15}" presName="spaceBetweenRectangles" presStyleCnt="0"/>
      <dgm:spPr/>
    </dgm:pt>
    <dgm:pt modelId="{5FF4C92B-3441-4A18-8A38-79B59C8AB6F9}" type="pres">
      <dgm:prSet presAssocID="{2E616569-A4CB-4039-B6E7-350D89D95635}" presName="parentLin" presStyleCnt="0"/>
      <dgm:spPr/>
    </dgm:pt>
    <dgm:pt modelId="{8612AFA6-1CDC-4E33-A9FD-69E8F60B737A}" type="pres">
      <dgm:prSet presAssocID="{2E616569-A4CB-4039-B6E7-350D89D95635}" presName="parentLeftMargin" presStyleLbl="node1" presStyleIdx="2" presStyleCnt="6"/>
      <dgm:spPr/>
      <dgm:t>
        <a:bodyPr/>
        <a:lstStyle/>
        <a:p>
          <a:endParaRPr lang="es-ES"/>
        </a:p>
      </dgm:t>
    </dgm:pt>
    <dgm:pt modelId="{A3DF3E63-744F-4CE2-AC73-FC478262998D}" type="pres">
      <dgm:prSet presAssocID="{2E616569-A4CB-4039-B6E7-350D89D95635}" presName="parentText" presStyleLbl="node1" presStyleIdx="3" presStyleCnt="6" custScaleY="130029">
        <dgm:presLayoutVars>
          <dgm:chMax val="0"/>
          <dgm:bulletEnabled val="1"/>
        </dgm:presLayoutVars>
      </dgm:prSet>
      <dgm:spPr/>
      <dgm:t>
        <a:bodyPr/>
        <a:lstStyle/>
        <a:p>
          <a:endParaRPr lang="es-ES"/>
        </a:p>
      </dgm:t>
    </dgm:pt>
    <dgm:pt modelId="{A20715CB-1FAC-474F-8654-73FC243F60D7}" type="pres">
      <dgm:prSet presAssocID="{2E616569-A4CB-4039-B6E7-350D89D95635}" presName="negativeSpace" presStyleCnt="0"/>
      <dgm:spPr/>
    </dgm:pt>
    <dgm:pt modelId="{4267FD81-A8AB-4292-8CE1-B1E0AA91FB9B}" type="pres">
      <dgm:prSet presAssocID="{2E616569-A4CB-4039-B6E7-350D89D95635}" presName="childText" presStyleLbl="conFgAcc1" presStyleIdx="3" presStyleCnt="6">
        <dgm:presLayoutVars>
          <dgm:bulletEnabled val="1"/>
        </dgm:presLayoutVars>
      </dgm:prSet>
      <dgm:spPr/>
    </dgm:pt>
    <dgm:pt modelId="{B7058C7E-BE9D-44C0-8367-9CF8D0FAB805}" type="pres">
      <dgm:prSet presAssocID="{C198DC3A-87EC-4A9B-9CE7-036E09C9D6B6}" presName="spaceBetweenRectangles" presStyleCnt="0"/>
      <dgm:spPr/>
    </dgm:pt>
    <dgm:pt modelId="{C24093C5-5AD9-42AF-A9D3-8A660B941A40}" type="pres">
      <dgm:prSet presAssocID="{D1647534-4E08-435E-8D35-73BCF38FD28E}" presName="parentLin" presStyleCnt="0"/>
      <dgm:spPr/>
    </dgm:pt>
    <dgm:pt modelId="{4C2F3831-DC32-49B0-870D-A4747E03C3C4}" type="pres">
      <dgm:prSet presAssocID="{D1647534-4E08-435E-8D35-73BCF38FD28E}" presName="parentLeftMargin" presStyleLbl="node1" presStyleIdx="3" presStyleCnt="6"/>
      <dgm:spPr/>
      <dgm:t>
        <a:bodyPr/>
        <a:lstStyle/>
        <a:p>
          <a:endParaRPr lang="es-ES"/>
        </a:p>
      </dgm:t>
    </dgm:pt>
    <dgm:pt modelId="{D735897F-62E2-4825-B909-60163C7C43EE}" type="pres">
      <dgm:prSet presAssocID="{D1647534-4E08-435E-8D35-73BCF38FD28E}" presName="parentText" presStyleLbl="node1" presStyleIdx="4" presStyleCnt="6" custScaleY="155053">
        <dgm:presLayoutVars>
          <dgm:chMax val="0"/>
          <dgm:bulletEnabled val="1"/>
        </dgm:presLayoutVars>
      </dgm:prSet>
      <dgm:spPr/>
      <dgm:t>
        <a:bodyPr/>
        <a:lstStyle/>
        <a:p>
          <a:endParaRPr lang="es-ES"/>
        </a:p>
      </dgm:t>
    </dgm:pt>
    <dgm:pt modelId="{3D7B0622-B95C-4603-B3A8-6939780B77C0}" type="pres">
      <dgm:prSet presAssocID="{D1647534-4E08-435E-8D35-73BCF38FD28E}" presName="negativeSpace" presStyleCnt="0"/>
      <dgm:spPr/>
    </dgm:pt>
    <dgm:pt modelId="{55E292CE-5EB0-4CF6-9DF1-7541361C25F3}" type="pres">
      <dgm:prSet presAssocID="{D1647534-4E08-435E-8D35-73BCF38FD28E}" presName="childText" presStyleLbl="conFgAcc1" presStyleIdx="4" presStyleCnt="6">
        <dgm:presLayoutVars>
          <dgm:bulletEnabled val="1"/>
        </dgm:presLayoutVars>
      </dgm:prSet>
      <dgm:spPr/>
    </dgm:pt>
    <dgm:pt modelId="{9A3D52FA-F160-47D4-BF8F-F4A6A483DDE7}" type="pres">
      <dgm:prSet presAssocID="{B0A0F43C-A2C5-4219-BA7E-9D9EE4F8CFC8}" presName="spaceBetweenRectangles" presStyleCnt="0"/>
      <dgm:spPr/>
    </dgm:pt>
    <dgm:pt modelId="{E02BFA56-C973-49A9-BFC2-E1DDC39E69A1}" type="pres">
      <dgm:prSet presAssocID="{10D2272A-92EF-4FB4-8BB8-4363424BEA1B}" presName="parentLin" presStyleCnt="0"/>
      <dgm:spPr/>
    </dgm:pt>
    <dgm:pt modelId="{E8FD6432-D659-4814-8EC4-9DC40A2BC4EC}" type="pres">
      <dgm:prSet presAssocID="{10D2272A-92EF-4FB4-8BB8-4363424BEA1B}" presName="parentLeftMargin" presStyleLbl="node1" presStyleIdx="4" presStyleCnt="6"/>
      <dgm:spPr/>
      <dgm:t>
        <a:bodyPr/>
        <a:lstStyle/>
        <a:p>
          <a:endParaRPr lang="es-ES"/>
        </a:p>
      </dgm:t>
    </dgm:pt>
    <dgm:pt modelId="{0F0BE689-C6E8-4B5E-96F6-E5B403640D50}" type="pres">
      <dgm:prSet presAssocID="{10D2272A-92EF-4FB4-8BB8-4363424BEA1B}" presName="parentText" presStyleLbl="node1" presStyleIdx="5" presStyleCnt="6" custScaleY="144763" custLinFactNeighborX="-42857" custLinFactNeighborY="11470">
        <dgm:presLayoutVars>
          <dgm:chMax val="0"/>
          <dgm:bulletEnabled val="1"/>
        </dgm:presLayoutVars>
      </dgm:prSet>
      <dgm:spPr/>
      <dgm:t>
        <a:bodyPr/>
        <a:lstStyle/>
        <a:p>
          <a:endParaRPr lang="es-ES"/>
        </a:p>
      </dgm:t>
    </dgm:pt>
    <dgm:pt modelId="{1FDC47F1-4BC7-4885-AE1E-5B930540BB63}" type="pres">
      <dgm:prSet presAssocID="{10D2272A-92EF-4FB4-8BB8-4363424BEA1B}" presName="negativeSpace" presStyleCnt="0"/>
      <dgm:spPr/>
    </dgm:pt>
    <dgm:pt modelId="{F9AE22D1-98C6-4218-BFAD-4175F70E8394}" type="pres">
      <dgm:prSet presAssocID="{10D2272A-92EF-4FB4-8BB8-4363424BEA1B}" presName="childText" presStyleLbl="conFgAcc1" presStyleIdx="5" presStyleCnt="6">
        <dgm:presLayoutVars>
          <dgm:bulletEnabled val="1"/>
        </dgm:presLayoutVars>
      </dgm:prSet>
      <dgm:spPr/>
    </dgm:pt>
  </dgm:ptLst>
  <dgm:cxnLst>
    <dgm:cxn modelId="{7F2C67CD-E9C8-4BA0-ABB5-1973C1B4AB16}" type="presOf" srcId="{3FA46406-E3B5-4E45-8BBF-63F497195FC5}" destId="{AC9F366F-BF7C-4BDE-92BD-48B8DE9BD90A}" srcOrd="0" destOrd="0" presId="urn:microsoft.com/office/officeart/2005/8/layout/list1"/>
    <dgm:cxn modelId="{B535FD99-C7B9-4521-8D92-B02ABF6CE67F}" type="presOf" srcId="{D1647534-4E08-435E-8D35-73BCF38FD28E}" destId="{4C2F3831-DC32-49B0-870D-A4747E03C3C4}" srcOrd="0" destOrd="0" presId="urn:microsoft.com/office/officeart/2005/8/layout/list1"/>
    <dgm:cxn modelId="{694FA672-9856-4F97-BB36-0773340F2088}" type="presOf" srcId="{3FA46406-E3B5-4E45-8BBF-63F497195FC5}" destId="{BF140798-08E3-45CB-8D01-568AC9FB43B4}" srcOrd="1" destOrd="0" presId="urn:microsoft.com/office/officeart/2005/8/layout/list1"/>
    <dgm:cxn modelId="{61937164-9186-404E-8493-CF7DB492C3F0}" srcId="{30D5F70C-FB89-494A-825C-F71CAE78FCB8}" destId="{D1647534-4E08-435E-8D35-73BCF38FD28E}" srcOrd="4" destOrd="0" parTransId="{87DD05E3-1DFC-47CC-9836-F82F8EACCD12}" sibTransId="{B0A0F43C-A2C5-4219-BA7E-9D9EE4F8CFC8}"/>
    <dgm:cxn modelId="{F545F0DC-D298-4465-84C1-1129E9B029F6}" srcId="{30D5F70C-FB89-494A-825C-F71CAE78FCB8}" destId="{3FA46406-E3B5-4E45-8BBF-63F497195FC5}" srcOrd="0" destOrd="0" parTransId="{1474ED01-F251-4388-812D-70FBFA3B342E}" sibTransId="{6F86941B-8A0D-4226-AA48-D603CFC1D367}"/>
    <dgm:cxn modelId="{A1EB5018-0E18-4384-8FC2-4F3B1E3FE870}" type="presOf" srcId="{31997D16-DA5C-4331-BDF7-E3B96D29E1CF}" destId="{E34DAB93-D277-4EBA-B122-234845D28E45}" srcOrd="0" destOrd="0" presId="urn:microsoft.com/office/officeart/2005/8/layout/list1"/>
    <dgm:cxn modelId="{07367E4D-25F4-404E-8004-DA22B4EC6122}" type="presOf" srcId="{130079EF-47FC-4113-80E4-8E81EFF3D742}" destId="{E8717607-CF1C-4387-BAD5-AF51B856F97F}" srcOrd="1" destOrd="0" presId="urn:microsoft.com/office/officeart/2005/8/layout/list1"/>
    <dgm:cxn modelId="{DC6C2202-3BC4-45DB-A7E8-C7A2FA5EAA76}" srcId="{30D5F70C-FB89-494A-825C-F71CAE78FCB8}" destId="{31997D16-DA5C-4331-BDF7-E3B96D29E1CF}" srcOrd="1" destOrd="0" parTransId="{53355757-5B13-4E57-A6C2-62DA1395D2E7}" sibTransId="{95D59A30-7B81-4A87-B89D-42DFBEADF473}"/>
    <dgm:cxn modelId="{DEBD70C2-7F2D-4BEE-A239-DCA1BBEF764F}" type="presOf" srcId="{10D2272A-92EF-4FB4-8BB8-4363424BEA1B}" destId="{E8FD6432-D659-4814-8EC4-9DC40A2BC4EC}" srcOrd="0" destOrd="0" presId="urn:microsoft.com/office/officeart/2005/8/layout/list1"/>
    <dgm:cxn modelId="{3DEA2882-43D7-40A9-AAD7-BA3D657D4808}" srcId="{30D5F70C-FB89-494A-825C-F71CAE78FCB8}" destId="{130079EF-47FC-4113-80E4-8E81EFF3D742}" srcOrd="2" destOrd="0" parTransId="{E3A8EAF6-8072-478A-BDF4-B07017D7F3AF}" sibTransId="{A5E5BA7E-7D88-4E2B-BC49-ECC50C2BFB15}"/>
    <dgm:cxn modelId="{B9B5679B-1BD3-4A4A-A3F6-45D3E5253D92}" type="presOf" srcId="{130079EF-47FC-4113-80E4-8E81EFF3D742}" destId="{7A69E149-9A6C-4CD8-B4FE-85C49FCAA144}" srcOrd="0" destOrd="0" presId="urn:microsoft.com/office/officeart/2005/8/layout/list1"/>
    <dgm:cxn modelId="{C9240041-A923-45A6-999D-B0C90BCC3C21}" type="presOf" srcId="{2E616569-A4CB-4039-B6E7-350D89D95635}" destId="{8612AFA6-1CDC-4E33-A9FD-69E8F60B737A}" srcOrd="0" destOrd="0" presId="urn:microsoft.com/office/officeart/2005/8/layout/list1"/>
    <dgm:cxn modelId="{8F1337BD-113B-4F19-B7F0-79AC217175FC}" type="presOf" srcId="{31997D16-DA5C-4331-BDF7-E3B96D29E1CF}" destId="{5B1BCCFA-0939-4E66-8BBF-E46A05B0B99F}" srcOrd="1" destOrd="0" presId="urn:microsoft.com/office/officeart/2005/8/layout/list1"/>
    <dgm:cxn modelId="{5EE8A23D-E030-4BEA-9750-E2D61F78E771}" type="presOf" srcId="{10D2272A-92EF-4FB4-8BB8-4363424BEA1B}" destId="{0F0BE689-C6E8-4B5E-96F6-E5B403640D50}" srcOrd="1" destOrd="0" presId="urn:microsoft.com/office/officeart/2005/8/layout/list1"/>
    <dgm:cxn modelId="{46C1A479-76AE-4247-AD02-84443B0A5008}" type="presOf" srcId="{2E616569-A4CB-4039-B6E7-350D89D95635}" destId="{A3DF3E63-744F-4CE2-AC73-FC478262998D}" srcOrd="1" destOrd="0" presId="urn:microsoft.com/office/officeart/2005/8/layout/list1"/>
    <dgm:cxn modelId="{3B77BBCD-53B0-4806-980D-B021494636CF}" srcId="{30D5F70C-FB89-494A-825C-F71CAE78FCB8}" destId="{10D2272A-92EF-4FB4-8BB8-4363424BEA1B}" srcOrd="5" destOrd="0" parTransId="{6D80066C-4C42-49B5-825C-4C93AAC1A8E4}" sibTransId="{4907CC4D-4615-40E6-A5D4-06B47C0E3A1E}"/>
    <dgm:cxn modelId="{E8EBB3B8-BE88-4E91-A41D-69E932141F7E}" srcId="{30D5F70C-FB89-494A-825C-F71CAE78FCB8}" destId="{2E616569-A4CB-4039-B6E7-350D89D95635}" srcOrd="3" destOrd="0" parTransId="{E6C2AEC0-6C35-40C4-821D-E8D204DF7214}" sibTransId="{C198DC3A-87EC-4A9B-9CE7-036E09C9D6B6}"/>
    <dgm:cxn modelId="{9A5FD283-A383-4EA8-ABDB-8B3DB0A91183}" type="presOf" srcId="{D1647534-4E08-435E-8D35-73BCF38FD28E}" destId="{D735897F-62E2-4825-B909-60163C7C43EE}" srcOrd="1" destOrd="0" presId="urn:microsoft.com/office/officeart/2005/8/layout/list1"/>
    <dgm:cxn modelId="{0B6F9935-80D8-4B0D-A7A5-F23D57E5C3D5}" type="presOf" srcId="{30D5F70C-FB89-494A-825C-F71CAE78FCB8}" destId="{452D4C31-F002-4869-8D55-5C0F441A3EB8}" srcOrd="0" destOrd="0" presId="urn:microsoft.com/office/officeart/2005/8/layout/list1"/>
    <dgm:cxn modelId="{56593B50-F1F0-41DA-AB9C-BC7F18CD5D57}" type="presParOf" srcId="{452D4C31-F002-4869-8D55-5C0F441A3EB8}" destId="{4C2BE284-5691-4823-A323-AFAFD3E4D4FB}" srcOrd="0" destOrd="0" presId="urn:microsoft.com/office/officeart/2005/8/layout/list1"/>
    <dgm:cxn modelId="{5DD3563C-3C21-4CA7-89BF-5CAEC421EC96}" type="presParOf" srcId="{4C2BE284-5691-4823-A323-AFAFD3E4D4FB}" destId="{AC9F366F-BF7C-4BDE-92BD-48B8DE9BD90A}" srcOrd="0" destOrd="0" presId="urn:microsoft.com/office/officeart/2005/8/layout/list1"/>
    <dgm:cxn modelId="{2519DE31-C592-4EC8-A6C0-2655E0295573}" type="presParOf" srcId="{4C2BE284-5691-4823-A323-AFAFD3E4D4FB}" destId="{BF140798-08E3-45CB-8D01-568AC9FB43B4}" srcOrd="1" destOrd="0" presId="urn:microsoft.com/office/officeart/2005/8/layout/list1"/>
    <dgm:cxn modelId="{8B175B51-AD7A-40D0-9D34-9875445474F1}" type="presParOf" srcId="{452D4C31-F002-4869-8D55-5C0F441A3EB8}" destId="{4E3AC317-CD9E-4AF1-A5DF-2804585A6487}" srcOrd="1" destOrd="0" presId="urn:microsoft.com/office/officeart/2005/8/layout/list1"/>
    <dgm:cxn modelId="{363327AE-049F-4B38-BC77-F28BE6B67778}" type="presParOf" srcId="{452D4C31-F002-4869-8D55-5C0F441A3EB8}" destId="{5F842034-8812-43FA-B1B8-6D3A613B0CFA}" srcOrd="2" destOrd="0" presId="urn:microsoft.com/office/officeart/2005/8/layout/list1"/>
    <dgm:cxn modelId="{694CAAE0-B4A6-4E62-A9C2-AC2485AC905D}" type="presParOf" srcId="{452D4C31-F002-4869-8D55-5C0F441A3EB8}" destId="{DA976F4A-09BA-4E26-A475-618B274F6136}" srcOrd="3" destOrd="0" presId="urn:microsoft.com/office/officeart/2005/8/layout/list1"/>
    <dgm:cxn modelId="{1C1E562A-14CD-4C84-BB1D-AE2EE86FAD40}" type="presParOf" srcId="{452D4C31-F002-4869-8D55-5C0F441A3EB8}" destId="{A49FCB95-31DD-42E0-B71F-BD24E5F78748}" srcOrd="4" destOrd="0" presId="urn:microsoft.com/office/officeart/2005/8/layout/list1"/>
    <dgm:cxn modelId="{5CC5A66A-8588-4356-9E9C-6C7E85C0B5DE}" type="presParOf" srcId="{A49FCB95-31DD-42E0-B71F-BD24E5F78748}" destId="{E34DAB93-D277-4EBA-B122-234845D28E45}" srcOrd="0" destOrd="0" presId="urn:microsoft.com/office/officeart/2005/8/layout/list1"/>
    <dgm:cxn modelId="{3DA38AB1-8B15-42FA-B632-C3B6AEFD4F5E}" type="presParOf" srcId="{A49FCB95-31DD-42E0-B71F-BD24E5F78748}" destId="{5B1BCCFA-0939-4E66-8BBF-E46A05B0B99F}" srcOrd="1" destOrd="0" presId="urn:microsoft.com/office/officeart/2005/8/layout/list1"/>
    <dgm:cxn modelId="{8F37B480-C3B7-4C74-A5FC-15B7F62F2E67}" type="presParOf" srcId="{452D4C31-F002-4869-8D55-5C0F441A3EB8}" destId="{0701C3AD-28FA-47B1-B3CA-8AF4D470578A}" srcOrd="5" destOrd="0" presId="urn:microsoft.com/office/officeart/2005/8/layout/list1"/>
    <dgm:cxn modelId="{AB835510-7C17-4ED8-89AF-59DD90D002CD}" type="presParOf" srcId="{452D4C31-F002-4869-8D55-5C0F441A3EB8}" destId="{98845C7B-49EC-4256-BC8B-932409B35AD5}" srcOrd="6" destOrd="0" presId="urn:microsoft.com/office/officeart/2005/8/layout/list1"/>
    <dgm:cxn modelId="{AA9CE954-FAC9-4C29-B842-32E01CDFEBFE}" type="presParOf" srcId="{452D4C31-F002-4869-8D55-5C0F441A3EB8}" destId="{5679F79F-A51A-4A19-BDC7-D223F51CC0C2}" srcOrd="7" destOrd="0" presId="urn:microsoft.com/office/officeart/2005/8/layout/list1"/>
    <dgm:cxn modelId="{24C8475B-3862-4F34-8607-4EC7CCC463C7}" type="presParOf" srcId="{452D4C31-F002-4869-8D55-5C0F441A3EB8}" destId="{DAD636E2-0E98-4CB4-81C6-E8DDC9615426}" srcOrd="8" destOrd="0" presId="urn:microsoft.com/office/officeart/2005/8/layout/list1"/>
    <dgm:cxn modelId="{A2934039-45ED-4FCD-9D5F-866C04C9120D}" type="presParOf" srcId="{DAD636E2-0E98-4CB4-81C6-E8DDC9615426}" destId="{7A69E149-9A6C-4CD8-B4FE-85C49FCAA144}" srcOrd="0" destOrd="0" presId="urn:microsoft.com/office/officeart/2005/8/layout/list1"/>
    <dgm:cxn modelId="{939FEC7D-1891-4322-8841-510648A63CDD}" type="presParOf" srcId="{DAD636E2-0E98-4CB4-81C6-E8DDC9615426}" destId="{E8717607-CF1C-4387-BAD5-AF51B856F97F}" srcOrd="1" destOrd="0" presId="urn:microsoft.com/office/officeart/2005/8/layout/list1"/>
    <dgm:cxn modelId="{1AC5E2E9-DC01-484D-AB75-D4F5A32D85D9}" type="presParOf" srcId="{452D4C31-F002-4869-8D55-5C0F441A3EB8}" destId="{46427136-603B-46E2-94F7-0D80692DF643}" srcOrd="9" destOrd="0" presId="urn:microsoft.com/office/officeart/2005/8/layout/list1"/>
    <dgm:cxn modelId="{8B6B4B0C-47D1-4951-8663-1FA3659506D1}" type="presParOf" srcId="{452D4C31-F002-4869-8D55-5C0F441A3EB8}" destId="{86C62E78-7D50-4FF4-B6F7-0C7E8736ECDB}" srcOrd="10" destOrd="0" presId="urn:microsoft.com/office/officeart/2005/8/layout/list1"/>
    <dgm:cxn modelId="{2C700DB3-9A22-4C95-A8EC-F571B49E2435}" type="presParOf" srcId="{452D4C31-F002-4869-8D55-5C0F441A3EB8}" destId="{96BCCFCF-7B5F-4C57-A188-E305487B21A9}" srcOrd="11" destOrd="0" presId="urn:microsoft.com/office/officeart/2005/8/layout/list1"/>
    <dgm:cxn modelId="{8EDCAB3F-AA88-4030-82BF-E885A664DF54}" type="presParOf" srcId="{452D4C31-F002-4869-8D55-5C0F441A3EB8}" destId="{5FF4C92B-3441-4A18-8A38-79B59C8AB6F9}" srcOrd="12" destOrd="0" presId="urn:microsoft.com/office/officeart/2005/8/layout/list1"/>
    <dgm:cxn modelId="{3CBBCE03-1077-4B9B-A47F-9E56AA3E32AC}" type="presParOf" srcId="{5FF4C92B-3441-4A18-8A38-79B59C8AB6F9}" destId="{8612AFA6-1CDC-4E33-A9FD-69E8F60B737A}" srcOrd="0" destOrd="0" presId="urn:microsoft.com/office/officeart/2005/8/layout/list1"/>
    <dgm:cxn modelId="{3347B17A-2081-43E7-9E61-EF1EC3BB85A9}" type="presParOf" srcId="{5FF4C92B-3441-4A18-8A38-79B59C8AB6F9}" destId="{A3DF3E63-744F-4CE2-AC73-FC478262998D}" srcOrd="1" destOrd="0" presId="urn:microsoft.com/office/officeart/2005/8/layout/list1"/>
    <dgm:cxn modelId="{B8986897-A0D1-4996-8976-406440ED1E67}" type="presParOf" srcId="{452D4C31-F002-4869-8D55-5C0F441A3EB8}" destId="{A20715CB-1FAC-474F-8654-73FC243F60D7}" srcOrd="13" destOrd="0" presId="urn:microsoft.com/office/officeart/2005/8/layout/list1"/>
    <dgm:cxn modelId="{B1F53DA8-BE96-4340-95D2-08A2B6A4E9C6}" type="presParOf" srcId="{452D4C31-F002-4869-8D55-5C0F441A3EB8}" destId="{4267FD81-A8AB-4292-8CE1-B1E0AA91FB9B}" srcOrd="14" destOrd="0" presId="urn:microsoft.com/office/officeart/2005/8/layout/list1"/>
    <dgm:cxn modelId="{B229EA99-5B4B-4D8C-8CE1-FC7D1DF4246B}" type="presParOf" srcId="{452D4C31-F002-4869-8D55-5C0F441A3EB8}" destId="{B7058C7E-BE9D-44C0-8367-9CF8D0FAB805}" srcOrd="15" destOrd="0" presId="urn:microsoft.com/office/officeart/2005/8/layout/list1"/>
    <dgm:cxn modelId="{EC954ABC-814A-4530-A08E-E0387BF7DC5A}" type="presParOf" srcId="{452D4C31-F002-4869-8D55-5C0F441A3EB8}" destId="{C24093C5-5AD9-42AF-A9D3-8A660B941A40}" srcOrd="16" destOrd="0" presId="urn:microsoft.com/office/officeart/2005/8/layout/list1"/>
    <dgm:cxn modelId="{082D43FF-F043-4225-9A6F-8999D626D654}" type="presParOf" srcId="{C24093C5-5AD9-42AF-A9D3-8A660B941A40}" destId="{4C2F3831-DC32-49B0-870D-A4747E03C3C4}" srcOrd="0" destOrd="0" presId="urn:microsoft.com/office/officeart/2005/8/layout/list1"/>
    <dgm:cxn modelId="{8090091A-828D-4A35-8320-6BC44A819ED6}" type="presParOf" srcId="{C24093C5-5AD9-42AF-A9D3-8A660B941A40}" destId="{D735897F-62E2-4825-B909-60163C7C43EE}" srcOrd="1" destOrd="0" presId="urn:microsoft.com/office/officeart/2005/8/layout/list1"/>
    <dgm:cxn modelId="{C6F69519-A659-4538-8F03-F401EFD124E7}" type="presParOf" srcId="{452D4C31-F002-4869-8D55-5C0F441A3EB8}" destId="{3D7B0622-B95C-4603-B3A8-6939780B77C0}" srcOrd="17" destOrd="0" presId="urn:microsoft.com/office/officeart/2005/8/layout/list1"/>
    <dgm:cxn modelId="{3775FB8B-23CC-44F0-9846-229DDC6CED0C}" type="presParOf" srcId="{452D4C31-F002-4869-8D55-5C0F441A3EB8}" destId="{55E292CE-5EB0-4CF6-9DF1-7541361C25F3}" srcOrd="18" destOrd="0" presId="urn:microsoft.com/office/officeart/2005/8/layout/list1"/>
    <dgm:cxn modelId="{B13A5738-A7A8-4D20-A022-51372D2C9F81}" type="presParOf" srcId="{452D4C31-F002-4869-8D55-5C0F441A3EB8}" destId="{9A3D52FA-F160-47D4-BF8F-F4A6A483DDE7}" srcOrd="19" destOrd="0" presId="urn:microsoft.com/office/officeart/2005/8/layout/list1"/>
    <dgm:cxn modelId="{503673D2-E45A-4915-AABC-C028DBCDA5BB}" type="presParOf" srcId="{452D4C31-F002-4869-8D55-5C0F441A3EB8}" destId="{E02BFA56-C973-49A9-BFC2-E1DDC39E69A1}" srcOrd="20" destOrd="0" presId="urn:microsoft.com/office/officeart/2005/8/layout/list1"/>
    <dgm:cxn modelId="{61F9C27A-D50D-40C8-9547-24F993591D85}" type="presParOf" srcId="{E02BFA56-C973-49A9-BFC2-E1DDC39E69A1}" destId="{E8FD6432-D659-4814-8EC4-9DC40A2BC4EC}" srcOrd="0" destOrd="0" presId="urn:microsoft.com/office/officeart/2005/8/layout/list1"/>
    <dgm:cxn modelId="{F559DE0B-3036-4B59-A2C1-42E3CD05C33B}" type="presParOf" srcId="{E02BFA56-C973-49A9-BFC2-E1DDC39E69A1}" destId="{0F0BE689-C6E8-4B5E-96F6-E5B403640D50}" srcOrd="1" destOrd="0" presId="urn:microsoft.com/office/officeart/2005/8/layout/list1"/>
    <dgm:cxn modelId="{ACE22018-D256-4EFD-B800-9A4ECE9F8345}" type="presParOf" srcId="{452D4C31-F002-4869-8D55-5C0F441A3EB8}" destId="{1FDC47F1-4BC7-4885-AE1E-5B930540BB63}" srcOrd="21" destOrd="0" presId="urn:microsoft.com/office/officeart/2005/8/layout/list1"/>
    <dgm:cxn modelId="{E8B010E9-EECF-433D-9224-C3C331A68C84}" type="presParOf" srcId="{452D4C31-F002-4869-8D55-5C0F441A3EB8}" destId="{F9AE22D1-98C6-4218-BFAD-4175F70E8394}" srcOrd="22" destOrd="0" presId="urn:microsoft.com/office/officeart/2005/8/layout/list1"/>
  </dgm:cxnLst>
  <dgm:bg/>
  <dgm:whole/>
</dgm:dataModel>
</file>

<file path=ppt/diagrams/data3.xml><?xml version="1.0" encoding="utf-8"?>
<dgm:dataModel xmlns:dgm="http://schemas.openxmlformats.org/drawingml/2006/diagram" xmlns:a="http://schemas.openxmlformats.org/drawingml/2006/main">
  <dgm:ptLst>
    <dgm:pt modelId="{495BB46C-54E7-40C6-A395-859D99DF1987}" type="doc">
      <dgm:prSet loTypeId="urn:microsoft.com/office/officeart/2005/8/layout/arrow3" loCatId="relationship" qsTypeId="urn:microsoft.com/office/officeart/2005/8/quickstyle/3d1" qsCatId="3D" csTypeId="urn:microsoft.com/office/officeart/2005/8/colors/accent1_2" csCatId="accent1" phldr="1"/>
      <dgm:spPr/>
      <dgm:t>
        <a:bodyPr/>
        <a:lstStyle/>
        <a:p>
          <a:endParaRPr lang="es-ES"/>
        </a:p>
      </dgm:t>
    </dgm:pt>
    <dgm:pt modelId="{B997638E-BBC2-4C9A-ACD7-6A2DF4F7A683}">
      <dgm:prSet phldrT="[Texto]" custT="1"/>
      <dgm:spPr/>
      <dgm:t>
        <a:bodyPr/>
        <a:lstStyle/>
        <a:p>
          <a:r>
            <a:rPr lang="es-ES" sz="1500" b="1" dirty="0" smtClean="0"/>
            <a:t>MUTUALES</a:t>
          </a:r>
          <a:endParaRPr lang="es-ES" sz="1500" b="1" dirty="0"/>
        </a:p>
      </dgm:t>
    </dgm:pt>
    <dgm:pt modelId="{4D5A2BC1-92D5-46F3-9D13-E3D2C2A468C1}" type="parTrans" cxnId="{38072FE4-CE59-43C1-ACC4-7033092F4446}">
      <dgm:prSet/>
      <dgm:spPr/>
      <dgm:t>
        <a:bodyPr/>
        <a:lstStyle/>
        <a:p>
          <a:endParaRPr lang="es-ES"/>
        </a:p>
      </dgm:t>
    </dgm:pt>
    <dgm:pt modelId="{1F6344B8-9B03-474B-803B-4D1C221FFCE9}" type="sibTrans" cxnId="{38072FE4-CE59-43C1-ACC4-7033092F4446}">
      <dgm:prSet/>
      <dgm:spPr/>
      <dgm:t>
        <a:bodyPr/>
        <a:lstStyle/>
        <a:p>
          <a:endParaRPr lang="es-ES"/>
        </a:p>
      </dgm:t>
    </dgm:pt>
    <dgm:pt modelId="{CC907017-F8E4-4929-9495-A16ED345A7A3}">
      <dgm:prSet phldrT="[Texto]" custT="1"/>
      <dgm:spPr/>
      <dgm:t>
        <a:bodyPr/>
        <a:lstStyle/>
        <a:p>
          <a:r>
            <a:rPr lang="es-ES" sz="1500" b="1" dirty="0" smtClean="0"/>
            <a:t>OTRAS ENTIDADES</a:t>
          </a:r>
          <a:endParaRPr lang="es-ES" sz="1500" b="1" dirty="0"/>
        </a:p>
      </dgm:t>
    </dgm:pt>
    <dgm:pt modelId="{A9D67E42-0283-4565-BA67-A990E5195459}" type="parTrans" cxnId="{328A44CB-3B34-4467-93E1-08D922C02EFE}">
      <dgm:prSet/>
      <dgm:spPr/>
      <dgm:t>
        <a:bodyPr/>
        <a:lstStyle/>
        <a:p>
          <a:endParaRPr lang="es-ES"/>
        </a:p>
      </dgm:t>
    </dgm:pt>
    <dgm:pt modelId="{A45A5CA4-3095-4310-8DE2-DF8FAC1F8B04}" type="sibTrans" cxnId="{328A44CB-3B34-4467-93E1-08D922C02EFE}">
      <dgm:prSet/>
      <dgm:spPr/>
      <dgm:t>
        <a:bodyPr/>
        <a:lstStyle/>
        <a:p>
          <a:endParaRPr lang="es-ES"/>
        </a:p>
      </dgm:t>
    </dgm:pt>
    <dgm:pt modelId="{91C7A9D7-3D7D-4334-A65B-1CACC8E048A5}" type="pres">
      <dgm:prSet presAssocID="{495BB46C-54E7-40C6-A395-859D99DF1987}" presName="compositeShape" presStyleCnt="0">
        <dgm:presLayoutVars>
          <dgm:chMax val="2"/>
          <dgm:dir val="rev"/>
          <dgm:resizeHandles val="exact"/>
        </dgm:presLayoutVars>
      </dgm:prSet>
      <dgm:spPr/>
      <dgm:t>
        <a:bodyPr/>
        <a:lstStyle/>
        <a:p>
          <a:endParaRPr lang="es-ES"/>
        </a:p>
      </dgm:t>
    </dgm:pt>
    <dgm:pt modelId="{66DF68A0-4510-440D-ADDB-206863638329}" type="pres">
      <dgm:prSet presAssocID="{495BB46C-54E7-40C6-A395-859D99DF1987}" presName="divider" presStyleLbl="fgShp" presStyleIdx="0" presStyleCnt="1"/>
      <dgm:spPr/>
      <dgm:t>
        <a:bodyPr/>
        <a:lstStyle/>
        <a:p>
          <a:endParaRPr lang="es-ES"/>
        </a:p>
      </dgm:t>
    </dgm:pt>
    <dgm:pt modelId="{D4DA90D1-1253-4D5E-82BA-2C11658C96FA}" type="pres">
      <dgm:prSet presAssocID="{B997638E-BBC2-4C9A-ACD7-6A2DF4F7A683}" presName="downArrow" presStyleLbl="node1" presStyleIdx="0" presStyleCnt="2"/>
      <dgm:spPr>
        <a:gradFill rotWithShape="0">
          <a:gsLst>
            <a:gs pos="0">
              <a:srgbClr val="C00000"/>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a:lstStyle/>
        <a:p>
          <a:endParaRPr lang="es-ES"/>
        </a:p>
      </dgm:t>
    </dgm:pt>
    <dgm:pt modelId="{DAFFDA04-BD09-4E2A-997F-9E43CE49B1A4}" type="pres">
      <dgm:prSet presAssocID="{B997638E-BBC2-4C9A-ACD7-6A2DF4F7A683}" presName="downArrowText" presStyleLbl="revTx" presStyleIdx="0" presStyleCnt="2" custScaleX="156245">
        <dgm:presLayoutVars>
          <dgm:bulletEnabled val="1"/>
        </dgm:presLayoutVars>
      </dgm:prSet>
      <dgm:spPr/>
      <dgm:t>
        <a:bodyPr/>
        <a:lstStyle/>
        <a:p>
          <a:endParaRPr lang="es-ES"/>
        </a:p>
      </dgm:t>
    </dgm:pt>
    <dgm:pt modelId="{99144E19-5CF9-4B16-8BAB-C931286A53D2}" type="pres">
      <dgm:prSet presAssocID="{CC907017-F8E4-4929-9495-A16ED345A7A3}" presName="upArrow" presStyleLbl="node1" presStyleIdx="1" presStyleCnt="2"/>
      <dgm:spPr>
        <a:gradFill rotWithShape="0">
          <a:gsLst>
            <a:gs pos="0">
              <a:srgbClr val="31F927"/>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gradFill>
      </dgm:spPr>
      <dgm:t>
        <a:bodyPr/>
        <a:lstStyle/>
        <a:p>
          <a:endParaRPr lang="es-ES"/>
        </a:p>
      </dgm:t>
    </dgm:pt>
    <dgm:pt modelId="{27690186-CB8E-4446-A39C-0902A06BF759}" type="pres">
      <dgm:prSet presAssocID="{CC907017-F8E4-4929-9495-A16ED345A7A3}" presName="upArrowText" presStyleLbl="revTx" presStyleIdx="1" presStyleCnt="2" custScaleX="150082">
        <dgm:presLayoutVars>
          <dgm:bulletEnabled val="1"/>
        </dgm:presLayoutVars>
      </dgm:prSet>
      <dgm:spPr/>
      <dgm:t>
        <a:bodyPr/>
        <a:lstStyle/>
        <a:p>
          <a:endParaRPr lang="es-ES"/>
        </a:p>
      </dgm:t>
    </dgm:pt>
  </dgm:ptLst>
  <dgm:cxnLst>
    <dgm:cxn modelId="{9D352F8B-42A5-4A40-B01F-CA71AB949428}" type="presOf" srcId="{495BB46C-54E7-40C6-A395-859D99DF1987}" destId="{91C7A9D7-3D7D-4334-A65B-1CACC8E048A5}" srcOrd="0" destOrd="0" presId="urn:microsoft.com/office/officeart/2005/8/layout/arrow3"/>
    <dgm:cxn modelId="{328A44CB-3B34-4467-93E1-08D922C02EFE}" srcId="{495BB46C-54E7-40C6-A395-859D99DF1987}" destId="{CC907017-F8E4-4929-9495-A16ED345A7A3}" srcOrd="1" destOrd="0" parTransId="{A9D67E42-0283-4565-BA67-A990E5195459}" sibTransId="{A45A5CA4-3095-4310-8DE2-DF8FAC1F8B04}"/>
    <dgm:cxn modelId="{38072FE4-CE59-43C1-ACC4-7033092F4446}" srcId="{495BB46C-54E7-40C6-A395-859D99DF1987}" destId="{B997638E-BBC2-4C9A-ACD7-6A2DF4F7A683}" srcOrd="0" destOrd="0" parTransId="{4D5A2BC1-92D5-46F3-9D13-E3D2C2A468C1}" sibTransId="{1F6344B8-9B03-474B-803B-4D1C221FFCE9}"/>
    <dgm:cxn modelId="{E2386F2D-2818-4611-B61A-9307481FB39C}" type="presOf" srcId="{B997638E-BBC2-4C9A-ACD7-6A2DF4F7A683}" destId="{DAFFDA04-BD09-4E2A-997F-9E43CE49B1A4}" srcOrd="0" destOrd="0" presId="urn:microsoft.com/office/officeart/2005/8/layout/arrow3"/>
    <dgm:cxn modelId="{5531FE0F-E5EC-43ED-87D4-71B7E2BB6F09}" type="presOf" srcId="{CC907017-F8E4-4929-9495-A16ED345A7A3}" destId="{27690186-CB8E-4446-A39C-0902A06BF759}" srcOrd="0" destOrd="0" presId="urn:microsoft.com/office/officeart/2005/8/layout/arrow3"/>
    <dgm:cxn modelId="{717C2E4E-55A6-409D-91CC-BA7E05F9D614}" type="presParOf" srcId="{91C7A9D7-3D7D-4334-A65B-1CACC8E048A5}" destId="{66DF68A0-4510-440D-ADDB-206863638329}" srcOrd="0" destOrd="0" presId="urn:microsoft.com/office/officeart/2005/8/layout/arrow3"/>
    <dgm:cxn modelId="{97FAF80B-3A1C-4BC0-A987-4F179B160C5C}" type="presParOf" srcId="{91C7A9D7-3D7D-4334-A65B-1CACC8E048A5}" destId="{D4DA90D1-1253-4D5E-82BA-2C11658C96FA}" srcOrd="1" destOrd="0" presId="urn:microsoft.com/office/officeart/2005/8/layout/arrow3"/>
    <dgm:cxn modelId="{3284F92C-2B77-431B-AFFD-824467039139}" type="presParOf" srcId="{91C7A9D7-3D7D-4334-A65B-1CACC8E048A5}" destId="{DAFFDA04-BD09-4E2A-997F-9E43CE49B1A4}" srcOrd="2" destOrd="0" presId="urn:microsoft.com/office/officeart/2005/8/layout/arrow3"/>
    <dgm:cxn modelId="{4B2224AF-2516-4208-AFE8-092DE4642D5A}" type="presParOf" srcId="{91C7A9D7-3D7D-4334-A65B-1CACC8E048A5}" destId="{99144E19-5CF9-4B16-8BAB-C931286A53D2}" srcOrd="3" destOrd="0" presId="urn:microsoft.com/office/officeart/2005/8/layout/arrow3"/>
    <dgm:cxn modelId="{67A3EC10-82F5-43F4-8E70-6C95ECF01D15}" type="presParOf" srcId="{91C7A9D7-3D7D-4334-A65B-1CACC8E048A5}" destId="{27690186-CB8E-4446-A39C-0902A06BF759}" srcOrd="4" destOrd="0" presId="urn:microsoft.com/office/officeart/2005/8/layout/arrow3"/>
  </dgm:cxnLst>
  <dgm:bg/>
  <dgm:whole/>
</dgm:dataModel>
</file>

<file path=ppt/diagrams/data4.xml><?xml version="1.0" encoding="utf-8"?>
<dgm:dataModel xmlns:dgm="http://schemas.openxmlformats.org/drawingml/2006/diagram" xmlns:a="http://schemas.openxmlformats.org/drawingml/2006/main">
  <dgm:ptLst>
    <dgm:pt modelId="{30D5F70C-FB89-494A-825C-F71CAE78FCB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ES"/>
        </a:p>
      </dgm:t>
    </dgm:pt>
    <dgm:pt modelId="{3FA46406-E3B5-4E45-8BBF-63F497195FC5}">
      <dgm:prSet phldrT="[Texto]" custT="1"/>
      <dgm:spPr>
        <a:solidFill>
          <a:srgbClr val="C00000"/>
        </a:solidFill>
      </dgm:spPr>
      <dgm:t>
        <a:bodyPr/>
        <a:lstStyle/>
        <a:p>
          <a:pPr algn="ctr"/>
          <a:r>
            <a:rPr lang="es-AR" sz="2000" b="1" dirty="0" smtClean="0"/>
            <a:t>Cap. Fed. (TSJ)</a:t>
          </a:r>
          <a:endParaRPr lang="es-ES" sz="2000" b="1" dirty="0"/>
        </a:p>
      </dgm:t>
    </dgm:pt>
    <dgm:pt modelId="{1474ED01-F251-4388-812D-70FBFA3B342E}" type="parTrans" cxnId="{F545F0DC-D298-4465-84C1-1129E9B029F6}">
      <dgm:prSet/>
      <dgm:spPr/>
      <dgm:t>
        <a:bodyPr/>
        <a:lstStyle/>
        <a:p>
          <a:endParaRPr lang="es-ES"/>
        </a:p>
      </dgm:t>
    </dgm:pt>
    <dgm:pt modelId="{6F86941B-8A0D-4226-AA48-D603CFC1D367}" type="sibTrans" cxnId="{F545F0DC-D298-4465-84C1-1129E9B029F6}">
      <dgm:prSet/>
      <dgm:spPr/>
      <dgm:t>
        <a:bodyPr/>
        <a:lstStyle/>
        <a:p>
          <a:endParaRPr lang="es-ES"/>
        </a:p>
      </dgm:t>
    </dgm:pt>
    <dgm:pt modelId="{31997D16-DA5C-4331-BDF7-E3B96D29E1CF}">
      <dgm:prSet phldrT="[Texto]" custT="1"/>
      <dgm:spPr>
        <a:solidFill>
          <a:srgbClr val="C00000"/>
        </a:solidFill>
      </dgm:spPr>
      <dgm:t>
        <a:bodyPr/>
        <a:lstStyle/>
        <a:p>
          <a:pPr algn="ctr"/>
          <a:r>
            <a:rPr lang="es-AR" sz="2000" b="1" dirty="0" smtClean="0"/>
            <a:t>Entre </a:t>
          </a:r>
          <a:r>
            <a:rPr lang="es-AR" sz="2000" b="1" dirty="0" err="1" smtClean="0"/>
            <a:t>Rios</a:t>
          </a:r>
          <a:r>
            <a:rPr lang="es-AR" sz="2000" b="1" dirty="0" smtClean="0"/>
            <a:t> (CCA 1)</a:t>
          </a:r>
          <a:endParaRPr lang="es-ES" sz="2000" b="1" dirty="0"/>
        </a:p>
      </dgm:t>
    </dgm:pt>
    <dgm:pt modelId="{53355757-5B13-4E57-A6C2-62DA1395D2E7}" type="parTrans" cxnId="{DC6C2202-3BC4-45DB-A7E8-C7A2FA5EAA76}">
      <dgm:prSet/>
      <dgm:spPr/>
      <dgm:t>
        <a:bodyPr/>
        <a:lstStyle/>
        <a:p>
          <a:endParaRPr lang="es-ES"/>
        </a:p>
      </dgm:t>
    </dgm:pt>
    <dgm:pt modelId="{95D59A30-7B81-4A87-B89D-42DFBEADF473}" type="sibTrans" cxnId="{DC6C2202-3BC4-45DB-A7E8-C7A2FA5EAA76}">
      <dgm:prSet/>
      <dgm:spPr/>
      <dgm:t>
        <a:bodyPr/>
        <a:lstStyle/>
        <a:p>
          <a:endParaRPr lang="es-ES"/>
        </a:p>
      </dgm:t>
    </dgm:pt>
    <dgm:pt modelId="{6335D2B9-A7C7-4198-93A6-726BB3DA28F0}">
      <dgm:prSet phldrT="[Texto]" custT="1"/>
      <dgm:spPr>
        <a:solidFill>
          <a:srgbClr val="C00000"/>
        </a:solidFill>
      </dgm:spPr>
      <dgm:t>
        <a:bodyPr/>
        <a:lstStyle/>
        <a:p>
          <a:pPr algn="ctr"/>
          <a:r>
            <a:rPr lang="es-AR" sz="2000" b="1" dirty="0" smtClean="0"/>
            <a:t>Buenos Aires (CCA)</a:t>
          </a:r>
          <a:endParaRPr lang="es-ES" sz="2000" b="1" dirty="0"/>
        </a:p>
      </dgm:t>
    </dgm:pt>
    <dgm:pt modelId="{E684F99D-F5D4-46C3-BE51-D6CD5479DEA1}" type="parTrans" cxnId="{F1468B9C-A9F9-4F50-B1D0-701B294F65C8}">
      <dgm:prSet/>
      <dgm:spPr/>
      <dgm:t>
        <a:bodyPr/>
        <a:lstStyle/>
        <a:p>
          <a:endParaRPr lang="es-ES"/>
        </a:p>
      </dgm:t>
    </dgm:pt>
    <dgm:pt modelId="{5509C80F-608F-46E2-B0F8-8FEC255F3AA2}" type="sibTrans" cxnId="{F1468B9C-A9F9-4F50-B1D0-701B294F65C8}">
      <dgm:prSet/>
      <dgm:spPr/>
      <dgm:t>
        <a:bodyPr/>
        <a:lstStyle/>
        <a:p>
          <a:endParaRPr lang="es-ES"/>
        </a:p>
      </dgm:t>
    </dgm:pt>
    <dgm:pt modelId="{F1BA4BB3-C6B3-4062-AE5A-F4CA33E32313}">
      <dgm:prSet phldrT="[Texto]" custT="1"/>
      <dgm:spPr>
        <a:solidFill>
          <a:srgbClr val="C00000"/>
        </a:solidFill>
      </dgm:spPr>
      <dgm:t>
        <a:bodyPr/>
        <a:lstStyle/>
        <a:p>
          <a:pPr algn="ctr"/>
          <a:r>
            <a:rPr lang="es-ES" sz="2000" b="1" dirty="0" smtClean="0"/>
            <a:t>Entre </a:t>
          </a:r>
          <a:r>
            <a:rPr lang="es-ES" sz="2000" b="1" dirty="0" err="1" smtClean="0"/>
            <a:t>Rios</a:t>
          </a:r>
          <a:r>
            <a:rPr lang="es-ES" sz="2000" b="1" dirty="0" smtClean="0"/>
            <a:t> (STJ)</a:t>
          </a:r>
          <a:endParaRPr lang="es-ES" sz="2000" b="1" dirty="0"/>
        </a:p>
      </dgm:t>
    </dgm:pt>
    <dgm:pt modelId="{B313C2F2-13EC-404F-9E1C-9602EA5888B8}" type="parTrans" cxnId="{0E9854EF-D03E-4366-B48B-DCCAD17C3DDF}">
      <dgm:prSet/>
      <dgm:spPr/>
      <dgm:t>
        <a:bodyPr/>
        <a:lstStyle/>
        <a:p>
          <a:endParaRPr lang="es-ES"/>
        </a:p>
      </dgm:t>
    </dgm:pt>
    <dgm:pt modelId="{42E9BD0B-1866-4C3A-B291-7D6A9D27B698}" type="sibTrans" cxnId="{0E9854EF-D03E-4366-B48B-DCCAD17C3DDF}">
      <dgm:prSet/>
      <dgm:spPr/>
      <dgm:t>
        <a:bodyPr/>
        <a:lstStyle/>
        <a:p>
          <a:endParaRPr lang="es-ES"/>
        </a:p>
      </dgm:t>
    </dgm:pt>
    <dgm:pt modelId="{452D4C31-F002-4869-8D55-5C0F441A3EB8}" type="pres">
      <dgm:prSet presAssocID="{30D5F70C-FB89-494A-825C-F71CAE78FCB8}" presName="linear" presStyleCnt="0">
        <dgm:presLayoutVars>
          <dgm:dir/>
          <dgm:animLvl val="lvl"/>
          <dgm:resizeHandles val="exact"/>
        </dgm:presLayoutVars>
      </dgm:prSet>
      <dgm:spPr/>
      <dgm:t>
        <a:bodyPr/>
        <a:lstStyle/>
        <a:p>
          <a:endParaRPr lang="es-ES"/>
        </a:p>
      </dgm:t>
    </dgm:pt>
    <dgm:pt modelId="{4C2BE284-5691-4823-A323-AFAFD3E4D4FB}" type="pres">
      <dgm:prSet presAssocID="{3FA46406-E3B5-4E45-8BBF-63F497195FC5}" presName="parentLin" presStyleCnt="0"/>
      <dgm:spPr/>
    </dgm:pt>
    <dgm:pt modelId="{AC9F366F-BF7C-4BDE-92BD-48B8DE9BD90A}" type="pres">
      <dgm:prSet presAssocID="{3FA46406-E3B5-4E45-8BBF-63F497195FC5}" presName="parentLeftMargin" presStyleLbl="node1" presStyleIdx="0" presStyleCnt="4"/>
      <dgm:spPr/>
      <dgm:t>
        <a:bodyPr/>
        <a:lstStyle/>
        <a:p>
          <a:endParaRPr lang="es-ES"/>
        </a:p>
      </dgm:t>
    </dgm:pt>
    <dgm:pt modelId="{BF140798-08E3-45CB-8D01-568AC9FB43B4}" type="pres">
      <dgm:prSet presAssocID="{3FA46406-E3B5-4E45-8BBF-63F497195FC5}" presName="parentText" presStyleLbl="node1" presStyleIdx="0" presStyleCnt="4" custScaleY="94080">
        <dgm:presLayoutVars>
          <dgm:chMax val="0"/>
          <dgm:bulletEnabled val="1"/>
        </dgm:presLayoutVars>
      </dgm:prSet>
      <dgm:spPr/>
      <dgm:t>
        <a:bodyPr/>
        <a:lstStyle/>
        <a:p>
          <a:endParaRPr lang="es-ES"/>
        </a:p>
      </dgm:t>
    </dgm:pt>
    <dgm:pt modelId="{4E3AC317-CD9E-4AF1-A5DF-2804585A6487}" type="pres">
      <dgm:prSet presAssocID="{3FA46406-E3B5-4E45-8BBF-63F497195FC5}" presName="negativeSpace" presStyleCnt="0"/>
      <dgm:spPr/>
    </dgm:pt>
    <dgm:pt modelId="{5F842034-8812-43FA-B1B8-6D3A613B0CFA}" type="pres">
      <dgm:prSet presAssocID="{3FA46406-E3B5-4E45-8BBF-63F497195FC5}" presName="childText" presStyleLbl="conFgAcc1" presStyleIdx="0" presStyleCnt="4">
        <dgm:presLayoutVars>
          <dgm:bulletEnabled val="1"/>
        </dgm:presLayoutVars>
      </dgm:prSet>
      <dgm:spPr/>
    </dgm:pt>
    <dgm:pt modelId="{DA976F4A-09BA-4E26-A475-618B274F6136}" type="pres">
      <dgm:prSet presAssocID="{6F86941B-8A0D-4226-AA48-D603CFC1D367}" presName="spaceBetweenRectangles" presStyleCnt="0"/>
      <dgm:spPr/>
    </dgm:pt>
    <dgm:pt modelId="{EAF1BEA8-9BDE-4215-8356-96B9F587A5D6}" type="pres">
      <dgm:prSet presAssocID="{6335D2B9-A7C7-4198-93A6-726BB3DA28F0}" presName="parentLin" presStyleCnt="0"/>
      <dgm:spPr/>
    </dgm:pt>
    <dgm:pt modelId="{75DCD004-F2C0-476E-A582-760F9D07F803}" type="pres">
      <dgm:prSet presAssocID="{6335D2B9-A7C7-4198-93A6-726BB3DA28F0}" presName="parentLeftMargin" presStyleLbl="node1" presStyleIdx="0" presStyleCnt="4"/>
      <dgm:spPr/>
      <dgm:t>
        <a:bodyPr/>
        <a:lstStyle/>
        <a:p>
          <a:endParaRPr lang="es-ES"/>
        </a:p>
      </dgm:t>
    </dgm:pt>
    <dgm:pt modelId="{8CD41031-83E8-4866-80EC-239F1BFF6B6F}" type="pres">
      <dgm:prSet presAssocID="{6335D2B9-A7C7-4198-93A6-726BB3DA28F0}" presName="parentText" presStyleLbl="node1" presStyleIdx="1" presStyleCnt="4">
        <dgm:presLayoutVars>
          <dgm:chMax val="0"/>
          <dgm:bulletEnabled val="1"/>
        </dgm:presLayoutVars>
      </dgm:prSet>
      <dgm:spPr/>
      <dgm:t>
        <a:bodyPr/>
        <a:lstStyle/>
        <a:p>
          <a:endParaRPr lang="es-ES"/>
        </a:p>
      </dgm:t>
    </dgm:pt>
    <dgm:pt modelId="{348D1A3C-F481-43E9-AFF0-C411FA54E4F0}" type="pres">
      <dgm:prSet presAssocID="{6335D2B9-A7C7-4198-93A6-726BB3DA28F0}" presName="negativeSpace" presStyleCnt="0"/>
      <dgm:spPr/>
    </dgm:pt>
    <dgm:pt modelId="{72D32F63-B7C2-42F5-99B9-070FB8EEA7C3}" type="pres">
      <dgm:prSet presAssocID="{6335D2B9-A7C7-4198-93A6-726BB3DA28F0}" presName="childText" presStyleLbl="conFgAcc1" presStyleIdx="1" presStyleCnt="4">
        <dgm:presLayoutVars>
          <dgm:bulletEnabled val="1"/>
        </dgm:presLayoutVars>
      </dgm:prSet>
      <dgm:spPr/>
    </dgm:pt>
    <dgm:pt modelId="{D78B21FD-9A09-4E0F-9BC6-57A01E7DC9F6}" type="pres">
      <dgm:prSet presAssocID="{5509C80F-608F-46E2-B0F8-8FEC255F3AA2}" presName="spaceBetweenRectangles" presStyleCnt="0"/>
      <dgm:spPr/>
    </dgm:pt>
    <dgm:pt modelId="{A49FCB95-31DD-42E0-B71F-BD24E5F78748}" type="pres">
      <dgm:prSet presAssocID="{31997D16-DA5C-4331-BDF7-E3B96D29E1CF}" presName="parentLin" presStyleCnt="0"/>
      <dgm:spPr/>
    </dgm:pt>
    <dgm:pt modelId="{E34DAB93-D277-4EBA-B122-234845D28E45}" type="pres">
      <dgm:prSet presAssocID="{31997D16-DA5C-4331-BDF7-E3B96D29E1CF}" presName="parentLeftMargin" presStyleLbl="node1" presStyleIdx="1" presStyleCnt="4"/>
      <dgm:spPr/>
      <dgm:t>
        <a:bodyPr/>
        <a:lstStyle/>
        <a:p>
          <a:endParaRPr lang="es-ES"/>
        </a:p>
      </dgm:t>
    </dgm:pt>
    <dgm:pt modelId="{5B1BCCFA-0939-4E66-8BBF-E46A05B0B99F}" type="pres">
      <dgm:prSet presAssocID="{31997D16-DA5C-4331-BDF7-E3B96D29E1CF}" presName="parentText" presStyleLbl="node1" presStyleIdx="2" presStyleCnt="4" custScaleY="98031">
        <dgm:presLayoutVars>
          <dgm:chMax val="0"/>
          <dgm:bulletEnabled val="1"/>
        </dgm:presLayoutVars>
      </dgm:prSet>
      <dgm:spPr/>
      <dgm:t>
        <a:bodyPr/>
        <a:lstStyle/>
        <a:p>
          <a:endParaRPr lang="es-ES"/>
        </a:p>
      </dgm:t>
    </dgm:pt>
    <dgm:pt modelId="{0701C3AD-28FA-47B1-B3CA-8AF4D470578A}" type="pres">
      <dgm:prSet presAssocID="{31997D16-DA5C-4331-BDF7-E3B96D29E1CF}" presName="negativeSpace" presStyleCnt="0"/>
      <dgm:spPr/>
    </dgm:pt>
    <dgm:pt modelId="{98845C7B-49EC-4256-BC8B-932409B35AD5}" type="pres">
      <dgm:prSet presAssocID="{31997D16-DA5C-4331-BDF7-E3B96D29E1CF}" presName="childText" presStyleLbl="conFgAcc1" presStyleIdx="2" presStyleCnt="4">
        <dgm:presLayoutVars>
          <dgm:bulletEnabled val="1"/>
        </dgm:presLayoutVars>
      </dgm:prSet>
      <dgm:spPr/>
    </dgm:pt>
    <dgm:pt modelId="{B68438ED-9C9D-47F6-8569-7C83FEE639A8}" type="pres">
      <dgm:prSet presAssocID="{95D59A30-7B81-4A87-B89D-42DFBEADF473}" presName="spaceBetweenRectangles" presStyleCnt="0"/>
      <dgm:spPr/>
    </dgm:pt>
    <dgm:pt modelId="{5189BBB3-64F4-495A-9FB7-E971B2149854}" type="pres">
      <dgm:prSet presAssocID="{F1BA4BB3-C6B3-4062-AE5A-F4CA33E32313}" presName="parentLin" presStyleCnt="0"/>
      <dgm:spPr/>
    </dgm:pt>
    <dgm:pt modelId="{BBEAD1E1-1E25-4DEB-B064-B8DABF02E11B}" type="pres">
      <dgm:prSet presAssocID="{F1BA4BB3-C6B3-4062-AE5A-F4CA33E32313}" presName="parentLeftMargin" presStyleLbl="node1" presStyleIdx="2" presStyleCnt="4"/>
      <dgm:spPr/>
      <dgm:t>
        <a:bodyPr/>
        <a:lstStyle/>
        <a:p>
          <a:endParaRPr lang="es-ES"/>
        </a:p>
      </dgm:t>
    </dgm:pt>
    <dgm:pt modelId="{E6FF5002-FC13-42BD-800E-CC85C1B45A37}" type="pres">
      <dgm:prSet presAssocID="{F1BA4BB3-C6B3-4062-AE5A-F4CA33E32313}" presName="parentText" presStyleLbl="node1" presStyleIdx="3" presStyleCnt="4">
        <dgm:presLayoutVars>
          <dgm:chMax val="0"/>
          <dgm:bulletEnabled val="1"/>
        </dgm:presLayoutVars>
      </dgm:prSet>
      <dgm:spPr/>
      <dgm:t>
        <a:bodyPr/>
        <a:lstStyle/>
        <a:p>
          <a:endParaRPr lang="es-ES"/>
        </a:p>
      </dgm:t>
    </dgm:pt>
    <dgm:pt modelId="{6A9EE54F-094C-4047-A003-D3AC4E56BEB9}" type="pres">
      <dgm:prSet presAssocID="{F1BA4BB3-C6B3-4062-AE5A-F4CA33E32313}" presName="negativeSpace" presStyleCnt="0"/>
      <dgm:spPr/>
    </dgm:pt>
    <dgm:pt modelId="{BA0F3769-819E-4C35-94BD-1338193CB174}" type="pres">
      <dgm:prSet presAssocID="{F1BA4BB3-C6B3-4062-AE5A-F4CA33E32313}" presName="childText" presStyleLbl="conFgAcc1" presStyleIdx="3" presStyleCnt="4">
        <dgm:presLayoutVars>
          <dgm:bulletEnabled val="1"/>
        </dgm:presLayoutVars>
      </dgm:prSet>
      <dgm:spPr/>
    </dgm:pt>
  </dgm:ptLst>
  <dgm:cxnLst>
    <dgm:cxn modelId="{AB318536-FF4B-455B-91BA-415A95D3950E}" type="presOf" srcId="{3FA46406-E3B5-4E45-8BBF-63F497195FC5}" destId="{BF140798-08E3-45CB-8D01-568AC9FB43B4}" srcOrd="1" destOrd="0" presId="urn:microsoft.com/office/officeart/2005/8/layout/list1"/>
    <dgm:cxn modelId="{D76C8629-59A7-413A-A8AE-C54287B60CF9}" type="presOf" srcId="{3FA46406-E3B5-4E45-8BBF-63F497195FC5}" destId="{AC9F366F-BF7C-4BDE-92BD-48B8DE9BD90A}" srcOrd="0" destOrd="0" presId="urn:microsoft.com/office/officeart/2005/8/layout/list1"/>
    <dgm:cxn modelId="{867253B6-BE71-4305-8C25-3776EDFCD8C2}" type="presOf" srcId="{6335D2B9-A7C7-4198-93A6-726BB3DA28F0}" destId="{75DCD004-F2C0-476E-A582-760F9D07F803}" srcOrd="0" destOrd="0" presId="urn:microsoft.com/office/officeart/2005/8/layout/list1"/>
    <dgm:cxn modelId="{640076D7-ADED-45DD-8A48-A65ACC208A02}" type="presOf" srcId="{31997D16-DA5C-4331-BDF7-E3B96D29E1CF}" destId="{E34DAB93-D277-4EBA-B122-234845D28E45}" srcOrd="0" destOrd="0" presId="urn:microsoft.com/office/officeart/2005/8/layout/list1"/>
    <dgm:cxn modelId="{06FEFBD5-8B9F-485E-9CA1-DD1BD3269E4A}" type="presOf" srcId="{31997D16-DA5C-4331-BDF7-E3B96D29E1CF}" destId="{5B1BCCFA-0939-4E66-8BBF-E46A05B0B99F}" srcOrd="1" destOrd="0" presId="urn:microsoft.com/office/officeart/2005/8/layout/list1"/>
    <dgm:cxn modelId="{9FD4F2A9-7C0E-4ADF-9B88-CA08F8F61FEE}" type="presOf" srcId="{30D5F70C-FB89-494A-825C-F71CAE78FCB8}" destId="{452D4C31-F002-4869-8D55-5C0F441A3EB8}" srcOrd="0" destOrd="0" presId="urn:microsoft.com/office/officeart/2005/8/layout/list1"/>
    <dgm:cxn modelId="{EBA5B2EB-483C-4D5B-991E-4A30E9ED2122}" type="presOf" srcId="{6335D2B9-A7C7-4198-93A6-726BB3DA28F0}" destId="{8CD41031-83E8-4866-80EC-239F1BFF6B6F}" srcOrd="1" destOrd="0" presId="urn:microsoft.com/office/officeart/2005/8/layout/list1"/>
    <dgm:cxn modelId="{FA0718CC-81C1-4E7D-BD6D-BE3F7F5B86B3}" type="presOf" srcId="{F1BA4BB3-C6B3-4062-AE5A-F4CA33E32313}" destId="{BBEAD1E1-1E25-4DEB-B064-B8DABF02E11B}" srcOrd="0" destOrd="0" presId="urn:microsoft.com/office/officeart/2005/8/layout/list1"/>
    <dgm:cxn modelId="{F1468B9C-A9F9-4F50-B1D0-701B294F65C8}" srcId="{30D5F70C-FB89-494A-825C-F71CAE78FCB8}" destId="{6335D2B9-A7C7-4198-93A6-726BB3DA28F0}" srcOrd="1" destOrd="0" parTransId="{E684F99D-F5D4-46C3-BE51-D6CD5479DEA1}" sibTransId="{5509C80F-608F-46E2-B0F8-8FEC255F3AA2}"/>
    <dgm:cxn modelId="{0E9854EF-D03E-4366-B48B-DCCAD17C3DDF}" srcId="{30D5F70C-FB89-494A-825C-F71CAE78FCB8}" destId="{F1BA4BB3-C6B3-4062-AE5A-F4CA33E32313}" srcOrd="3" destOrd="0" parTransId="{B313C2F2-13EC-404F-9E1C-9602EA5888B8}" sibTransId="{42E9BD0B-1866-4C3A-B291-7D6A9D27B698}"/>
    <dgm:cxn modelId="{DC6C2202-3BC4-45DB-A7E8-C7A2FA5EAA76}" srcId="{30D5F70C-FB89-494A-825C-F71CAE78FCB8}" destId="{31997D16-DA5C-4331-BDF7-E3B96D29E1CF}" srcOrd="2" destOrd="0" parTransId="{53355757-5B13-4E57-A6C2-62DA1395D2E7}" sibTransId="{95D59A30-7B81-4A87-B89D-42DFBEADF473}"/>
    <dgm:cxn modelId="{F545F0DC-D298-4465-84C1-1129E9B029F6}" srcId="{30D5F70C-FB89-494A-825C-F71CAE78FCB8}" destId="{3FA46406-E3B5-4E45-8BBF-63F497195FC5}" srcOrd="0" destOrd="0" parTransId="{1474ED01-F251-4388-812D-70FBFA3B342E}" sibTransId="{6F86941B-8A0D-4226-AA48-D603CFC1D367}"/>
    <dgm:cxn modelId="{FFD47CFA-322B-4F6E-BE59-73322E0E3B0D}" type="presOf" srcId="{F1BA4BB3-C6B3-4062-AE5A-F4CA33E32313}" destId="{E6FF5002-FC13-42BD-800E-CC85C1B45A37}" srcOrd="1" destOrd="0" presId="urn:microsoft.com/office/officeart/2005/8/layout/list1"/>
    <dgm:cxn modelId="{A58B4A35-426F-4BEA-B8B1-7FBD5523377F}" type="presParOf" srcId="{452D4C31-F002-4869-8D55-5C0F441A3EB8}" destId="{4C2BE284-5691-4823-A323-AFAFD3E4D4FB}" srcOrd="0" destOrd="0" presId="urn:microsoft.com/office/officeart/2005/8/layout/list1"/>
    <dgm:cxn modelId="{7AD48B29-E607-47E9-BF39-C66FB7B1AA79}" type="presParOf" srcId="{4C2BE284-5691-4823-A323-AFAFD3E4D4FB}" destId="{AC9F366F-BF7C-4BDE-92BD-48B8DE9BD90A}" srcOrd="0" destOrd="0" presId="urn:microsoft.com/office/officeart/2005/8/layout/list1"/>
    <dgm:cxn modelId="{8E86BF5F-B02A-4AC3-A4D5-C786288A58A3}" type="presParOf" srcId="{4C2BE284-5691-4823-A323-AFAFD3E4D4FB}" destId="{BF140798-08E3-45CB-8D01-568AC9FB43B4}" srcOrd="1" destOrd="0" presId="urn:microsoft.com/office/officeart/2005/8/layout/list1"/>
    <dgm:cxn modelId="{09762F0E-D51C-48AA-A3FE-3EF86BA9241C}" type="presParOf" srcId="{452D4C31-F002-4869-8D55-5C0F441A3EB8}" destId="{4E3AC317-CD9E-4AF1-A5DF-2804585A6487}" srcOrd="1" destOrd="0" presId="urn:microsoft.com/office/officeart/2005/8/layout/list1"/>
    <dgm:cxn modelId="{C5F6CB79-9302-4B66-8216-00686E4D355A}" type="presParOf" srcId="{452D4C31-F002-4869-8D55-5C0F441A3EB8}" destId="{5F842034-8812-43FA-B1B8-6D3A613B0CFA}" srcOrd="2" destOrd="0" presId="urn:microsoft.com/office/officeart/2005/8/layout/list1"/>
    <dgm:cxn modelId="{A665CAD6-BBA3-43F0-9330-6B3B9F6DB20C}" type="presParOf" srcId="{452D4C31-F002-4869-8D55-5C0F441A3EB8}" destId="{DA976F4A-09BA-4E26-A475-618B274F6136}" srcOrd="3" destOrd="0" presId="urn:microsoft.com/office/officeart/2005/8/layout/list1"/>
    <dgm:cxn modelId="{A08AE3A3-EAC2-489A-A2A2-F93BF8AE1255}" type="presParOf" srcId="{452D4C31-F002-4869-8D55-5C0F441A3EB8}" destId="{EAF1BEA8-9BDE-4215-8356-96B9F587A5D6}" srcOrd="4" destOrd="0" presId="urn:microsoft.com/office/officeart/2005/8/layout/list1"/>
    <dgm:cxn modelId="{AA616165-A31F-432C-814A-25D10FA95A49}" type="presParOf" srcId="{EAF1BEA8-9BDE-4215-8356-96B9F587A5D6}" destId="{75DCD004-F2C0-476E-A582-760F9D07F803}" srcOrd="0" destOrd="0" presId="urn:microsoft.com/office/officeart/2005/8/layout/list1"/>
    <dgm:cxn modelId="{180FC048-CF22-4E2C-A7B8-A532B347DE67}" type="presParOf" srcId="{EAF1BEA8-9BDE-4215-8356-96B9F587A5D6}" destId="{8CD41031-83E8-4866-80EC-239F1BFF6B6F}" srcOrd="1" destOrd="0" presId="urn:microsoft.com/office/officeart/2005/8/layout/list1"/>
    <dgm:cxn modelId="{F078647D-B394-4124-8D94-AEAC852AEC86}" type="presParOf" srcId="{452D4C31-F002-4869-8D55-5C0F441A3EB8}" destId="{348D1A3C-F481-43E9-AFF0-C411FA54E4F0}" srcOrd="5" destOrd="0" presId="urn:microsoft.com/office/officeart/2005/8/layout/list1"/>
    <dgm:cxn modelId="{9A8E4039-42C9-495A-AF0F-2428FAA8C70E}" type="presParOf" srcId="{452D4C31-F002-4869-8D55-5C0F441A3EB8}" destId="{72D32F63-B7C2-42F5-99B9-070FB8EEA7C3}" srcOrd="6" destOrd="0" presId="urn:microsoft.com/office/officeart/2005/8/layout/list1"/>
    <dgm:cxn modelId="{6A774195-5D7A-4B97-9466-8A31F560784D}" type="presParOf" srcId="{452D4C31-F002-4869-8D55-5C0F441A3EB8}" destId="{D78B21FD-9A09-4E0F-9BC6-57A01E7DC9F6}" srcOrd="7" destOrd="0" presId="urn:microsoft.com/office/officeart/2005/8/layout/list1"/>
    <dgm:cxn modelId="{380628BC-CDBE-4ACF-BD24-8D45FBACE170}" type="presParOf" srcId="{452D4C31-F002-4869-8D55-5C0F441A3EB8}" destId="{A49FCB95-31DD-42E0-B71F-BD24E5F78748}" srcOrd="8" destOrd="0" presId="urn:microsoft.com/office/officeart/2005/8/layout/list1"/>
    <dgm:cxn modelId="{406057D4-666E-441F-9C71-CE9C5D419480}" type="presParOf" srcId="{A49FCB95-31DD-42E0-B71F-BD24E5F78748}" destId="{E34DAB93-D277-4EBA-B122-234845D28E45}" srcOrd="0" destOrd="0" presId="urn:microsoft.com/office/officeart/2005/8/layout/list1"/>
    <dgm:cxn modelId="{57873D4E-33C4-4B1D-B259-9EAEF3C98A47}" type="presParOf" srcId="{A49FCB95-31DD-42E0-B71F-BD24E5F78748}" destId="{5B1BCCFA-0939-4E66-8BBF-E46A05B0B99F}" srcOrd="1" destOrd="0" presId="urn:microsoft.com/office/officeart/2005/8/layout/list1"/>
    <dgm:cxn modelId="{256AF2E8-3C97-4320-9958-E1E1175CA0FF}" type="presParOf" srcId="{452D4C31-F002-4869-8D55-5C0F441A3EB8}" destId="{0701C3AD-28FA-47B1-B3CA-8AF4D470578A}" srcOrd="9" destOrd="0" presId="urn:microsoft.com/office/officeart/2005/8/layout/list1"/>
    <dgm:cxn modelId="{9A7EA4BA-BD4E-457A-83A8-8E03452E5FBD}" type="presParOf" srcId="{452D4C31-F002-4869-8D55-5C0F441A3EB8}" destId="{98845C7B-49EC-4256-BC8B-932409B35AD5}" srcOrd="10" destOrd="0" presId="urn:microsoft.com/office/officeart/2005/8/layout/list1"/>
    <dgm:cxn modelId="{D2E65AB0-C371-4012-A6E7-1D2EEE13F33D}" type="presParOf" srcId="{452D4C31-F002-4869-8D55-5C0F441A3EB8}" destId="{B68438ED-9C9D-47F6-8569-7C83FEE639A8}" srcOrd="11" destOrd="0" presId="urn:microsoft.com/office/officeart/2005/8/layout/list1"/>
    <dgm:cxn modelId="{BA33EFBC-2A84-4BA1-8955-DC395D7BBEFC}" type="presParOf" srcId="{452D4C31-F002-4869-8D55-5C0F441A3EB8}" destId="{5189BBB3-64F4-495A-9FB7-E971B2149854}" srcOrd="12" destOrd="0" presId="urn:microsoft.com/office/officeart/2005/8/layout/list1"/>
    <dgm:cxn modelId="{B9E16E8B-617E-4900-B3A9-A2C7E6368F6F}" type="presParOf" srcId="{5189BBB3-64F4-495A-9FB7-E971B2149854}" destId="{BBEAD1E1-1E25-4DEB-B064-B8DABF02E11B}" srcOrd="0" destOrd="0" presId="urn:microsoft.com/office/officeart/2005/8/layout/list1"/>
    <dgm:cxn modelId="{E994218F-457C-4D39-A464-411E4F18D591}" type="presParOf" srcId="{5189BBB3-64F4-495A-9FB7-E971B2149854}" destId="{E6FF5002-FC13-42BD-800E-CC85C1B45A37}" srcOrd="1" destOrd="0" presId="urn:microsoft.com/office/officeart/2005/8/layout/list1"/>
    <dgm:cxn modelId="{5853EF37-FEE1-4403-9816-1B0C44917F42}" type="presParOf" srcId="{452D4C31-F002-4869-8D55-5C0F441A3EB8}" destId="{6A9EE54F-094C-4047-A003-D3AC4E56BEB9}" srcOrd="13" destOrd="0" presId="urn:microsoft.com/office/officeart/2005/8/layout/list1"/>
    <dgm:cxn modelId="{BF7569CF-1E05-4836-8921-FE85342205AF}" type="presParOf" srcId="{452D4C31-F002-4869-8D55-5C0F441A3EB8}" destId="{BA0F3769-819E-4C35-94BD-1338193CB174}" srcOrd="14" destOrd="0" presId="urn:microsoft.com/office/officeart/2005/8/layout/list1"/>
  </dgm:cxnLst>
  <dgm:bg/>
  <dgm:whole/>
</dgm:dataModel>
</file>

<file path=ppt/diagrams/drawing10.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1DE678FB-5CF9-407F-AE29-1E24617405A5}">
      <dsp:nvSpPr>
        <dsp:cNvPr id="0" name=""/>
        <dsp:cNvSpPr/>
      </dsp:nvSpPr>
      <dsp:spPr>
        <a:xfrm>
          <a:off x="1872965" y="564638"/>
          <a:ext cx="3777868" cy="3777868"/>
        </a:xfrm>
        <a:prstGeom prst="blockArc">
          <a:avLst>
            <a:gd name="adj1" fmla="val 12673127"/>
            <a:gd name="adj2" fmla="val 16476920"/>
            <a:gd name="adj3" fmla="val 45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A365C25-4001-46F6-AD13-FFC288D23F92}">
      <dsp:nvSpPr>
        <dsp:cNvPr id="0" name=""/>
        <dsp:cNvSpPr/>
      </dsp:nvSpPr>
      <dsp:spPr>
        <a:xfrm>
          <a:off x="1857038" y="590436"/>
          <a:ext cx="3777868" cy="3777868"/>
        </a:xfrm>
        <a:prstGeom prst="blockArc">
          <a:avLst>
            <a:gd name="adj1" fmla="val 9190341"/>
            <a:gd name="adj2" fmla="val 12729582"/>
            <a:gd name="adj3" fmla="val 45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780F7FC-7ACB-481E-BAC9-0544C5DA238B}">
      <dsp:nvSpPr>
        <dsp:cNvPr id="0" name=""/>
        <dsp:cNvSpPr/>
      </dsp:nvSpPr>
      <dsp:spPr>
        <a:xfrm>
          <a:off x="1810565" y="504295"/>
          <a:ext cx="3777868" cy="3777868"/>
        </a:xfrm>
        <a:prstGeom prst="blockArc">
          <a:avLst>
            <a:gd name="adj1" fmla="val 5468859"/>
            <a:gd name="adj2" fmla="val 9008065"/>
            <a:gd name="adj3" fmla="val 45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C259343-FD6D-48D6-BD1B-71117C7A61B3}">
      <dsp:nvSpPr>
        <dsp:cNvPr id="0" name=""/>
        <dsp:cNvSpPr/>
      </dsp:nvSpPr>
      <dsp:spPr>
        <a:xfrm>
          <a:off x="1806289" y="504215"/>
          <a:ext cx="3777868" cy="3777868"/>
        </a:xfrm>
        <a:prstGeom prst="blockArc">
          <a:avLst>
            <a:gd name="adj1" fmla="val 1792108"/>
            <a:gd name="adj2" fmla="val 5460895"/>
            <a:gd name="adj3" fmla="val 45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A88317-2906-40A9-A167-D50271449BBA}">
      <dsp:nvSpPr>
        <dsp:cNvPr id="0" name=""/>
        <dsp:cNvSpPr/>
      </dsp:nvSpPr>
      <dsp:spPr>
        <a:xfrm>
          <a:off x="1847842" y="435377"/>
          <a:ext cx="3777868" cy="3777868"/>
        </a:xfrm>
        <a:prstGeom prst="blockArc">
          <a:avLst>
            <a:gd name="adj1" fmla="val 20432650"/>
            <a:gd name="adj2" fmla="val 1941843"/>
            <a:gd name="adj3" fmla="val 45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72D8A2F-9FBA-4342-B387-9FE516492F63}">
      <dsp:nvSpPr>
        <dsp:cNvPr id="0" name=""/>
        <dsp:cNvSpPr/>
      </dsp:nvSpPr>
      <dsp:spPr>
        <a:xfrm>
          <a:off x="1899929" y="566616"/>
          <a:ext cx="3777868" cy="3777868"/>
        </a:xfrm>
        <a:prstGeom prst="blockArc">
          <a:avLst>
            <a:gd name="adj1" fmla="val 16426575"/>
            <a:gd name="adj2" fmla="val 20169665"/>
            <a:gd name="adj3" fmla="val 4525"/>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CCDDF8F-C456-4E2A-8A36-821ED76BEF15}">
      <dsp:nvSpPr>
        <dsp:cNvPr id="0" name=""/>
        <dsp:cNvSpPr/>
      </dsp:nvSpPr>
      <dsp:spPr>
        <a:xfrm>
          <a:off x="2888894" y="1541560"/>
          <a:ext cx="1695831" cy="1695831"/>
        </a:xfrm>
        <a:prstGeom prst="ellipse">
          <a:avLst/>
        </a:prstGeom>
        <a:solidFill>
          <a:srgbClr val="FF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ctr" anchorCtr="0">
          <a:noAutofit/>
        </a:bodyPr>
        <a:lstStyle/>
        <a:p>
          <a:pPr lvl="0" algn="ctr" defTabSz="1200150">
            <a:lnSpc>
              <a:spcPct val="90000"/>
            </a:lnSpc>
            <a:spcBef>
              <a:spcPct val="0"/>
            </a:spcBef>
            <a:spcAft>
              <a:spcPct val="35000"/>
            </a:spcAft>
          </a:pPr>
          <a:r>
            <a:rPr lang="es-AR" sz="2700" b="1" kern="1200" dirty="0" smtClean="0">
              <a:solidFill>
                <a:schemeClr val="bg1"/>
              </a:solidFill>
            </a:rPr>
            <a:t>Sin Fin de Lucro</a:t>
          </a:r>
          <a:endParaRPr lang="es-ES" sz="2700" b="1" kern="1200" dirty="0">
            <a:solidFill>
              <a:schemeClr val="bg1"/>
            </a:solidFill>
          </a:endParaRPr>
        </a:p>
      </dsp:txBody>
      <dsp:txXfrm>
        <a:off x="2888894" y="1541560"/>
        <a:ext cx="1695831" cy="1695831"/>
      </dsp:txXfrm>
    </dsp:sp>
    <dsp:sp modelId="{7F25A14E-031A-4AF0-A35E-0B6DA87B102A}">
      <dsp:nvSpPr>
        <dsp:cNvPr id="0" name=""/>
        <dsp:cNvSpPr/>
      </dsp:nvSpPr>
      <dsp:spPr>
        <a:xfrm>
          <a:off x="2951701" y="123160"/>
          <a:ext cx="1917505" cy="980399"/>
        </a:xfrm>
        <a:prstGeom prst="ellipse">
          <a:avLst/>
        </a:prstGeom>
        <a:solidFill>
          <a:schemeClr val="accent1">
            <a:lumMod val="60000"/>
            <a:lum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b="1" kern="1200" dirty="0" smtClean="0">
              <a:solidFill>
                <a:srgbClr val="002060"/>
              </a:solidFill>
            </a:rPr>
            <a:t>Ley 20.321</a:t>
          </a:r>
          <a:endParaRPr lang="es-ES" sz="1400" b="1" kern="1200" dirty="0">
            <a:solidFill>
              <a:srgbClr val="002060"/>
            </a:solidFill>
          </a:endParaRPr>
        </a:p>
      </dsp:txBody>
      <dsp:txXfrm>
        <a:off x="2951701" y="123160"/>
        <a:ext cx="1917505" cy="980399"/>
      </dsp:txXfrm>
    </dsp:sp>
    <dsp:sp modelId="{B3FABEFF-F552-4A02-9CAD-8AFBE6E5C129}">
      <dsp:nvSpPr>
        <dsp:cNvPr id="0" name=""/>
        <dsp:cNvSpPr/>
      </dsp:nvSpPr>
      <dsp:spPr>
        <a:xfrm>
          <a:off x="4485278" y="1176284"/>
          <a:ext cx="1984552" cy="1066189"/>
        </a:xfrm>
        <a:prstGeom prst="ellipse">
          <a:avLst/>
        </a:prstGeom>
        <a:solidFill>
          <a:schemeClr val="accent4">
            <a:lumMod val="20000"/>
            <a:lumOff val="8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ES" sz="1400" b="1" kern="1200" dirty="0" smtClean="0">
              <a:solidFill>
                <a:srgbClr val="002060"/>
              </a:solidFill>
            </a:rPr>
            <a:t>Naturaleza Mutual</a:t>
          </a:r>
          <a:endParaRPr lang="es-ES" sz="1400" b="1" kern="1200" dirty="0">
            <a:solidFill>
              <a:srgbClr val="002060"/>
            </a:solidFill>
          </a:endParaRPr>
        </a:p>
      </dsp:txBody>
      <dsp:txXfrm>
        <a:off x="4485278" y="1176284"/>
        <a:ext cx="1984552" cy="1066189"/>
      </dsp:txXfrm>
    </dsp:sp>
    <dsp:sp modelId="{BB8F80A8-D2CE-4A7E-BF94-E84781B6F40C}">
      <dsp:nvSpPr>
        <dsp:cNvPr id="0" name=""/>
        <dsp:cNvSpPr/>
      </dsp:nvSpPr>
      <dsp:spPr>
        <a:xfrm>
          <a:off x="4356541" y="2719034"/>
          <a:ext cx="1879305" cy="1187082"/>
        </a:xfrm>
        <a:prstGeom prst="ellipse">
          <a:avLst/>
        </a:prstGeom>
        <a:solidFill>
          <a:srgbClr val="92D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ES" sz="1400" b="1" kern="1200" dirty="0" smtClean="0">
              <a:solidFill>
                <a:srgbClr val="002060"/>
              </a:solidFill>
            </a:rPr>
            <a:t>Constituciones Provinciales</a:t>
          </a:r>
          <a:endParaRPr lang="es-ES" sz="1400" b="1" kern="1200" dirty="0">
            <a:solidFill>
              <a:srgbClr val="002060"/>
            </a:solidFill>
          </a:endParaRPr>
        </a:p>
      </dsp:txBody>
      <dsp:txXfrm>
        <a:off x="4356541" y="2719034"/>
        <a:ext cx="1879305" cy="1187082"/>
      </dsp:txXfrm>
    </dsp:sp>
    <dsp:sp modelId="{BD68C5FB-ADAE-421A-A272-5BE74E5ADDA0}">
      <dsp:nvSpPr>
        <dsp:cNvPr id="0" name=""/>
        <dsp:cNvSpPr/>
      </dsp:nvSpPr>
      <dsp:spPr>
        <a:xfrm>
          <a:off x="2660910" y="3645517"/>
          <a:ext cx="2003224" cy="1187082"/>
        </a:xfrm>
        <a:prstGeom prst="ellipse">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b="1" kern="1200" dirty="0" smtClean="0">
              <a:solidFill>
                <a:srgbClr val="002060"/>
              </a:solidFill>
            </a:rPr>
            <a:t>Res. 477/20 </a:t>
          </a:r>
        </a:p>
        <a:p>
          <a:pPr lvl="0" algn="ctr" defTabSz="622300">
            <a:lnSpc>
              <a:spcPct val="90000"/>
            </a:lnSpc>
            <a:spcBef>
              <a:spcPct val="0"/>
            </a:spcBef>
            <a:spcAft>
              <a:spcPct val="35000"/>
            </a:spcAft>
          </a:pPr>
          <a:r>
            <a:rPr lang="es-AR" sz="1400" b="1" kern="1200" dirty="0" smtClean="0">
              <a:solidFill>
                <a:srgbClr val="002060"/>
              </a:solidFill>
            </a:rPr>
            <a:t>Res. 5460/23 (INAES)</a:t>
          </a:r>
          <a:endParaRPr lang="es-ES" sz="1400" b="1" kern="1200" dirty="0">
            <a:solidFill>
              <a:srgbClr val="002060"/>
            </a:solidFill>
          </a:endParaRPr>
        </a:p>
      </dsp:txBody>
      <dsp:txXfrm>
        <a:off x="2660910" y="3645517"/>
        <a:ext cx="2003224" cy="1187082"/>
      </dsp:txXfrm>
    </dsp:sp>
    <dsp:sp modelId="{6DDAD937-14F6-4D24-8844-185EB6E3189E}">
      <dsp:nvSpPr>
        <dsp:cNvPr id="0" name=""/>
        <dsp:cNvSpPr/>
      </dsp:nvSpPr>
      <dsp:spPr>
        <a:xfrm>
          <a:off x="1101025" y="2739761"/>
          <a:ext cx="1994915" cy="1145629"/>
        </a:xfrm>
        <a:prstGeom prst="ellipse">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b="1" kern="1200" dirty="0" smtClean="0">
              <a:solidFill>
                <a:srgbClr val="002060"/>
              </a:solidFill>
            </a:rPr>
            <a:t>Jurisprudencia</a:t>
          </a:r>
          <a:endParaRPr lang="es-ES" sz="1400" b="1" kern="1200" dirty="0">
            <a:solidFill>
              <a:srgbClr val="002060"/>
            </a:solidFill>
          </a:endParaRPr>
        </a:p>
      </dsp:txBody>
      <dsp:txXfrm>
        <a:off x="1101025" y="2739761"/>
        <a:ext cx="1994915" cy="1145629"/>
      </dsp:txXfrm>
    </dsp:sp>
    <dsp:sp modelId="{E2DEAFC8-CEE8-4370-93AD-A07A37064B87}">
      <dsp:nvSpPr>
        <dsp:cNvPr id="0" name=""/>
        <dsp:cNvSpPr/>
      </dsp:nvSpPr>
      <dsp:spPr>
        <a:xfrm>
          <a:off x="1210511" y="903133"/>
          <a:ext cx="1945057" cy="1187082"/>
        </a:xfrm>
        <a:prstGeom prst="ellipse">
          <a:avLst/>
        </a:prstGeom>
        <a:solidFill>
          <a:schemeClr val="bg2">
            <a:lumMod val="9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r>
            <a:rPr lang="es-AR" sz="1400" b="1" kern="1200" dirty="0" smtClean="0">
              <a:solidFill>
                <a:srgbClr val="002060"/>
              </a:solidFill>
            </a:rPr>
            <a:t>Pruebas</a:t>
          </a:r>
          <a:endParaRPr lang="es-ES" sz="1400" b="1" kern="1200" dirty="0">
            <a:solidFill>
              <a:srgbClr val="002060"/>
            </a:solidFill>
          </a:endParaRPr>
        </a:p>
      </dsp:txBody>
      <dsp:txXfrm>
        <a:off x="1210511" y="903133"/>
        <a:ext cx="1945057" cy="1187082"/>
      </dsp:txXfrm>
    </dsp:sp>
  </dsp:spTree>
</dsp:drawing>
</file>

<file path=ppt/diagrams/layout1.xml><?xml version="1.0" encoding="utf-8"?>
<dgm:layoutDef xmlns:dgm="http://schemas.openxmlformats.org/drawingml/2006/diagram" xmlns:a="http://schemas.openxmlformats.org/drawingml/2006/main" uniqueId="urn:microsoft.com/office/officeart/2005/8/layout/radial6">
  <dgm:title val=""/>
  <dgm:desc val=""/>
  <dgm:catLst>
    <dgm:cat type="cycle" pri="9000"/>
    <dgm:cat type="relationship" pri="2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choose name="Name3">
          <dgm:if name="Name4" axis="ch ch" ptType="node node" st="1 1" cnt="1 0" func="cnt" op="lte" val="1">
            <dgm:alg type="cycle">
              <dgm:param type="stAng" val="90"/>
              <dgm:param type="spanAng" val="360"/>
              <dgm:param type="ctrShpMap" val="fNode"/>
            </dgm:alg>
          </dgm:if>
          <dgm:else name="Name5">
            <dgm:alg type="cycle">
              <dgm:param type="stAng" val="0"/>
              <dgm:param type="spanAng" val="360"/>
              <dgm:param type="ctrShpMap" val="fNode"/>
            </dgm:alg>
          </dgm:else>
        </dgm:choose>
      </dgm:if>
      <dgm:else name="Name6">
        <dgm:choose name="Name7">
          <dgm:if name="Name8" axis="ch ch" ptType="node node" st="1 1" cnt="1 0" func="cnt" op="lte" val="1">
            <dgm:alg type="cycle">
              <dgm:param type="stAng" val="-90"/>
              <dgm:param type="spanAng" val="360"/>
              <dgm:param type="ctrShpMap" val="fNode"/>
            </dgm:alg>
          </dgm:if>
          <dgm:else name="Name9">
            <dgm:alg type="cycle">
              <dgm:param type="stAng" val="0"/>
              <dgm:param type="spanAng" val="-360"/>
              <dgm:param type="ctrShpMap" val="fNode"/>
            </dgm:alg>
          </dgm:else>
        </dgm:choose>
      </dgm:else>
    </dgm:choose>
    <dgm:shape xmlns:r="http://schemas.openxmlformats.org/officeDocument/2006/relationships" r:blip="">
      <dgm:adjLst/>
    </dgm:shape>
    <dgm:presOf/>
    <dgm:choose name="Name10">
      <dgm:if name="Name11" func="var" arg="dir" op="equ" val="norm">
        <dgm:choose name="Name12">
          <dgm:if name="Name13"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des" forName="oneNode" refType="primFontSz" refFor="ch" refForName="centerShape" op="lte" fact="0.95"/>
              <dgm:constr type="diam" for="ch" forName="singleconn" refType="diam" op="equ" fact="-1"/>
              <dgm:constr type="h" for="ch" forName="singleconn" refType="w" refFor="ch" refForName="oneComp" fact="0.24"/>
              <dgm:constr type="w" for="ch" forName="dummya" refType="w" refFor="ch" refForName="oneComp" op="equ"/>
              <dgm:constr type="w" for="ch" forName="dummyb" refType="w" refFor="ch" refForName="oneComp" op="equ"/>
              <dgm:constr type="w" for="ch" forName="dummyc" refType="w" refFor="ch" refForName="oneComp" op="equ"/>
            </dgm:constrLst>
          </dgm:if>
          <dgm:else name="Name14">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forName="sibTrans" refType="diam" op="equ"/>
              <dgm:constr type="h" for="ch" forName="sibTrans" refType="w" refFor="ch" refForName="node" fact="0.24"/>
              <dgm:constr type="w" for="ch" forName="dummy" val="1"/>
            </dgm:constrLst>
          </dgm:else>
        </dgm:choose>
      </dgm:if>
      <dgm:else name="Name15">
        <dgm:choose name="Name16">
          <dgm:if name="Name17" axis="ch ch" ptType="node node" st="1 1" cnt="1 0" func="cnt" op="equ" val="1">
            <dgm:constrLst>
              <dgm:constr type="diam" val="170"/>
              <dgm:constr type="w" for="ch" forName="centerShape" refType="w"/>
              <dgm:constr type="w" for="ch" forName="oneComp" refType="w" refFor="ch" refForName="centerShape" op="equ" fact="0.7"/>
              <dgm:constr type="sp" refType="w" refFor="ch" refForName="oneComp" fact="0.3"/>
              <dgm:constr type="sibSp" refType="w" refFor="ch" refForName="oneComp" fact="0.3"/>
              <dgm:constr type="primFontSz" for="ch" forName="centerShape" val="65"/>
              <dgm:constr type="primFontSz" for="des" forName="oneNode" refType="primFontSz" refFor="ch" refForName="centerShape" fact="0.95"/>
              <dgm:constr type="primFontSz" for="ch" forName="oneNode" refType="primFontSz" refFor="ch" refForName="centerShape" op="lte" fact="0.95"/>
              <dgm:constr type="diam" for="ch" forName="singleconn" refType="diam"/>
              <dgm:constr type="h" for="ch" forName="singleconn" refType="w" refFor="ch" refForName="oneComp" fact="0.24"/>
              <dgm:constr type="diam" for="ch" refType="diam" op="equ"/>
              <dgm:constr type="w" for="ch" forName="dummya" refType="w" refFor="ch" refForName="oneComp" op="equ"/>
              <dgm:constr type="w" for="ch" forName="dummyb" refType="w" refFor="ch" refForName="oneComp" op="equ"/>
              <dgm:constr type="w" for="ch" forName="dummyc" refType="w" refFor="ch" refForName="oneComp" op="equ"/>
            </dgm:constrLst>
          </dgm:if>
          <dgm:else name="Name18">
            <dgm:constrLst>
              <dgm:constr type="diam" val="170"/>
              <dgm:constr type="w" for="ch" forName="centerShape" refType="w"/>
              <dgm:constr type="w" for="ch" forName="node" refType="w" refFor="ch" refForName="centerShape" op="equ" fact="0.7"/>
              <dgm:constr type="sp" refType="w" refFor="ch" refForName="node" fact="0.3"/>
              <dgm:constr type="sibSp" refType="w" refFor="ch" refForName="node" fact="0.3"/>
              <dgm:constr type="primFontSz" for="ch" forName="centerShape" val="65"/>
              <dgm:constr type="primFontSz" for="des" forName="node" refType="primFontSz" refFor="ch" refForName="centerShape" fact="0.78"/>
              <dgm:constr type="primFontSz" for="ch" forName="node" refType="primFontSz" refFor="ch" refForName="centerShape" op="lte" fact="0.95"/>
              <dgm:constr type="diam" for="ch" ptType="sibTrans" refType="diam" fact="-1"/>
              <dgm:constr type="h" for="ch" forName="sibTrans" refType="w" refFor="ch" refForName="node" fact="0.24"/>
              <dgm:constr type="diam" for="ch" refType="diam" op="equ" fact="-1"/>
              <dgm:constr type="w" for="ch" forName="dummy" val="1"/>
            </dgm:constrLst>
          </dgm:else>
        </dgm:choose>
      </dgm:else>
    </dgm:choose>
    <dgm:ruleLst>
      <dgm:rule type="diam" val="INF" fact="NaN" max="NaN"/>
    </dgm:ruleLst>
    <dgm:forEach name="Name19"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20" axis="ch">
        <dgm:forEach name="Name21" axis="self" ptType="node">
          <dgm:choose name="Name22">
            <dgm:if name="Name23" axis="par ch" ptType="node node" func="cnt" op="gt" val="1">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dummy">
                <dgm:alg type="sp"/>
                <dgm:shape xmlns:r="http://schemas.openxmlformats.org/officeDocument/2006/relationships" r:blip="">
                  <dgm:adjLst/>
                </dgm:shape>
                <dgm:presOf/>
                <dgm:constrLst>
                  <dgm:constr type="h" refType="w"/>
                </dgm:constrLst>
                <dgm:ruleLst/>
              </dgm:layoutNode>
              <dgm:forEach name="sibTransForEach" axis="followSib" ptType="sibTrans" hideLastTrans="0" cnt="1">
                <dgm:layoutNode name="sibTrans" styleLbl="sibTrans2D1">
                  <dgm:alg type="conn">
                    <dgm:param type="connRout" val="curve"/>
                    <dgm:param type="begPts" val="ctr"/>
                    <dgm:param type="endPts" val="ctr"/>
                    <dgm:param type="begSty" val="noArr"/>
                    <dgm:param type="endSty" val="noArr"/>
                    <dgm:param type="dstNode" val="node"/>
                  </dgm:alg>
                  <dgm:shape xmlns:r="http://schemas.openxmlformats.org/officeDocument/2006/relationships" type="conn" r:blip="" zOrderOff="-999">
                    <dgm:adjLst/>
                  </dgm:shape>
                  <dgm:presOf axis="self"/>
                  <dgm:constrLst>
                    <dgm:constr type="begPad"/>
                    <dgm:constr type="endPad"/>
                  </dgm:constrLst>
                  <dgm:ruleLst/>
                </dgm:layoutNode>
              </dgm:forEach>
            </dgm:if>
            <dgm:if name="Name24" axis="par ch" ptType="node node" func="cnt" op="equ" val="1">
              <dgm:layoutNode name="oneComp">
                <dgm:alg type="composite">
                  <dgm:param type="ar" val="1"/>
                </dgm:alg>
                <dgm:shape xmlns:r="http://schemas.openxmlformats.org/officeDocument/2006/relationships" r:blip="">
                  <dgm:adjLst/>
                </dgm:shape>
                <dgm:presOf/>
                <dgm:constrLst>
                  <dgm:constr type="h" refType="w"/>
                  <dgm:constr type="l" for="ch" forName="dummyConnPt" refType="w" fact="0.5"/>
                  <dgm:constr type="t" for="ch" forName="dummyConnPt" refType="w" fact="0.5"/>
                  <dgm:constr type="l" for="ch" forName="oneNode"/>
                  <dgm:constr type="t" for="ch" forName="oneNode"/>
                  <dgm:constr type="h" for="ch" forName="oneNode" refType="h"/>
                  <dgm:constr type="w" for="ch" forName="oneNode" refType="w"/>
                </dgm:constrLst>
                <dgm:ruleLst/>
                <dgm:layoutNode name="dummyConnPt" styleLbl="node1">
                  <dgm:alg type="sp"/>
                  <dgm:shape xmlns:r="http://schemas.openxmlformats.org/officeDocument/2006/relationships" r:blip="">
                    <dgm:adjLst/>
                  </dgm:shape>
                  <dgm:presOf/>
                  <dgm:constrLst>
                    <dgm:constr type="w" val="1"/>
                    <dgm:constr type="h" val="1"/>
                  </dgm:constrLst>
                  <dgm:ruleLst/>
                </dgm:layoutNode>
                <dgm:layoutNode name="on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layoutNode name="dummya">
                <dgm:alg type="sp"/>
                <dgm:shape xmlns:r="http://schemas.openxmlformats.org/officeDocument/2006/relationships" r:blip="">
                  <dgm:adjLst/>
                </dgm:shape>
                <dgm:presOf/>
                <dgm:constrLst>
                  <dgm:constr type="h" refType="w"/>
                </dgm:constrLst>
                <dgm:ruleLst/>
              </dgm:layoutNode>
              <dgm:layoutNode name="dummyb">
                <dgm:alg type="sp"/>
                <dgm:shape xmlns:r="http://schemas.openxmlformats.org/officeDocument/2006/relationships" r:blip="">
                  <dgm:adjLst/>
                </dgm:shape>
                <dgm:presOf/>
                <dgm:constrLst>
                  <dgm:constr type="h" refType="w"/>
                </dgm:constrLst>
                <dgm:ruleLst/>
              </dgm:layoutNode>
              <dgm:layoutNode name="dummyc">
                <dgm:alg type="sp"/>
                <dgm:shape xmlns:r="http://schemas.openxmlformats.org/officeDocument/2006/relationships" r:blip="">
                  <dgm:adjLst/>
                </dgm:shape>
                <dgm:presOf/>
                <dgm:constrLst>
                  <dgm:constr type="h" refType="w"/>
                </dgm:constrLst>
                <dgm:ruleLst/>
              </dgm:layoutNode>
              <dgm:forEach name="sibTransForEach1" axis="followSib" ptType="sibTrans" hideLastTrans="0" cnt="1">
                <dgm:layoutNode name="singleconn" styleLbl="sibTrans2D1">
                  <dgm:alg type="conn">
                    <dgm:param type="connRout" val="longCurve"/>
                    <dgm:param type="begPts" val="bCtr"/>
                    <dgm:param type="endPts" val="tCtr"/>
                    <dgm:param type="begSty" val="noArr"/>
                    <dgm:param type="endSty" val="noArr"/>
                    <dgm:param type="srcNode" val="dummyConnPt"/>
                    <dgm:param type="dstNode" val="dummyConnPt"/>
                  </dgm:alg>
                  <dgm:shape xmlns:r="http://schemas.openxmlformats.org/officeDocument/2006/relationships" type="conn" r:blip="" zOrderOff="-999">
                    <dgm:adjLst/>
                  </dgm:shape>
                  <dgm:presOf axis="self"/>
                  <dgm:constrLst>
                    <dgm:constr type="begPad"/>
                    <dgm:constr type="endPad"/>
                  </dgm:constrLst>
                  <dgm:ruleLst/>
                </dgm:layoutNode>
              </dgm:forEach>
            </dgm:if>
            <dgm:else name="Name25"/>
          </dgm:choose>
        </dgm:forEach>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arrow3">
  <dgm:title val=""/>
  <dgm:desc val=""/>
  <dgm:catLst>
    <dgm:cat type="relationship" pri="5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Lst>
      <dgm:cxnLst>
        <dgm:cxn modelId="3" srcId="0" destId="1" srcOrd="0" destOrd="0"/>
        <dgm:cxn modelId="4" srcId="0" destId="2" srcOrd="1" destOrd="0"/>
      </dgm:cxnLst>
      <dgm:bg/>
      <dgm:whole/>
    </dgm:dataModel>
  </dgm:clrData>
  <dgm:layoutNode name="compositeShape">
    <dgm:varLst>
      <dgm:chMax val="2"/>
      <dgm:dir/>
      <dgm:resizeHandles val="exact"/>
    </dgm:varLst>
    <dgm:alg type="composite">
      <dgm:param type="horzAlign" val="none"/>
      <dgm:param type="vertAlign" val="none"/>
    </dgm:alg>
    <dgm:shape xmlns:r="http://schemas.openxmlformats.org/officeDocument/2006/relationships" r:blip="">
      <dgm:adjLst/>
    </dgm:shape>
    <dgm:presOf/>
    <dgm:choose name="Name0">
      <dgm:if name="Name1" func="var" arg="dir" op="equ" val="norm">
        <dgm:choose name="Name2">
          <dgm:if name="Name3"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l" for="ch" forName="downArrow" refType="w" fact="0.1"/>
              <dgm:constr type="t" for="ch" forName="downArrow" refType="h" fact="0.05"/>
              <dgm:constr type="lOff" for="ch" forName="downArrow" refType="w" fact="0.02"/>
              <dgm:constr type="w" for="ch" forName="downArrowText" refType="w" fact="0.32"/>
              <dgm:constr type="h" for="ch" forName="downArrowText" refType="h" fact="0.42"/>
              <dgm:constr type="t" for="ch" forName="downArrowText"/>
              <dgm:constr type="r" for="ch" forName="downArrowText" refType="w" fact="0.85"/>
              <dgm:constr type="w" for="ch" forName="upArrow" refType="w" fact="0.3"/>
              <dgm:constr type="h" for="ch" forName="upArrow" refType="h" fact="0.4"/>
              <dgm:constr type="b" for="ch" forName="upArrow" refType="h" fact="0.95"/>
              <dgm:constr type="r" for="ch" forName="upArrow" refType="w" fact="0.9"/>
              <dgm:constr type="rOff" for="ch" forName="upArrow" refType="w" fact="-0.02"/>
              <dgm:constr type="w" for="ch" forName="upArrowText" refType="w" fact="0.32"/>
              <dgm:constr type="h" for="ch" forName="upArrowText" refType="h" fact="0.42"/>
              <dgm:constr type="b" for="ch" forName="upArrowText" refType="h"/>
              <dgm:constr type="l" for="ch" forName="upArrowText" refType="w" fact="0.15"/>
              <dgm:constr type="primFontSz" for="ch" ptType="node" op="equ" val="65"/>
            </dgm:constrLst>
          </dgm:if>
          <dgm:else name="Name4">
            <dgm:constrLst>
              <dgm:constr type="w" for="ch" forName="downArrow" refType="w" fact="0.4"/>
              <dgm:constr type="h" for="ch" forName="downArrow" refType="h" fact="0.8"/>
              <dgm:constr type="l" for="ch" forName="downArrow" refType="w" fact="0.02"/>
              <dgm:constr type="t" for="ch" forName="downArrow" refType="h" fact="0.05"/>
              <dgm:constr type="lOff" for="ch" forName="downArrow" refType="w" fact="0.02"/>
              <dgm:constr type="w" for="ch" forName="downArrowText" refType="w" fact="0.5"/>
              <dgm:constr type="h" for="ch" forName="downArrowText" refType="h"/>
              <dgm:constr type="t" for="ch" forName="downArrowText"/>
              <dgm:constr type="r" for="ch" forName="downArrowText" refType="w"/>
              <dgm:constr type="primFontSz" for="ch" ptType="node" op="equ" val="65"/>
            </dgm:constrLst>
          </dgm:else>
        </dgm:choose>
      </dgm:if>
      <dgm:else name="Name5">
        <dgm:choose name="Name6">
          <dgm:if name="Name7" axis="ch" ptType="node" func="cnt" op="gte" val="2">
            <dgm:constrLst>
              <dgm:constr type="w" for="ch" forName="divider" refType="w"/>
              <dgm:constr type="h" for="ch" forName="divider" refType="w" fact="0.2"/>
              <dgm:constr type="h" for="ch" forName="divider" refType="h" op="gte" fact="0.2"/>
              <dgm:constr type="h" for="ch" forName="divider" refType="h" op="lte" fact="0.4"/>
              <dgm:constr type="ctrX" for="ch" forName="divider" refType="w" fact="0.5"/>
              <dgm:constr type="ctrY" for="ch" forName="divider" refType="h" fact="0.5"/>
              <dgm:constr type="w" for="ch" forName="downArrow" refType="w" fact="0.3"/>
              <dgm:constr type="h" for="ch" forName="downArrow" refType="h" fact="0.4"/>
              <dgm:constr type="r" for="ch" forName="downArrow" refType="w" fact="0.9"/>
              <dgm:constr type="t" for="ch" forName="downArrow" refType="h" fact="0.05"/>
              <dgm:constr type="rOff" for="ch" forName="downArrow" refType="w" fact="-0.02"/>
              <dgm:constr type="w" for="ch" forName="downArrowText" refType="w" fact="0.32"/>
              <dgm:constr type="h" for="ch" forName="downArrowText" refType="h" fact="0.42"/>
              <dgm:constr type="t" for="ch" forName="downArrowText"/>
              <dgm:constr type="l" for="ch" forName="downArrowText" refType="w" fact="0.15"/>
              <dgm:constr type="w" for="ch" forName="upArrow" refType="w" fact="0.3"/>
              <dgm:constr type="h" for="ch" forName="upArrow" refType="h" fact="0.4"/>
              <dgm:constr type="b" for="ch" forName="upArrow" refType="h" fact="0.95"/>
              <dgm:constr type="l" for="ch" forName="upArrow" refType="w" fact="0.1"/>
              <dgm:constr type="lOff" for="ch" forName="upArrow" refType="w" fact="0.02"/>
              <dgm:constr type="w" for="ch" forName="upArrowText" refType="w" fact="0.32"/>
              <dgm:constr type="h" for="ch" forName="upArrowText" refType="h" fact="0.42"/>
              <dgm:constr type="b" for="ch" forName="upArrowText" refType="h"/>
              <dgm:constr type="r" for="ch" forName="upArrowText" refType="w" fact="0.85"/>
              <dgm:constr type="primFontSz" for="ch" ptType="node" op="equ" val="65"/>
            </dgm:constrLst>
          </dgm:if>
          <dgm:else name="Name8">
            <dgm:constrLst>
              <dgm:constr type="w" for="ch" forName="downArrow" refType="w" fact="0.4"/>
              <dgm:constr type="h" for="ch" forName="downArrow" refType="h" fact="0.8"/>
              <dgm:constr type="r" for="ch" forName="downArrow" refType="w" fact="0.98"/>
              <dgm:constr type="t" for="ch" forName="downArrow" refType="h" fact="0.05"/>
              <dgm:constr type="rOff" for="ch" forName="downArrow" refType="w" fact="-0.02"/>
              <dgm:constr type="w" for="ch" forName="downArrowText" refType="w" fact="0.5"/>
              <dgm:constr type="h" for="ch" forName="downArrowText" refType="h"/>
              <dgm:constr type="t" for="ch" forName="downArrowText"/>
              <dgm:constr type="l" for="ch" forName="downArrowText"/>
              <dgm:constr type="primFontSz" for="ch" ptType="node" op="equ" val="65"/>
            </dgm:constrLst>
          </dgm:else>
        </dgm:choose>
      </dgm:else>
    </dgm:choose>
    <dgm:ruleLst/>
    <dgm:choose name="Name9">
      <dgm:if name="Name10" axis="ch" ptType="node" func="cnt" op="gte" val="2">
        <dgm:layoutNode name="divider" styleLbl="fgShp">
          <dgm:alg type="sp"/>
          <dgm:choose name="Name11">
            <dgm:if name="Name12" func="var" arg="dir" op="equ" val="norm">
              <dgm:shape xmlns:r="http://schemas.openxmlformats.org/officeDocument/2006/relationships" rot="-5" type="mathMinus" r:blip="">
                <dgm:adjLst/>
              </dgm:shape>
            </dgm:if>
            <dgm:else name="Name13">
              <dgm:shape xmlns:r="http://schemas.openxmlformats.org/officeDocument/2006/relationships" rot="5" type="mathMinus" r:blip="">
                <dgm:adjLst/>
              </dgm:shape>
            </dgm:else>
          </dgm:choose>
          <dgm:presOf/>
          <dgm:constrLst/>
          <dgm:ruleLst/>
        </dgm:layoutNode>
      </dgm:if>
      <dgm:else name="Name14"/>
    </dgm:choose>
    <dgm:forEach name="Name15" axis="ch" ptType="node" cnt="1">
      <dgm:layoutNode name="downArrow" styleLbl="node1">
        <dgm:alg type="sp"/>
        <dgm:shape xmlns:r="http://schemas.openxmlformats.org/officeDocument/2006/relationships" type="downArrow" r:blip="">
          <dgm:adjLst/>
        </dgm:shape>
        <dgm:presOf/>
        <dgm:constrLst/>
        <dgm:ruleLst/>
      </dgm:layoutNode>
      <dgm:layoutNode name="down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forEach name="Name16" axis="ch" ptType="node" st="2" cnt="1">
      <dgm:layoutNode name="upArrow" styleLbl="node1">
        <dgm:alg type="sp"/>
        <dgm:shape xmlns:r="http://schemas.openxmlformats.org/officeDocument/2006/relationships" type="upArrow" r:blip="">
          <dgm:adjLst/>
        </dgm:shape>
        <dgm:presOf/>
        <dgm:constrLst/>
        <dgm:ruleLst/>
      </dgm:layoutNode>
      <dgm:layoutNode name="upArrowText" styleLbl="revTx">
        <dgm:varLst>
          <dgm:bulletEnabled val="1"/>
        </dgm:varLst>
        <dgm:alg type="tx">
          <dgm:param type="txAnchorVertCh" val="mid"/>
        </dgm:alg>
        <dgm:shape xmlns:r="http://schemas.openxmlformats.org/officeDocument/2006/relationships" type="rect" r:blip="">
          <dgm:adjLst/>
        </dgm:shape>
        <dgm:presOf axis="desOrSelf" ptType="node"/>
        <dgm:constrLst/>
        <dgm:ruleLst>
          <dgm:rule type="primFontSz" val="5" fact="NaN" max="NaN"/>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30" tIns="45715" rIns="91430" bIns="45715" rtlCol="0"/>
          <a:lstStyle>
            <a:lvl1pPr algn="l">
              <a:defRPr sz="1200"/>
            </a:lvl1pPr>
          </a:lstStyle>
          <a:p>
            <a:endParaRPr lang="es-AR" dirty="0"/>
          </a:p>
        </p:txBody>
      </p:sp>
      <p:sp>
        <p:nvSpPr>
          <p:cNvPr id="3" name="2 Marcador de fecha"/>
          <p:cNvSpPr>
            <a:spLocks noGrp="1"/>
          </p:cNvSpPr>
          <p:nvPr>
            <p:ph type="dt" sz="quarter" idx="1"/>
          </p:nvPr>
        </p:nvSpPr>
        <p:spPr>
          <a:xfrm>
            <a:off x="3884614" y="0"/>
            <a:ext cx="2971800" cy="457200"/>
          </a:xfrm>
          <a:prstGeom prst="rect">
            <a:avLst/>
          </a:prstGeom>
        </p:spPr>
        <p:txBody>
          <a:bodyPr vert="horz" lIns="91430" tIns="45715" rIns="91430" bIns="45715" rtlCol="0"/>
          <a:lstStyle>
            <a:lvl1pPr algn="r">
              <a:defRPr sz="1200"/>
            </a:lvl1pPr>
          </a:lstStyle>
          <a:p>
            <a:fld id="{955C2F76-07CD-453E-9B20-4B2DDF228CCF}" type="datetimeFigureOut">
              <a:rPr lang="es-AR" smtClean="0"/>
              <a:pPr/>
              <a:t>30/4/2025</a:t>
            </a:fld>
            <a:endParaRPr lang="es-AR" dirty="0"/>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30" tIns="45715" rIns="91430" bIns="45715" rtlCol="0" anchor="b"/>
          <a:lstStyle>
            <a:lvl1pPr algn="l">
              <a:defRPr sz="1200"/>
            </a:lvl1pPr>
          </a:lstStyle>
          <a:p>
            <a:endParaRPr lang="es-AR" dirty="0"/>
          </a:p>
        </p:txBody>
      </p:sp>
      <p:sp>
        <p:nvSpPr>
          <p:cNvPr id="5" name="4 Marcador de número de diapositiva"/>
          <p:cNvSpPr>
            <a:spLocks noGrp="1"/>
          </p:cNvSpPr>
          <p:nvPr>
            <p:ph type="sldNum" sz="quarter" idx="3"/>
          </p:nvPr>
        </p:nvSpPr>
        <p:spPr>
          <a:xfrm>
            <a:off x="3884614" y="8685213"/>
            <a:ext cx="2971800" cy="457200"/>
          </a:xfrm>
          <a:prstGeom prst="rect">
            <a:avLst/>
          </a:prstGeom>
        </p:spPr>
        <p:txBody>
          <a:bodyPr vert="horz" lIns="91430" tIns="45715" rIns="91430" bIns="45715" rtlCol="0" anchor="b"/>
          <a:lstStyle>
            <a:lvl1pPr algn="r">
              <a:defRPr sz="1200"/>
            </a:lvl1pPr>
          </a:lstStyle>
          <a:p>
            <a:fld id="{11FE9A8C-1099-4B52-B652-B7F6B7477BD3}" type="slidenum">
              <a:rPr lang="es-AR" smtClean="0"/>
              <a:pPr/>
              <a:t>‹Nº›</a:t>
            </a:fld>
            <a:endParaRPr lang="es-AR" dirty="0"/>
          </a:p>
        </p:txBody>
      </p:sp>
    </p:spTree>
    <p:extLst>
      <p:ext uri="{BB962C8B-B14F-4D97-AF65-F5344CB8AC3E}">
        <p14:creationId xmlns:p14="http://schemas.microsoft.com/office/powerpoint/2010/main" xmlns="" val="56318539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30" tIns="45715" rIns="91430" bIns="45715" rtlCol="0"/>
          <a:lstStyle>
            <a:lvl1pPr algn="l">
              <a:defRPr sz="1200"/>
            </a:lvl1pPr>
          </a:lstStyle>
          <a:p>
            <a:endParaRPr lang="es-ES" dirty="0"/>
          </a:p>
        </p:txBody>
      </p:sp>
      <p:sp>
        <p:nvSpPr>
          <p:cNvPr id="3" name="2 Marcador de fecha"/>
          <p:cNvSpPr>
            <a:spLocks noGrp="1"/>
          </p:cNvSpPr>
          <p:nvPr>
            <p:ph type="dt" idx="1"/>
          </p:nvPr>
        </p:nvSpPr>
        <p:spPr>
          <a:xfrm>
            <a:off x="3884614" y="0"/>
            <a:ext cx="2971800" cy="457200"/>
          </a:xfrm>
          <a:prstGeom prst="rect">
            <a:avLst/>
          </a:prstGeom>
        </p:spPr>
        <p:txBody>
          <a:bodyPr vert="horz" lIns="91430" tIns="45715" rIns="91430" bIns="45715" rtlCol="0"/>
          <a:lstStyle>
            <a:lvl1pPr algn="r">
              <a:defRPr sz="1200"/>
            </a:lvl1pPr>
          </a:lstStyle>
          <a:p>
            <a:fld id="{6BF9A670-8D01-4016-8E2F-D2C13E77110C}" type="datetimeFigureOut">
              <a:rPr lang="es-ES" smtClean="0"/>
              <a:pPr/>
              <a:t>30/04/2025</a:t>
            </a:fld>
            <a:endParaRPr lang="es-ES" dirty="0"/>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30" tIns="45715" rIns="91430" bIns="45715" rtlCol="0" anchor="ctr"/>
          <a:lstStyle/>
          <a:p>
            <a:endParaRPr lang="es-ES" dirty="0"/>
          </a:p>
        </p:txBody>
      </p:sp>
      <p:sp>
        <p:nvSpPr>
          <p:cNvPr id="5" name="4 Marcador de notas"/>
          <p:cNvSpPr>
            <a:spLocks noGrp="1"/>
          </p:cNvSpPr>
          <p:nvPr>
            <p:ph type="body" sz="quarter" idx="3"/>
          </p:nvPr>
        </p:nvSpPr>
        <p:spPr>
          <a:xfrm>
            <a:off x="685800" y="4343401"/>
            <a:ext cx="5486400" cy="4114800"/>
          </a:xfrm>
          <a:prstGeom prst="rect">
            <a:avLst/>
          </a:prstGeom>
        </p:spPr>
        <p:txBody>
          <a:bodyPr vert="horz" lIns="91430" tIns="45715" rIns="91430" bIns="45715"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30" tIns="45715" rIns="91430" bIns="45715" rtlCol="0" anchor="b"/>
          <a:lstStyle>
            <a:lvl1pPr algn="l">
              <a:defRPr sz="1200"/>
            </a:lvl1pPr>
          </a:lstStyle>
          <a:p>
            <a:endParaRPr lang="es-ES" dirty="0"/>
          </a:p>
        </p:txBody>
      </p:sp>
      <p:sp>
        <p:nvSpPr>
          <p:cNvPr id="7" name="6 Marcador de número de diapositiva"/>
          <p:cNvSpPr>
            <a:spLocks noGrp="1"/>
          </p:cNvSpPr>
          <p:nvPr>
            <p:ph type="sldNum" sz="quarter" idx="5"/>
          </p:nvPr>
        </p:nvSpPr>
        <p:spPr>
          <a:xfrm>
            <a:off x="3884614" y="8685213"/>
            <a:ext cx="2971800" cy="457200"/>
          </a:xfrm>
          <a:prstGeom prst="rect">
            <a:avLst/>
          </a:prstGeom>
        </p:spPr>
        <p:txBody>
          <a:bodyPr vert="horz" lIns="91430" tIns="45715" rIns="91430" bIns="45715" rtlCol="0" anchor="b"/>
          <a:lstStyle>
            <a:lvl1pPr algn="r">
              <a:defRPr sz="1200"/>
            </a:lvl1pPr>
          </a:lstStyle>
          <a:p>
            <a:fld id="{8BF395BE-BC0E-41D9-9DAB-49626D5F54FC}" type="slidenum">
              <a:rPr lang="es-ES" smtClean="0"/>
              <a:pPr/>
              <a:t>‹Nº›</a:t>
            </a:fld>
            <a:endParaRPr lang="es-ES" dirty="0"/>
          </a:p>
        </p:txBody>
      </p:sp>
    </p:spTree>
    <p:extLst>
      <p:ext uri="{BB962C8B-B14F-4D97-AF65-F5344CB8AC3E}">
        <p14:creationId xmlns:p14="http://schemas.microsoft.com/office/powerpoint/2010/main" xmlns="" val="3624857839"/>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14</a:t>
            </a:fld>
            <a:endParaRPr lang="es-E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15</a:t>
            </a:fld>
            <a:endParaRPr lang="es-E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16</a:t>
            </a:fld>
            <a:endParaRPr lang="es-ES"/>
          </a:p>
        </p:txBody>
      </p:sp>
    </p:spTree>
    <p:extLst>
      <p:ext uri="{BB962C8B-B14F-4D97-AF65-F5344CB8AC3E}">
        <p14:creationId xmlns:p14="http://schemas.microsoft.com/office/powerpoint/2010/main" xmlns="" val="1862595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17</a:t>
            </a:fld>
            <a:endParaRPr lang="es-ES"/>
          </a:p>
        </p:txBody>
      </p:sp>
    </p:spTree>
    <p:extLst>
      <p:ext uri="{BB962C8B-B14F-4D97-AF65-F5344CB8AC3E}">
        <p14:creationId xmlns:p14="http://schemas.microsoft.com/office/powerpoint/2010/main" xmlns="" val="186259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18</a:t>
            </a:fld>
            <a:endParaRPr lang="es-ES"/>
          </a:p>
        </p:txBody>
      </p:sp>
    </p:spTree>
    <p:extLst>
      <p:ext uri="{BB962C8B-B14F-4D97-AF65-F5344CB8AC3E}">
        <p14:creationId xmlns:p14="http://schemas.microsoft.com/office/powerpoint/2010/main" xmlns="" val="1862595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19</a:t>
            </a:fld>
            <a:endParaRPr lang="es-ES"/>
          </a:p>
        </p:txBody>
      </p:sp>
    </p:spTree>
    <p:extLst>
      <p:ext uri="{BB962C8B-B14F-4D97-AF65-F5344CB8AC3E}">
        <p14:creationId xmlns:p14="http://schemas.microsoft.com/office/powerpoint/2010/main" xmlns="" val="1862595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20</a:t>
            </a:fld>
            <a:endParaRPr lang="es-ES"/>
          </a:p>
        </p:txBody>
      </p:sp>
    </p:spTree>
    <p:extLst>
      <p:ext uri="{BB962C8B-B14F-4D97-AF65-F5344CB8AC3E}">
        <p14:creationId xmlns:p14="http://schemas.microsoft.com/office/powerpoint/2010/main" xmlns="" val="1862595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21</a:t>
            </a:fld>
            <a:endParaRPr lang="es-ES"/>
          </a:p>
        </p:txBody>
      </p:sp>
    </p:spTree>
    <p:extLst>
      <p:ext uri="{BB962C8B-B14F-4D97-AF65-F5344CB8AC3E}">
        <p14:creationId xmlns:p14="http://schemas.microsoft.com/office/powerpoint/2010/main" xmlns="" val="1862595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22</a:t>
            </a:fld>
            <a:endParaRPr lang="es-ES"/>
          </a:p>
        </p:txBody>
      </p:sp>
    </p:spTree>
    <p:extLst>
      <p:ext uri="{BB962C8B-B14F-4D97-AF65-F5344CB8AC3E}">
        <p14:creationId xmlns:p14="http://schemas.microsoft.com/office/powerpoint/2010/main" xmlns="" val="1862595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23</a:t>
            </a:fld>
            <a:endParaRPr lang="es-ES"/>
          </a:p>
        </p:txBody>
      </p:sp>
    </p:spTree>
    <p:extLst>
      <p:ext uri="{BB962C8B-B14F-4D97-AF65-F5344CB8AC3E}">
        <p14:creationId xmlns:p14="http://schemas.microsoft.com/office/powerpoint/2010/main" xmlns="" val="186259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24</a:t>
            </a:fld>
            <a:endParaRPr lang="es-ES"/>
          </a:p>
        </p:txBody>
      </p:sp>
    </p:spTree>
    <p:extLst>
      <p:ext uri="{BB962C8B-B14F-4D97-AF65-F5344CB8AC3E}">
        <p14:creationId xmlns:p14="http://schemas.microsoft.com/office/powerpoint/2010/main" xmlns="" val="186259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normAutofit/>
          </a:bodyPr>
          <a:lstStyle/>
          <a:p>
            <a:endParaRPr lang="es-AR" dirty="0"/>
          </a:p>
        </p:txBody>
      </p:sp>
      <p:sp>
        <p:nvSpPr>
          <p:cNvPr id="4" name="3 Marcador de número de diapositiva"/>
          <p:cNvSpPr>
            <a:spLocks noGrp="1"/>
          </p:cNvSpPr>
          <p:nvPr>
            <p:ph type="sldNum" sz="quarter" idx="10"/>
          </p:nvPr>
        </p:nvSpPr>
        <p:spPr/>
        <p:txBody>
          <a:bodyPr/>
          <a:lstStyle/>
          <a:p>
            <a:fld id="{8BF395BE-BC0E-41D9-9DAB-49626D5F54FC}" type="slidenum">
              <a:rPr lang="es-ES" smtClean="0"/>
              <a:pPr/>
              <a:t>31</a:t>
            </a:fld>
            <a:endParaRPr lang="es-E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ES"/>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ES"/>
          </a:p>
        </p:txBody>
      </p:sp>
      <p:sp>
        <p:nvSpPr>
          <p:cNvPr id="4" name="3 Marcador de fecha"/>
          <p:cNvSpPr>
            <a:spLocks noGrp="1"/>
          </p:cNvSpPr>
          <p:nvPr>
            <p:ph type="dt" sz="half" idx="10"/>
          </p:nvPr>
        </p:nvSpPr>
        <p:spPr/>
        <p:txBody>
          <a:bodyPr/>
          <a:lstStyle/>
          <a:p>
            <a:fld id="{F3EF4538-661B-4C15-910A-1F8C30598B1E}"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93856C6A-F61F-4AFC-90A7-0EE140BE605A}"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7968C267-BDE0-4325-B1C0-EBAC9C09253E}"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fecha"/>
          <p:cNvSpPr>
            <a:spLocks noGrp="1"/>
          </p:cNvSpPr>
          <p:nvPr>
            <p:ph type="dt" sz="half" idx="10"/>
          </p:nvPr>
        </p:nvSpPr>
        <p:spPr/>
        <p:txBody>
          <a:bodyPr/>
          <a:lstStyle/>
          <a:p>
            <a:fld id="{E58B5C35-2880-4219-85BA-1E7C3512F2F9}" type="datetime1">
              <a:rPr lang="es-ES" smtClean="0"/>
              <a:pPr/>
              <a:t>30/04/2025</a:t>
            </a:fld>
            <a:endParaRPr lang="es-ES" dirty="0"/>
          </a:p>
        </p:txBody>
      </p:sp>
      <p:sp>
        <p:nvSpPr>
          <p:cNvPr id="6" name="5 Marcador de pie de página"/>
          <p:cNvSpPr>
            <a:spLocks noGrp="1"/>
          </p:cNvSpPr>
          <p:nvPr>
            <p:ph type="ftr" sz="quarter" idx="11"/>
          </p:nvPr>
        </p:nvSpPr>
        <p:spPr/>
        <p:txBody>
          <a:bodyPr/>
          <a:lstStyle/>
          <a:p>
            <a:r>
              <a:rPr lang="es-AR" smtClean="0"/>
              <a:t>CP JAVIER ARRIOLA             </a:t>
            </a:r>
            <a:endParaRPr lang="es-ES" dirty="0"/>
          </a:p>
        </p:txBody>
      </p:sp>
      <p:sp>
        <p:nvSpPr>
          <p:cNvPr id="7" name="6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6 Marcador de fecha"/>
          <p:cNvSpPr>
            <a:spLocks noGrp="1"/>
          </p:cNvSpPr>
          <p:nvPr>
            <p:ph type="dt" sz="half" idx="10"/>
          </p:nvPr>
        </p:nvSpPr>
        <p:spPr/>
        <p:txBody>
          <a:bodyPr/>
          <a:lstStyle/>
          <a:p>
            <a:fld id="{B6B002FF-0D62-439F-992D-9E0A37460A57}" type="datetime1">
              <a:rPr lang="es-ES" smtClean="0"/>
              <a:pPr/>
              <a:t>30/04/2025</a:t>
            </a:fld>
            <a:endParaRPr lang="es-ES" dirty="0"/>
          </a:p>
        </p:txBody>
      </p:sp>
      <p:sp>
        <p:nvSpPr>
          <p:cNvPr id="8" name="7 Marcador de pie de página"/>
          <p:cNvSpPr>
            <a:spLocks noGrp="1"/>
          </p:cNvSpPr>
          <p:nvPr>
            <p:ph type="ftr" sz="quarter" idx="11"/>
          </p:nvPr>
        </p:nvSpPr>
        <p:spPr/>
        <p:txBody>
          <a:bodyPr/>
          <a:lstStyle/>
          <a:p>
            <a:r>
              <a:rPr lang="es-AR" smtClean="0"/>
              <a:t>CP JAVIER ARRIOLA             </a:t>
            </a:r>
            <a:endParaRPr lang="es-ES" dirty="0"/>
          </a:p>
        </p:txBody>
      </p:sp>
      <p:sp>
        <p:nvSpPr>
          <p:cNvPr id="9" name="8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fecha"/>
          <p:cNvSpPr>
            <a:spLocks noGrp="1"/>
          </p:cNvSpPr>
          <p:nvPr>
            <p:ph type="dt" sz="half" idx="10"/>
          </p:nvPr>
        </p:nvSpPr>
        <p:spPr/>
        <p:txBody>
          <a:bodyPr/>
          <a:lstStyle/>
          <a:p>
            <a:fld id="{20481ED4-4ECE-47C2-84B5-08AA7BE35025}" type="datetime1">
              <a:rPr lang="es-ES" smtClean="0"/>
              <a:pPr/>
              <a:t>30/04/2025</a:t>
            </a:fld>
            <a:endParaRPr lang="es-ES" dirty="0"/>
          </a:p>
        </p:txBody>
      </p:sp>
      <p:sp>
        <p:nvSpPr>
          <p:cNvPr id="4" name="3 Marcador de pie de página"/>
          <p:cNvSpPr>
            <a:spLocks noGrp="1"/>
          </p:cNvSpPr>
          <p:nvPr>
            <p:ph type="ftr" sz="quarter" idx="11"/>
          </p:nvPr>
        </p:nvSpPr>
        <p:spPr/>
        <p:txBody>
          <a:bodyPr/>
          <a:lstStyle/>
          <a:p>
            <a:r>
              <a:rPr lang="es-AR" smtClean="0"/>
              <a:t>CP JAVIER ARRIOLA             </a:t>
            </a:r>
            <a:endParaRPr lang="es-ES" dirty="0"/>
          </a:p>
        </p:txBody>
      </p:sp>
      <p:sp>
        <p:nvSpPr>
          <p:cNvPr id="5" name="4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6416553A-6ACC-4AE0-8535-4474AC473D41}" type="datetime1">
              <a:rPr lang="es-ES" smtClean="0"/>
              <a:pPr/>
              <a:t>30/04/2025</a:t>
            </a:fld>
            <a:endParaRPr lang="es-ES" dirty="0"/>
          </a:p>
        </p:txBody>
      </p:sp>
      <p:sp>
        <p:nvSpPr>
          <p:cNvPr id="3" name="2 Marcador de pie de página"/>
          <p:cNvSpPr>
            <a:spLocks noGrp="1"/>
          </p:cNvSpPr>
          <p:nvPr>
            <p:ph type="ftr" sz="quarter" idx="11"/>
          </p:nvPr>
        </p:nvSpPr>
        <p:spPr/>
        <p:txBody>
          <a:bodyPr/>
          <a:lstStyle/>
          <a:p>
            <a:r>
              <a:rPr lang="es-AR" smtClean="0"/>
              <a:t>CP JAVIER ARRIOLA             </a:t>
            </a:r>
            <a:endParaRPr lang="es-ES" dirty="0"/>
          </a:p>
        </p:txBody>
      </p:sp>
      <p:sp>
        <p:nvSpPr>
          <p:cNvPr id="4" name="3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ES"/>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6776E5F-C7E6-4841-8A27-0DDB62D08769}" type="datetime1">
              <a:rPr lang="es-ES" smtClean="0"/>
              <a:pPr/>
              <a:t>30/04/2025</a:t>
            </a:fld>
            <a:endParaRPr lang="es-ES" dirty="0"/>
          </a:p>
        </p:txBody>
      </p:sp>
      <p:sp>
        <p:nvSpPr>
          <p:cNvPr id="6" name="5 Marcador de pie de página"/>
          <p:cNvSpPr>
            <a:spLocks noGrp="1"/>
          </p:cNvSpPr>
          <p:nvPr>
            <p:ph type="ftr" sz="quarter" idx="11"/>
          </p:nvPr>
        </p:nvSpPr>
        <p:spPr/>
        <p:txBody>
          <a:bodyPr/>
          <a:lstStyle/>
          <a:p>
            <a:r>
              <a:rPr lang="es-AR" smtClean="0"/>
              <a:t>CP JAVIER ARRIOLA             </a:t>
            </a:r>
            <a:endParaRPr lang="es-ES" dirty="0"/>
          </a:p>
        </p:txBody>
      </p:sp>
      <p:sp>
        <p:nvSpPr>
          <p:cNvPr id="7" name="6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ES"/>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A951467C-EA03-40B2-952B-3A200FFBD17E}" type="datetime1">
              <a:rPr lang="es-ES" smtClean="0"/>
              <a:pPr/>
              <a:t>30/04/2025</a:t>
            </a:fld>
            <a:endParaRPr lang="es-ES" dirty="0"/>
          </a:p>
        </p:txBody>
      </p:sp>
      <p:sp>
        <p:nvSpPr>
          <p:cNvPr id="6" name="5 Marcador de pie de página"/>
          <p:cNvSpPr>
            <a:spLocks noGrp="1"/>
          </p:cNvSpPr>
          <p:nvPr>
            <p:ph type="ftr" sz="quarter" idx="11"/>
          </p:nvPr>
        </p:nvSpPr>
        <p:spPr/>
        <p:txBody>
          <a:bodyPr/>
          <a:lstStyle/>
          <a:p>
            <a:r>
              <a:rPr lang="es-AR" smtClean="0"/>
              <a:t>CP JAVIER ARRIOLA             </a:t>
            </a:r>
            <a:endParaRPr lang="es-ES" dirty="0"/>
          </a:p>
        </p:txBody>
      </p:sp>
      <p:sp>
        <p:nvSpPr>
          <p:cNvPr id="7" name="6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7C4AB5BF-4421-46A1-BAF3-F80FBE45CBA1}"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ES"/>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10"/>
          </p:nvPr>
        </p:nvSpPr>
        <p:spPr/>
        <p:txBody>
          <a:bodyPr/>
          <a:lstStyle/>
          <a:p>
            <a:fld id="{E6EE2B98-79D4-4D6E-8CD0-A15B12321787}" type="datetime1">
              <a:rPr lang="es-ES" smtClean="0"/>
              <a:pPr/>
              <a:t>30/04/2025</a:t>
            </a:fld>
            <a:endParaRPr lang="es-ES" dirty="0"/>
          </a:p>
        </p:txBody>
      </p:sp>
      <p:sp>
        <p:nvSpPr>
          <p:cNvPr id="5" name="4 Marcador de pie de página"/>
          <p:cNvSpPr>
            <a:spLocks noGrp="1"/>
          </p:cNvSpPr>
          <p:nvPr>
            <p:ph type="ftr" sz="quarter" idx="11"/>
          </p:nvPr>
        </p:nvSpPr>
        <p:spPr/>
        <p:txBody>
          <a:bodyPr/>
          <a:lstStyle/>
          <a:p>
            <a:r>
              <a:rPr lang="es-AR" smtClean="0"/>
              <a:t>CP JAVIER ARRIOLA             </a:t>
            </a:r>
            <a:endParaRPr lang="es-ES"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‹Nº›</a:t>
            </a:fld>
            <a:endParaRPr lang="es-E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7B21FA5-F74F-42D5-BCA8-B3ACC5C4CB83}" type="datetime1">
              <a:rPr lang="es-ES" smtClean="0"/>
              <a:pPr/>
              <a:t>30/04/2025</a:t>
            </a:fld>
            <a:endParaRPr lang="es-ES" dirty="0"/>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s-AR" smtClean="0"/>
              <a:t>CP JAVIER ARRIOLA             </a:t>
            </a:r>
            <a:endParaRPr lang="es-ES" dirty="0"/>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7905A6E-3428-42CC-8A3B-D0D77FE4EB92}" type="slidenum">
              <a:rPr lang="es-ES" smtClean="0"/>
              <a:pPr/>
              <a:t>‹Nº›</a:t>
            </a:fld>
            <a:endParaRPr lang="es-ES" dirty="0"/>
          </a:p>
        </p:txBody>
      </p:sp>
    </p:spTree>
  </p:cSld>
  <p:clrMap bg1="lt1" tx1="dk1" bg2="lt2" tx2="dk2" accent1="accent1" accent2="accent2" accent3="accent3" accent4="accent4" accent5="accent5" accent6="accent6" hlink="hlink" folHlink="folHlink"/>
  <p:sldLayoutIdLst>
    <p:sldLayoutId id="2147484321" r:id="rId1"/>
    <p:sldLayoutId id="2147484322" r:id="rId2"/>
    <p:sldLayoutId id="2147484323" r:id="rId3"/>
    <p:sldLayoutId id="2147484324" r:id="rId4"/>
    <p:sldLayoutId id="2147484325" r:id="rId5"/>
    <p:sldLayoutId id="2147484326" r:id="rId6"/>
    <p:sldLayoutId id="2147484327" r:id="rId7"/>
    <p:sldLayoutId id="2147484328" r:id="rId8"/>
    <p:sldLayoutId id="2147484329" r:id="rId9"/>
    <p:sldLayoutId id="2147484330" r:id="rId10"/>
    <p:sldLayoutId id="2147484331"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0.xml"/><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diagramQuickStyle" Target="../diagrams/quickStyle2.xml"/><Relationship Id="rId13" Type="http://schemas.openxmlformats.org/officeDocument/2006/relationships/diagramColors" Target="../diagrams/colors3.xml"/><Relationship Id="rId3" Type="http://schemas.openxmlformats.org/officeDocument/2006/relationships/image" Target="../media/image1.png"/><Relationship Id="rId7" Type="http://schemas.openxmlformats.org/officeDocument/2006/relationships/diagramLayout" Target="../diagrams/layout2.xml"/><Relationship Id="rId12" Type="http://schemas.openxmlformats.org/officeDocument/2006/relationships/diagramQuickStyle" Target="../diagrams/quickStyle3.xml"/><Relationship Id="rId17" Type="http://schemas.openxmlformats.org/officeDocument/2006/relationships/diagramColors" Target="../diagrams/colors4.xml"/><Relationship Id="rId2" Type="http://schemas.openxmlformats.org/officeDocument/2006/relationships/notesSlide" Target="../notesSlides/notesSlide3.xml"/><Relationship Id="rId16" Type="http://schemas.openxmlformats.org/officeDocument/2006/relationships/diagramQuickStyle" Target="../diagrams/quickStyle4.xml"/><Relationship Id="rId1" Type="http://schemas.openxmlformats.org/officeDocument/2006/relationships/slideLayout" Target="../slideLayouts/slideLayout2.xml"/><Relationship Id="rId6" Type="http://schemas.openxmlformats.org/officeDocument/2006/relationships/diagramData" Target="../diagrams/data2.xml"/><Relationship Id="rId11" Type="http://schemas.openxmlformats.org/officeDocument/2006/relationships/diagramLayout" Target="../diagrams/layout3.xml"/><Relationship Id="rId5" Type="http://schemas.openxmlformats.org/officeDocument/2006/relationships/image" Target="../media/image5.png"/><Relationship Id="rId15" Type="http://schemas.openxmlformats.org/officeDocument/2006/relationships/diagramLayout" Target="../diagrams/layout4.xml"/><Relationship Id="rId10" Type="http://schemas.openxmlformats.org/officeDocument/2006/relationships/diagramData" Target="../diagrams/data3.xml"/><Relationship Id="rId4" Type="http://schemas.openxmlformats.org/officeDocument/2006/relationships/image" Target="../media/image4.png"/><Relationship Id="rId9" Type="http://schemas.openxmlformats.org/officeDocument/2006/relationships/diagramColors" Target="../diagrams/colors2.xml"/><Relationship Id="rId14" Type="http://schemas.openxmlformats.org/officeDocument/2006/relationships/diagramData" Target="../diagrams/data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rosario.gov.ar/normativa/ver/visualExterna.do?accion=verNormativa&amp;idNormativa=239425"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Box 4"/>
          <p:cNvSpPr txBox="1">
            <a:spLocks noGrp="1" noChangeArrowheads="1"/>
          </p:cNvSpPr>
          <p:nvPr>
            <p:ph idx="1"/>
          </p:nvPr>
        </p:nvSpPr>
        <p:spPr bwMode="auto">
          <a:xfrm>
            <a:off x="467544" y="1030377"/>
            <a:ext cx="8183880" cy="1200329"/>
          </a:xfrm>
          <a:prstGeom prst="rect">
            <a:avLst/>
          </a:prstGeom>
          <a:noFill/>
          <a:ln w="9525">
            <a:solidFill>
              <a:schemeClr val="tx1"/>
            </a:solidFill>
            <a:miter lim="800000"/>
            <a:headEnd/>
            <a:tailEnd/>
          </a:ln>
        </p:spPr>
        <p:txBody>
          <a:bodyPr>
            <a:spAutoFit/>
          </a:bodyPr>
          <a:lstStyle/>
          <a:p>
            <a:pPr algn="ctr">
              <a:spcBef>
                <a:spcPct val="50000"/>
              </a:spcBef>
              <a:buFont typeface="FrutigerCn" charset="0"/>
              <a:buNone/>
            </a:pPr>
            <a:r>
              <a:rPr lang="es-AR" sz="1200" b="1" dirty="0" smtClean="0"/>
              <a:t>SIRCREB (Sistema de Recaudación y Control de Acreditaciones Bancarias) es un sistema para posibilitar el cumplimiento de los regímenes de recaudación del Impuesto sobre los Ingresos Brutos correspondientes a los contribuyentes comprendidos en las normas del Convenio Multilateral, aplicable sobre los importes que sean acreditados en cuentas abiertas en las entidades financieras. También es aplicable a contribuyentes locales de Ingresos Brutos de aquellas jurisdicciones que han adherido a esos efectos al Sistema.</a:t>
            </a:r>
            <a:endParaRPr lang="es-ES" sz="1200" b="1" dirty="0">
              <a:solidFill>
                <a:srgbClr val="002060"/>
              </a:solidFill>
            </a:endParaRPr>
          </a:p>
        </p:txBody>
      </p:sp>
      <p:sp>
        <p:nvSpPr>
          <p:cNvPr id="24" name="23 Marcador de número de diapositiva"/>
          <p:cNvSpPr>
            <a:spLocks noGrp="1"/>
          </p:cNvSpPr>
          <p:nvPr>
            <p:ph type="sldNum" sz="quarter" idx="12"/>
          </p:nvPr>
        </p:nvSpPr>
        <p:spPr/>
        <p:txBody>
          <a:bodyPr/>
          <a:lstStyle/>
          <a:p>
            <a:fld id="{47905A6E-3428-42CC-8A3B-D0D77FE4EB92}" type="slidenum">
              <a:rPr lang="es-ES" smtClean="0"/>
              <a:pPr/>
              <a:t>1</a:t>
            </a:fld>
            <a:endParaRPr lang="es-ES" dirty="0"/>
          </a:p>
        </p:txBody>
      </p:sp>
      <p:sp>
        <p:nvSpPr>
          <p:cNvPr id="7" name="6 CuadroTexto"/>
          <p:cNvSpPr txBox="1"/>
          <p:nvPr/>
        </p:nvSpPr>
        <p:spPr>
          <a:xfrm>
            <a:off x="251520" y="332656"/>
            <a:ext cx="8784976" cy="553998"/>
          </a:xfrm>
          <a:prstGeom prst="rect">
            <a:avLst/>
          </a:prstGeom>
          <a:noFill/>
        </p:spPr>
        <p:txBody>
          <a:bodyPr wrap="square" rtlCol="0">
            <a:spAutoFit/>
          </a:bodyPr>
          <a:lstStyle/>
          <a:p>
            <a:pPr algn="ctr"/>
            <a:r>
              <a:rPr lang="es-AR" sz="3000" b="1" dirty="0" smtClean="0">
                <a:solidFill>
                  <a:srgbClr val="FF0000"/>
                </a:solidFill>
              </a:rPr>
              <a:t>Liquidación SIRCRED INGRESOS BRUTOS (I)</a:t>
            </a:r>
            <a:endParaRPr lang="es-ES" sz="3000" b="1" dirty="0">
              <a:solidFill>
                <a:srgbClr val="FF0000"/>
              </a:solidFill>
            </a:endParaRPr>
          </a:p>
        </p:txBody>
      </p:sp>
      <p:sp>
        <p:nvSpPr>
          <p:cNvPr id="11" name="Line 5"/>
          <p:cNvSpPr>
            <a:spLocks noChangeShapeType="1"/>
          </p:cNvSpPr>
          <p:nvPr/>
        </p:nvSpPr>
        <p:spPr bwMode="auto">
          <a:xfrm flipH="1">
            <a:off x="4283968" y="2132856"/>
            <a:ext cx="695" cy="432048"/>
          </a:xfrm>
          <a:prstGeom prst="line">
            <a:avLst/>
          </a:prstGeom>
          <a:noFill/>
          <a:ln w="9525">
            <a:solidFill>
              <a:schemeClr val="tx1"/>
            </a:solidFill>
            <a:round/>
            <a:headEnd/>
            <a:tailEnd type="triangle" w="med" len="med"/>
          </a:ln>
        </p:spPr>
        <p:txBody>
          <a:bodyPr/>
          <a:lstStyle/>
          <a:p>
            <a:endParaRPr lang="es-ES"/>
          </a:p>
        </p:txBody>
      </p:sp>
      <p:sp>
        <p:nvSpPr>
          <p:cNvPr id="12" name="Text Box 6"/>
          <p:cNvSpPr txBox="1">
            <a:spLocks noChangeArrowheads="1"/>
          </p:cNvSpPr>
          <p:nvPr/>
        </p:nvSpPr>
        <p:spPr bwMode="auto">
          <a:xfrm>
            <a:off x="467543" y="2514962"/>
            <a:ext cx="8065269" cy="553998"/>
          </a:xfrm>
          <a:prstGeom prst="rect">
            <a:avLst/>
          </a:prstGeom>
          <a:noFill/>
          <a:ln w="9525">
            <a:solidFill>
              <a:schemeClr val="tx1"/>
            </a:solidFill>
            <a:miter lim="800000"/>
            <a:headEnd/>
            <a:tailEnd/>
          </a:ln>
        </p:spPr>
        <p:txBody>
          <a:bodyPr wrap="square">
            <a:spAutoFit/>
          </a:bodyPr>
          <a:lstStyle/>
          <a:p>
            <a:pPr algn="ctr">
              <a:spcBef>
                <a:spcPct val="50000"/>
              </a:spcBef>
              <a:buFont typeface="FrutigerCn" charset="0"/>
              <a:buNone/>
            </a:pPr>
            <a:r>
              <a:rPr lang="es-AR" sz="1500" b="1" dirty="0" smtClean="0">
                <a:solidFill>
                  <a:srgbClr val="0000FF"/>
                </a:solidFill>
              </a:rPr>
              <a:t>Adhesiones de las jurisdicciones al </a:t>
            </a:r>
            <a:r>
              <a:rPr lang="es-AR" sz="1500" b="1" dirty="0">
                <a:solidFill>
                  <a:srgbClr val="0000FF"/>
                </a:solidFill>
              </a:rPr>
              <a:t>sistema SIRCREB aprobado por la </a:t>
            </a:r>
            <a:r>
              <a:rPr lang="es-AR" sz="1500" b="1" dirty="0" smtClean="0">
                <a:solidFill>
                  <a:srgbClr val="0000FF"/>
                </a:solidFill>
              </a:rPr>
              <a:t>Res</a:t>
            </a:r>
            <a:r>
              <a:rPr lang="es-AR" sz="1500" b="1" dirty="0">
                <a:solidFill>
                  <a:srgbClr val="0000FF"/>
                </a:solidFill>
              </a:rPr>
              <a:t>. </a:t>
            </a:r>
            <a:r>
              <a:rPr lang="es-AR" sz="1500" b="1" dirty="0" smtClean="0">
                <a:solidFill>
                  <a:srgbClr val="0000FF"/>
                </a:solidFill>
              </a:rPr>
              <a:t>104/04 Comisión </a:t>
            </a:r>
            <a:r>
              <a:rPr lang="es-AR" sz="1500" b="1" dirty="0">
                <a:solidFill>
                  <a:srgbClr val="0000FF"/>
                </a:solidFill>
              </a:rPr>
              <a:t>Arbitral del Convenio Multilateral</a:t>
            </a:r>
            <a:r>
              <a:rPr lang="es-AR" sz="1500" b="1" dirty="0" smtClean="0">
                <a:solidFill>
                  <a:srgbClr val="0000FF"/>
                </a:solidFill>
              </a:rPr>
              <a:t>. </a:t>
            </a:r>
            <a:endParaRPr lang="es-ES" sz="1500" b="1" dirty="0">
              <a:solidFill>
                <a:srgbClr val="0000FF"/>
              </a:solidFill>
            </a:endParaRPr>
          </a:p>
        </p:txBody>
      </p:sp>
      <p:sp>
        <p:nvSpPr>
          <p:cNvPr id="13" name="Text Box 8"/>
          <p:cNvSpPr txBox="1">
            <a:spLocks noChangeArrowheads="1"/>
          </p:cNvSpPr>
          <p:nvPr/>
        </p:nvSpPr>
        <p:spPr bwMode="auto">
          <a:xfrm>
            <a:off x="428596" y="3463025"/>
            <a:ext cx="8136904" cy="323165"/>
          </a:xfrm>
          <a:prstGeom prst="rect">
            <a:avLst/>
          </a:prstGeom>
          <a:noFill/>
          <a:ln w="9525">
            <a:solidFill>
              <a:schemeClr val="tx1"/>
            </a:solidFill>
            <a:miter lim="800000"/>
            <a:headEnd/>
            <a:tailEnd/>
          </a:ln>
        </p:spPr>
        <p:txBody>
          <a:bodyPr wrap="square">
            <a:spAutoFit/>
          </a:bodyPr>
          <a:lstStyle/>
          <a:p>
            <a:pPr algn="ctr">
              <a:spcBef>
                <a:spcPct val="50000"/>
              </a:spcBef>
              <a:buFont typeface="FrutigerCn" charset="0"/>
              <a:buNone/>
            </a:pPr>
            <a:r>
              <a:rPr lang="es-AR" sz="1500" b="1" dirty="0">
                <a:solidFill>
                  <a:srgbClr val="FF0000"/>
                </a:solidFill>
              </a:rPr>
              <a:t>APLICA A CONTRIBUYENTES </a:t>
            </a:r>
            <a:r>
              <a:rPr lang="es-AR" sz="1500" b="1" dirty="0" smtClean="0">
                <a:solidFill>
                  <a:srgbClr val="FF0000"/>
                </a:solidFill>
              </a:rPr>
              <a:t>COMPRENDIDOS </a:t>
            </a:r>
            <a:r>
              <a:rPr lang="es-AR" sz="1500" b="1" dirty="0">
                <a:solidFill>
                  <a:srgbClr val="FF0000"/>
                </a:solidFill>
              </a:rPr>
              <a:t>O NO EN C.M</a:t>
            </a:r>
            <a:r>
              <a:rPr lang="es-AR" sz="1500" b="1" dirty="0" smtClean="0">
                <a:solidFill>
                  <a:srgbClr val="FF0000"/>
                </a:solidFill>
              </a:rPr>
              <a:t>.</a:t>
            </a:r>
          </a:p>
        </p:txBody>
      </p:sp>
      <p:sp>
        <p:nvSpPr>
          <p:cNvPr id="14" name="Line 7"/>
          <p:cNvSpPr>
            <a:spLocks noChangeShapeType="1"/>
          </p:cNvSpPr>
          <p:nvPr/>
        </p:nvSpPr>
        <p:spPr bwMode="auto">
          <a:xfrm>
            <a:off x="4283968" y="3284538"/>
            <a:ext cx="0" cy="215900"/>
          </a:xfrm>
          <a:prstGeom prst="line">
            <a:avLst/>
          </a:prstGeom>
          <a:noFill/>
          <a:ln w="9525">
            <a:solidFill>
              <a:schemeClr val="tx1"/>
            </a:solidFill>
            <a:round/>
            <a:headEnd/>
            <a:tailEnd type="triangle" w="med" len="med"/>
          </a:ln>
        </p:spPr>
        <p:txBody>
          <a:bodyPr/>
          <a:lstStyle/>
          <a:p>
            <a:endParaRPr lang="es-ES"/>
          </a:p>
        </p:txBody>
      </p:sp>
      <p:sp>
        <p:nvSpPr>
          <p:cNvPr id="15" name="Text Box 10"/>
          <p:cNvSpPr txBox="1">
            <a:spLocks noChangeArrowheads="1"/>
          </p:cNvSpPr>
          <p:nvPr/>
        </p:nvSpPr>
        <p:spPr bwMode="auto">
          <a:xfrm>
            <a:off x="1571604" y="4071942"/>
            <a:ext cx="5472113" cy="553998"/>
          </a:xfrm>
          <a:prstGeom prst="rect">
            <a:avLst/>
          </a:prstGeom>
          <a:noFill/>
          <a:ln w="9525">
            <a:solidFill>
              <a:schemeClr val="tx1"/>
            </a:solidFill>
            <a:miter lim="800000"/>
            <a:headEnd/>
            <a:tailEnd/>
          </a:ln>
        </p:spPr>
        <p:txBody>
          <a:bodyPr>
            <a:spAutoFit/>
          </a:bodyPr>
          <a:lstStyle/>
          <a:p>
            <a:pPr algn="ctr">
              <a:spcBef>
                <a:spcPct val="50000"/>
              </a:spcBef>
              <a:buFont typeface="FrutigerCn" charset="0"/>
              <a:buNone/>
            </a:pPr>
            <a:r>
              <a:rPr lang="es-AR" sz="1500" b="1" dirty="0">
                <a:solidFill>
                  <a:srgbClr val="0000FF"/>
                </a:solidFill>
              </a:rPr>
              <a:t>ALÍCUOTAS </a:t>
            </a:r>
            <a:r>
              <a:rPr lang="es-AR" sz="1500" b="1" dirty="0" smtClean="0">
                <a:solidFill>
                  <a:srgbClr val="0000FF"/>
                </a:solidFill>
              </a:rPr>
              <a:t>APLICABLES (Ponderaciones según actividad y jurisdicción)</a:t>
            </a:r>
            <a:endParaRPr lang="es-ES" sz="1500" b="1" dirty="0">
              <a:solidFill>
                <a:srgbClr val="0000FF"/>
              </a:solidFill>
            </a:endParaRPr>
          </a:p>
        </p:txBody>
      </p:sp>
      <p:sp>
        <p:nvSpPr>
          <p:cNvPr id="16" name="Text Box 13"/>
          <p:cNvSpPr txBox="1">
            <a:spLocks noChangeArrowheads="1"/>
          </p:cNvSpPr>
          <p:nvPr/>
        </p:nvSpPr>
        <p:spPr bwMode="auto">
          <a:xfrm>
            <a:off x="467544" y="4902655"/>
            <a:ext cx="2808312" cy="1169551"/>
          </a:xfrm>
          <a:prstGeom prst="rect">
            <a:avLst/>
          </a:prstGeom>
          <a:noFill/>
          <a:ln w="9525">
            <a:noFill/>
            <a:miter lim="800000"/>
            <a:headEnd/>
            <a:tailEnd/>
          </a:ln>
        </p:spPr>
        <p:txBody>
          <a:bodyPr wrap="square">
            <a:spAutoFit/>
          </a:bodyPr>
          <a:lstStyle/>
          <a:p>
            <a:pPr>
              <a:spcBef>
                <a:spcPct val="50000"/>
              </a:spcBef>
              <a:buFont typeface="FrutigerCn" charset="0"/>
              <a:buNone/>
            </a:pPr>
            <a:r>
              <a:rPr lang="es-AR" sz="1000" b="1" u="sng" dirty="0" smtClean="0">
                <a:solidFill>
                  <a:srgbClr val="FF0000"/>
                </a:solidFill>
              </a:rPr>
              <a:t>Sujetos excluidos</a:t>
            </a:r>
            <a:r>
              <a:rPr lang="es-AR" sz="1000" b="1" dirty="0" smtClean="0">
                <a:solidFill>
                  <a:srgbClr val="FF0000"/>
                </a:solidFill>
              </a:rPr>
              <a:t>: </a:t>
            </a:r>
          </a:p>
          <a:p>
            <a:pPr>
              <a:spcBef>
                <a:spcPct val="50000"/>
              </a:spcBef>
            </a:pPr>
            <a:r>
              <a:rPr lang="es-AR" sz="1000" b="1" dirty="0" smtClean="0"/>
              <a:t> * </a:t>
            </a:r>
            <a:r>
              <a:rPr lang="es-AR" sz="1000" b="1" dirty="0" err="1" smtClean="0"/>
              <a:t>act</a:t>
            </a:r>
            <a:r>
              <a:rPr lang="es-AR" sz="1000" b="1" dirty="0" smtClean="0"/>
              <a:t>. Art. 7 y 8 C.M.</a:t>
            </a:r>
          </a:p>
          <a:p>
            <a:pPr>
              <a:spcBef>
                <a:spcPct val="50000"/>
              </a:spcBef>
            </a:pPr>
            <a:r>
              <a:rPr lang="es-AR" sz="1000" b="1" dirty="0" smtClean="0"/>
              <a:t> * actividades todas exentas.</a:t>
            </a:r>
          </a:p>
          <a:p>
            <a:pPr>
              <a:spcBef>
                <a:spcPct val="50000"/>
              </a:spcBef>
            </a:pPr>
            <a:r>
              <a:rPr lang="es-AR" sz="1000" b="1" dirty="0" smtClean="0"/>
              <a:t> * actividades gravadas tasa cero.</a:t>
            </a:r>
          </a:p>
          <a:p>
            <a:pPr>
              <a:spcBef>
                <a:spcPct val="50000"/>
              </a:spcBef>
            </a:pPr>
            <a:r>
              <a:rPr lang="es-AR" sz="1000" b="1" dirty="0" smtClean="0"/>
              <a:t> * operaciones exportación.</a:t>
            </a:r>
            <a:r>
              <a:rPr lang="es-AR" sz="1000" dirty="0" smtClean="0"/>
              <a:t> </a:t>
            </a:r>
            <a:endParaRPr lang="es-ES" sz="1000" dirty="0"/>
          </a:p>
        </p:txBody>
      </p:sp>
      <p:sp>
        <p:nvSpPr>
          <p:cNvPr id="17" name="Text Box 13"/>
          <p:cNvSpPr txBox="1">
            <a:spLocks noChangeArrowheads="1"/>
          </p:cNvSpPr>
          <p:nvPr/>
        </p:nvSpPr>
        <p:spPr bwMode="auto">
          <a:xfrm>
            <a:off x="2714612" y="4929198"/>
            <a:ext cx="3441564" cy="1400383"/>
          </a:xfrm>
          <a:prstGeom prst="rect">
            <a:avLst/>
          </a:prstGeom>
          <a:noFill/>
          <a:ln w="9525">
            <a:noFill/>
            <a:miter lim="800000"/>
            <a:headEnd/>
            <a:tailEnd/>
          </a:ln>
        </p:spPr>
        <p:txBody>
          <a:bodyPr wrap="square">
            <a:spAutoFit/>
          </a:bodyPr>
          <a:lstStyle/>
          <a:p>
            <a:pPr algn="ctr">
              <a:spcBef>
                <a:spcPct val="50000"/>
              </a:spcBef>
              <a:buFont typeface="FrutigerCn" charset="0"/>
              <a:buNone/>
            </a:pPr>
            <a:r>
              <a:rPr lang="es-AR" sz="1000" b="1" u="sng" dirty="0" smtClean="0">
                <a:solidFill>
                  <a:srgbClr val="FF0000"/>
                </a:solidFill>
              </a:rPr>
              <a:t>Conceptos </a:t>
            </a:r>
            <a:r>
              <a:rPr lang="es-AR" sz="1000" b="1" u="sng" dirty="0">
                <a:solidFill>
                  <a:srgbClr val="FF0000"/>
                </a:solidFill>
              </a:rPr>
              <a:t>excluidos</a:t>
            </a:r>
            <a:r>
              <a:rPr lang="es-AR" sz="1000" b="1" dirty="0">
                <a:solidFill>
                  <a:srgbClr val="FF0000"/>
                </a:solidFill>
              </a:rPr>
              <a:t>: </a:t>
            </a:r>
          </a:p>
          <a:p>
            <a:pPr algn="ctr">
              <a:spcBef>
                <a:spcPct val="50000"/>
              </a:spcBef>
            </a:pPr>
            <a:r>
              <a:rPr lang="es-AR" sz="1000" b="1" dirty="0"/>
              <a:t> </a:t>
            </a:r>
            <a:r>
              <a:rPr lang="es-AR" sz="1000" b="1" dirty="0" smtClean="0"/>
              <a:t>* remuneración </a:t>
            </a:r>
            <a:r>
              <a:rPr lang="es-AR" sz="1000" b="1" dirty="0" err="1" smtClean="0"/>
              <a:t>relac</a:t>
            </a:r>
            <a:r>
              <a:rPr lang="es-AR" sz="1000" b="1" dirty="0" smtClean="0"/>
              <a:t>. </a:t>
            </a:r>
            <a:r>
              <a:rPr lang="es-AR" sz="1000" b="1" dirty="0" err="1" smtClean="0"/>
              <a:t>dep</a:t>
            </a:r>
            <a:r>
              <a:rPr lang="es-AR" sz="1000" b="1" dirty="0" smtClean="0"/>
              <a:t>.</a:t>
            </a:r>
            <a:endParaRPr lang="es-AR" sz="1000" b="1" dirty="0"/>
          </a:p>
          <a:p>
            <a:pPr algn="ctr">
              <a:spcBef>
                <a:spcPct val="50000"/>
              </a:spcBef>
            </a:pPr>
            <a:r>
              <a:rPr lang="es-AR" sz="1000" b="1" dirty="0"/>
              <a:t> </a:t>
            </a:r>
            <a:r>
              <a:rPr lang="es-AR" sz="1000" b="1" dirty="0" smtClean="0"/>
              <a:t>* </a:t>
            </a:r>
            <a:r>
              <a:rPr lang="es-AR" sz="1000" b="1" dirty="0" err="1" smtClean="0"/>
              <a:t>acredit</a:t>
            </a:r>
            <a:r>
              <a:rPr lang="es-AR" sz="1000" b="1" dirty="0" smtClean="0"/>
              <a:t>. Por exportación.</a:t>
            </a:r>
            <a:endParaRPr lang="es-AR" sz="1000" b="1" dirty="0"/>
          </a:p>
          <a:p>
            <a:pPr algn="ctr">
              <a:spcBef>
                <a:spcPct val="50000"/>
              </a:spcBef>
            </a:pPr>
            <a:r>
              <a:rPr lang="es-AR" sz="1000" b="1" dirty="0" smtClean="0"/>
              <a:t>* </a:t>
            </a:r>
            <a:r>
              <a:rPr lang="es-AR" sz="1000" b="1" dirty="0" err="1" smtClean="0"/>
              <a:t>acredit</a:t>
            </a:r>
            <a:r>
              <a:rPr lang="es-AR" sz="1000" b="1" dirty="0" smtClean="0"/>
              <a:t>. PF.</a:t>
            </a:r>
            <a:endParaRPr lang="es-AR" sz="1000" b="1" dirty="0"/>
          </a:p>
          <a:p>
            <a:pPr algn="ctr">
              <a:spcBef>
                <a:spcPct val="50000"/>
              </a:spcBef>
            </a:pPr>
            <a:r>
              <a:rPr lang="es-AR" sz="1000" b="1" dirty="0" smtClean="0"/>
              <a:t>* </a:t>
            </a:r>
            <a:r>
              <a:rPr lang="es-AR" sz="1000" b="1" dirty="0" err="1" smtClean="0"/>
              <a:t>acreditac</a:t>
            </a:r>
            <a:r>
              <a:rPr lang="es-AR" sz="1000" b="1" dirty="0" smtClean="0"/>
              <a:t>. créditos hipotecarios</a:t>
            </a:r>
            <a:r>
              <a:rPr lang="es-AR" sz="1000" dirty="0" smtClean="0"/>
              <a:t> </a:t>
            </a:r>
          </a:p>
          <a:p>
            <a:pPr algn="ctr">
              <a:spcBef>
                <a:spcPct val="50000"/>
              </a:spcBef>
            </a:pPr>
            <a:r>
              <a:rPr lang="es-AR" sz="1000" b="1" dirty="0" smtClean="0"/>
              <a:t>* </a:t>
            </a:r>
            <a:r>
              <a:rPr lang="es-AR" sz="1000" b="1" dirty="0" err="1" smtClean="0"/>
              <a:t>acredit</a:t>
            </a:r>
            <a:r>
              <a:rPr lang="es-AR" sz="1000" b="1" dirty="0" smtClean="0"/>
              <a:t>. FCI</a:t>
            </a:r>
            <a:endParaRPr lang="es-ES" sz="1000" b="1" dirty="0"/>
          </a:p>
        </p:txBody>
      </p:sp>
      <p:sp>
        <p:nvSpPr>
          <p:cNvPr id="18" name="Text Box 14"/>
          <p:cNvSpPr txBox="1">
            <a:spLocks noChangeArrowheads="1"/>
          </p:cNvSpPr>
          <p:nvPr/>
        </p:nvSpPr>
        <p:spPr bwMode="auto">
          <a:xfrm>
            <a:off x="6335744" y="4929198"/>
            <a:ext cx="2736850" cy="938719"/>
          </a:xfrm>
          <a:prstGeom prst="rect">
            <a:avLst/>
          </a:prstGeom>
          <a:noFill/>
          <a:ln w="9525">
            <a:noFill/>
            <a:miter lim="800000"/>
            <a:headEnd/>
            <a:tailEnd/>
          </a:ln>
        </p:spPr>
        <p:txBody>
          <a:bodyPr>
            <a:spAutoFit/>
          </a:bodyPr>
          <a:lstStyle/>
          <a:p>
            <a:pPr algn="ctr">
              <a:spcBef>
                <a:spcPct val="50000"/>
              </a:spcBef>
              <a:buFont typeface="FrutigerCn" charset="0"/>
              <a:buNone/>
            </a:pPr>
            <a:r>
              <a:rPr lang="es-AR" sz="1000" b="1" u="sng" dirty="0">
                <a:solidFill>
                  <a:srgbClr val="FF0000"/>
                </a:solidFill>
              </a:rPr>
              <a:t>Pueden incrementarse las alícuotas </a:t>
            </a:r>
            <a:r>
              <a:rPr lang="es-AR" sz="1000" b="1" u="sng" dirty="0" smtClean="0">
                <a:solidFill>
                  <a:srgbClr val="FF0000"/>
                </a:solidFill>
              </a:rPr>
              <a:t>por:</a:t>
            </a:r>
            <a:endParaRPr lang="es-AR" sz="1000" b="1" u="sng" dirty="0">
              <a:solidFill>
                <a:srgbClr val="FF0000"/>
              </a:solidFill>
            </a:endParaRPr>
          </a:p>
          <a:p>
            <a:pPr>
              <a:spcBef>
                <a:spcPct val="50000"/>
              </a:spcBef>
            </a:pPr>
            <a:r>
              <a:rPr lang="es-AR" sz="1000" b="1" dirty="0">
                <a:solidFill>
                  <a:srgbClr val="0000FF"/>
                </a:solidFill>
              </a:rPr>
              <a:t> </a:t>
            </a:r>
            <a:r>
              <a:rPr lang="es-AR" sz="1000" b="1" dirty="0" smtClean="0"/>
              <a:t>* Reiteración </a:t>
            </a:r>
            <a:r>
              <a:rPr lang="es-AR" sz="1000" b="1" dirty="0"/>
              <a:t>falta pres. o </a:t>
            </a:r>
            <a:r>
              <a:rPr lang="es-AR" sz="1000" b="1" dirty="0" err="1"/>
              <a:t>f.t.</a:t>
            </a:r>
            <a:endParaRPr lang="es-AR" sz="1000" b="1" dirty="0"/>
          </a:p>
          <a:p>
            <a:pPr>
              <a:spcBef>
                <a:spcPct val="50000"/>
              </a:spcBef>
            </a:pPr>
            <a:r>
              <a:rPr lang="es-AR" sz="1000" b="1" dirty="0" smtClean="0"/>
              <a:t>* Pago ft. </a:t>
            </a:r>
            <a:r>
              <a:rPr lang="es-AR" sz="1000" b="1" dirty="0"/>
              <a:t>planes de pago.</a:t>
            </a:r>
          </a:p>
          <a:p>
            <a:pPr>
              <a:spcBef>
                <a:spcPct val="50000"/>
              </a:spcBef>
            </a:pPr>
            <a:r>
              <a:rPr lang="es-AR" sz="1000" b="1" dirty="0"/>
              <a:t> </a:t>
            </a:r>
            <a:r>
              <a:rPr lang="es-AR" sz="1000" b="1" dirty="0" smtClean="0"/>
              <a:t>* Domicilio </a:t>
            </a:r>
            <a:r>
              <a:rPr lang="es-AR" sz="1000" b="1" dirty="0"/>
              <a:t>fiscal no actualizado. </a:t>
            </a:r>
            <a:endParaRPr lang="es-ES" sz="1000" b="1" dirty="0"/>
          </a:p>
        </p:txBody>
      </p:sp>
      <p:sp>
        <p:nvSpPr>
          <p:cNvPr id="19" name="Line 11"/>
          <p:cNvSpPr>
            <a:spLocks noChangeShapeType="1"/>
          </p:cNvSpPr>
          <p:nvPr/>
        </p:nvSpPr>
        <p:spPr bwMode="auto">
          <a:xfrm flipH="1">
            <a:off x="971600" y="4725144"/>
            <a:ext cx="428628" cy="143942"/>
          </a:xfrm>
          <a:prstGeom prst="line">
            <a:avLst/>
          </a:prstGeom>
          <a:noFill/>
          <a:ln w="9525">
            <a:solidFill>
              <a:schemeClr val="tx1"/>
            </a:solidFill>
            <a:round/>
            <a:headEnd/>
            <a:tailEnd type="triangle" w="med" len="med"/>
          </a:ln>
        </p:spPr>
        <p:txBody>
          <a:bodyPr/>
          <a:lstStyle/>
          <a:p>
            <a:endParaRPr lang="es-ES"/>
          </a:p>
        </p:txBody>
      </p:sp>
      <p:sp>
        <p:nvSpPr>
          <p:cNvPr id="20" name="Line 9"/>
          <p:cNvSpPr>
            <a:spLocks noChangeShapeType="1"/>
          </p:cNvSpPr>
          <p:nvPr/>
        </p:nvSpPr>
        <p:spPr bwMode="auto">
          <a:xfrm flipH="1">
            <a:off x="4283967" y="4717014"/>
            <a:ext cx="695" cy="212184"/>
          </a:xfrm>
          <a:prstGeom prst="line">
            <a:avLst/>
          </a:prstGeom>
          <a:noFill/>
          <a:ln w="9525">
            <a:solidFill>
              <a:schemeClr val="tx1"/>
            </a:solidFill>
            <a:round/>
            <a:headEnd/>
            <a:tailEnd type="triangle" w="med" len="med"/>
          </a:ln>
        </p:spPr>
        <p:txBody>
          <a:bodyPr/>
          <a:lstStyle/>
          <a:p>
            <a:endParaRPr lang="es-ES"/>
          </a:p>
        </p:txBody>
      </p:sp>
      <p:sp>
        <p:nvSpPr>
          <p:cNvPr id="21" name="Line 12"/>
          <p:cNvSpPr>
            <a:spLocks noChangeShapeType="1"/>
          </p:cNvSpPr>
          <p:nvPr/>
        </p:nvSpPr>
        <p:spPr bwMode="auto">
          <a:xfrm>
            <a:off x="6588224" y="4717014"/>
            <a:ext cx="841296" cy="72157"/>
          </a:xfrm>
          <a:prstGeom prst="line">
            <a:avLst/>
          </a:prstGeom>
          <a:noFill/>
          <a:ln w="9525">
            <a:solidFill>
              <a:schemeClr val="tx1"/>
            </a:solidFill>
            <a:round/>
            <a:headEnd/>
            <a:tailEnd type="triangle" w="med" len="med"/>
          </a:ln>
        </p:spPr>
        <p:txBody>
          <a:bodyPr/>
          <a:lstStyle/>
          <a:p>
            <a:endParaRPr lang="es-ES"/>
          </a:p>
        </p:txBody>
      </p:sp>
      <p:sp>
        <p:nvSpPr>
          <p:cNvPr id="22" name="Line 7"/>
          <p:cNvSpPr>
            <a:spLocks noChangeShapeType="1"/>
          </p:cNvSpPr>
          <p:nvPr/>
        </p:nvSpPr>
        <p:spPr bwMode="auto">
          <a:xfrm>
            <a:off x="4283968" y="3783910"/>
            <a:ext cx="0" cy="288032"/>
          </a:xfrm>
          <a:prstGeom prst="line">
            <a:avLst/>
          </a:prstGeom>
          <a:noFill/>
          <a:ln w="9525">
            <a:solidFill>
              <a:schemeClr val="tx1"/>
            </a:solidFill>
            <a:round/>
            <a:headEnd/>
            <a:tailEnd type="triangle" w="med" len="med"/>
          </a:ln>
        </p:spPr>
        <p:txBody>
          <a:bodyPr/>
          <a:lstStyle/>
          <a:p>
            <a:endParaRPr lang="es-ES"/>
          </a:p>
        </p:txBody>
      </p:sp>
      <p:pic>
        <p:nvPicPr>
          <p:cNvPr id="23"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180528" y="332656"/>
            <a:ext cx="8784976" cy="1015663"/>
          </a:xfrm>
          <a:prstGeom prst="rect">
            <a:avLst/>
          </a:prstGeom>
          <a:noFill/>
        </p:spPr>
        <p:txBody>
          <a:bodyPr wrap="square" rtlCol="0">
            <a:spAutoFit/>
          </a:bodyPr>
          <a:lstStyle/>
          <a:p>
            <a:pPr algn="ctr"/>
            <a:r>
              <a:rPr lang="es-AR" sz="3000" b="1" dirty="0" smtClean="0">
                <a:solidFill>
                  <a:srgbClr val="FF0000"/>
                </a:solidFill>
              </a:rPr>
              <a:t>IMPUESTOS INGRESOS BRUTOS (II)</a:t>
            </a:r>
          </a:p>
          <a:p>
            <a:pPr algn="ctr"/>
            <a:r>
              <a:rPr lang="es-AR" sz="3000" b="1" dirty="0" smtClean="0">
                <a:solidFill>
                  <a:srgbClr val="163F9A"/>
                </a:solidFill>
              </a:rPr>
              <a:t>Liquidación </a:t>
            </a:r>
            <a:r>
              <a:rPr lang="es-AR" sz="3000" b="1" dirty="0" err="1" smtClean="0">
                <a:solidFill>
                  <a:srgbClr val="163F9A"/>
                </a:solidFill>
              </a:rPr>
              <a:t>Sircred</a:t>
            </a:r>
            <a:endParaRPr lang="es-ES" sz="3000" b="1" dirty="0">
              <a:solidFill>
                <a:srgbClr val="163F9A"/>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2</a:t>
            </a:fld>
            <a:endParaRPr lang="es-ES" dirty="0"/>
          </a:p>
        </p:txBody>
      </p:sp>
      <p:pic>
        <p:nvPicPr>
          <p:cNvPr id="8" name="7 Imagen" descr="Escaneado 20 may. 2021 15.39.jpg"/>
          <p:cNvPicPr>
            <a:picLocks noChangeAspect="1"/>
          </p:cNvPicPr>
          <p:nvPr/>
        </p:nvPicPr>
        <p:blipFill>
          <a:blip r:embed="rId3" cstate="print"/>
          <a:stretch>
            <a:fillRect/>
          </a:stretch>
        </p:blipFill>
        <p:spPr>
          <a:xfrm>
            <a:off x="755576" y="1465018"/>
            <a:ext cx="7920880" cy="470028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1052736"/>
            <a:ext cx="8003232" cy="5256584"/>
          </a:xfrm>
        </p:spPr>
        <p:txBody>
          <a:bodyPr>
            <a:normAutofit fontScale="70000" lnSpcReduction="20000"/>
          </a:bodyPr>
          <a:lstStyle/>
          <a:p>
            <a:pPr algn="ctr">
              <a:buNone/>
            </a:pPr>
            <a:r>
              <a:rPr lang="es-AR" sz="2600" b="1" u="sng" dirty="0" smtClean="0">
                <a:solidFill>
                  <a:srgbClr val="163F9A"/>
                </a:solidFill>
              </a:rPr>
              <a:t>Código Fiscal (Redacción Genérica)</a:t>
            </a:r>
          </a:p>
          <a:p>
            <a:pPr algn="just">
              <a:lnSpc>
                <a:spcPct val="170000"/>
              </a:lnSpc>
              <a:buNone/>
            </a:pPr>
            <a:r>
              <a:rPr lang="es-AR" sz="1800" dirty="0" smtClean="0"/>
              <a:t>Artículo …- Por el </a:t>
            </a:r>
            <a:r>
              <a:rPr lang="es-AR" sz="1800" b="1" u="sng" dirty="0" smtClean="0"/>
              <a:t>ejercicio habitual </a:t>
            </a:r>
            <a:r>
              <a:rPr lang="es-AR" sz="1800" dirty="0" smtClean="0"/>
              <a:t>en el territorio o en la jurisdicción de la Provincia de …. del comercio, industria, profesión, oficio, negocio, locaciones de bienes, obras o servicios o de cualquier otra actividad </a:t>
            </a:r>
            <a:r>
              <a:rPr lang="es-AR" sz="1800" b="1" u="sng" dirty="0" smtClean="0"/>
              <a:t>a título oneroso -lucrativa o no- </a:t>
            </a:r>
            <a:r>
              <a:rPr lang="es-AR" sz="1800" dirty="0" smtClean="0"/>
              <a:t>cualquiera sea la naturaleza del sujeto que la preste, incluidas las sociedades cooperativas, y el lugar donde se realice (zonas portuarias, espacios ferroviarios, aeródromos y aeropuertos, terminales de transporte, edificios y lugares del dominio público y privado, etc.), se pagará un impuesto de acuerdo con las normas que se establecen en el presente Título.</a:t>
            </a:r>
          </a:p>
          <a:p>
            <a:pPr algn="ctr">
              <a:lnSpc>
                <a:spcPct val="170000"/>
              </a:lnSpc>
              <a:buNone/>
            </a:pPr>
            <a:r>
              <a:rPr lang="es-AR" sz="2600" b="1" u="sng" dirty="0" smtClean="0">
                <a:solidFill>
                  <a:srgbClr val="163F9A"/>
                </a:solidFill>
              </a:rPr>
              <a:t>Código Fiscal . Ciudad de Buenos Aires</a:t>
            </a:r>
          </a:p>
          <a:p>
            <a:pPr algn="just">
              <a:lnSpc>
                <a:spcPct val="170000"/>
              </a:lnSpc>
              <a:buNone/>
            </a:pPr>
            <a:r>
              <a:rPr lang="es-AR" sz="1800" b="1" dirty="0" smtClean="0"/>
              <a:t>Artículo 202.- </a:t>
            </a:r>
            <a:r>
              <a:rPr lang="es-AR" sz="1800" dirty="0" smtClean="0"/>
              <a:t>Por el </a:t>
            </a:r>
            <a:r>
              <a:rPr lang="es-AR" sz="1800" b="1" u="sng" dirty="0" smtClean="0"/>
              <a:t>ejercicio habitual </a:t>
            </a:r>
            <a:r>
              <a:rPr lang="es-AR" sz="1800" dirty="0" smtClean="0"/>
              <a:t>y a </a:t>
            </a:r>
            <a:r>
              <a:rPr lang="es-AR" sz="1800" b="1" u="sng" dirty="0" smtClean="0"/>
              <a:t>título oneroso </a:t>
            </a:r>
            <a:r>
              <a:rPr lang="es-AR" sz="1800" dirty="0" smtClean="0"/>
              <a:t>en la Ciudad Autónoma de Buenos Aires del comercio, industria, profesión, oficio, negocio, locaciones de bienes, obras y servicios o de cualquier otra actividad a </a:t>
            </a:r>
            <a:r>
              <a:rPr lang="es-AR" sz="1800" b="1" u="sng" dirty="0" smtClean="0"/>
              <a:t>título oneroso</a:t>
            </a:r>
            <a:r>
              <a:rPr lang="es-AR" sz="1800" dirty="0" smtClean="0"/>
              <a:t>, cualquiera sea el resultado obtenido y la naturaleza del sujeto que la preste, incluidas las cooperativas y todas las contratos asociativos que no tienen personería jurídica, cualquiera fuera el tipo de contrato elegido por los partícipes y el lugar donde se realiza (zonas portuarias, espacios ferroviarios, aeródromos y aeropuertos, terminales de transporte, edificios y lugares del dominio público y privado, y todo otro de similar naturaleza), se paga un impuesto de acuerdo con las normas que se establecen en el presente Capítulo.</a:t>
            </a:r>
            <a:endParaRPr lang="es-AR" sz="1800" b="1" u="sng" dirty="0" smtClean="0"/>
          </a:p>
          <a:p>
            <a:pPr algn="just">
              <a:lnSpc>
                <a:spcPct val="170000"/>
              </a:lnSpc>
              <a:buNone/>
            </a:pPr>
            <a:endParaRPr lang="es-AR" sz="1600" b="1" u="sng" dirty="0" smtClean="0">
              <a:solidFill>
                <a:srgbClr val="163F9A"/>
              </a:solidFill>
            </a:endParaRPr>
          </a:p>
          <a:p>
            <a:pPr algn="just">
              <a:lnSpc>
                <a:spcPct val="170000"/>
              </a:lnSpc>
              <a:buNone/>
            </a:pPr>
            <a:endParaRPr lang="es-AR" sz="1600" dirty="0" smtClean="0"/>
          </a:p>
          <a:p>
            <a:pPr algn="just">
              <a:buNone/>
            </a:pPr>
            <a:endParaRPr lang="es-AR" sz="19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3</a:t>
            </a:fld>
            <a:endParaRPr lang="es-ES" dirty="0"/>
          </a:p>
        </p:txBody>
      </p:sp>
      <p:sp>
        <p:nvSpPr>
          <p:cNvPr id="5" name="4 CuadroTexto"/>
          <p:cNvSpPr txBox="1"/>
          <p:nvPr/>
        </p:nvSpPr>
        <p:spPr>
          <a:xfrm>
            <a:off x="-324544" y="425215"/>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764704"/>
            <a:ext cx="8003232" cy="5544616"/>
          </a:xfrm>
        </p:spPr>
        <p:txBody>
          <a:bodyPr>
            <a:normAutofit fontScale="85000" lnSpcReduction="10000"/>
          </a:bodyPr>
          <a:lstStyle/>
          <a:p>
            <a:pPr algn="ctr">
              <a:buNone/>
            </a:pPr>
            <a:r>
              <a:rPr lang="es-AR" sz="2600" b="1" u="sng" dirty="0" smtClean="0">
                <a:solidFill>
                  <a:srgbClr val="163F9A"/>
                </a:solidFill>
              </a:rPr>
              <a:t>Código Fiscal - </a:t>
            </a:r>
            <a:r>
              <a:rPr lang="es-AR" sz="2800" b="1" u="sng" dirty="0" smtClean="0">
                <a:solidFill>
                  <a:srgbClr val="163F9A"/>
                </a:solidFill>
              </a:rPr>
              <a:t>Redacción Consenso Fiscal 2021 </a:t>
            </a:r>
            <a:endParaRPr lang="es-AR" sz="2600" b="1" u="sng" dirty="0" smtClean="0">
              <a:solidFill>
                <a:srgbClr val="163F9A"/>
              </a:solidFill>
            </a:endParaRPr>
          </a:p>
          <a:p>
            <a:pPr algn="ctr">
              <a:buNone/>
            </a:pPr>
            <a:r>
              <a:rPr lang="es-AR" sz="2600" b="1" u="sng" dirty="0" smtClean="0">
                <a:solidFill>
                  <a:srgbClr val="163F9A"/>
                </a:solidFill>
              </a:rPr>
              <a:t>(</a:t>
            </a:r>
            <a:r>
              <a:rPr lang="es-AR" sz="2200" b="1" u="sng" dirty="0" smtClean="0">
                <a:solidFill>
                  <a:srgbClr val="163F9A"/>
                </a:solidFill>
              </a:rPr>
              <a:t>Firmado el 27/12/2021. Aprobado por Ley Nacional 27.767. - B.O. 4/10/22-)</a:t>
            </a:r>
          </a:p>
          <a:p>
            <a:pPr algn="ctr">
              <a:buNone/>
            </a:pPr>
            <a:r>
              <a:rPr lang="es-AR" sz="2200" b="1" u="sng" dirty="0" smtClean="0">
                <a:solidFill>
                  <a:srgbClr val="163F9A"/>
                </a:solidFill>
              </a:rPr>
              <a:t>(Jurisdicciones No adheridas: </a:t>
            </a:r>
            <a:r>
              <a:rPr lang="es-AR" sz="2200" b="1" u="sng" dirty="0" err="1" smtClean="0">
                <a:solidFill>
                  <a:srgbClr val="163F9A"/>
                </a:solidFill>
              </a:rPr>
              <a:t>Caba</a:t>
            </a:r>
            <a:r>
              <a:rPr lang="es-AR" sz="2200" b="1" u="sng" dirty="0" smtClean="0">
                <a:solidFill>
                  <a:srgbClr val="163F9A"/>
                </a:solidFill>
              </a:rPr>
              <a:t> – San Luis – La Pampa)</a:t>
            </a:r>
          </a:p>
          <a:p>
            <a:pPr algn="ctr">
              <a:buNone/>
            </a:pPr>
            <a:endParaRPr lang="es-AR" sz="1600" b="1" u="sng" dirty="0" smtClean="0">
              <a:solidFill>
                <a:srgbClr val="163F9A"/>
              </a:solidFill>
            </a:endParaRPr>
          </a:p>
          <a:p>
            <a:pPr algn="just">
              <a:buNone/>
            </a:pPr>
            <a:r>
              <a:rPr lang="es-AR" sz="2000" dirty="0" smtClean="0"/>
              <a:t>Por eso, las partes acuerdan….</a:t>
            </a:r>
          </a:p>
          <a:p>
            <a:pPr algn="just">
              <a:buNone/>
            </a:pPr>
            <a:endParaRPr lang="es-AR" sz="2000" dirty="0" smtClean="0"/>
          </a:p>
          <a:p>
            <a:pPr marL="514350" indent="-514350" algn="just">
              <a:buAutoNum type="romanUcParenR"/>
            </a:pPr>
            <a:r>
              <a:rPr lang="es-AR" sz="2000" u="sng" dirty="0" smtClean="0"/>
              <a:t>Compromisos</a:t>
            </a:r>
            <a:r>
              <a:rPr lang="es-AR" sz="2000" dirty="0" smtClean="0"/>
              <a:t> en materia tributaria…</a:t>
            </a:r>
          </a:p>
          <a:p>
            <a:pPr marL="514350" indent="-514350" algn="just">
              <a:buNone/>
            </a:pPr>
            <a:endParaRPr lang="es-AR" sz="2000" dirty="0" smtClean="0"/>
          </a:p>
          <a:p>
            <a:pPr algn="just">
              <a:buNone/>
            </a:pPr>
            <a:r>
              <a:rPr lang="es-AR" sz="2000" dirty="0" smtClean="0"/>
              <a:t>“… Segunda: Con relación al impuesto sobre los Ingresos Brutos, las provincias se </a:t>
            </a:r>
            <a:r>
              <a:rPr lang="es-AR" sz="2000" u="sng" dirty="0" smtClean="0"/>
              <a:t>comprometen</a:t>
            </a:r>
            <a:r>
              <a:rPr lang="es-AR" sz="2000" dirty="0" smtClean="0"/>
              <a:t> a: </a:t>
            </a:r>
          </a:p>
          <a:p>
            <a:pPr algn="just">
              <a:buNone/>
            </a:pPr>
            <a:endParaRPr lang="es-AR" sz="2000" dirty="0" smtClean="0"/>
          </a:p>
          <a:p>
            <a:pPr algn="just">
              <a:buNone/>
            </a:pPr>
            <a:r>
              <a:rPr lang="es-AR" sz="2000" dirty="0" smtClean="0"/>
              <a:t>a. Determinar que el hecho imponible de este impuesto alcanza al </a:t>
            </a:r>
            <a:r>
              <a:rPr lang="es-AR" sz="2000" u="sng" dirty="0" smtClean="0"/>
              <a:t>ejercicio habitual y a titulo oneroso,- lucrativo o no-</a:t>
            </a:r>
            <a:r>
              <a:rPr lang="es-AR" sz="2000" dirty="0" smtClean="0"/>
              <a:t> en las jurisdicciones provinciales del comercio, industria, profesión, oficio, negocio, locaciones de bienes, obras o servicios, o de cualquier otra actividad independientemente de la naturaleza del sujeto que la preste y el lugar donde se realice (zonas portuarias, espacios ferroviarios, aeródromos y aeropuertos, terminales de transporte, edificios y lugares de dominio público y privado y todo otro de similar naturaleza). El impuesto recaerá sobre actividades realizadas por sujetos que tengan un nexo jurisdiccional con la jurisdicción de que se trate.</a:t>
            </a:r>
            <a:endParaRPr lang="es-AR" sz="19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4</a:t>
            </a:fld>
            <a:endParaRPr lang="es-ES" dirty="0"/>
          </a:p>
        </p:txBody>
      </p:sp>
      <p:sp>
        <p:nvSpPr>
          <p:cNvPr id="5" name="4 CuadroTexto"/>
          <p:cNvSpPr txBox="1"/>
          <p:nvPr/>
        </p:nvSpPr>
        <p:spPr>
          <a:xfrm>
            <a:off x="247342" y="107921"/>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(II)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07504" y="208590"/>
            <a:ext cx="8856984" cy="4876594"/>
          </a:xfrm>
        </p:spPr>
        <p:txBody>
          <a:bodyPr>
            <a:noAutofit/>
          </a:bodyPr>
          <a:lstStyle/>
          <a:p>
            <a:pPr algn="ctr">
              <a:buNone/>
            </a:pPr>
            <a:endParaRPr lang="es-AR" sz="2000" b="1" u="sng" dirty="0" smtClean="0"/>
          </a:p>
          <a:p>
            <a:pPr algn="ctr">
              <a:buNone/>
            </a:pPr>
            <a:r>
              <a:rPr lang="es-AR" sz="2000" b="1" u="sng" dirty="0" smtClean="0">
                <a:solidFill>
                  <a:srgbClr val="163F9A"/>
                </a:solidFill>
              </a:rPr>
              <a:t>Código Fiscal Santa Fe</a:t>
            </a:r>
          </a:p>
          <a:p>
            <a:pPr algn="just">
              <a:lnSpc>
                <a:spcPct val="220000"/>
              </a:lnSpc>
              <a:buNone/>
            </a:pPr>
            <a:r>
              <a:rPr lang="es-AR" sz="1200" b="1" dirty="0" smtClean="0"/>
              <a:t>    </a:t>
            </a:r>
            <a:r>
              <a:rPr lang="es-AR" sz="1200" b="1" u="sng" dirty="0" smtClean="0"/>
              <a:t>Exenta</a:t>
            </a:r>
            <a:r>
              <a:rPr lang="es-AR" sz="1200" b="1" dirty="0" smtClean="0"/>
              <a:t>: Art. 212, </a:t>
            </a:r>
            <a:r>
              <a:rPr lang="es-AR" sz="1200" b="1" dirty="0" err="1" smtClean="0"/>
              <a:t>inc</a:t>
            </a:r>
            <a:r>
              <a:rPr lang="es-AR" sz="1200" b="1" dirty="0" smtClean="0"/>
              <a:t> e) </a:t>
            </a:r>
            <a:r>
              <a:rPr lang="es-AR" sz="1200" dirty="0" smtClean="0"/>
              <a:t>las asociaciones mutuales constituidas de conformidad con la legislación vigente, con excepción de: </a:t>
            </a:r>
          </a:p>
          <a:p>
            <a:pPr marL="452628" indent="-342900" algn="just">
              <a:lnSpc>
                <a:spcPct val="220000"/>
              </a:lnSpc>
              <a:buNone/>
            </a:pPr>
            <a:r>
              <a:rPr lang="es-AR" sz="1200" dirty="0" smtClean="0"/>
              <a:t>1) los Ingresos Brutos generados por la </a:t>
            </a:r>
            <a:r>
              <a:rPr lang="es-AR" sz="1200" b="1" dirty="0" smtClean="0"/>
              <a:t>actividad aseguradora</a:t>
            </a:r>
            <a:r>
              <a:rPr lang="es-AR" sz="1200" dirty="0" smtClean="0"/>
              <a:t>; </a:t>
            </a:r>
            <a:r>
              <a:rPr lang="es-AR" sz="1200" b="1" dirty="0" smtClean="0"/>
              <a:t>(API. Dictamen N° 536/2017. Agente </a:t>
            </a:r>
            <a:r>
              <a:rPr lang="es-AR" sz="1200" b="1" dirty="0" err="1" smtClean="0"/>
              <a:t>institorio</a:t>
            </a:r>
            <a:r>
              <a:rPr lang="es-AR" sz="1200" b="1" dirty="0" smtClean="0"/>
              <a:t>. Gravado). </a:t>
            </a:r>
          </a:p>
          <a:p>
            <a:pPr marL="452628" algn="just">
              <a:lnSpc>
                <a:spcPct val="220000"/>
              </a:lnSpc>
              <a:buNone/>
            </a:pPr>
            <a:r>
              <a:rPr lang="es-AR" sz="1200" dirty="0" smtClean="0"/>
              <a:t>2) los Ingresos Brutos provenientes de la </a:t>
            </a:r>
            <a:r>
              <a:rPr lang="es-AR" sz="1200" b="1" dirty="0" smtClean="0"/>
              <a:t>prestación del servicio de ayuda económica </a:t>
            </a:r>
            <a:r>
              <a:rPr lang="es-AR" sz="1200" dirty="0" smtClean="0"/>
              <a:t>mutual con captación de fondos de sus asociados, como consecuencia de entregas de dinero efectuadas a los mismos, con excepción de los ingresos provenientes de ayudas económicas mutuales otorgadas con fondos propios. La base imponible estará constituida por la diferencia que resulte entre el total de la suma del haber de las cuentas de resultados y los intereses y actualizaciones pasivas. Los intereses y actualizaciones aludidos serán por financiaciones, mora o punitorios. </a:t>
            </a:r>
            <a:r>
              <a:rPr lang="es-AR" sz="1200" b="1" dirty="0" smtClean="0"/>
              <a:t>(RG 5/2016. Base Imponible)/ Informe 518/2011. Base Imponible / (Ley 14.386, art. 27 (2025). Deducción de intereses hasta 20 % de la BI por préstamos a Pymes Santafesinas; Sector Público Provincial y Municipal + hasta 30% donaciones a entidad deportiva, social, educativa, científica para construcción o mejora infraestructura y también inversiones en la propia Entidad por dichos conceptos).</a:t>
            </a:r>
          </a:p>
          <a:p>
            <a:pPr algn="just">
              <a:lnSpc>
                <a:spcPct val="220000"/>
              </a:lnSpc>
              <a:buNone/>
            </a:pPr>
            <a:r>
              <a:rPr lang="es-AR" sz="1200" dirty="0" smtClean="0"/>
              <a:t>3) los Ingresos Brutos generados por la prestación del </a:t>
            </a:r>
            <a:r>
              <a:rPr lang="es-AR" sz="1200" b="1" dirty="0" smtClean="0"/>
              <a:t>servicio de proveeduría</a:t>
            </a:r>
            <a:r>
              <a:rPr lang="es-AR" sz="1200" dirty="0" smtClean="0"/>
              <a:t>; </a:t>
            </a:r>
            <a:r>
              <a:rPr lang="es-AR" sz="1200" b="1" dirty="0" smtClean="0"/>
              <a:t>(Farmacia. Resolución N° 014/13 API) / (Informe N° 600 de 11/2010).</a:t>
            </a:r>
          </a:p>
          <a:p>
            <a:pPr algn="just">
              <a:lnSpc>
                <a:spcPct val="220000"/>
              </a:lnSpc>
              <a:buNone/>
            </a:pPr>
            <a:r>
              <a:rPr lang="es-AR" sz="1200" dirty="0" smtClean="0"/>
              <a:t>4) los Ingresos Brutos provenientes del importe de cada cuota de círculo de ahorro;</a:t>
            </a:r>
          </a:p>
          <a:p>
            <a:pPr algn="just">
              <a:lnSpc>
                <a:spcPct val="220000"/>
              </a:lnSpc>
              <a:buNone/>
            </a:pPr>
            <a:endParaRPr lang="es-AR" sz="13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5</a:t>
            </a:fld>
            <a:endParaRPr lang="es-ES" dirty="0"/>
          </a:p>
        </p:txBody>
      </p:sp>
      <p:sp>
        <p:nvSpPr>
          <p:cNvPr id="5" name="4 CuadroTexto"/>
          <p:cNvSpPr txBox="1"/>
          <p:nvPr/>
        </p:nvSpPr>
        <p:spPr>
          <a:xfrm>
            <a:off x="357158" y="107921"/>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(III)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1052736"/>
            <a:ext cx="8003232" cy="4876594"/>
          </a:xfrm>
        </p:spPr>
        <p:txBody>
          <a:bodyPr>
            <a:normAutofit/>
          </a:bodyPr>
          <a:lstStyle/>
          <a:p>
            <a:pPr algn="ctr">
              <a:buNone/>
            </a:pPr>
            <a:r>
              <a:rPr lang="es-AR" sz="2200" b="1" u="sng" dirty="0" smtClean="0">
                <a:solidFill>
                  <a:srgbClr val="163F9A"/>
                </a:solidFill>
              </a:rPr>
              <a:t>Código Fiscal Córdoba</a:t>
            </a:r>
          </a:p>
          <a:p>
            <a:pPr algn="ctr">
              <a:buNone/>
            </a:pPr>
            <a:endParaRPr lang="es-AR" sz="2000" b="1" u="sng" dirty="0" smtClean="0"/>
          </a:p>
          <a:p>
            <a:pPr algn="just">
              <a:buNone/>
            </a:pPr>
            <a:r>
              <a:rPr lang="es-AR" sz="2400" dirty="0" smtClean="0"/>
              <a:t>   </a:t>
            </a:r>
            <a:r>
              <a:rPr lang="es-AR" sz="2400" b="1" u="sng" dirty="0" smtClean="0"/>
              <a:t>Exenta</a:t>
            </a:r>
            <a:r>
              <a:rPr lang="es-AR" sz="2400" dirty="0" smtClean="0"/>
              <a:t>. </a:t>
            </a:r>
            <a:r>
              <a:rPr lang="es-AR" sz="2400" b="1" dirty="0" smtClean="0"/>
              <a:t>Art. 241, inc. 5) </a:t>
            </a:r>
            <a:r>
              <a:rPr lang="es-AR" sz="2400" dirty="0" smtClean="0"/>
              <a:t>Las asociaciones mutualistas constituidas de conformidad con las exigencias establecidas en la legislación vigente. </a:t>
            </a:r>
            <a:r>
              <a:rPr lang="es-AR" sz="2400" u="sng" dirty="0" err="1" smtClean="0"/>
              <a:t>Exclúyese</a:t>
            </a:r>
            <a:r>
              <a:rPr lang="es-AR" sz="2400" u="sng" dirty="0" smtClean="0"/>
              <a:t> de esta exención los ingresos que deban tributar el Impuesto al Valor Agregado, la actividad que puedan realizar en materia de seguros y las colocaciones financieras y préstamos de dinero</a:t>
            </a:r>
            <a:r>
              <a:rPr lang="es-AR" sz="2400" dirty="0" smtClean="0"/>
              <a:t>;</a:t>
            </a:r>
            <a:endParaRPr lang="es-AR" sz="2200" b="1" u="sng"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6</a:t>
            </a:fld>
            <a:endParaRPr lang="es-ES" dirty="0"/>
          </a:p>
        </p:txBody>
      </p:sp>
      <p:sp>
        <p:nvSpPr>
          <p:cNvPr id="5" name="4 CuadroTexto"/>
          <p:cNvSpPr txBox="1"/>
          <p:nvPr/>
        </p:nvSpPr>
        <p:spPr>
          <a:xfrm>
            <a:off x="357158" y="425215"/>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(IV)</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1214422"/>
            <a:ext cx="8003232" cy="4857784"/>
          </a:xfrm>
        </p:spPr>
        <p:txBody>
          <a:bodyPr>
            <a:normAutofit fontScale="70000" lnSpcReduction="20000"/>
          </a:bodyPr>
          <a:lstStyle/>
          <a:p>
            <a:pPr algn="ctr">
              <a:buNone/>
            </a:pPr>
            <a:r>
              <a:rPr lang="es-AR" b="1" u="sng" dirty="0" smtClean="0">
                <a:solidFill>
                  <a:srgbClr val="163F9A"/>
                </a:solidFill>
              </a:rPr>
              <a:t>Código Fiscal Provincia Buenos Aires</a:t>
            </a:r>
          </a:p>
          <a:p>
            <a:pPr algn="ctr">
              <a:buNone/>
            </a:pPr>
            <a:endParaRPr lang="es-AR" sz="3600" b="1" u="sng" dirty="0" smtClean="0"/>
          </a:p>
          <a:p>
            <a:pPr algn="just">
              <a:lnSpc>
                <a:spcPct val="150000"/>
              </a:lnSpc>
              <a:buNone/>
            </a:pPr>
            <a:r>
              <a:rPr lang="es-AR" sz="2500" dirty="0" smtClean="0"/>
              <a:t>   </a:t>
            </a:r>
            <a:r>
              <a:rPr lang="es-AR" sz="2500" b="1" u="sng" dirty="0" smtClean="0"/>
              <a:t>Exenta</a:t>
            </a:r>
            <a:r>
              <a:rPr lang="es-AR" sz="2500" b="1" dirty="0" smtClean="0"/>
              <a:t>. Art. 207, inc. e) </a:t>
            </a:r>
            <a:r>
              <a:rPr lang="es-AR" sz="2500" dirty="0" smtClean="0"/>
              <a:t>Los ingresos de las asociaciones mutualistas constituidas de conformidad a la legislación vigente, que provengan exclusivamente de la realización de prestaciones mutuales a sus asociados, con excepción de las actividades que puedan realizar en materia de seguros (excluidos los seguros de salud) y de naturaleza financiera.</a:t>
            </a:r>
          </a:p>
          <a:p>
            <a:pPr algn="just">
              <a:lnSpc>
                <a:spcPct val="150000"/>
              </a:lnSpc>
              <a:buNone/>
            </a:pPr>
            <a:r>
              <a:rPr lang="es-AR" sz="2500" b="1" dirty="0" smtClean="0"/>
              <a:t>	Art. 207, inc. u) </a:t>
            </a:r>
            <a:r>
              <a:rPr lang="es-AR" sz="2500" dirty="0" smtClean="0"/>
              <a:t>Farmacias Mutuales.</a:t>
            </a:r>
          </a:p>
          <a:p>
            <a:pPr algn="just">
              <a:lnSpc>
                <a:spcPct val="150000"/>
              </a:lnSpc>
            </a:pPr>
            <a:endParaRPr lang="es-ES" sz="1900" b="1" dirty="0" smtClean="0"/>
          </a:p>
          <a:p>
            <a:pPr algn="just">
              <a:lnSpc>
                <a:spcPct val="150000"/>
              </a:lnSpc>
            </a:pPr>
            <a:r>
              <a:rPr lang="es-ES" sz="2000" b="1" dirty="0" smtClean="0"/>
              <a:t>Decreto 3104/03 (10/03/03).</a:t>
            </a:r>
            <a:r>
              <a:rPr lang="es-ES" sz="2000" dirty="0" smtClean="0"/>
              <a:t>  Solicitud de Exención.</a:t>
            </a:r>
          </a:p>
          <a:p>
            <a:pPr algn="just">
              <a:lnSpc>
                <a:spcPct val="150000"/>
              </a:lnSpc>
            </a:pPr>
            <a:r>
              <a:rPr lang="es-ES" sz="2000" b="1" dirty="0" smtClean="0"/>
              <a:t>Consulta N° 134-03. ARBA. (13/05/03). </a:t>
            </a:r>
            <a:r>
              <a:rPr lang="es-ES" sz="2000" dirty="0" smtClean="0"/>
              <a:t>Exención. Vigencia retroactiva.</a:t>
            </a:r>
          </a:p>
          <a:p>
            <a:pPr algn="just">
              <a:lnSpc>
                <a:spcPct val="150000"/>
              </a:lnSpc>
            </a:pPr>
            <a:r>
              <a:rPr lang="es-ES" sz="2000" b="1" dirty="0" smtClean="0"/>
              <a:t> Informe N° 064-02. ARBA. (02/04/02). DTT.</a:t>
            </a:r>
            <a:r>
              <a:rPr lang="es-ES" sz="2000" dirty="0" smtClean="0"/>
              <a:t>  Venta de medicamentos a no asociados.</a:t>
            </a:r>
          </a:p>
          <a:p>
            <a:pPr algn="just">
              <a:lnSpc>
                <a:spcPct val="150000"/>
              </a:lnSpc>
            </a:pPr>
            <a:r>
              <a:rPr lang="es-ES" sz="2000" b="1" dirty="0" smtClean="0"/>
              <a:t>“</a:t>
            </a:r>
            <a:r>
              <a:rPr lang="es-ES" sz="2000" b="1" dirty="0" err="1" smtClean="0"/>
              <a:t>Asoc</a:t>
            </a:r>
            <a:r>
              <a:rPr lang="es-ES" sz="2000" b="1" dirty="0" smtClean="0"/>
              <a:t>. Mutual Personal Philips </a:t>
            </a:r>
            <a:r>
              <a:rPr lang="es-ES" sz="2000" b="1" dirty="0" err="1" smtClean="0"/>
              <a:t>Arg</a:t>
            </a:r>
            <a:r>
              <a:rPr lang="es-ES" sz="2000" b="1" dirty="0" smtClean="0"/>
              <a:t>.”. TFA. 26/08/21</a:t>
            </a:r>
            <a:r>
              <a:rPr lang="es-ES" sz="2000" dirty="0" smtClean="0"/>
              <a:t>. Repetición. Alquiler de oficina a no asociados.</a:t>
            </a:r>
          </a:p>
          <a:p>
            <a:pPr algn="just">
              <a:lnSpc>
                <a:spcPct val="150000"/>
              </a:lnSpc>
            </a:pPr>
            <a:endParaRPr lang="es-AR" sz="16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7</a:t>
            </a:fld>
            <a:endParaRPr lang="es-ES" dirty="0"/>
          </a:p>
        </p:txBody>
      </p:sp>
      <p:sp>
        <p:nvSpPr>
          <p:cNvPr id="5" name="4 CuadroTexto"/>
          <p:cNvSpPr txBox="1"/>
          <p:nvPr/>
        </p:nvSpPr>
        <p:spPr>
          <a:xfrm>
            <a:off x="357158" y="425215"/>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(V)</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79512" y="1124744"/>
            <a:ext cx="8003232" cy="4876594"/>
          </a:xfrm>
        </p:spPr>
        <p:txBody>
          <a:bodyPr>
            <a:normAutofit/>
          </a:bodyPr>
          <a:lstStyle/>
          <a:p>
            <a:pPr algn="ctr">
              <a:buNone/>
            </a:pPr>
            <a:r>
              <a:rPr lang="es-AR" sz="2200" b="1" u="sng" dirty="0" smtClean="0">
                <a:solidFill>
                  <a:srgbClr val="163F9A"/>
                </a:solidFill>
              </a:rPr>
              <a:t>Código Fiscal  C.A. Buenos Aires</a:t>
            </a:r>
          </a:p>
          <a:p>
            <a:pPr>
              <a:buNone/>
            </a:pPr>
            <a:endParaRPr lang="es-AR" sz="1800" dirty="0" smtClean="0"/>
          </a:p>
          <a:p>
            <a:pPr algn="just">
              <a:buNone/>
            </a:pPr>
            <a:r>
              <a:rPr lang="es-AR" sz="1800" dirty="0" smtClean="0"/>
              <a:t>    </a:t>
            </a:r>
            <a:r>
              <a:rPr lang="es-AR" sz="2500" b="1" u="sng" dirty="0" smtClean="0"/>
              <a:t>Exenta</a:t>
            </a:r>
            <a:r>
              <a:rPr lang="es-AR" sz="2500" dirty="0" smtClean="0"/>
              <a:t>. </a:t>
            </a:r>
            <a:r>
              <a:rPr lang="es-AR" sz="2500" b="1" dirty="0" smtClean="0"/>
              <a:t>Art. 195, inc. 5. </a:t>
            </a:r>
            <a:r>
              <a:rPr lang="es-AR" sz="2500" dirty="0" smtClean="0"/>
              <a:t>Las asociaciones mutualistas constituidas de conformidad con la legislación vigente, con </a:t>
            </a:r>
            <a:r>
              <a:rPr lang="es-AR" sz="2500" u="sng" dirty="0" smtClean="0"/>
              <a:t>excepción de las operaciones realizadas en materia de seguros</a:t>
            </a:r>
            <a:r>
              <a:rPr lang="es-AR" sz="2500" dirty="0" smtClean="0"/>
              <a:t> las que están sujetas al Impuesto sobre los Ingresos Brutos. </a:t>
            </a:r>
            <a:endParaRPr lang="es-AR" sz="2500" b="1" u="sng" dirty="0" smtClean="0"/>
          </a:p>
          <a:p>
            <a:pPr algn="ctr">
              <a:buNone/>
            </a:pPr>
            <a:endParaRPr lang="es-AR" sz="2000" b="1" u="sng" dirty="0" smtClean="0"/>
          </a:p>
          <a:p>
            <a:pPr algn="ctr">
              <a:buNone/>
            </a:pPr>
            <a:endParaRPr lang="es-AR" sz="3600" b="1" u="sng" dirty="0" smtClean="0"/>
          </a:p>
          <a:p>
            <a:pPr>
              <a:buNone/>
            </a:pPr>
            <a:endParaRPr lang="es-AR"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8</a:t>
            </a:fld>
            <a:endParaRPr lang="es-ES" dirty="0"/>
          </a:p>
        </p:txBody>
      </p:sp>
      <p:sp>
        <p:nvSpPr>
          <p:cNvPr id="5" name="4 CuadroTexto"/>
          <p:cNvSpPr txBox="1"/>
          <p:nvPr/>
        </p:nvSpPr>
        <p:spPr>
          <a:xfrm>
            <a:off x="395536" y="425215"/>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(VI)</a:t>
            </a:r>
            <a:endParaRPr lang="es-ES" sz="32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179512" y="44624"/>
            <a:ext cx="8784976" cy="553998"/>
          </a:xfrm>
          <a:prstGeom prst="rect">
            <a:avLst/>
          </a:prstGeom>
          <a:noFill/>
        </p:spPr>
        <p:txBody>
          <a:bodyPr wrap="square" rtlCol="0">
            <a:spAutoFit/>
          </a:bodyPr>
          <a:lstStyle/>
          <a:p>
            <a:pPr algn="ctr"/>
            <a:r>
              <a:rPr lang="es-AR" sz="3000" b="1" dirty="0" smtClean="0">
                <a:solidFill>
                  <a:srgbClr val="FF0000"/>
                </a:solidFill>
              </a:rPr>
              <a:t>IMPUESTOS S/ INGRESOS BRUTOS (VII)</a:t>
            </a:r>
            <a:endParaRPr lang="es-ES" sz="3000" b="1" dirty="0">
              <a:solidFill>
                <a:srgbClr val="FF0000"/>
              </a:solidFill>
            </a:endParaRPr>
          </a:p>
        </p:txBody>
      </p:sp>
      <p:pic>
        <p:nvPicPr>
          <p:cNvPr id="9"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5" name="4 Marcador de número de diapositiva"/>
          <p:cNvSpPr>
            <a:spLocks noGrp="1"/>
          </p:cNvSpPr>
          <p:nvPr>
            <p:ph type="sldNum" sz="quarter" idx="12"/>
          </p:nvPr>
        </p:nvSpPr>
        <p:spPr/>
        <p:txBody>
          <a:bodyPr/>
          <a:lstStyle/>
          <a:p>
            <a:fld id="{47905A6E-3428-42CC-8A3B-D0D77FE4EB92}" type="slidenum">
              <a:rPr lang="es-ES" smtClean="0"/>
              <a:pPr/>
              <a:t>9</a:t>
            </a:fld>
            <a:endParaRPr lang="es-ES" dirty="0"/>
          </a:p>
        </p:txBody>
      </p:sp>
      <p:pic>
        <p:nvPicPr>
          <p:cNvPr id="8" name="7 Imagen" descr="Cuadro IB 2025.jpg"/>
          <p:cNvPicPr>
            <a:picLocks noChangeAspect="1"/>
          </p:cNvPicPr>
          <p:nvPr/>
        </p:nvPicPr>
        <p:blipFill>
          <a:blip r:embed="rId3" cstate="print"/>
          <a:stretch>
            <a:fillRect/>
          </a:stretch>
        </p:blipFill>
        <p:spPr>
          <a:xfrm>
            <a:off x="142844" y="573594"/>
            <a:ext cx="8858312" cy="571292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8 Marcador de contenido"/>
          <p:cNvSpPr>
            <a:spLocks noGrp="1"/>
          </p:cNvSpPr>
          <p:nvPr>
            <p:ph idx="1"/>
          </p:nvPr>
        </p:nvSpPr>
        <p:spPr>
          <a:xfrm>
            <a:off x="214282" y="285728"/>
            <a:ext cx="8786874" cy="6357958"/>
          </a:xfrm>
        </p:spPr>
        <p:txBody>
          <a:bodyPr>
            <a:normAutofit fontScale="40000" lnSpcReduction="20000"/>
          </a:bodyPr>
          <a:lstStyle/>
          <a:p>
            <a:pPr>
              <a:buNone/>
            </a:pPr>
            <a:endParaRPr lang="es-AR" dirty="0" smtClean="0"/>
          </a:p>
          <a:p>
            <a:pPr algn="ctr">
              <a:buNone/>
            </a:pPr>
            <a:r>
              <a:rPr lang="es-AR" sz="6200" b="1" dirty="0" smtClean="0">
                <a:solidFill>
                  <a:srgbClr val="163F9A"/>
                </a:solidFill>
              </a:rPr>
              <a:t>Contribuyentes Directos</a:t>
            </a:r>
          </a:p>
          <a:p>
            <a:pPr>
              <a:buNone/>
            </a:pPr>
            <a:endParaRPr lang="es-AR" sz="2000" dirty="0" smtClean="0"/>
          </a:p>
          <a:p>
            <a:pPr algn="just">
              <a:buNone/>
            </a:pPr>
            <a:r>
              <a:rPr lang="es-AR" sz="6200" b="1" dirty="0" smtClean="0"/>
              <a:t>Santa Fe</a:t>
            </a:r>
          </a:p>
          <a:p>
            <a:pPr algn="just">
              <a:buNone/>
            </a:pPr>
            <a:endParaRPr lang="es-AR" sz="4300" b="1" dirty="0" smtClean="0"/>
          </a:p>
          <a:p>
            <a:pPr algn="just">
              <a:buFont typeface="Wingdings" pitchFamily="2" charset="2"/>
              <a:buChar char="ü"/>
            </a:pPr>
            <a:r>
              <a:rPr lang="es-AR" sz="4300" dirty="0" smtClean="0"/>
              <a:t>Vto. Pago: a partir del día 15 del mes siguiente. La DDJJ anual se presenta en agosto a partir del día 22.</a:t>
            </a:r>
          </a:p>
          <a:p>
            <a:pPr algn="just">
              <a:buFont typeface="Wingdings" pitchFamily="2" charset="2"/>
              <a:buChar char="ü"/>
            </a:pPr>
            <a:endParaRPr lang="es-AR" sz="4300" dirty="0" smtClean="0"/>
          </a:p>
          <a:p>
            <a:pPr algn="just">
              <a:buNone/>
            </a:pPr>
            <a:r>
              <a:rPr lang="es-AR" sz="6200" b="1" dirty="0" smtClean="0"/>
              <a:t>Córdoba</a:t>
            </a:r>
          </a:p>
          <a:p>
            <a:pPr algn="just">
              <a:buNone/>
            </a:pPr>
            <a:endParaRPr lang="es-AR" sz="4300" b="1" dirty="0" smtClean="0"/>
          </a:p>
          <a:p>
            <a:pPr algn="just">
              <a:buFont typeface="Wingdings" pitchFamily="2" charset="2"/>
              <a:buChar char="ü"/>
            </a:pPr>
            <a:r>
              <a:rPr lang="es-AR" sz="4300" dirty="0" smtClean="0"/>
              <a:t>Vto. Pago: a partir del día 16 del mes siguiente. La DDJJ anual se presenta junto con el mes 12 en enero siguiente.</a:t>
            </a:r>
          </a:p>
          <a:p>
            <a:pPr algn="just">
              <a:buFont typeface="Wingdings" pitchFamily="2" charset="2"/>
              <a:buChar char="ü"/>
            </a:pPr>
            <a:endParaRPr lang="es-AR" sz="4300" dirty="0" smtClean="0"/>
          </a:p>
          <a:p>
            <a:pPr algn="just">
              <a:buNone/>
            </a:pPr>
            <a:r>
              <a:rPr lang="es-AR" sz="6200" b="1" dirty="0" smtClean="0"/>
              <a:t>CABA</a:t>
            </a:r>
          </a:p>
          <a:p>
            <a:pPr algn="just">
              <a:buNone/>
            </a:pPr>
            <a:endParaRPr lang="es-AR" sz="4300" b="1" dirty="0" smtClean="0"/>
          </a:p>
          <a:p>
            <a:pPr algn="just">
              <a:buFont typeface="Wingdings" pitchFamily="2" charset="2"/>
              <a:buChar char="ü"/>
            </a:pPr>
            <a:r>
              <a:rPr lang="es-AR" sz="4300" dirty="0" smtClean="0"/>
              <a:t>Vto. Pago: a partir del día 13 del mes siguiente. La DDJJ anual se presenta en mayo a partir del día 16.</a:t>
            </a:r>
          </a:p>
          <a:p>
            <a:pPr algn="just">
              <a:buFont typeface="Wingdings" pitchFamily="2" charset="2"/>
              <a:buChar char="ü"/>
            </a:pPr>
            <a:endParaRPr lang="es-ES" sz="4300" dirty="0" smtClean="0"/>
          </a:p>
          <a:p>
            <a:pPr algn="just">
              <a:buNone/>
            </a:pPr>
            <a:r>
              <a:rPr lang="es-AR" sz="6200" b="1" dirty="0" smtClean="0"/>
              <a:t>Provincia Buenos Aires</a:t>
            </a:r>
          </a:p>
          <a:p>
            <a:pPr algn="just">
              <a:buNone/>
            </a:pPr>
            <a:endParaRPr lang="es-AR" sz="4300" b="1" dirty="0" smtClean="0"/>
          </a:p>
          <a:p>
            <a:pPr algn="just">
              <a:buFont typeface="Wingdings" pitchFamily="2" charset="2"/>
              <a:buChar char="ü"/>
            </a:pPr>
            <a:r>
              <a:rPr lang="es-AR" sz="4300" dirty="0" smtClean="0"/>
              <a:t>Vto. Pago: día 18 del mes siguiente. La DDJJ anual se presenta en abril. </a:t>
            </a:r>
          </a:p>
          <a:p>
            <a:pPr algn="just">
              <a:buNone/>
            </a:pPr>
            <a:endParaRPr lang="es-AR" sz="4300" b="1" dirty="0" smtClean="0"/>
          </a:p>
          <a:p>
            <a:pPr algn="just">
              <a:buNone/>
            </a:pPr>
            <a:endParaRPr lang="es-AR" sz="2600" dirty="0" smtClean="0"/>
          </a:p>
          <a:p>
            <a:pPr algn="just">
              <a:buFont typeface="Wingdings" pitchFamily="2" charset="2"/>
              <a:buChar char="ü"/>
            </a:pPr>
            <a:endParaRPr lang="es-ES" sz="2600" dirty="0" smtClean="0"/>
          </a:p>
          <a:p>
            <a:pPr algn="just">
              <a:buNone/>
            </a:pPr>
            <a:endParaRPr lang="es-ES" sz="1500" dirty="0" smtClean="0"/>
          </a:p>
          <a:p>
            <a:pPr algn="just">
              <a:buNone/>
            </a:pPr>
            <a:endParaRPr lang="es-ES" sz="1500"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10</a:t>
            </a:fld>
            <a:endParaRPr lang="es-ES" dirty="0"/>
          </a:p>
        </p:txBody>
      </p:sp>
      <p:sp>
        <p:nvSpPr>
          <p:cNvPr id="7" name="6 CuadroTexto"/>
          <p:cNvSpPr txBox="1"/>
          <p:nvPr/>
        </p:nvSpPr>
        <p:spPr>
          <a:xfrm>
            <a:off x="430494" y="-53956"/>
            <a:ext cx="8784976" cy="553998"/>
          </a:xfrm>
          <a:prstGeom prst="rect">
            <a:avLst/>
          </a:prstGeom>
          <a:noFill/>
        </p:spPr>
        <p:txBody>
          <a:bodyPr wrap="square" rtlCol="0">
            <a:spAutoFit/>
          </a:bodyPr>
          <a:lstStyle/>
          <a:p>
            <a:pPr algn="ctr"/>
            <a:r>
              <a:rPr lang="es-AR" sz="3000" b="1" dirty="0" smtClean="0">
                <a:solidFill>
                  <a:srgbClr val="FF0000"/>
                </a:solidFill>
              </a:rPr>
              <a:t>IMPUESTOS S/ INGRESOS BRUTOS (VIII)</a:t>
            </a:r>
            <a:endParaRPr lang="es-ES" sz="30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0" y="404664"/>
            <a:ext cx="8784976" cy="1015663"/>
          </a:xfrm>
          <a:prstGeom prst="rect">
            <a:avLst/>
          </a:prstGeom>
          <a:noFill/>
        </p:spPr>
        <p:txBody>
          <a:bodyPr wrap="square" rtlCol="0">
            <a:spAutoFit/>
          </a:bodyPr>
          <a:lstStyle/>
          <a:p>
            <a:pPr algn="ctr"/>
            <a:r>
              <a:rPr lang="es-AR" sz="3000" b="1" dirty="0" smtClean="0">
                <a:solidFill>
                  <a:srgbClr val="FF0000"/>
                </a:solidFill>
              </a:rPr>
              <a:t>IMPUESTOS INGRESOS BRUTOS (IX)</a:t>
            </a:r>
          </a:p>
          <a:p>
            <a:pPr algn="ctr"/>
            <a:r>
              <a:rPr lang="es-AR" sz="3000" b="1" dirty="0" smtClean="0">
                <a:solidFill>
                  <a:srgbClr val="163F9A"/>
                </a:solidFill>
              </a:rPr>
              <a:t>Convenio Multilateral (I)</a:t>
            </a:r>
            <a:endParaRPr lang="es-ES" sz="3000" b="1" dirty="0">
              <a:solidFill>
                <a:srgbClr val="163F9A"/>
              </a:solidFill>
            </a:endParaRPr>
          </a:p>
        </p:txBody>
      </p:sp>
      <p:sp>
        <p:nvSpPr>
          <p:cNvPr id="10" name="Text Box 7"/>
          <p:cNvSpPr txBox="1">
            <a:spLocks noChangeArrowheads="1"/>
          </p:cNvSpPr>
          <p:nvPr/>
        </p:nvSpPr>
        <p:spPr bwMode="auto">
          <a:xfrm>
            <a:off x="0" y="2276872"/>
            <a:ext cx="8569325" cy="2554545"/>
          </a:xfrm>
          <a:prstGeom prst="rect">
            <a:avLst/>
          </a:prstGeom>
          <a:noFill/>
          <a:ln w="9525">
            <a:noFill/>
            <a:miter lim="800000"/>
            <a:headEnd/>
            <a:tailEnd/>
          </a:ln>
        </p:spPr>
        <p:txBody>
          <a:bodyPr>
            <a:spAutoFit/>
          </a:bodyPr>
          <a:lstStyle/>
          <a:p>
            <a:pPr algn="ctr">
              <a:buFont typeface="FrutigerCn" charset="0"/>
              <a:buNone/>
            </a:pPr>
            <a:r>
              <a:rPr lang="es-ES" sz="2000" b="1" dirty="0">
                <a:solidFill>
                  <a:schemeClr val="tx1"/>
                </a:solidFill>
                <a:latin typeface="Calibri" pitchFamily="34" charset="0"/>
              </a:rPr>
              <a:t>“Las actividades a que se refiere el presente Convenio son aquéllas que se ejercen por un mismo contribuyente en una, varias o todas sus etapas en dos o más jurisdicciones, pero cuyos ingresos brutos, por provenir de un proceso único, económicamente inseparable, deben atribuirse conjuntamente a todas ellas ya sea que las actividades las ejerza el contribuyente por sí o por terceras personas, incluyendo las efectuadas por intermediarios, corredores, comisionistas, mandatarios, viajantes o consignatarios, etcétera, con o sin relación de dependencia...” </a:t>
            </a:r>
          </a:p>
        </p:txBody>
      </p:sp>
      <p:sp>
        <p:nvSpPr>
          <p:cNvPr id="11" name="Text Box 6"/>
          <p:cNvSpPr txBox="1">
            <a:spLocks noChangeArrowheads="1"/>
          </p:cNvSpPr>
          <p:nvPr/>
        </p:nvSpPr>
        <p:spPr bwMode="auto">
          <a:xfrm>
            <a:off x="2843808" y="1628800"/>
            <a:ext cx="3744913" cy="400110"/>
          </a:xfrm>
          <a:prstGeom prst="rect">
            <a:avLst/>
          </a:prstGeom>
          <a:noFill/>
          <a:ln w="9525">
            <a:noFill/>
            <a:miter lim="800000"/>
            <a:headEnd/>
            <a:tailEnd/>
          </a:ln>
        </p:spPr>
        <p:txBody>
          <a:bodyPr>
            <a:spAutoFit/>
          </a:bodyPr>
          <a:lstStyle/>
          <a:p>
            <a:pPr algn="ctr">
              <a:spcBef>
                <a:spcPct val="50000"/>
              </a:spcBef>
              <a:buFont typeface="FrutigerCn" charset="0"/>
              <a:buNone/>
            </a:pPr>
            <a:r>
              <a:rPr lang="es-AR" sz="2000" b="1" dirty="0">
                <a:solidFill>
                  <a:srgbClr val="C00000"/>
                </a:solidFill>
                <a:latin typeface="Calibri" pitchFamily="34" charset="0"/>
              </a:rPr>
              <a:t>Definición (Art. 1 C.M.)</a:t>
            </a:r>
            <a:endParaRPr lang="es-ES" sz="2000" b="1" dirty="0">
              <a:solidFill>
                <a:srgbClr val="C00000"/>
              </a:solidFill>
              <a:latin typeface="Calibri" pitchFamily="34" charset="0"/>
            </a:endParaRPr>
          </a:p>
        </p:txBody>
      </p:sp>
      <p:pic>
        <p:nvPicPr>
          <p:cNvPr id="8"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9" name="8 Marcador de número de diapositiva"/>
          <p:cNvSpPr>
            <a:spLocks noGrp="1"/>
          </p:cNvSpPr>
          <p:nvPr>
            <p:ph type="sldNum" sz="quarter" idx="12"/>
          </p:nvPr>
        </p:nvSpPr>
        <p:spPr/>
        <p:txBody>
          <a:bodyPr/>
          <a:lstStyle/>
          <a:p>
            <a:fld id="{47905A6E-3428-42CC-8A3B-D0D77FE4EB92}" type="slidenum">
              <a:rPr lang="es-ES" smtClean="0"/>
              <a:pPr/>
              <a:t>11</a:t>
            </a:fld>
            <a:endParaRPr lang="es-E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6 CuadroTexto"/>
          <p:cNvSpPr txBox="1"/>
          <p:nvPr/>
        </p:nvSpPr>
        <p:spPr>
          <a:xfrm>
            <a:off x="-180528" y="469121"/>
            <a:ext cx="8784976" cy="1015663"/>
          </a:xfrm>
          <a:prstGeom prst="rect">
            <a:avLst/>
          </a:prstGeom>
          <a:noFill/>
        </p:spPr>
        <p:txBody>
          <a:bodyPr wrap="square" rtlCol="0">
            <a:spAutoFit/>
          </a:bodyPr>
          <a:lstStyle/>
          <a:p>
            <a:pPr algn="ctr"/>
            <a:r>
              <a:rPr lang="es-AR" sz="3000" b="1" dirty="0" smtClean="0">
                <a:solidFill>
                  <a:srgbClr val="FF0000"/>
                </a:solidFill>
              </a:rPr>
              <a:t>IMPUESTOS INGRESOS BRUTOS (X) </a:t>
            </a:r>
          </a:p>
          <a:p>
            <a:pPr algn="ctr"/>
            <a:r>
              <a:rPr lang="es-AR" sz="3000" b="1" dirty="0" smtClean="0">
                <a:solidFill>
                  <a:srgbClr val="163F9A"/>
                </a:solidFill>
              </a:rPr>
              <a:t>Convenio Multilateral (II)</a:t>
            </a:r>
            <a:endParaRPr lang="es-ES" sz="3000" b="1" dirty="0">
              <a:solidFill>
                <a:srgbClr val="163F9A"/>
              </a:solidFill>
            </a:endParaRPr>
          </a:p>
        </p:txBody>
      </p:sp>
      <p:sp>
        <p:nvSpPr>
          <p:cNvPr id="8" name="7 CuadroTexto"/>
          <p:cNvSpPr txBox="1"/>
          <p:nvPr/>
        </p:nvSpPr>
        <p:spPr>
          <a:xfrm>
            <a:off x="500034" y="1700808"/>
            <a:ext cx="7816382" cy="3323987"/>
          </a:xfrm>
          <a:prstGeom prst="rect">
            <a:avLst/>
          </a:prstGeom>
          <a:noFill/>
        </p:spPr>
        <p:txBody>
          <a:bodyPr wrap="square" rtlCol="0">
            <a:spAutoFit/>
          </a:bodyPr>
          <a:lstStyle/>
          <a:p>
            <a:pPr algn="just">
              <a:lnSpc>
                <a:spcPct val="150000"/>
              </a:lnSpc>
              <a:buFont typeface="Wingdings" pitchFamily="2" charset="2"/>
              <a:buChar char="q"/>
            </a:pPr>
            <a:r>
              <a:rPr lang="es-AR" dirty="0" smtClean="0"/>
              <a:t>  D</a:t>
            </a:r>
            <a:r>
              <a:rPr lang="es-AR" sz="2000" dirty="0" smtClean="0"/>
              <a:t>DJJ. Anual F. CM05. Vto. Junio.</a:t>
            </a:r>
          </a:p>
          <a:p>
            <a:pPr algn="just">
              <a:lnSpc>
                <a:spcPct val="150000"/>
              </a:lnSpc>
              <a:buFont typeface="Wingdings" pitchFamily="2" charset="2"/>
              <a:buChar char="q"/>
            </a:pPr>
            <a:r>
              <a:rPr lang="es-AR" sz="2000" dirty="0" smtClean="0"/>
              <a:t>  DDJJ Mensual. F. CM03. A partir del día 15 de cada mes.</a:t>
            </a:r>
          </a:p>
          <a:p>
            <a:pPr algn="just">
              <a:lnSpc>
                <a:spcPct val="150000"/>
              </a:lnSpc>
              <a:buFont typeface="Wingdings" pitchFamily="2" charset="2"/>
              <a:buChar char="q"/>
            </a:pPr>
            <a:r>
              <a:rPr lang="es-AR" sz="2000" dirty="0" smtClean="0"/>
              <a:t>  Distribución de Base Imponible: </a:t>
            </a:r>
          </a:p>
          <a:p>
            <a:pPr lvl="1" algn="just">
              <a:lnSpc>
                <a:spcPct val="150000"/>
              </a:lnSpc>
              <a:buFont typeface="Arial" charset="0"/>
              <a:buChar char="•"/>
            </a:pPr>
            <a:r>
              <a:rPr lang="es-AR" sz="2000" dirty="0" smtClean="0"/>
              <a:t> Se establecen los coeficientes unificados (Ingresos y Gastos) de cada jurisdicción.</a:t>
            </a:r>
          </a:p>
          <a:p>
            <a:pPr lvl="1" algn="just">
              <a:lnSpc>
                <a:spcPct val="150000"/>
              </a:lnSpc>
              <a:buFont typeface="Arial" charset="0"/>
              <a:buChar char="•"/>
            </a:pPr>
            <a:r>
              <a:rPr lang="es-AR" sz="2000" dirty="0" smtClean="0"/>
              <a:t> Régimen especial</a:t>
            </a:r>
          </a:p>
          <a:p>
            <a:pPr algn="just">
              <a:lnSpc>
                <a:spcPct val="150000"/>
              </a:lnSpc>
              <a:buFont typeface="Wingdings" pitchFamily="2" charset="2"/>
              <a:buChar char="q"/>
            </a:pPr>
            <a:r>
              <a:rPr lang="es-AR" sz="2000" dirty="0" smtClean="0"/>
              <a:t>  El pago es en la misma fechas que el contribuyente directo.</a:t>
            </a:r>
            <a:endParaRPr lang="es-ES" sz="2000" dirty="0"/>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6" name="5 Marcador de número de diapositiva"/>
          <p:cNvSpPr>
            <a:spLocks noGrp="1"/>
          </p:cNvSpPr>
          <p:nvPr>
            <p:ph type="sldNum" sz="quarter" idx="12"/>
          </p:nvPr>
        </p:nvSpPr>
        <p:spPr/>
        <p:txBody>
          <a:bodyPr/>
          <a:lstStyle/>
          <a:p>
            <a:fld id="{47905A6E-3428-42CC-8A3B-D0D77FE4EB92}" type="slidenum">
              <a:rPr lang="es-ES" smtClean="0"/>
              <a:pPr/>
              <a:t>12</a:t>
            </a:fld>
            <a:endParaRPr lang="es-E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83544" y="1500174"/>
            <a:ext cx="8003232" cy="4857784"/>
          </a:xfrm>
        </p:spPr>
        <p:txBody>
          <a:bodyPr>
            <a:normAutofit/>
          </a:bodyPr>
          <a:lstStyle/>
          <a:p>
            <a:pPr algn="just">
              <a:lnSpc>
                <a:spcPct val="150000"/>
              </a:lnSpc>
              <a:buNone/>
            </a:pPr>
            <a:r>
              <a:rPr lang="es-AR" sz="2500" dirty="0" smtClean="0"/>
              <a:t>   </a:t>
            </a:r>
            <a:endParaRPr lang="es-AR" sz="16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13</a:t>
            </a:fld>
            <a:endParaRPr lang="es-ES" dirty="0"/>
          </a:p>
        </p:txBody>
      </p:sp>
      <p:sp>
        <p:nvSpPr>
          <p:cNvPr id="5" name="4 CuadroTexto"/>
          <p:cNvSpPr txBox="1"/>
          <p:nvPr/>
        </p:nvSpPr>
        <p:spPr>
          <a:xfrm>
            <a:off x="428596" y="142852"/>
            <a:ext cx="8501122" cy="1077218"/>
          </a:xfrm>
          <a:prstGeom prst="rect">
            <a:avLst/>
          </a:prstGeom>
          <a:noFill/>
        </p:spPr>
        <p:txBody>
          <a:bodyPr wrap="square" rtlCol="0">
            <a:spAutoFit/>
          </a:bodyPr>
          <a:lstStyle/>
          <a:p>
            <a:pPr algn="ctr"/>
            <a:r>
              <a:rPr lang="es-AR" sz="3200" b="1" dirty="0" smtClean="0">
                <a:solidFill>
                  <a:srgbClr val="FF0000"/>
                </a:solidFill>
              </a:rPr>
              <a:t>IMPUESTOS S/ INGRESOS BRUTOS (XI)</a:t>
            </a:r>
          </a:p>
          <a:p>
            <a:pPr algn="ctr"/>
            <a:r>
              <a:rPr lang="es-AR" sz="3200" b="1" u="sng" dirty="0" smtClean="0">
                <a:solidFill>
                  <a:srgbClr val="163F9A"/>
                </a:solidFill>
              </a:rPr>
              <a:t>Argumentos No </a:t>
            </a:r>
            <a:r>
              <a:rPr lang="es-AR" sz="3200" b="1" u="sng" dirty="0" err="1" smtClean="0">
                <a:solidFill>
                  <a:srgbClr val="163F9A"/>
                </a:solidFill>
              </a:rPr>
              <a:t>Gravavilidad</a:t>
            </a:r>
            <a:r>
              <a:rPr lang="es-AR" sz="3200" b="1" u="sng" dirty="0" smtClean="0">
                <a:solidFill>
                  <a:srgbClr val="163F9A"/>
                </a:solidFill>
              </a:rPr>
              <a:t> Ingresos Brutos</a:t>
            </a:r>
            <a:endParaRPr lang="es-AR" sz="3600" b="1" u="sng" dirty="0" smtClean="0"/>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graphicFrame>
        <p:nvGraphicFramePr>
          <p:cNvPr id="9" name="8 Diagrama"/>
          <p:cNvGraphicFramePr/>
          <p:nvPr/>
        </p:nvGraphicFramePr>
        <p:xfrm>
          <a:off x="1968850" y="1285860"/>
          <a:ext cx="7389496" cy="488229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7 Rectángulo"/>
          <p:cNvSpPr/>
          <p:nvPr/>
        </p:nvSpPr>
        <p:spPr>
          <a:xfrm>
            <a:off x="428596" y="4214818"/>
            <a:ext cx="2285984"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smtClean="0">
                <a:solidFill>
                  <a:schemeClr val="bg1"/>
                </a:solidFill>
              </a:rPr>
              <a:t>CÓDIGOS FISCALES</a:t>
            </a:r>
          </a:p>
          <a:p>
            <a:pPr algn="ctr"/>
            <a:r>
              <a:rPr lang="es-ES" b="1" dirty="0" smtClean="0">
                <a:solidFill>
                  <a:schemeClr val="bg1"/>
                </a:solidFill>
              </a:rPr>
              <a:t>(Hechos Imponibles)</a:t>
            </a:r>
            <a:endParaRPr lang="es-ES" b="1" dirty="0">
              <a:solidFill>
                <a:schemeClr val="bg1"/>
              </a:solidFill>
            </a:endParaRPr>
          </a:p>
        </p:txBody>
      </p:sp>
      <p:sp>
        <p:nvSpPr>
          <p:cNvPr id="16" name="15 Flecha a la derecha con bandas"/>
          <p:cNvSpPr/>
          <p:nvPr/>
        </p:nvSpPr>
        <p:spPr>
          <a:xfrm>
            <a:off x="2714612" y="3500438"/>
            <a:ext cx="2000264" cy="428628"/>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9 Rectángulo"/>
          <p:cNvSpPr/>
          <p:nvPr/>
        </p:nvSpPr>
        <p:spPr>
          <a:xfrm>
            <a:off x="428628" y="2000240"/>
            <a:ext cx="2285984" cy="107157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b="1" dirty="0" smtClean="0">
                <a:solidFill>
                  <a:schemeClr val="bg1"/>
                </a:solidFill>
              </a:rPr>
              <a:t>LEY 23.548 COPARTICIPACIÓN</a:t>
            </a:r>
          </a:p>
          <a:p>
            <a:pPr algn="ctr"/>
            <a:r>
              <a:rPr lang="es-ES" b="1" dirty="0" smtClean="0">
                <a:solidFill>
                  <a:schemeClr val="bg1"/>
                </a:solidFill>
              </a:rPr>
              <a:t>Art. 9, inc. b) </a:t>
            </a:r>
            <a:r>
              <a:rPr lang="es-ES" b="1" dirty="0" err="1" smtClean="0">
                <a:solidFill>
                  <a:schemeClr val="bg1"/>
                </a:solidFill>
              </a:rPr>
              <a:t>pto</a:t>
            </a:r>
            <a:r>
              <a:rPr lang="es-ES" b="1" dirty="0" smtClean="0">
                <a:solidFill>
                  <a:schemeClr val="bg1"/>
                </a:solidFill>
              </a:rPr>
              <a:t>. 1)</a:t>
            </a:r>
            <a:endParaRPr lang="es-ES" b="1" dirty="0">
              <a:solidFill>
                <a:schemeClr val="bg1"/>
              </a:solidFill>
            </a:endParaRPr>
          </a:p>
        </p:txBody>
      </p:sp>
      <p:sp>
        <p:nvSpPr>
          <p:cNvPr id="11" name="10 Distinto de"/>
          <p:cNvSpPr/>
          <p:nvPr/>
        </p:nvSpPr>
        <p:spPr>
          <a:xfrm>
            <a:off x="1071538" y="3500438"/>
            <a:ext cx="928694" cy="428628"/>
          </a:xfrm>
          <a:prstGeom prst="mathNotEqual">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AR">
              <a:solidFill>
                <a:schemeClr val="tx1"/>
              </a:solidFil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428596" y="-357214"/>
            <a:ext cx="8501122" cy="6500858"/>
          </a:xfrm>
        </p:spPr>
        <p:txBody>
          <a:bodyPr>
            <a:noAutofit/>
          </a:bodyPr>
          <a:lstStyle/>
          <a:p>
            <a:pPr algn="ctr">
              <a:lnSpc>
                <a:spcPct val="170000"/>
              </a:lnSpc>
              <a:buNone/>
            </a:pPr>
            <a:endParaRPr lang="es-ES" sz="1300" b="1" dirty="0" smtClean="0"/>
          </a:p>
          <a:p>
            <a:pPr algn="ctr">
              <a:lnSpc>
                <a:spcPct val="170000"/>
              </a:lnSpc>
              <a:buNone/>
            </a:pPr>
            <a:endParaRPr lang="es-ES" sz="2000" b="1" dirty="0" smtClean="0"/>
          </a:p>
          <a:p>
            <a:pPr algn="ctr">
              <a:lnSpc>
                <a:spcPct val="170000"/>
              </a:lnSpc>
              <a:buNone/>
            </a:pPr>
            <a:r>
              <a:rPr lang="es-ES" sz="2000" b="1" dirty="0" smtClean="0">
                <a:solidFill>
                  <a:srgbClr val="163F9A"/>
                </a:solidFill>
              </a:rPr>
              <a:t>Ley 23.548 . Coparticipación Federal de Impuestos</a:t>
            </a:r>
          </a:p>
          <a:p>
            <a:pPr algn="just">
              <a:lnSpc>
                <a:spcPct val="150000"/>
              </a:lnSpc>
              <a:buNone/>
            </a:pPr>
            <a:r>
              <a:rPr lang="es-AR" sz="1500" b="1" dirty="0" smtClean="0"/>
              <a:t>Artículo 9º</a:t>
            </a:r>
            <a:r>
              <a:rPr lang="es-AR" sz="1500" dirty="0" smtClean="0"/>
              <a:t> — La adhesión de cada provincia se efectuará mediante una ley que disponga:</a:t>
            </a:r>
          </a:p>
          <a:p>
            <a:pPr algn="just">
              <a:lnSpc>
                <a:spcPct val="150000"/>
              </a:lnSpc>
              <a:buAutoNum type="alphaLcParenR"/>
            </a:pPr>
            <a:r>
              <a:rPr lang="es-AR" sz="1500" dirty="0" smtClean="0"/>
              <a:t>Que </a:t>
            </a:r>
            <a:r>
              <a:rPr lang="es-AR" sz="1500" b="1" u="sng" dirty="0" smtClean="0"/>
              <a:t>acepta el régimen de esta Ley sin limitaciones ni reservas</a:t>
            </a:r>
            <a:r>
              <a:rPr lang="es-AR" sz="1500" dirty="0" smtClean="0"/>
              <a:t>.</a:t>
            </a:r>
          </a:p>
          <a:p>
            <a:pPr algn="just">
              <a:lnSpc>
                <a:spcPct val="150000"/>
              </a:lnSpc>
              <a:buAutoNum type="alphaLcParenR"/>
            </a:pPr>
            <a:r>
              <a:rPr lang="es-AR" sz="1500" b="1" dirty="0" smtClean="0"/>
              <a:t>b)</a:t>
            </a:r>
            <a:r>
              <a:rPr lang="es-AR" sz="1500" dirty="0" smtClean="0"/>
              <a:t> Que se obliga a no aplicar por sí y a que los organismos administrativos y municipales de su jurisdicción, sean o no autárquicos, no apliquen gravámenes locales análogos a los nacionales distribuidos por esta Ley…</a:t>
            </a:r>
          </a:p>
          <a:p>
            <a:pPr algn="just">
              <a:lnSpc>
                <a:spcPct val="150000"/>
              </a:lnSpc>
              <a:buNone/>
            </a:pPr>
            <a:r>
              <a:rPr lang="es-AR" sz="1500" b="1" dirty="0" smtClean="0"/>
              <a:t>1.</a:t>
            </a:r>
            <a:r>
              <a:rPr lang="es-AR" sz="1500" dirty="0" smtClean="0"/>
              <a:t> En lo que respecta a los impuestos sobre los ingresos brutos, los mismos deberán ajustarse a las siguientes características básicas:</a:t>
            </a:r>
          </a:p>
          <a:p>
            <a:pPr algn="just">
              <a:lnSpc>
                <a:spcPct val="150000"/>
              </a:lnSpc>
              <a:buNone/>
            </a:pPr>
            <a:r>
              <a:rPr lang="es-AR" sz="1500" dirty="0" smtClean="0"/>
              <a:t>	Recaerán sobre los ingresos provenientes del </a:t>
            </a:r>
            <a:r>
              <a:rPr lang="es-AR" sz="1500" b="1" u="sng" dirty="0" smtClean="0"/>
              <a:t>ejercicio de actividades </a:t>
            </a:r>
            <a:r>
              <a:rPr lang="es-AR" sz="1500" dirty="0" smtClean="0"/>
              <a:t>empresarias (incluso unipersonales) civiles o comerciales </a:t>
            </a:r>
            <a:r>
              <a:rPr lang="es-AR" sz="1500" b="1" u="sng" dirty="0" smtClean="0">
                <a:solidFill>
                  <a:srgbClr val="FF0000"/>
                </a:solidFill>
              </a:rPr>
              <a:t>con fines de lucro</a:t>
            </a:r>
            <a:r>
              <a:rPr lang="es-AR" sz="1500" dirty="0" smtClean="0"/>
              <a:t>, de profesiones, oficios, intermediaciones y de toda otra actividad habitual excluidas las actividades realizadas en relación de dependencia y el desempeño de cargos públicos;…</a:t>
            </a:r>
          </a:p>
          <a:p>
            <a:pPr algn="ctr">
              <a:lnSpc>
                <a:spcPct val="150000"/>
              </a:lnSpc>
              <a:buNone/>
            </a:pPr>
            <a:r>
              <a:rPr lang="es-AR" sz="1800" b="1" dirty="0" smtClean="0">
                <a:solidFill>
                  <a:srgbClr val="002060"/>
                </a:solidFill>
              </a:rPr>
              <a:t>CONSTITUCIÓN NACIONAL. Art. 75, inc. 2)</a:t>
            </a:r>
          </a:p>
          <a:p>
            <a:pPr algn="ctr">
              <a:lnSpc>
                <a:spcPct val="150000"/>
              </a:lnSpc>
              <a:buNone/>
            </a:pPr>
            <a:r>
              <a:rPr lang="es-ES" sz="1500" b="1" i="1" dirty="0" smtClean="0"/>
              <a:t>“ La ley convenio … no podrá ser modificada unilateralmente ni reglamentada y será aprobada por las provincias..”.</a:t>
            </a:r>
            <a:endParaRPr lang="es-AR" sz="1500" b="1"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14</a:t>
            </a:fld>
            <a:endParaRPr lang="es-ES" dirty="0"/>
          </a:p>
        </p:txBody>
      </p:sp>
      <p:sp>
        <p:nvSpPr>
          <p:cNvPr id="8" name="7 CuadroTexto"/>
          <p:cNvSpPr txBox="1"/>
          <p:nvPr/>
        </p:nvSpPr>
        <p:spPr>
          <a:xfrm>
            <a:off x="535374" y="214290"/>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(XII)</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51520" y="142852"/>
            <a:ext cx="8496944" cy="5616624"/>
          </a:xfrm>
        </p:spPr>
        <p:txBody>
          <a:bodyPr>
            <a:noAutofit/>
          </a:bodyPr>
          <a:lstStyle/>
          <a:p>
            <a:pPr>
              <a:lnSpc>
                <a:spcPct val="170000"/>
              </a:lnSpc>
              <a:buNone/>
            </a:pPr>
            <a:endParaRPr lang="es-ES" sz="1300" dirty="0" smtClean="0"/>
          </a:p>
          <a:p>
            <a:pPr algn="just">
              <a:lnSpc>
                <a:spcPct val="170000"/>
              </a:lnSpc>
              <a:buNone/>
            </a:pPr>
            <a:r>
              <a:rPr lang="es-ES" sz="1600" b="1" dirty="0" smtClean="0"/>
              <a:t>Resolución 477/2020 (INAES). 7/08/2020. </a:t>
            </a:r>
          </a:p>
          <a:p>
            <a:pPr algn="just">
              <a:lnSpc>
                <a:spcPct val="170000"/>
              </a:lnSpc>
            </a:pPr>
            <a:r>
              <a:rPr lang="es-ES" sz="1400" dirty="0" smtClean="0"/>
              <a:t>Art. 1) “Reafírmese que las cooperativas y mutuales son entidades sin fines de lucro y, por lo tanto, el tributo de ingresos brutos no les es aplicable por encontrarse excluidas en los términos del artículo 9 inciso b) punto 1 de la Ley de Coparticipación….”.</a:t>
            </a:r>
          </a:p>
          <a:p>
            <a:pPr algn="just">
              <a:lnSpc>
                <a:spcPct val="170000"/>
              </a:lnSpc>
              <a:buNone/>
            </a:pPr>
            <a:r>
              <a:rPr lang="es-ES" sz="1600" b="1" dirty="0" smtClean="0"/>
              <a:t>Resolución 911/2020. Comisión Federal de Impuestos. 27/08/2020.</a:t>
            </a:r>
          </a:p>
          <a:p>
            <a:pPr algn="just">
              <a:lnSpc>
                <a:spcPct val="170000"/>
              </a:lnSpc>
            </a:pPr>
            <a:r>
              <a:rPr lang="es-ES" sz="1400" dirty="0" smtClean="0"/>
              <a:t>Art. 1) “La competencia para interpretar las leyes convenio que regulan los regímenes general y especiales de coparticipación federal, así como todo pacto o acuerdo </a:t>
            </a:r>
            <a:r>
              <a:rPr lang="es-ES" sz="1400" dirty="0" err="1" smtClean="0"/>
              <a:t>interjurisdiccional</a:t>
            </a:r>
            <a:r>
              <a:rPr lang="es-ES" sz="1400" dirty="0" smtClean="0"/>
              <a:t> fiscal federal, corresponde en forma exclusiva y excluyente a la Comisión Federal de impuestos conforme –y en el ámbito- a lo establecido por la ley convenio 23.548, sus complementarias y normas concordantes…”.</a:t>
            </a:r>
          </a:p>
          <a:p>
            <a:pPr algn="just">
              <a:lnSpc>
                <a:spcPct val="170000"/>
              </a:lnSpc>
              <a:buNone/>
            </a:pPr>
            <a:r>
              <a:rPr lang="es-ES" sz="1600" b="1" dirty="0" smtClean="0"/>
              <a:t>Resolución 5460/2023 (INAES). 30/11/2023. </a:t>
            </a:r>
          </a:p>
          <a:p>
            <a:pPr algn="just">
              <a:lnSpc>
                <a:spcPct val="170000"/>
              </a:lnSpc>
            </a:pPr>
            <a:r>
              <a:rPr lang="es-ES" sz="1400" dirty="0" smtClean="0"/>
              <a:t>Art. 1) “Reafírmese que las entidades cooperativas y mutuales son personas jurídicas privadas sin fines de lucro constituidas como empresas”.</a:t>
            </a:r>
          </a:p>
          <a:p>
            <a:pPr marL="109728" indent="0" algn="ctr">
              <a:lnSpc>
                <a:spcPct val="170000"/>
              </a:lnSpc>
              <a:buNone/>
            </a:pPr>
            <a:r>
              <a:rPr lang="es-ES" sz="1400" b="1" u="sng" dirty="0" smtClean="0"/>
              <a:t>DOCTRINA</a:t>
            </a:r>
          </a:p>
          <a:p>
            <a:pPr algn="just">
              <a:lnSpc>
                <a:spcPct val="170000"/>
              </a:lnSpc>
            </a:pPr>
            <a:r>
              <a:rPr lang="es-ES" sz="1400" b="1" dirty="0" smtClean="0"/>
              <a:t>FOLCO, CARLOS. </a:t>
            </a:r>
            <a:r>
              <a:rPr lang="es-ES" sz="1400" b="1" dirty="0" err="1" smtClean="0"/>
              <a:t>Errepar</a:t>
            </a:r>
            <a:r>
              <a:rPr lang="es-ES" sz="1400" b="1" dirty="0" smtClean="0"/>
              <a:t> (DTE). Diciembre 2020. </a:t>
            </a:r>
            <a:r>
              <a:rPr lang="es-ES" sz="1200" b="1" dirty="0" smtClean="0"/>
              <a:t>“INGRESOS </a:t>
            </a:r>
            <a:r>
              <a:rPr lang="es-ES" sz="1200" b="1" dirty="0"/>
              <a:t>BRUTOS. LAS COOPERATIVAS Y MUTUALES FRENTE AL IMPUESTO DESDE EL PRISMA </a:t>
            </a:r>
            <a:r>
              <a:rPr lang="es-ES" sz="1200" b="1" dirty="0" smtClean="0"/>
              <a:t>CONSTITUCIONAL”</a:t>
            </a:r>
            <a:endParaRPr lang="es-ES" sz="1200" b="1" dirty="0"/>
          </a:p>
          <a:p>
            <a:pPr algn="just">
              <a:lnSpc>
                <a:spcPct val="170000"/>
              </a:lnSpc>
            </a:pPr>
            <a:endParaRPr lang="es-AR" sz="14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15</a:t>
            </a:fld>
            <a:endParaRPr lang="es-ES" dirty="0"/>
          </a:p>
        </p:txBody>
      </p:sp>
      <p:sp>
        <p:nvSpPr>
          <p:cNvPr id="8" name="7 CuadroTexto"/>
          <p:cNvSpPr txBox="1"/>
          <p:nvPr/>
        </p:nvSpPr>
        <p:spPr>
          <a:xfrm>
            <a:off x="285720" y="-24"/>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(XIII)</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Marcador de número de diapositiva"/>
          <p:cNvSpPr>
            <a:spLocks noGrp="1"/>
          </p:cNvSpPr>
          <p:nvPr>
            <p:ph type="sldNum" sz="quarter" idx="12"/>
          </p:nvPr>
        </p:nvSpPr>
        <p:spPr/>
        <p:txBody>
          <a:bodyPr/>
          <a:lstStyle/>
          <a:p>
            <a:fld id="{47905A6E-3428-42CC-8A3B-D0D77FE4EB92}" type="slidenum">
              <a:rPr lang="es-ES" smtClean="0"/>
              <a:pPr/>
              <a:t>16</a:t>
            </a:fld>
            <a:endParaRPr lang="es-ES" dirty="0"/>
          </a:p>
        </p:txBody>
      </p:sp>
      <p:sp>
        <p:nvSpPr>
          <p:cNvPr id="8" name="7 CuadroTexto"/>
          <p:cNvSpPr txBox="1"/>
          <p:nvPr/>
        </p:nvSpPr>
        <p:spPr>
          <a:xfrm>
            <a:off x="357158" y="71414"/>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(XIV)</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pic>
        <p:nvPicPr>
          <p:cNvPr id="2050" name="Picture 2" descr="verde pulgares arriba ilustración, señal de pulgar verde, pulgares arriba abajo, mano, logo png thumbnail"/>
          <p:cNvPicPr>
            <a:picLocks noChangeAspect="1" noChangeArrowheads="1"/>
          </p:cNvPicPr>
          <p:nvPr/>
        </p:nvPicPr>
        <p:blipFill>
          <a:blip r:embed="rId4" cstate="print"/>
          <a:srcRect/>
          <a:stretch>
            <a:fillRect/>
          </a:stretch>
        </p:blipFill>
        <p:spPr bwMode="auto">
          <a:xfrm>
            <a:off x="1115616" y="714356"/>
            <a:ext cx="1296144" cy="1296144"/>
          </a:xfrm>
          <a:prstGeom prst="rect">
            <a:avLst/>
          </a:prstGeom>
          <a:noFill/>
        </p:spPr>
      </p:pic>
      <p:pic>
        <p:nvPicPr>
          <p:cNvPr id="2052" name="Picture 4" descr="señal de pulgar roja, pulgar hacia abajo, mano, presentación png thumbnail"/>
          <p:cNvPicPr>
            <a:picLocks noChangeAspect="1" noChangeArrowheads="1"/>
          </p:cNvPicPr>
          <p:nvPr/>
        </p:nvPicPr>
        <p:blipFill>
          <a:blip r:embed="rId5" cstate="print"/>
          <a:srcRect/>
          <a:stretch>
            <a:fillRect/>
          </a:stretch>
        </p:blipFill>
        <p:spPr bwMode="auto">
          <a:xfrm>
            <a:off x="7236296" y="836712"/>
            <a:ext cx="1371425" cy="1296144"/>
          </a:xfrm>
          <a:prstGeom prst="rect">
            <a:avLst/>
          </a:prstGeom>
          <a:noFill/>
        </p:spPr>
      </p:pic>
      <p:graphicFrame>
        <p:nvGraphicFramePr>
          <p:cNvPr id="10" name="9 Diagrama"/>
          <p:cNvGraphicFramePr/>
          <p:nvPr/>
        </p:nvGraphicFramePr>
        <p:xfrm>
          <a:off x="683568" y="2000240"/>
          <a:ext cx="2520280" cy="4237072"/>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graphicFrame>
        <p:nvGraphicFramePr>
          <p:cNvPr id="13" name="12 Diagrama"/>
          <p:cNvGraphicFramePr/>
          <p:nvPr/>
        </p:nvGraphicFramePr>
        <p:xfrm>
          <a:off x="3419872" y="1973064"/>
          <a:ext cx="3024336" cy="289609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graphicFrame>
        <p:nvGraphicFramePr>
          <p:cNvPr id="15" name="14 Diagrama"/>
          <p:cNvGraphicFramePr/>
          <p:nvPr/>
        </p:nvGraphicFramePr>
        <p:xfrm>
          <a:off x="6660232" y="2276872"/>
          <a:ext cx="2304256" cy="3652458"/>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sp>
        <p:nvSpPr>
          <p:cNvPr id="20" name="19 CuadroTexto"/>
          <p:cNvSpPr txBox="1"/>
          <p:nvPr/>
        </p:nvSpPr>
        <p:spPr>
          <a:xfrm>
            <a:off x="1964143" y="2500306"/>
            <a:ext cx="1250535" cy="353943"/>
          </a:xfrm>
          <a:prstGeom prst="rect">
            <a:avLst/>
          </a:prstGeom>
          <a:noFill/>
        </p:spPr>
        <p:txBody>
          <a:bodyPr wrap="none" rtlCol="0">
            <a:spAutoFit/>
          </a:bodyPr>
          <a:lstStyle/>
          <a:p>
            <a:r>
              <a:rPr lang="es-AR" sz="1700" dirty="0" smtClean="0"/>
              <a:t>Cooperativa</a:t>
            </a:r>
            <a:endParaRPr lang="es-ES" sz="1700" dirty="0"/>
          </a:p>
        </p:txBody>
      </p:sp>
      <p:sp>
        <p:nvSpPr>
          <p:cNvPr id="21" name="20 CuadroTexto"/>
          <p:cNvSpPr txBox="1"/>
          <p:nvPr/>
        </p:nvSpPr>
        <p:spPr>
          <a:xfrm>
            <a:off x="2000232" y="3214686"/>
            <a:ext cx="1250535" cy="353943"/>
          </a:xfrm>
          <a:prstGeom prst="rect">
            <a:avLst/>
          </a:prstGeom>
          <a:noFill/>
        </p:spPr>
        <p:txBody>
          <a:bodyPr wrap="none" rtlCol="0">
            <a:spAutoFit/>
          </a:bodyPr>
          <a:lstStyle/>
          <a:p>
            <a:r>
              <a:rPr lang="es-AR" sz="1700" dirty="0" smtClean="0"/>
              <a:t>Cooperativa</a:t>
            </a:r>
            <a:endParaRPr lang="es-ES" sz="1700" dirty="0"/>
          </a:p>
        </p:txBody>
      </p:sp>
      <p:sp>
        <p:nvSpPr>
          <p:cNvPr id="22" name="21 CuadroTexto"/>
          <p:cNvSpPr txBox="1"/>
          <p:nvPr/>
        </p:nvSpPr>
        <p:spPr>
          <a:xfrm>
            <a:off x="2143108" y="3857628"/>
            <a:ext cx="1072730" cy="353943"/>
          </a:xfrm>
          <a:prstGeom prst="rect">
            <a:avLst/>
          </a:prstGeom>
          <a:noFill/>
        </p:spPr>
        <p:txBody>
          <a:bodyPr wrap="none" rtlCol="0">
            <a:spAutoFit/>
          </a:bodyPr>
          <a:lstStyle/>
          <a:p>
            <a:r>
              <a:rPr lang="es-AR" sz="1700" dirty="0" smtClean="0"/>
              <a:t>Asoc. Civil</a:t>
            </a:r>
            <a:endParaRPr lang="es-ES" sz="1700" dirty="0"/>
          </a:p>
        </p:txBody>
      </p:sp>
      <p:sp>
        <p:nvSpPr>
          <p:cNvPr id="23" name="22 CuadroTexto"/>
          <p:cNvSpPr txBox="1"/>
          <p:nvPr/>
        </p:nvSpPr>
        <p:spPr>
          <a:xfrm>
            <a:off x="2143108" y="4500570"/>
            <a:ext cx="1072730" cy="353943"/>
          </a:xfrm>
          <a:prstGeom prst="rect">
            <a:avLst/>
          </a:prstGeom>
          <a:noFill/>
        </p:spPr>
        <p:txBody>
          <a:bodyPr wrap="none" rtlCol="0">
            <a:spAutoFit/>
          </a:bodyPr>
          <a:lstStyle/>
          <a:p>
            <a:r>
              <a:rPr lang="es-AR" sz="1700" dirty="0" smtClean="0"/>
              <a:t>Asoc. Civil</a:t>
            </a:r>
            <a:endParaRPr lang="es-ES" sz="1700" dirty="0"/>
          </a:p>
        </p:txBody>
      </p:sp>
      <p:sp>
        <p:nvSpPr>
          <p:cNvPr id="28" name="27 CuadroTexto"/>
          <p:cNvSpPr txBox="1"/>
          <p:nvPr/>
        </p:nvSpPr>
        <p:spPr>
          <a:xfrm>
            <a:off x="7106082" y="2786058"/>
            <a:ext cx="1066318" cy="369332"/>
          </a:xfrm>
          <a:prstGeom prst="rect">
            <a:avLst/>
          </a:prstGeom>
          <a:noFill/>
        </p:spPr>
        <p:txBody>
          <a:bodyPr wrap="none" rtlCol="0">
            <a:spAutoFit/>
          </a:bodyPr>
          <a:lstStyle/>
          <a:p>
            <a:r>
              <a:rPr lang="es-AR" dirty="0" smtClean="0"/>
              <a:t>Asoc Civil</a:t>
            </a:r>
            <a:endParaRPr lang="es-ES" dirty="0"/>
          </a:p>
        </p:txBody>
      </p:sp>
      <p:sp>
        <p:nvSpPr>
          <p:cNvPr id="18" name="17 CuadroTexto"/>
          <p:cNvSpPr txBox="1"/>
          <p:nvPr/>
        </p:nvSpPr>
        <p:spPr>
          <a:xfrm>
            <a:off x="2460249" y="5786454"/>
            <a:ext cx="825867" cy="353943"/>
          </a:xfrm>
          <a:prstGeom prst="rect">
            <a:avLst/>
          </a:prstGeom>
          <a:noFill/>
        </p:spPr>
        <p:txBody>
          <a:bodyPr wrap="none" rtlCol="0">
            <a:spAutoFit/>
          </a:bodyPr>
          <a:lstStyle/>
          <a:p>
            <a:r>
              <a:rPr lang="es-AR" sz="1700" dirty="0" smtClean="0"/>
              <a:t>Mutual</a:t>
            </a:r>
            <a:endParaRPr lang="es-ES" sz="1700" dirty="0"/>
          </a:p>
        </p:txBody>
      </p:sp>
      <p:sp>
        <p:nvSpPr>
          <p:cNvPr id="19" name="18 CuadroTexto"/>
          <p:cNvSpPr txBox="1"/>
          <p:nvPr/>
        </p:nvSpPr>
        <p:spPr>
          <a:xfrm>
            <a:off x="6824413" y="4643446"/>
            <a:ext cx="1808508" cy="369332"/>
          </a:xfrm>
          <a:prstGeom prst="rect">
            <a:avLst/>
          </a:prstGeom>
          <a:noFill/>
        </p:spPr>
        <p:txBody>
          <a:bodyPr wrap="none" rtlCol="0">
            <a:spAutoFit/>
          </a:bodyPr>
          <a:lstStyle/>
          <a:p>
            <a:r>
              <a:rPr lang="es-AR" dirty="0" smtClean="0"/>
              <a:t>Asoc Civil / </a:t>
            </a:r>
            <a:r>
              <a:rPr lang="es-AR" dirty="0" err="1" smtClean="0"/>
              <a:t>Coop</a:t>
            </a:r>
            <a:r>
              <a:rPr lang="es-AR" dirty="0" smtClean="0"/>
              <a:t>.</a:t>
            </a:r>
            <a:endParaRPr lang="es-ES" dirty="0"/>
          </a:p>
        </p:txBody>
      </p:sp>
      <p:sp>
        <p:nvSpPr>
          <p:cNvPr id="25" name="24 CuadroTexto"/>
          <p:cNvSpPr txBox="1"/>
          <p:nvPr/>
        </p:nvSpPr>
        <p:spPr>
          <a:xfrm>
            <a:off x="2555776" y="620688"/>
            <a:ext cx="4392488" cy="769441"/>
          </a:xfrm>
          <a:prstGeom prst="rect">
            <a:avLst/>
          </a:prstGeom>
          <a:noFill/>
        </p:spPr>
        <p:txBody>
          <a:bodyPr wrap="square" rtlCol="0">
            <a:spAutoFit/>
          </a:bodyPr>
          <a:lstStyle/>
          <a:p>
            <a:pPr algn="ctr"/>
            <a:r>
              <a:rPr lang="es-AR" sz="2200" b="1" dirty="0" smtClean="0">
                <a:solidFill>
                  <a:srgbClr val="FF0000"/>
                </a:solidFill>
              </a:rPr>
              <a:t>JURISPRUDENCIA NACIONAL</a:t>
            </a:r>
          </a:p>
          <a:p>
            <a:pPr algn="ctr"/>
            <a:r>
              <a:rPr lang="es-AR" sz="2200" b="1" dirty="0" smtClean="0">
                <a:solidFill>
                  <a:srgbClr val="FF0000"/>
                </a:solidFill>
              </a:rPr>
              <a:t>ESTADO DE SITUACIÓN</a:t>
            </a:r>
            <a:endParaRPr lang="es-ES" sz="2200" b="1" dirty="0">
              <a:solidFill>
                <a:srgbClr val="FF0000"/>
              </a:solidFill>
            </a:endParaRPr>
          </a:p>
        </p:txBody>
      </p:sp>
      <p:sp>
        <p:nvSpPr>
          <p:cNvPr id="27" name="26 CuadroTexto"/>
          <p:cNvSpPr txBox="1"/>
          <p:nvPr/>
        </p:nvSpPr>
        <p:spPr>
          <a:xfrm>
            <a:off x="7090433" y="3714752"/>
            <a:ext cx="865943" cy="369332"/>
          </a:xfrm>
          <a:prstGeom prst="rect">
            <a:avLst/>
          </a:prstGeom>
          <a:noFill/>
        </p:spPr>
        <p:txBody>
          <a:bodyPr wrap="none" rtlCol="0">
            <a:spAutoFit/>
          </a:bodyPr>
          <a:lstStyle/>
          <a:p>
            <a:r>
              <a:rPr lang="es-AR" dirty="0" smtClean="0"/>
              <a:t>Mutual</a:t>
            </a:r>
            <a:endParaRPr lang="es-ES" dirty="0"/>
          </a:p>
        </p:txBody>
      </p:sp>
      <p:sp>
        <p:nvSpPr>
          <p:cNvPr id="24" name="23 CuadroTexto"/>
          <p:cNvSpPr txBox="1"/>
          <p:nvPr/>
        </p:nvSpPr>
        <p:spPr>
          <a:xfrm>
            <a:off x="1979712" y="5143512"/>
            <a:ext cx="1250535" cy="353943"/>
          </a:xfrm>
          <a:prstGeom prst="rect">
            <a:avLst/>
          </a:prstGeom>
          <a:noFill/>
        </p:spPr>
        <p:txBody>
          <a:bodyPr wrap="none" rtlCol="0">
            <a:spAutoFit/>
          </a:bodyPr>
          <a:lstStyle/>
          <a:p>
            <a:r>
              <a:rPr lang="es-AR" sz="1700" dirty="0" smtClean="0"/>
              <a:t>Cooperativa</a:t>
            </a:r>
            <a:endParaRPr lang="es-ES" sz="1700" dirty="0"/>
          </a:p>
        </p:txBody>
      </p:sp>
      <p:sp>
        <p:nvSpPr>
          <p:cNvPr id="26" name="25 CuadroTexto"/>
          <p:cNvSpPr txBox="1"/>
          <p:nvPr/>
        </p:nvSpPr>
        <p:spPr>
          <a:xfrm>
            <a:off x="7242833" y="5631436"/>
            <a:ext cx="1314142" cy="369332"/>
          </a:xfrm>
          <a:prstGeom prst="rect">
            <a:avLst/>
          </a:prstGeom>
          <a:noFill/>
        </p:spPr>
        <p:txBody>
          <a:bodyPr wrap="none" rtlCol="0">
            <a:spAutoFit/>
          </a:bodyPr>
          <a:lstStyle/>
          <a:p>
            <a:r>
              <a:rPr lang="es-AR" dirty="0" smtClean="0"/>
              <a:t>Cooperativa</a:t>
            </a:r>
            <a:endParaRPr lang="es-ES" dirty="0"/>
          </a:p>
        </p:txBody>
      </p:sp>
    </p:spTree>
    <p:extLst>
      <p:ext uri="{BB962C8B-B14F-4D97-AF65-F5344CB8AC3E}">
        <p14:creationId xmlns:p14="http://schemas.microsoft.com/office/powerpoint/2010/main" xmlns="" val="40658153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312706"/>
            <a:ext cx="9072594" cy="5759500"/>
          </a:xfrm>
        </p:spPr>
        <p:txBody>
          <a:bodyPr>
            <a:noAutofit/>
          </a:bodyPr>
          <a:lstStyle/>
          <a:p>
            <a:pPr>
              <a:lnSpc>
                <a:spcPct val="170000"/>
              </a:lnSpc>
              <a:buNone/>
            </a:pPr>
            <a:endParaRPr lang="es-ES" sz="1200" dirty="0" smtClean="0"/>
          </a:p>
          <a:p>
            <a:pPr algn="just">
              <a:lnSpc>
                <a:spcPct val="170000"/>
              </a:lnSpc>
              <a:buNone/>
            </a:pPr>
            <a:r>
              <a:rPr lang="es-ES" sz="1500" b="1" dirty="0" smtClean="0"/>
              <a:t>“Cooperativa Farmacéutica de Provisión y Consumo Alberdi Ltda. Vs. Provincia de Tucumán s/ Inconstitucionalidad”. CSJ Tucumán. 2/036/2017. </a:t>
            </a:r>
            <a:r>
              <a:rPr lang="es-ES" sz="1500" dirty="0"/>
              <a:t>P</a:t>
            </a:r>
            <a:r>
              <a:rPr lang="es-ES" sz="1500" dirty="0" smtClean="0"/>
              <a:t>lantea la contradicción entre la legislación nacional (que solo permite la aplicación del gravamen a actividades lucrativas -Ley 23.548, art. 9, inc. b), apartado 1)- y la provincial que extiende el tributo a aquellas no lucrativas – Ley Provincial 5121, art. 214 -.</a:t>
            </a:r>
          </a:p>
          <a:p>
            <a:pPr algn="just">
              <a:lnSpc>
                <a:spcPct val="170000"/>
              </a:lnSpc>
              <a:buNone/>
            </a:pPr>
            <a:r>
              <a:rPr lang="es-ES" sz="1500" b="1" dirty="0" smtClean="0"/>
              <a:t>“Cooperativa Farmacéutica de Provisión y Consumo Alberdi Ltda. c/ Provincia de Chaco s/ Amparo”. CSJN. 19/03/2024. </a:t>
            </a:r>
            <a:r>
              <a:rPr lang="es-ES" sz="1500" dirty="0" smtClean="0"/>
              <a:t>Plantea la inconstitucionalidad del art. 116 del CTP. (</a:t>
            </a:r>
            <a:r>
              <a:rPr lang="es-ES" sz="1500" dirty="0" err="1" smtClean="0"/>
              <a:t>Dec</a:t>
            </a:r>
            <a:r>
              <a:rPr lang="es-ES" sz="1500" dirty="0" smtClean="0"/>
              <a:t>. Ley 2444/62) por contradicción a  la Ley 23.548, art. 9, inc. b), apartado 1). La Corte revocó el fallo del Tribunal Supremo de Chaco y dio la razón a la Cooperativa.</a:t>
            </a:r>
          </a:p>
          <a:p>
            <a:pPr algn="just">
              <a:lnSpc>
                <a:spcPct val="170000"/>
              </a:lnSpc>
              <a:buNone/>
            </a:pPr>
            <a:r>
              <a:rPr lang="es-ES" sz="1500" b="1" dirty="0" smtClean="0"/>
              <a:t>“Asociación Bancaria c/ Tribunal Fiscal de Apelación de la provincia de Bs. As. y otros s/Impugnación de resolución”</a:t>
            </a:r>
            <a:r>
              <a:rPr lang="es-ES" sz="1500" dirty="0" smtClean="0"/>
              <a:t>. </a:t>
            </a:r>
            <a:r>
              <a:rPr lang="es-ES" sz="1500" b="1" dirty="0" err="1" smtClean="0"/>
              <a:t>Cám</a:t>
            </a:r>
            <a:r>
              <a:rPr lang="es-ES" sz="1500" b="1" dirty="0" smtClean="0"/>
              <a:t>. </a:t>
            </a:r>
            <a:r>
              <a:rPr lang="es-ES" sz="1500" b="1" dirty="0" err="1" smtClean="0"/>
              <a:t>Apel</a:t>
            </a:r>
            <a:r>
              <a:rPr lang="es-ES" sz="1500" b="1" dirty="0" smtClean="0"/>
              <a:t>. Contencioso Administrativo de La Plata. 11/10/2018</a:t>
            </a:r>
            <a:r>
              <a:rPr lang="es-ES" sz="1500" dirty="0" smtClean="0"/>
              <a:t>. Declaró la inconstitucionalidad cuando el impuesto sobre los ingresos brutos recae sobre entidades sin fines de lucro.</a:t>
            </a:r>
          </a:p>
          <a:p>
            <a:pPr algn="just">
              <a:lnSpc>
                <a:spcPct val="170000"/>
              </a:lnSpc>
              <a:buNone/>
            </a:pPr>
            <a:r>
              <a:rPr lang="es-ES" sz="1500" b="1" dirty="0" smtClean="0"/>
              <a:t>“Asociación Bancaria c/ Tribunal Fiscal de Apelación de la provincia de Bs. As. y otros s/Impugnación de resolución”</a:t>
            </a:r>
            <a:r>
              <a:rPr lang="es-ES" sz="1500" dirty="0" smtClean="0"/>
              <a:t>. </a:t>
            </a:r>
            <a:r>
              <a:rPr lang="es-ES" sz="1500" b="1" dirty="0" smtClean="0"/>
              <a:t>CSBA. 11/08/2022</a:t>
            </a:r>
            <a:r>
              <a:rPr lang="es-ES" sz="1500" dirty="0" smtClean="0"/>
              <a:t>. La Suprema Corte ratificó el fallo de Cámara dado la evidente contradicción entre la normativa local y la ley convenio.</a:t>
            </a:r>
          </a:p>
          <a:p>
            <a:pPr algn="just">
              <a:lnSpc>
                <a:spcPct val="170000"/>
              </a:lnSpc>
              <a:buNone/>
            </a:pPr>
            <a:endParaRPr lang="es-ES" sz="1300" dirty="0" smtClean="0"/>
          </a:p>
          <a:p>
            <a:pPr algn="just">
              <a:lnSpc>
                <a:spcPct val="170000"/>
              </a:lnSpc>
              <a:buNone/>
            </a:pPr>
            <a:endParaRPr lang="es-ES" sz="13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17</a:t>
            </a:fld>
            <a:endParaRPr lang="es-ES" dirty="0"/>
          </a:p>
        </p:txBody>
      </p:sp>
      <p:sp>
        <p:nvSpPr>
          <p:cNvPr id="8" name="7 CuadroTexto"/>
          <p:cNvSpPr txBox="1"/>
          <p:nvPr/>
        </p:nvSpPr>
        <p:spPr>
          <a:xfrm>
            <a:off x="357158" y="-24"/>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(XV)</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extLst>
      <p:ext uri="{BB962C8B-B14F-4D97-AF65-F5344CB8AC3E}">
        <p14:creationId xmlns:p14="http://schemas.microsoft.com/office/powerpoint/2010/main" xmlns="" val="406581539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1470" y="668186"/>
            <a:ext cx="9072594" cy="5975524"/>
          </a:xfrm>
        </p:spPr>
        <p:txBody>
          <a:bodyPr>
            <a:noAutofit/>
          </a:bodyPr>
          <a:lstStyle/>
          <a:p>
            <a:pPr algn="just">
              <a:lnSpc>
                <a:spcPct val="170000"/>
              </a:lnSpc>
              <a:buNone/>
            </a:pPr>
            <a:r>
              <a:rPr lang="es-ES" sz="1500" b="1" dirty="0" smtClean="0"/>
              <a:t> “</a:t>
            </a:r>
            <a:r>
              <a:rPr lang="es-ES" sz="1500" b="1" dirty="0" err="1" smtClean="0"/>
              <a:t>Yacht</a:t>
            </a:r>
            <a:r>
              <a:rPr lang="es-ES" sz="1500" b="1" dirty="0" smtClean="0"/>
              <a:t> Club Argentino c/ ARBA. Reconocimiento de derechos”. JCA N° 2 Mar del Plata. 10/10/23. </a:t>
            </a:r>
            <a:r>
              <a:rPr lang="es-ES" sz="1500" dirty="0" smtClean="0"/>
              <a:t> Presentó declarativa de certeza.  ARBA sostenía que la entidad prestaba servicios que generan beneficios que implican un aprovechamiento económico y ventaja patrimonial derivado del usufructo de las instalaciones. El Tribunal sostuvo que existe una clara contradicción, dónde el CF desborda la limitación que impone la Ley 23.548. Advierte un quebrantamiento por parte de la provincia. Declara la inconstitucionalidad.</a:t>
            </a:r>
          </a:p>
          <a:p>
            <a:pPr lvl="0" algn="just">
              <a:lnSpc>
                <a:spcPct val="170000"/>
              </a:lnSpc>
              <a:buNone/>
            </a:pPr>
            <a:r>
              <a:rPr lang="es-AR" sz="1500" b="1" dirty="0" smtClean="0"/>
              <a:t> “</a:t>
            </a:r>
            <a:r>
              <a:rPr lang="es-AR" sz="1500" b="1" dirty="0" err="1" smtClean="0"/>
              <a:t>Asoc</a:t>
            </a:r>
            <a:r>
              <a:rPr lang="es-AR" sz="1500" b="1" dirty="0" smtClean="0"/>
              <a:t>. </a:t>
            </a:r>
            <a:r>
              <a:rPr lang="es-AR" sz="1500" b="1" dirty="0" err="1" smtClean="0"/>
              <a:t>Mut</a:t>
            </a:r>
            <a:r>
              <a:rPr lang="es-AR" sz="1500" b="1" dirty="0" smtClean="0"/>
              <a:t>. </a:t>
            </a:r>
            <a:r>
              <a:rPr lang="es-AR" sz="1500" b="1" dirty="0" err="1" smtClean="0"/>
              <a:t>Ferrov</a:t>
            </a:r>
            <a:r>
              <a:rPr lang="es-AR" sz="1500" b="1" dirty="0" smtClean="0"/>
              <a:t>. Pergamino F.C. Mitre. </a:t>
            </a:r>
            <a:r>
              <a:rPr lang="es-AR" sz="1500" b="1" dirty="0" err="1" smtClean="0"/>
              <a:t>Decl</a:t>
            </a:r>
            <a:r>
              <a:rPr lang="es-AR" sz="1500" b="1" dirty="0" smtClean="0"/>
              <a:t>. Certeza”. CA San Nicolás.  25/08/20. </a:t>
            </a:r>
            <a:r>
              <a:rPr lang="es-AR" sz="1500" dirty="0" smtClean="0"/>
              <a:t>Planteó declarativa de certeza. Sostiene Exención; inconstitucionalidad del CF respecto art. 41 C. Prov. y la Ley 14.650;  en subsidio la imposibilidad de realizar </a:t>
            </a:r>
            <a:r>
              <a:rPr lang="es-AR" sz="1500" dirty="0" err="1" smtClean="0"/>
              <a:t>act</a:t>
            </a:r>
            <a:r>
              <a:rPr lang="es-AR" sz="1500" dirty="0" smtClean="0"/>
              <a:t>. financieras;  e </a:t>
            </a:r>
            <a:r>
              <a:rPr lang="es-AR" sz="1500" dirty="0" err="1" smtClean="0"/>
              <a:t>inconst</a:t>
            </a:r>
            <a:r>
              <a:rPr lang="es-AR" sz="1500" dirty="0" smtClean="0"/>
              <a:t>. Ley </a:t>
            </a:r>
            <a:r>
              <a:rPr lang="es-AR" sz="1500" dirty="0" err="1" smtClean="0"/>
              <a:t>Copart</a:t>
            </a:r>
            <a:r>
              <a:rPr lang="es-AR" sz="1500" dirty="0" smtClean="0"/>
              <a:t>. La primera instancia aceptó formalmente la acción declarativa pero luego del análisis rechazó la demanda de la Mutual. No aceptó la </a:t>
            </a:r>
            <a:r>
              <a:rPr lang="es-AR" sz="1500" dirty="0" err="1" smtClean="0"/>
              <a:t>inconst</a:t>
            </a:r>
            <a:r>
              <a:rPr lang="es-AR" sz="1500" dirty="0" smtClean="0"/>
              <a:t>. La Cámara por mayoría ratificó el fallo 1° </a:t>
            </a:r>
            <a:r>
              <a:rPr lang="es-AR" sz="1500" dirty="0" err="1" smtClean="0"/>
              <a:t>inst</a:t>
            </a:r>
            <a:r>
              <a:rPr lang="es-AR" sz="1500" dirty="0" smtClean="0"/>
              <a:t>. </a:t>
            </a:r>
          </a:p>
          <a:p>
            <a:pPr algn="just">
              <a:lnSpc>
                <a:spcPct val="170000"/>
              </a:lnSpc>
              <a:buNone/>
            </a:pPr>
            <a:r>
              <a:rPr lang="es-ES" sz="1500" dirty="0" smtClean="0"/>
              <a:t>“</a:t>
            </a:r>
            <a:r>
              <a:rPr lang="es-ES" sz="1500" b="1" dirty="0" smtClean="0"/>
              <a:t>Asociación Mutual Consejeros de los Arroyos </a:t>
            </a:r>
            <a:r>
              <a:rPr lang="es-ES" sz="1500" b="1" dirty="0" err="1" smtClean="0"/>
              <a:t>Coop</a:t>
            </a:r>
            <a:r>
              <a:rPr lang="es-ES" sz="1500" b="1" dirty="0" smtClean="0"/>
              <a:t>. </a:t>
            </a:r>
            <a:r>
              <a:rPr lang="es-ES" sz="1500" b="1" dirty="0" err="1" smtClean="0"/>
              <a:t>Emp</a:t>
            </a:r>
            <a:r>
              <a:rPr lang="es-ES" sz="1500" b="1" dirty="0" smtClean="0"/>
              <a:t>. </a:t>
            </a:r>
            <a:r>
              <a:rPr lang="es-ES" sz="1500" b="1" dirty="0" err="1" smtClean="0"/>
              <a:t>Mult</a:t>
            </a:r>
            <a:r>
              <a:rPr lang="es-ES" sz="1500" b="1" dirty="0" smtClean="0"/>
              <a:t>. c/PE s/ Declarativa de Certeza. Conf. de Competencia art. 7, inc. 1 Ley 12.008”</a:t>
            </a:r>
            <a:r>
              <a:rPr lang="es-AR" sz="1500" b="1" dirty="0" smtClean="0"/>
              <a:t>. SCPBA. 13/02/2019</a:t>
            </a:r>
            <a:r>
              <a:rPr lang="es-AR" sz="1500" dirty="0" smtClean="0"/>
              <a:t>. Rechazó el planteo de inconstitucionalidad  (Ley 23.548) por extemporáneo. </a:t>
            </a:r>
          </a:p>
          <a:p>
            <a:pPr algn="just">
              <a:lnSpc>
                <a:spcPct val="170000"/>
              </a:lnSpc>
              <a:buNone/>
            </a:pPr>
            <a:endParaRPr lang="es-ES" sz="1500" u="sng" dirty="0" smtClean="0"/>
          </a:p>
          <a:p>
            <a:pPr algn="just">
              <a:lnSpc>
                <a:spcPct val="170000"/>
              </a:lnSpc>
              <a:buNone/>
            </a:pPr>
            <a:endParaRPr lang="es-ES" sz="1400" u="sng" dirty="0" smtClean="0"/>
          </a:p>
          <a:p>
            <a:pPr algn="just">
              <a:lnSpc>
                <a:spcPct val="170000"/>
              </a:lnSpc>
              <a:buNone/>
            </a:pPr>
            <a:r>
              <a:rPr lang="es-ES" sz="1400" dirty="0" smtClean="0">
                <a:solidFill>
                  <a:srgbClr val="FF0000"/>
                </a:solidFill>
              </a:rPr>
              <a:t>  </a:t>
            </a:r>
            <a:endParaRPr lang="es-ES" sz="1700" b="1"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18</a:t>
            </a:fld>
            <a:endParaRPr lang="es-ES" dirty="0"/>
          </a:p>
        </p:txBody>
      </p:sp>
      <p:sp>
        <p:nvSpPr>
          <p:cNvPr id="8" name="7 CuadroTexto"/>
          <p:cNvSpPr txBox="1"/>
          <p:nvPr/>
        </p:nvSpPr>
        <p:spPr>
          <a:xfrm>
            <a:off x="357158" y="71414"/>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(XVI)</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extLst>
      <p:ext uri="{BB962C8B-B14F-4D97-AF65-F5344CB8AC3E}">
        <p14:creationId xmlns:p14="http://schemas.microsoft.com/office/powerpoint/2010/main" xmlns="" val="406581539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71414"/>
            <a:ext cx="9072594" cy="5759500"/>
          </a:xfrm>
        </p:spPr>
        <p:txBody>
          <a:bodyPr>
            <a:noAutofit/>
          </a:bodyPr>
          <a:lstStyle/>
          <a:p>
            <a:pPr>
              <a:lnSpc>
                <a:spcPct val="170000"/>
              </a:lnSpc>
              <a:buNone/>
            </a:pPr>
            <a:endParaRPr lang="es-ES" sz="1200" dirty="0" smtClean="0"/>
          </a:p>
          <a:p>
            <a:pPr algn="just">
              <a:lnSpc>
                <a:spcPct val="170000"/>
              </a:lnSpc>
              <a:buNone/>
            </a:pPr>
            <a:r>
              <a:rPr lang="es-ES" sz="1500" b="1" dirty="0" smtClean="0"/>
              <a:t>“Automóvil Club Argentino c/ GCBA s/repetición”. Juzgado 1ª instancia Contencioso Administrativo y Tributario Nª 10,. Junio 2018.</a:t>
            </a:r>
            <a:r>
              <a:rPr lang="es-ES" sz="1500" dirty="0" smtClean="0"/>
              <a:t>  Plantea la ilegitimidad de la pretensión fiscal por incompatibilidad con los lineamientos que acerca el ISIB prevé el régimen de coparticipación – es autosuficiente para determinar la pretensión instaurada, y por ello hace innecesarios otros argumentos”.</a:t>
            </a:r>
          </a:p>
          <a:p>
            <a:pPr algn="just">
              <a:lnSpc>
                <a:spcPct val="170000"/>
              </a:lnSpc>
              <a:buNone/>
            </a:pPr>
            <a:r>
              <a:rPr lang="es-ES" sz="1500" b="1" dirty="0" smtClean="0"/>
              <a:t> “Automóvil Club Argentino c/ GCBA s/repetición”. Cámara de Apelaciones CAT y RC.  30/10/2020</a:t>
            </a:r>
            <a:r>
              <a:rPr lang="es-ES" sz="1500" dirty="0" smtClean="0"/>
              <a:t>. “</a:t>
            </a:r>
            <a:r>
              <a:rPr lang="es-AR" sz="1500" dirty="0" smtClean="0"/>
              <a:t>Es decir, que el parámetro de ponderación valorado por la DGR para gravar las actividades que dieron origen a los pagos cuya reparación aquí se pretende (venta de combustibles y otros, estacionamiento, turismo e intermediación de seguros) fue el carácter lucrativo de aquellas. Ello, en tanto su desarrollo arrojaría la posibilidad de generar un beneficio económico para el ACA (independientemente de que ello se logre o no), sin perjuicio de que aquel sea luego utilizado para cumplir con una finalidad no lucrativa como las que se establecen en su estatuto. Frente a ello, lo cierto es que la parte actora no logró acreditar en autos que la valoración efectuada por el fisco local a ese respecto fuese errónea, o bien que los pagos cuya repetición pretende tuvieran como origen actividades de carácter no lucrativo, independientemente de que sean desarrolladas por una asociación civil”.</a:t>
            </a:r>
          </a:p>
          <a:p>
            <a:pPr algn="just">
              <a:lnSpc>
                <a:spcPct val="170000"/>
              </a:lnSpc>
              <a:buNone/>
            </a:pPr>
            <a:r>
              <a:rPr lang="es-ES" sz="1500" b="1" dirty="0" smtClean="0"/>
              <a:t> “Automóvil Club Argentino c/ GCBA s/repetición”. TSJ BA. 13/12/23. </a:t>
            </a:r>
            <a:r>
              <a:rPr lang="es-ES" sz="1500" dirty="0" smtClean="0"/>
              <a:t>Rechazó la Queja interpuesta por el ACA.</a:t>
            </a:r>
          </a:p>
          <a:p>
            <a:pPr algn="just">
              <a:lnSpc>
                <a:spcPct val="170000"/>
              </a:lnSpc>
              <a:buNone/>
            </a:pPr>
            <a:endParaRPr lang="es-ES" sz="1300" dirty="0" smtClean="0"/>
          </a:p>
          <a:p>
            <a:pPr algn="just">
              <a:lnSpc>
                <a:spcPct val="170000"/>
              </a:lnSpc>
              <a:buNone/>
            </a:pPr>
            <a:endParaRPr lang="es-ES" sz="13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19</a:t>
            </a:fld>
            <a:endParaRPr lang="es-ES" dirty="0"/>
          </a:p>
        </p:txBody>
      </p:sp>
      <p:sp>
        <p:nvSpPr>
          <p:cNvPr id="8" name="7 CuadroTexto"/>
          <p:cNvSpPr txBox="1"/>
          <p:nvPr/>
        </p:nvSpPr>
        <p:spPr>
          <a:xfrm>
            <a:off x="357158" y="-24"/>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(XVII)</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extLst>
      <p:ext uri="{BB962C8B-B14F-4D97-AF65-F5344CB8AC3E}">
        <p14:creationId xmlns:p14="http://schemas.microsoft.com/office/powerpoint/2010/main" xmlns="" val="406581539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1470" y="668186"/>
            <a:ext cx="9072594" cy="5975524"/>
          </a:xfrm>
        </p:spPr>
        <p:txBody>
          <a:bodyPr>
            <a:noAutofit/>
          </a:bodyPr>
          <a:lstStyle/>
          <a:p>
            <a:pPr lvl="0" algn="just">
              <a:lnSpc>
                <a:spcPct val="170000"/>
              </a:lnSpc>
              <a:buNone/>
            </a:pPr>
            <a:r>
              <a:rPr lang="es-ES" sz="1500" b="1" dirty="0" smtClean="0"/>
              <a:t>“Colegio de Farm. Prov. Corrientes s/Acción contenciosa administrativa” </a:t>
            </a:r>
            <a:r>
              <a:rPr lang="es-ES" sz="1500" dirty="0" smtClean="0"/>
              <a:t>- </a:t>
            </a:r>
            <a:r>
              <a:rPr lang="es-ES" sz="1500" b="1" dirty="0" smtClean="0"/>
              <a:t>STJ Corrientes - 19/9/2022</a:t>
            </a:r>
            <a:r>
              <a:rPr lang="es-ES" sz="1500" dirty="0" smtClean="0"/>
              <a:t>. La Cámara manifiesta la inconstitucionalidad del Código provincial ante la contraposición a la Ley de Coparticipación. La Corte deja en claro que el alquiler de inmuebles no reviste actividad comercial y por ello, el carácter de fin de lucro de la Entidad impide la gravavilidad con IB por el precepto previsto en la Ley de Coparticipación.</a:t>
            </a:r>
          </a:p>
          <a:p>
            <a:pPr algn="just">
              <a:lnSpc>
                <a:spcPct val="170000"/>
              </a:lnSpc>
              <a:buNone/>
            </a:pPr>
            <a:r>
              <a:rPr lang="es-ES" sz="1500" b="1" dirty="0" smtClean="0"/>
              <a:t>“</a:t>
            </a:r>
            <a:r>
              <a:rPr lang="es-ES" sz="1500" b="1" dirty="0" err="1" smtClean="0"/>
              <a:t>Coop</a:t>
            </a:r>
            <a:r>
              <a:rPr lang="es-ES" sz="1500" b="1" dirty="0" smtClean="0"/>
              <a:t>. </a:t>
            </a:r>
            <a:r>
              <a:rPr lang="es-ES" sz="1500" b="1" dirty="0" err="1" smtClean="0"/>
              <a:t>Sancor</a:t>
            </a:r>
            <a:r>
              <a:rPr lang="es-ES" sz="1500" b="1" dirty="0" smtClean="0"/>
              <a:t> </a:t>
            </a:r>
            <a:r>
              <a:rPr lang="es-ES" sz="1500" b="1" dirty="0" err="1" smtClean="0"/>
              <a:t>Decl</a:t>
            </a:r>
            <a:r>
              <a:rPr lang="es-ES" sz="1500" b="1" dirty="0" smtClean="0"/>
              <a:t>. Certeza”. </a:t>
            </a:r>
            <a:r>
              <a:rPr lang="es-ES" sz="1500" b="1" dirty="0" err="1" smtClean="0"/>
              <a:t>Juzg</a:t>
            </a:r>
            <a:r>
              <a:rPr lang="es-ES" sz="1500" b="1" dirty="0" smtClean="0"/>
              <a:t>. 1° </a:t>
            </a:r>
            <a:r>
              <a:rPr lang="es-ES" sz="1500" b="1" dirty="0" err="1" smtClean="0"/>
              <a:t>inst</a:t>
            </a:r>
            <a:r>
              <a:rPr lang="es-ES" sz="1500" b="1" dirty="0" smtClean="0"/>
              <a:t>. N° 9. CABA. 3/08/23. </a:t>
            </a:r>
            <a:r>
              <a:rPr lang="es-ES" sz="1500" dirty="0" smtClean="0"/>
              <a:t>Se reconoció la naturaleza sin fin de lucro de la </a:t>
            </a:r>
            <a:r>
              <a:rPr lang="es-ES" sz="1500" dirty="0" err="1" smtClean="0"/>
              <a:t>coop</a:t>
            </a:r>
            <a:r>
              <a:rPr lang="es-ES" sz="1500" dirty="0" smtClean="0"/>
              <a:t>. Reconoce la  opinión del procurador de </a:t>
            </a:r>
            <a:r>
              <a:rPr lang="es-ES" sz="1500" dirty="0" err="1" smtClean="0"/>
              <a:t>Coop</a:t>
            </a:r>
            <a:r>
              <a:rPr lang="es-ES" sz="1500" dirty="0" smtClean="0"/>
              <a:t>. </a:t>
            </a:r>
            <a:r>
              <a:rPr lang="es-ES" sz="1500" dirty="0" err="1" smtClean="0"/>
              <a:t>Farmac</a:t>
            </a:r>
            <a:r>
              <a:rPr lang="es-ES" sz="1500" dirty="0" smtClean="0"/>
              <a:t>. Declara </a:t>
            </a:r>
            <a:r>
              <a:rPr lang="es-ES" sz="1500" dirty="0" err="1" smtClean="0"/>
              <a:t>inconst</a:t>
            </a:r>
            <a:r>
              <a:rPr lang="es-ES" sz="1500" dirty="0" smtClean="0"/>
              <a:t>. del CF por contrariar la Ley 23.548.</a:t>
            </a:r>
          </a:p>
          <a:p>
            <a:pPr algn="just">
              <a:lnSpc>
                <a:spcPct val="170000"/>
              </a:lnSpc>
              <a:buNone/>
            </a:pPr>
            <a:r>
              <a:rPr lang="es-ES" sz="1500" b="1" dirty="0" smtClean="0"/>
              <a:t>“</a:t>
            </a:r>
            <a:r>
              <a:rPr lang="es-ES" sz="1500" b="1" dirty="0" err="1" smtClean="0"/>
              <a:t>Coop</a:t>
            </a:r>
            <a:r>
              <a:rPr lang="es-ES" sz="1500" b="1" dirty="0" smtClean="0"/>
              <a:t>. </a:t>
            </a:r>
            <a:r>
              <a:rPr lang="es-ES" sz="1500" b="1" dirty="0" err="1" smtClean="0"/>
              <a:t>Sancor</a:t>
            </a:r>
            <a:r>
              <a:rPr lang="es-ES" sz="1500" b="1" dirty="0" smtClean="0"/>
              <a:t> </a:t>
            </a:r>
            <a:r>
              <a:rPr lang="es-ES" sz="1500" b="1" dirty="0" err="1" smtClean="0"/>
              <a:t>Decl</a:t>
            </a:r>
            <a:r>
              <a:rPr lang="es-ES" sz="1500" b="1" dirty="0" smtClean="0"/>
              <a:t>. Certeza”. CACAT. CABA. 25/04/24. </a:t>
            </a:r>
            <a:r>
              <a:rPr lang="es-ES" sz="1500" dirty="0" smtClean="0"/>
              <a:t>No aceptó el pedido de revocatoria del Fisco y convalidó la jurisprudencia de la CSJN en </a:t>
            </a:r>
            <a:r>
              <a:rPr lang="es-ES" sz="1500" dirty="0" err="1" smtClean="0"/>
              <a:t>Coop</a:t>
            </a:r>
            <a:r>
              <a:rPr lang="es-ES" sz="1500" dirty="0" smtClean="0"/>
              <a:t>. Farmacéutica de 03/24.  </a:t>
            </a:r>
          </a:p>
          <a:p>
            <a:pPr lvl="0" algn="just">
              <a:lnSpc>
                <a:spcPct val="170000"/>
              </a:lnSpc>
              <a:buNone/>
            </a:pPr>
            <a:r>
              <a:rPr lang="es-ES" sz="1500" b="1" dirty="0" smtClean="0"/>
              <a:t>“Asociación Transportistas Unidos de </a:t>
            </a:r>
            <a:r>
              <a:rPr lang="es-ES" sz="1500" b="1" dirty="0" err="1" smtClean="0"/>
              <a:t>Elortondo</a:t>
            </a:r>
            <a:r>
              <a:rPr lang="es-ES" sz="1500" b="1" dirty="0" smtClean="0"/>
              <a:t> c/Provincia de Santa Fe –recurso contencioso administrativo –s/queja por denegación del recurso de inconstitucionalidad”. CSJ Santa Fe. 23/12/2019</a:t>
            </a:r>
            <a:r>
              <a:rPr lang="es-ES" sz="1500" dirty="0" smtClean="0"/>
              <a:t>. No encuadró a la Entidad como de “beneficio público” por considerar “… que el único fin perseguido por el ente sea el beneficio de sus propios integrantes…”. No atendió al argumento de la falta de lucro previsto en la Ley 23.548 por considerar que el mismo no fue objeto de anterior alegación.</a:t>
            </a:r>
          </a:p>
          <a:p>
            <a:pPr algn="just">
              <a:lnSpc>
                <a:spcPct val="170000"/>
              </a:lnSpc>
              <a:buNone/>
            </a:pPr>
            <a:endParaRPr lang="es-ES" sz="1800" b="1" dirty="0" smtClean="0"/>
          </a:p>
          <a:p>
            <a:pPr algn="just">
              <a:lnSpc>
                <a:spcPct val="170000"/>
              </a:lnSpc>
              <a:buNone/>
            </a:pPr>
            <a:endParaRPr lang="es-ES" sz="1500" u="sng" dirty="0" smtClean="0"/>
          </a:p>
          <a:p>
            <a:pPr algn="just">
              <a:lnSpc>
                <a:spcPct val="170000"/>
              </a:lnSpc>
              <a:buNone/>
            </a:pPr>
            <a:r>
              <a:rPr lang="es-ES" sz="1500" b="1" dirty="0" smtClean="0"/>
              <a:t> </a:t>
            </a:r>
            <a:endParaRPr lang="es-ES" sz="1500" u="sng" dirty="0" smtClean="0"/>
          </a:p>
          <a:p>
            <a:pPr algn="just">
              <a:lnSpc>
                <a:spcPct val="170000"/>
              </a:lnSpc>
              <a:buNone/>
            </a:pPr>
            <a:endParaRPr lang="es-ES" sz="1400" u="sng" dirty="0" smtClean="0"/>
          </a:p>
          <a:p>
            <a:pPr algn="just">
              <a:lnSpc>
                <a:spcPct val="170000"/>
              </a:lnSpc>
              <a:buNone/>
            </a:pPr>
            <a:r>
              <a:rPr lang="es-ES" sz="1400" dirty="0" smtClean="0">
                <a:solidFill>
                  <a:srgbClr val="FF0000"/>
                </a:solidFill>
              </a:rPr>
              <a:t>  </a:t>
            </a:r>
            <a:endParaRPr lang="es-ES" sz="1700" b="1"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20</a:t>
            </a:fld>
            <a:endParaRPr lang="es-ES" dirty="0"/>
          </a:p>
        </p:txBody>
      </p:sp>
      <p:sp>
        <p:nvSpPr>
          <p:cNvPr id="8" name="7 CuadroTexto"/>
          <p:cNvSpPr txBox="1"/>
          <p:nvPr/>
        </p:nvSpPr>
        <p:spPr>
          <a:xfrm>
            <a:off x="357158" y="71414"/>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(XVIII)</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extLst>
      <p:ext uri="{BB962C8B-B14F-4D97-AF65-F5344CB8AC3E}">
        <p14:creationId xmlns:p14="http://schemas.microsoft.com/office/powerpoint/2010/main" xmlns="" val="406581539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525310"/>
            <a:ext cx="9001124" cy="5975524"/>
          </a:xfrm>
        </p:spPr>
        <p:txBody>
          <a:bodyPr>
            <a:noAutofit/>
          </a:bodyPr>
          <a:lstStyle/>
          <a:p>
            <a:pPr algn="just">
              <a:lnSpc>
                <a:spcPct val="170000"/>
              </a:lnSpc>
              <a:buNone/>
            </a:pPr>
            <a:r>
              <a:rPr lang="es-ES" sz="1500" b="1" dirty="0" smtClean="0"/>
              <a:t> </a:t>
            </a:r>
            <a:r>
              <a:rPr lang="es-AR" sz="1800" b="1" dirty="0" smtClean="0"/>
              <a:t>“Centro </a:t>
            </a:r>
            <a:r>
              <a:rPr lang="es-AR" sz="1800" b="1" dirty="0" err="1" smtClean="0"/>
              <a:t>Empl</a:t>
            </a:r>
            <a:r>
              <a:rPr lang="es-AR" sz="1800" b="1" dirty="0" smtClean="0"/>
              <a:t>. Comercio Gral. </a:t>
            </a:r>
            <a:r>
              <a:rPr lang="es-AR" sz="1800" b="1" dirty="0" err="1" smtClean="0"/>
              <a:t>Rodriguez</a:t>
            </a:r>
            <a:r>
              <a:rPr lang="es-AR" sz="1800" b="1" dirty="0" smtClean="0"/>
              <a:t> c/ATER”. CSJN.  29/05/18</a:t>
            </a:r>
            <a:r>
              <a:rPr lang="es-AR" sz="1800" dirty="0" smtClean="0"/>
              <a:t>. Ante el planteo de inconstitucionalidad en la justicia federal, la 1° instancia entendió que era competencia de la CSJN. La Corte sostuvo que era competencia provincial.  </a:t>
            </a:r>
          </a:p>
          <a:p>
            <a:pPr algn="just">
              <a:lnSpc>
                <a:spcPct val="170000"/>
              </a:lnSpc>
              <a:buNone/>
            </a:pPr>
            <a:r>
              <a:rPr lang="es-ES" sz="1800" b="1" dirty="0" smtClean="0"/>
              <a:t> </a:t>
            </a:r>
            <a:r>
              <a:rPr lang="es-AR" sz="1800" b="1" dirty="0" smtClean="0"/>
              <a:t>“Centro </a:t>
            </a:r>
            <a:r>
              <a:rPr lang="es-AR" sz="1800" b="1" dirty="0" err="1" smtClean="0"/>
              <a:t>Empl</a:t>
            </a:r>
            <a:r>
              <a:rPr lang="es-AR" sz="1800" b="1" dirty="0" smtClean="0"/>
              <a:t>. Comercio Gral. </a:t>
            </a:r>
            <a:r>
              <a:rPr lang="es-AR" sz="1800" b="1" dirty="0" err="1" smtClean="0"/>
              <a:t>Rodriguez</a:t>
            </a:r>
            <a:r>
              <a:rPr lang="es-AR" sz="1800" b="1" dirty="0" smtClean="0"/>
              <a:t> c/ATER”. TSJ. 3/12/19. </a:t>
            </a:r>
            <a:r>
              <a:rPr lang="es-AR" sz="1800" dirty="0" smtClean="0"/>
              <a:t>Coincidiendo con la opinión de la procuradora se resolvió que el tribunal competente es la Cámara Contencioso Administrativa N° 1 Paraná.</a:t>
            </a:r>
          </a:p>
          <a:p>
            <a:pPr lvl="0" algn="just">
              <a:lnSpc>
                <a:spcPct val="170000"/>
              </a:lnSpc>
              <a:buNone/>
            </a:pPr>
            <a:r>
              <a:rPr lang="es-AR" sz="1800" b="1" dirty="0" smtClean="0"/>
              <a:t>“Centro </a:t>
            </a:r>
            <a:r>
              <a:rPr lang="es-AR" sz="1800" b="1" dirty="0" err="1" smtClean="0"/>
              <a:t>Empl</a:t>
            </a:r>
            <a:r>
              <a:rPr lang="es-AR" sz="1800" b="1" dirty="0" smtClean="0"/>
              <a:t>. Comercio Gral. </a:t>
            </a:r>
            <a:r>
              <a:rPr lang="es-AR" sz="1800" b="1" dirty="0" err="1" smtClean="0"/>
              <a:t>Rodriguez</a:t>
            </a:r>
            <a:r>
              <a:rPr lang="es-AR" sz="1800" b="1" dirty="0" smtClean="0"/>
              <a:t> c/ATER”. CCA N°1.</a:t>
            </a:r>
            <a:r>
              <a:rPr lang="es-AR" sz="1800" dirty="0" smtClean="0"/>
              <a:t> </a:t>
            </a:r>
            <a:r>
              <a:rPr lang="es-AR" sz="1800" b="1" dirty="0" smtClean="0"/>
              <a:t>05/10/22.</a:t>
            </a:r>
            <a:r>
              <a:rPr lang="es-AR" sz="1800" dirty="0" smtClean="0"/>
              <a:t> La Cámara dio la razón al Fisco. El fisco sostiene que el fin de lucro es solo para actividades comerciales y para el resto solo basta la habitualidad y onerosidad. Asimismo considera que la ley 23.548 no delimita la potestad tributaria. El fin de lucro se refiere a la actividad y no al sujeto. La </a:t>
            </a:r>
            <a:r>
              <a:rPr lang="es-AR" sz="1800" dirty="0" err="1" smtClean="0"/>
              <a:t>asoc</a:t>
            </a:r>
            <a:r>
              <a:rPr lang="es-AR" sz="1800" dirty="0" smtClean="0"/>
              <a:t>. Civil puede estar exenta pero por la actividad onerosa de farmacia gravada. Resolvió la cuestión de fondo sosteniendo que no existe incompatibilidad entre la Ley 23.548 y el CF.</a:t>
            </a:r>
          </a:p>
          <a:p>
            <a:pPr algn="just">
              <a:lnSpc>
                <a:spcPct val="170000"/>
              </a:lnSpc>
              <a:buNone/>
            </a:pPr>
            <a:endParaRPr lang="es-ES" sz="1500" b="1" dirty="0" smtClean="0"/>
          </a:p>
          <a:p>
            <a:pPr algn="just">
              <a:lnSpc>
                <a:spcPct val="170000"/>
              </a:lnSpc>
              <a:buNone/>
            </a:pPr>
            <a:endParaRPr lang="es-ES" sz="1500" u="sng" dirty="0" smtClean="0"/>
          </a:p>
          <a:p>
            <a:pPr algn="just">
              <a:lnSpc>
                <a:spcPct val="170000"/>
              </a:lnSpc>
              <a:buNone/>
            </a:pPr>
            <a:r>
              <a:rPr lang="es-ES" sz="1500" b="1" dirty="0" smtClean="0"/>
              <a:t> </a:t>
            </a:r>
            <a:endParaRPr lang="es-ES" sz="1500" u="sng" dirty="0" smtClean="0"/>
          </a:p>
          <a:p>
            <a:pPr algn="just">
              <a:lnSpc>
                <a:spcPct val="170000"/>
              </a:lnSpc>
              <a:buNone/>
            </a:pPr>
            <a:endParaRPr lang="es-ES" sz="1400" u="sng" dirty="0" smtClean="0"/>
          </a:p>
          <a:p>
            <a:pPr algn="just">
              <a:lnSpc>
                <a:spcPct val="170000"/>
              </a:lnSpc>
              <a:buNone/>
            </a:pPr>
            <a:r>
              <a:rPr lang="es-ES" sz="1400" dirty="0" smtClean="0">
                <a:solidFill>
                  <a:srgbClr val="FF0000"/>
                </a:solidFill>
              </a:rPr>
              <a:t>  </a:t>
            </a:r>
            <a:endParaRPr lang="es-ES" sz="1700" b="1"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21</a:t>
            </a:fld>
            <a:endParaRPr lang="es-ES" dirty="0"/>
          </a:p>
        </p:txBody>
      </p:sp>
      <p:sp>
        <p:nvSpPr>
          <p:cNvPr id="8" name="7 CuadroTexto"/>
          <p:cNvSpPr txBox="1"/>
          <p:nvPr/>
        </p:nvSpPr>
        <p:spPr>
          <a:xfrm>
            <a:off x="357158" y="-13295"/>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(IX)</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extLst>
      <p:ext uri="{BB962C8B-B14F-4D97-AF65-F5344CB8AC3E}">
        <p14:creationId xmlns:p14="http://schemas.microsoft.com/office/powerpoint/2010/main" xmlns="" val="40658153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14282" y="428604"/>
            <a:ext cx="8786842" cy="5975524"/>
          </a:xfrm>
        </p:spPr>
        <p:txBody>
          <a:bodyPr>
            <a:noAutofit/>
          </a:bodyPr>
          <a:lstStyle/>
          <a:p>
            <a:pPr lvl="0" algn="just">
              <a:lnSpc>
                <a:spcPct val="170000"/>
              </a:lnSpc>
              <a:buNone/>
            </a:pPr>
            <a:r>
              <a:rPr lang="es-AR" sz="1500" b="1" dirty="0" smtClean="0"/>
              <a:t>“</a:t>
            </a:r>
            <a:r>
              <a:rPr lang="es-AR" sz="1500" b="1" dirty="0" err="1" smtClean="0"/>
              <a:t>Coop</a:t>
            </a:r>
            <a:r>
              <a:rPr lang="es-AR" sz="1500" b="1" dirty="0" smtClean="0"/>
              <a:t>. </a:t>
            </a:r>
            <a:r>
              <a:rPr lang="es-AR" sz="1500" b="1" dirty="0" err="1" smtClean="0"/>
              <a:t>Sancor</a:t>
            </a:r>
            <a:r>
              <a:rPr lang="es-AR" sz="1500" b="1" dirty="0" smtClean="0"/>
              <a:t> c/ ATER”. 20/08/21. CCA N°1. </a:t>
            </a:r>
            <a:r>
              <a:rPr lang="es-AR" sz="1500" dirty="0" smtClean="0"/>
              <a:t>Rechazó la cautelar porque no existe determinación o ejecución inminente que involucre al cuya constitucionalidad se cuestiona.</a:t>
            </a:r>
          </a:p>
          <a:p>
            <a:pPr algn="just">
              <a:lnSpc>
                <a:spcPct val="170000"/>
              </a:lnSpc>
              <a:buNone/>
            </a:pPr>
            <a:r>
              <a:rPr lang="es-AR" sz="1500" b="1" dirty="0" smtClean="0"/>
              <a:t>“</a:t>
            </a:r>
            <a:r>
              <a:rPr lang="es-AR" sz="1500" b="1" dirty="0" err="1" smtClean="0"/>
              <a:t>Coop</a:t>
            </a:r>
            <a:r>
              <a:rPr lang="es-AR" sz="1500" b="1" dirty="0" smtClean="0"/>
              <a:t>. </a:t>
            </a:r>
            <a:r>
              <a:rPr lang="es-AR" sz="1500" b="1" dirty="0" err="1" smtClean="0"/>
              <a:t>Sancor</a:t>
            </a:r>
            <a:r>
              <a:rPr lang="es-AR" sz="1500" b="1" dirty="0" smtClean="0"/>
              <a:t> c/ ATER”. 20/10/21. CCA N°1. </a:t>
            </a:r>
            <a:r>
              <a:rPr lang="es-AR" sz="1500" dirty="0" smtClean="0"/>
              <a:t>Fallo desfavorable. Sostuvo que no existe contraposición con la ley de coparticipación. El término “lucro” aplica a actividades comerciales por eso se dejó de lado por ejemplo los </a:t>
            </a:r>
            <a:r>
              <a:rPr lang="es-AR" sz="1500" dirty="0" err="1" smtClean="0"/>
              <a:t>ing.</a:t>
            </a:r>
            <a:r>
              <a:rPr lang="es-AR" sz="1500" dirty="0" smtClean="0"/>
              <a:t> en relación de dependencia. Sería injusto respecto de otras formas jurídicas. No se aceptó la </a:t>
            </a:r>
            <a:r>
              <a:rPr lang="es-AR" sz="1500" dirty="0" err="1" smtClean="0"/>
              <a:t>jurisp</a:t>
            </a:r>
            <a:r>
              <a:rPr lang="es-AR" sz="1500" dirty="0" smtClean="0"/>
              <a:t>. </a:t>
            </a:r>
            <a:r>
              <a:rPr lang="es-AR" sz="1500" dirty="0" err="1" smtClean="0"/>
              <a:t>Coop</a:t>
            </a:r>
            <a:r>
              <a:rPr lang="es-AR" sz="1500" dirty="0" smtClean="0"/>
              <a:t>. Farmacéutica en Tucumán.</a:t>
            </a:r>
          </a:p>
          <a:p>
            <a:pPr algn="just">
              <a:lnSpc>
                <a:spcPct val="170000"/>
              </a:lnSpc>
              <a:buNone/>
            </a:pPr>
            <a:r>
              <a:rPr lang="es-AR" sz="1500" b="1" dirty="0" smtClean="0"/>
              <a:t>“</a:t>
            </a:r>
            <a:r>
              <a:rPr lang="es-AR" sz="1500" b="1" dirty="0" err="1" smtClean="0"/>
              <a:t>Coop</a:t>
            </a:r>
            <a:r>
              <a:rPr lang="es-AR" sz="1500" b="1" dirty="0" smtClean="0"/>
              <a:t>. </a:t>
            </a:r>
            <a:r>
              <a:rPr lang="es-AR" sz="1500" b="1" dirty="0" err="1" smtClean="0"/>
              <a:t>Sancor</a:t>
            </a:r>
            <a:r>
              <a:rPr lang="es-AR" sz="1500" b="1" dirty="0" smtClean="0"/>
              <a:t> c/ ATER”. 11/08/23. TSJ. </a:t>
            </a:r>
            <a:r>
              <a:rPr lang="es-AR" sz="1500" dirty="0" smtClean="0"/>
              <a:t>Ante le rechazo de la demanda de inconstitucionalidad, la CCA N°1 aceptó la apelación ante el TSJ. El máximo tribunal sostuvo que la apelación fue mal concedida y que correspondía el recurso de inaplicabilidad de ley, el cual no se presentó.</a:t>
            </a:r>
          </a:p>
          <a:p>
            <a:pPr algn="just">
              <a:lnSpc>
                <a:spcPct val="170000"/>
              </a:lnSpc>
              <a:buNone/>
            </a:pPr>
            <a:r>
              <a:rPr lang="es-AR" sz="1500" b="1" dirty="0" smtClean="0"/>
              <a:t>“</a:t>
            </a:r>
            <a:r>
              <a:rPr lang="es-AR" sz="1500" b="1" dirty="0" err="1" smtClean="0"/>
              <a:t>Coop</a:t>
            </a:r>
            <a:r>
              <a:rPr lang="es-AR" sz="1500" b="1" dirty="0" smtClean="0"/>
              <a:t>. </a:t>
            </a:r>
            <a:r>
              <a:rPr lang="es-AR" sz="1500" b="1" dirty="0" err="1" smtClean="0"/>
              <a:t>Sancor</a:t>
            </a:r>
            <a:r>
              <a:rPr lang="es-AR" sz="1500" b="1" dirty="0" smtClean="0"/>
              <a:t> c/ ATER”. 16/08/24. TSJ. </a:t>
            </a:r>
            <a:r>
              <a:rPr lang="es-AR" sz="1500" dirty="0" smtClean="0"/>
              <a:t>La Cooperativa planteo recurso extraordinario federal ante la CSJN derivado de la sentencia anterior. Cooperativa planteo la existencia de un excesivo rigorismo formal lo cual fue atendido por el Tribunal como argumento para habilitar el recurso extraordinario, pero entiende que no se puede expedir respecto a la arbitrariedad. Sin embargo, un vocal en voto minoritario dijo que la arbitrariedad se hacía presente ante la violación del debido proceso. Por todo ello, se aceptó el Recurso Extraordinario ante la CSJN.</a:t>
            </a:r>
          </a:p>
          <a:p>
            <a:pPr algn="just">
              <a:lnSpc>
                <a:spcPct val="170000"/>
              </a:lnSpc>
              <a:buNone/>
            </a:pPr>
            <a:endParaRPr lang="es-ES" sz="1500" b="1" dirty="0" smtClean="0"/>
          </a:p>
          <a:p>
            <a:pPr algn="just">
              <a:lnSpc>
                <a:spcPct val="170000"/>
              </a:lnSpc>
              <a:buNone/>
            </a:pPr>
            <a:endParaRPr lang="es-ES" sz="1500" u="sng" dirty="0" smtClean="0"/>
          </a:p>
          <a:p>
            <a:pPr algn="just">
              <a:lnSpc>
                <a:spcPct val="170000"/>
              </a:lnSpc>
              <a:buNone/>
            </a:pPr>
            <a:r>
              <a:rPr lang="es-ES" sz="1500" b="1" dirty="0" smtClean="0"/>
              <a:t> </a:t>
            </a:r>
            <a:endParaRPr lang="es-ES" sz="1500" u="sng" dirty="0" smtClean="0"/>
          </a:p>
          <a:p>
            <a:pPr algn="just">
              <a:lnSpc>
                <a:spcPct val="170000"/>
              </a:lnSpc>
              <a:buNone/>
            </a:pPr>
            <a:endParaRPr lang="es-ES" sz="1400" u="sng" dirty="0" smtClean="0"/>
          </a:p>
          <a:p>
            <a:pPr algn="just">
              <a:lnSpc>
                <a:spcPct val="170000"/>
              </a:lnSpc>
              <a:buNone/>
            </a:pPr>
            <a:r>
              <a:rPr lang="es-ES" sz="1400" dirty="0" smtClean="0">
                <a:solidFill>
                  <a:srgbClr val="FF0000"/>
                </a:solidFill>
              </a:rPr>
              <a:t>  </a:t>
            </a:r>
            <a:endParaRPr lang="es-ES" sz="1700" b="1"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22</a:t>
            </a:fld>
            <a:endParaRPr lang="es-ES" dirty="0"/>
          </a:p>
        </p:txBody>
      </p:sp>
      <p:sp>
        <p:nvSpPr>
          <p:cNvPr id="8" name="7 CuadroTexto"/>
          <p:cNvSpPr txBox="1"/>
          <p:nvPr/>
        </p:nvSpPr>
        <p:spPr>
          <a:xfrm>
            <a:off x="357158" y="-24"/>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(XX)</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extLst>
      <p:ext uri="{BB962C8B-B14F-4D97-AF65-F5344CB8AC3E}">
        <p14:creationId xmlns:p14="http://schemas.microsoft.com/office/powerpoint/2010/main" xmlns="" val="406581539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142844" y="739624"/>
            <a:ext cx="8786842" cy="5975524"/>
          </a:xfrm>
        </p:spPr>
        <p:txBody>
          <a:bodyPr>
            <a:noAutofit/>
          </a:bodyPr>
          <a:lstStyle/>
          <a:p>
            <a:pPr lvl="0" algn="just">
              <a:lnSpc>
                <a:spcPct val="170000"/>
              </a:lnSpc>
              <a:buNone/>
            </a:pPr>
            <a:r>
              <a:rPr lang="es-AR" sz="1500" b="1" dirty="0" smtClean="0"/>
              <a:t>“Soc. Española de Socorros Mutuos”. 14/06/17. CCA N°2. </a:t>
            </a:r>
            <a:r>
              <a:rPr lang="es-AR" sz="1500" dirty="0" smtClean="0"/>
              <a:t>Se admitió la cautelar ante la declarativa de certeza. Sostuvo que se cumplieron los requisitos para su admisibilidad: Verosimilitud del derecho, peligro en la demora y daño. Se solicitó </a:t>
            </a:r>
            <a:r>
              <a:rPr lang="es-AR" sz="1500" dirty="0" err="1" smtClean="0"/>
              <a:t>contracautela</a:t>
            </a:r>
            <a:r>
              <a:rPr lang="es-AR" sz="1500" dirty="0" smtClean="0"/>
              <a:t> </a:t>
            </a:r>
            <a:r>
              <a:rPr lang="es-AR" sz="1500" dirty="0" err="1" smtClean="0"/>
              <a:t>juratoira</a:t>
            </a:r>
            <a:r>
              <a:rPr lang="es-AR" sz="1500" dirty="0" smtClean="0"/>
              <a:t> del Presidente.</a:t>
            </a:r>
          </a:p>
          <a:p>
            <a:pPr algn="just">
              <a:lnSpc>
                <a:spcPct val="170000"/>
              </a:lnSpc>
              <a:buNone/>
            </a:pPr>
            <a:r>
              <a:rPr lang="es-AR" sz="1500" b="1" dirty="0" smtClean="0"/>
              <a:t>“Soc. Española de Socorros Mutuos”. 17/06/21. CCA N°2. </a:t>
            </a:r>
            <a:r>
              <a:rPr lang="es-AR" sz="1500" dirty="0" smtClean="0"/>
              <a:t> Primeramente, la mutual planteo una consulta no vinculante. Luego, ante posible determinación presentó declarativa de certeza. El Fisco sostenía que el acto determinativo no produjo daño y que debía agotar la vía administrativa. El Fisco consideraba que la locación de inmuebles es una actividad onerosa gravada. El tribunal se planteó dos interrogantes: 1) El HI requiere fin de lucro? y 2) Es acorde el tratamiento del CF de acuerdo a la naturaleza mutual?. Respuestas: La potestad tributaria provincial tiene límite en la Ley 23.548. No es lo mismo una actividad onerosa a que se realice con fin de lucro. La finalidad lucrativa es una noción subjetiva. Es decir, no está alcanzado por IB. Cita jurisprudencia </a:t>
            </a:r>
            <a:r>
              <a:rPr lang="es-AR" sz="1500" dirty="0" err="1" smtClean="0"/>
              <a:t>Asoc</a:t>
            </a:r>
            <a:r>
              <a:rPr lang="es-AR" sz="1500" dirty="0" smtClean="0"/>
              <a:t>. Bancaria y Cooperativa Farm. Tucumán. Destaca los principios mutuales. Destaca el art. 76 de la CP. Concluye que la actividad es sin fin de lucro.</a:t>
            </a:r>
            <a:endParaRPr lang="es-ES" sz="1500" u="sng" dirty="0" smtClean="0"/>
          </a:p>
          <a:p>
            <a:pPr algn="just">
              <a:lnSpc>
                <a:spcPct val="170000"/>
              </a:lnSpc>
              <a:buNone/>
            </a:pPr>
            <a:r>
              <a:rPr lang="es-ES" sz="1500" b="1" dirty="0" smtClean="0"/>
              <a:t> </a:t>
            </a:r>
            <a:r>
              <a:rPr lang="es-AR" sz="1500" b="1" dirty="0" smtClean="0"/>
              <a:t>“Soc. Española de Socorros Mutuos”. 23/09/21. CCA N°2. </a:t>
            </a:r>
            <a:r>
              <a:rPr lang="es-AR" sz="1500" dirty="0" smtClean="0"/>
              <a:t>El Fisco interpuso recurso de inaplicabilidad de ley. La Cámara lo concedió pero denegó el planteo de arbitrariedad.</a:t>
            </a:r>
            <a:endParaRPr lang="es-ES" sz="1500" u="sng" dirty="0" smtClean="0"/>
          </a:p>
          <a:p>
            <a:pPr algn="just">
              <a:lnSpc>
                <a:spcPct val="170000"/>
              </a:lnSpc>
              <a:buNone/>
            </a:pPr>
            <a:endParaRPr lang="es-ES" sz="1400" u="sng" dirty="0" smtClean="0"/>
          </a:p>
          <a:p>
            <a:pPr algn="just">
              <a:lnSpc>
                <a:spcPct val="170000"/>
              </a:lnSpc>
              <a:buNone/>
            </a:pPr>
            <a:r>
              <a:rPr lang="es-ES" sz="1400" dirty="0" smtClean="0">
                <a:solidFill>
                  <a:srgbClr val="FF0000"/>
                </a:solidFill>
              </a:rPr>
              <a:t>  </a:t>
            </a:r>
            <a:endParaRPr lang="es-ES" sz="1700" b="1"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23</a:t>
            </a:fld>
            <a:endParaRPr lang="es-ES" dirty="0"/>
          </a:p>
        </p:txBody>
      </p:sp>
      <p:sp>
        <p:nvSpPr>
          <p:cNvPr id="8" name="7 CuadroTexto"/>
          <p:cNvSpPr txBox="1"/>
          <p:nvPr/>
        </p:nvSpPr>
        <p:spPr>
          <a:xfrm>
            <a:off x="357158" y="-24"/>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(XXI)</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extLst>
      <p:ext uri="{BB962C8B-B14F-4D97-AF65-F5344CB8AC3E}">
        <p14:creationId xmlns:p14="http://schemas.microsoft.com/office/powerpoint/2010/main" xmlns="" val="406581539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214282" y="548680"/>
            <a:ext cx="8786842" cy="5975524"/>
          </a:xfrm>
        </p:spPr>
        <p:txBody>
          <a:bodyPr>
            <a:noAutofit/>
          </a:bodyPr>
          <a:lstStyle/>
          <a:p>
            <a:pPr lvl="0" algn="just">
              <a:lnSpc>
                <a:spcPct val="170000"/>
              </a:lnSpc>
              <a:buNone/>
            </a:pPr>
            <a:r>
              <a:rPr lang="es-AR" sz="1800" b="1" dirty="0" smtClean="0"/>
              <a:t>“</a:t>
            </a:r>
            <a:r>
              <a:rPr lang="es-AR" sz="1600" b="1" dirty="0" err="1" smtClean="0"/>
              <a:t>Asoc</a:t>
            </a:r>
            <a:r>
              <a:rPr lang="es-AR" sz="1600" b="1" dirty="0" smtClean="0"/>
              <a:t>. Mutual Bancarios CU”. 07/09/20. CCA N°2. </a:t>
            </a:r>
            <a:r>
              <a:rPr lang="es-AR" sz="1600" dirty="0" smtClean="0"/>
              <a:t>La Cámara aceptó la cautelar y solicitó </a:t>
            </a:r>
            <a:r>
              <a:rPr lang="es-AR" sz="1600" dirty="0" err="1" smtClean="0"/>
              <a:t>contracautela</a:t>
            </a:r>
            <a:r>
              <a:rPr lang="es-AR" sz="1600" dirty="0" smtClean="0"/>
              <a:t> caución real por el capital. La vía administrativa no estaba concluida pero existía un recurso de queja pendiente.</a:t>
            </a:r>
            <a:endParaRPr lang="es-ES" sz="1600" u="sng" dirty="0" smtClean="0"/>
          </a:p>
          <a:p>
            <a:pPr algn="just">
              <a:lnSpc>
                <a:spcPct val="170000"/>
              </a:lnSpc>
              <a:buNone/>
            </a:pPr>
            <a:r>
              <a:rPr lang="es-ES" sz="1600" dirty="0" smtClean="0">
                <a:solidFill>
                  <a:srgbClr val="FF0000"/>
                </a:solidFill>
              </a:rPr>
              <a:t> </a:t>
            </a:r>
            <a:r>
              <a:rPr lang="es-AR" sz="1600" b="1" dirty="0" smtClean="0"/>
              <a:t>“</a:t>
            </a:r>
            <a:r>
              <a:rPr lang="es-AR" sz="1600" b="1" dirty="0" err="1" smtClean="0"/>
              <a:t>Asoc</a:t>
            </a:r>
            <a:r>
              <a:rPr lang="es-AR" sz="1600" b="1" dirty="0" smtClean="0"/>
              <a:t>. Mutual Bancarios CU”. 01/10/24. CCA N°2. </a:t>
            </a:r>
            <a:r>
              <a:rPr lang="es-AR" sz="1600" dirty="0" smtClean="0"/>
              <a:t>La Cámara sostuvo que no resulta pasivo del IB. Declaró la inconstitucionalidad del CF por ser contradictorio a la Ley 23.548 y no adecuarse al art. 76 CP. Se acreditó que la Mutual cumplía íntegramente con su objeto social (No repartía dividendos, la Comisión Directiva era ad honorem).</a:t>
            </a:r>
          </a:p>
          <a:p>
            <a:pPr algn="just">
              <a:lnSpc>
                <a:spcPct val="170000"/>
              </a:lnSpc>
              <a:buNone/>
            </a:pPr>
            <a:r>
              <a:rPr lang="es-ES" sz="1600" dirty="0" smtClean="0">
                <a:solidFill>
                  <a:srgbClr val="FF0000"/>
                </a:solidFill>
              </a:rPr>
              <a:t> </a:t>
            </a:r>
            <a:r>
              <a:rPr lang="es-AR" sz="1600" b="1" dirty="0" smtClean="0"/>
              <a:t>“</a:t>
            </a:r>
            <a:r>
              <a:rPr lang="es-AR" sz="1600" b="1" dirty="0" err="1" smtClean="0"/>
              <a:t>Asoc</a:t>
            </a:r>
            <a:r>
              <a:rPr lang="es-AR" sz="1600" b="1" dirty="0" smtClean="0"/>
              <a:t>. Mutual Bancarios CU”. 13/02/25. CCA N°2. </a:t>
            </a:r>
            <a:r>
              <a:rPr lang="es-AR" sz="1600" dirty="0" smtClean="0"/>
              <a:t>La Cámara concedió el Recurso de Inaplicabilidad de Ley interpuesto por el Estado Provincial y ATER contra la sentencia del 1/10/24.  </a:t>
            </a:r>
          </a:p>
          <a:p>
            <a:pPr algn="just">
              <a:lnSpc>
                <a:spcPct val="170000"/>
              </a:lnSpc>
              <a:buNone/>
            </a:pPr>
            <a:r>
              <a:rPr lang="es-ES" sz="1600" b="1" dirty="0" smtClean="0"/>
              <a:t> “ ACA Salud </a:t>
            </a:r>
            <a:r>
              <a:rPr lang="es-ES" sz="1600" b="1" dirty="0" err="1" smtClean="0"/>
              <a:t>Coop</a:t>
            </a:r>
            <a:r>
              <a:rPr lang="es-ES" sz="1600" b="1" dirty="0" smtClean="0"/>
              <a:t>.”. STJ. Entre </a:t>
            </a:r>
            <a:r>
              <a:rPr lang="es-ES" sz="1600" b="1" dirty="0" err="1" smtClean="0"/>
              <a:t>Rios</a:t>
            </a:r>
            <a:r>
              <a:rPr lang="es-ES" sz="1600" b="1" dirty="0" smtClean="0"/>
              <a:t>. 12/11/24. </a:t>
            </a:r>
            <a:r>
              <a:rPr lang="es-ES" sz="1600" dirty="0" smtClean="0"/>
              <a:t>Deja sin efecto el fallo favorable de la Cámara. Por mayoría sostiene: El art. 9 al ser una pauta orientadora, el CF no colisiona con la LCF.  Sostuvo que es la CFI la competente para interpretar la LCF. No acató los preceptos del fallo CSJN 03/24 de </a:t>
            </a:r>
            <a:r>
              <a:rPr lang="es-ES" sz="1600" dirty="0" err="1" smtClean="0"/>
              <a:t>Coop</a:t>
            </a:r>
            <a:r>
              <a:rPr lang="es-ES" sz="1600" dirty="0" smtClean="0"/>
              <a:t>. Farm. Chaco.</a:t>
            </a:r>
            <a:endParaRPr lang="es-ES" sz="1800" b="1"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24</a:t>
            </a:fld>
            <a:endParaRPr lang="es-ES" dirty="0"/>
          </a:p>
        </p:txBody>
      </p:sp>
      <p:sp>
        <p:nvSpPr>
          <p:cNvPr id="8" name="7 CuadroTexto"/>
          <p:cNvSpPr txBox="1"/>
          <p:nvPr/>
        </p:nvSpPr>
        <p:spPr>
          <a:xfrm>
            <a:off x="357158" y="-24"/>
            <a:ext cx="8501122" cy="584775"/>
          </a:xfrm>
          <a:prstGeom prst="rect">
            <a:avLst/>
          </a:prstGeom>
          <a:noFill/>
        </p:spPr>
        <p:txBody>
          <a:bodyPr wrap="square" rtlCol="0">
            <a:spAutoFit/>
          </a:bodyPr>
          <a:lstStyle/>
          <a:p>
            <a:pPr algn="ctr"/>
            <a:r>
              <a:rPr lang="es-AR" sz="3200" b="1" dirty="0" smtClean="0">
                <a:solidFill>
                  <a:srgbClr val="FF0000"/>
                </a:solidFill>
              </a:rPr>
              <a:t>IMPUESTOS S/ INGRESOS BRUTOS (XXII)</a:t>
            </a:r>
            <a:endParaRPr lang="es-ES" sz="3200" b="1" dirty="0">
              <a:solidFill>
                <a:srgbClr val="FF0000"/>
              </a:solidFill>
            </a:endParaRPr>
          </a:p>
        </p:txBody>
      </p:sp>
      <p:pic>
        <p:nvPicPr>
          <p:cNvPr id="5"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extLst>
      <p:ext uri="{BB962C8B-B14F-4D97-AF65-F5344CB8AC3E}">
        <p14:creationId xmlns:p14="http://schemas.microsoft.com/office/powerpoint/2010/main" xmlns="" val="40658153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357158" y="714356"/>
            <a:ext cx="8643998" cy="4805156"/>
          </a:xfrm>
        </p:spPr>
        <p:txBody>
          <a:bodyPr>
            <a:normAutofit fontScale="25000" lnSpcReduction="20000"/>
          </a:bodyPr>
          <a:lstStyle/>
          <a:p>
            <a:pPr>
              <a:buNone/>
            </a:pPr>
            <a:endParaRPr lang="es-AR" sz="4200" dirty="0" smtClean="0"/>
          </a:p>
          <a:p>
            <a:pPr algn="just">
              <a:buNone/>
            </a:pPr>
            <a:r>
              <a:rPr lang="es-AR" sz="8000" b="1" u="sng" dirty="0" smtClean="0"/>
              <a:t>Santa Fe</a:t>
            </a:r>
          </a:p>
          <a:p>
            <a:pPr algn="just">
              <a:lnSpc>
                <a:spcPct val="170000"/>
              </a:lnSpc>
            </a:pPr>
            <a:r>
              <a:rPr lang="es-AR" sz="6000" b="1" dirty="0" smtClean="0"/>
              <a:t>Artículo 220 </a:t>
            </a:r>
            <a:r>
              <a:rPr lang="es-AR" sz="6000" dirty="0" smtClean="0"/>
              <a:t>- Por todos los </a:t>
            </a:r>
            <a:r>
              <a:rPr lang="es-AR" sz="6000" b="1" dirty="0" smtClean="0"/>
              <a:t>actos, contratos y operaciones de carácter oneroso </a:t>
            </a:r>
            <a:r>
              <a:rPr lang="es-AR" sz="6000" dirty="0" smtClean="0"/>
              <a:t>que se realicen en territorio de la Provincia, se pagará el impuesto que establece el presente Título…”</a:t>
            </a:r>
            <a:endParaRPr lang="es-AR" sz="6000" b="1" dirty="0" smtClean="0"/>
          </a:p>
          <a:p>
            <a:pPr algn="just">
              <a:lnSpc>
                <a:spcPct val="170000"/>
              </a:lnSpc>
              <a:buNone/>
            </a:pPr>
            <a:r>
              <a:rPr lang="es-AR" sz="8000" b="1" u="sng" dirty="0" smtClean="0"/>
              <a:t>Córdoba</a:t>
            </a:r>
          </a:p>
          <a:p>
            <a:pPr algn="just">
              <a:lnSpc>
                <a:spcPct val="170000"/>
              </a:lnSpc>
              <a:buNone/>
            </a:pPr>
            <a:r>
              <a:rPr lang="es-AR" sz="6000" b="1" dirty="0" smtClean="0"/>
              <a:t>Artículo 262</a:t>
            </a:r>
            <a:r>
              <a:rPr lang="es-AR" sz="6000" dirty="0" smtClean="0"/>
              <a:t>.- Por todos los </a:t>
            </a:r>
            <a:r>
              <a:rPr lang="es-AR" sz="6000" b="1" dirty="0" smtClean="0"/>
              <a:t>actos, contratos u operaciones de carácter oneroso </a:t>
            </a:r>
            <a:r>
              <a:rPr lang="es-AR" sz="6000" dirty="0" smtClean="0"/>
              <a:t>instrumentados que se realicen en el territorio de la Provincia;…”</a:t>
            </a:r>
          </a:p>
          <a:p>
            <a:pPr algn="just">
              <a:lnSpc>
                <a:spcPct val="170000"/>
              </a:lnSpc>
              <a:buNone/>
            </a:pPr>
            <a:r>
              <a:rPr lang="es-AR" sz="8000" b="1" u="sng" dirty="0" smtClean="0"/>
              <a:t>CABA</a:t>
            </a:r>
          </a:p>
          <a:p>
            <a:pPr algn="just">
              <a:lnSpc>
                <a:spcPct val="170000"/>
              </a:lnSpc>
            </a:pPr>
            <a:r>
              <a:rPr lang="es-AR" sz="6000" b="1" dirty="0" smtClean="0"/>
              <a:t>Artículo 305</a:t>
            </a:r>
            <a:r>
              <a:rPr lang="es-AR" sz="6000" dirty="0" smtClean="0"/>
              <a:t>.- Están sujetos al Impuesto de Sellos, de conformidad con las disposiciones del presente Capítulo, los </a:t>
            </a:r>
            <a:r>
              <a:rPr lang="es-AR" sz="6000" b="1" dirty="0" smtClean="0"/>
              <a:t>actos y contratos de carácter oneroso</a:t>
            </a:r>
            <a:r>
              <a:rPr lang="es-AR" sz="6000" dirty="0" smtClean="0"/>
              <a:t>, siempre que:…”</a:t>
            </a:r>
          </a:p>
          <a:p>
            <a:pPr algn="just">
              <a:lnSpc>
                <a:spcPct val="170000"/>
              </a:lnSpc>
              <a:buNone/>
            </a:pPr>
            <a:r>
              <a:rPr lang="es-AR" sz="8000" b="1" u="sng" dirty="0" smtClean="0"/>
              <a:t>Provincia de Buenos Aires</a:t>
            </a:r>
          </a:p>
          <a:p>
            <a:pPr algn="just"/>
            <a:r>
              <a:rPr lang="es-AR" sz="6000" b="1" dirty="0" smtClean="0"/>
              <a:t>Artículo 251</a:t>
            </a:r>
            <a:r>
              <a:rPr lang="es-AR" sz="6000" dirty="0" smtClean="0"/>
              <a:t>. Estarán sujetos al impuesto de Sellos, de conformidad con las disposiciones del presente Título, los </a:t>
            </a:r>
            <a:r>
              <a:rPr lang="es-AR" sz="6000" b="1" dirty="0" smtClean="0"/>
              <a:t>actos, contratos y operaciones de carácter oneroso</a:t>
            </a:r>
            <a:r>
              <a:rPr lang="es-AR" sz="6000" dirty="0" smtClean="0"/>
              <a:t>, formalizados en el territorio de la Provincia, en instrumentos públicos o privados suscriptos que exterioricen la voluntad de las partes.”. </a:t>
            </a:r>
          </a:p>
          <a:p>
            <a:pPr algn="just"/>
            <a:endParaRPr lang="es-AR" sz="5600" dirty="0" smtClean="0"/>
          </a:p>
          <a:p>
            <a:pPr algn="just">
              <a:buNone/>
            </a:pPr>
            <a:r>
              <a:rPr lang="es-AR" sz="5600" dirty="0" smtClean="0"/>
              <a:t>        	</a:t>
            </a:r>
            <a:r>
              <a:rPr lang="es-ES" sz="6000" b="1" dirty="0" smtClean="0"/>
              <a:t>ARBA. Informe N° 048/08. (30/10/08). </a:t>
            </a:r>
            <a:r>
              <a:rPr lang="es-ES" sz="6000" dirty="0" smtClean="0"/>
              <a:t>Solicitud, aceptación y mutuo en un solo acto.</a:t>
            </a:r>
            <a:endParaRPr lang="es-ES" sz="6000" b="1" dirty="0" smtClean="0"/>
          </a:p>
          <a:p>
            <a:pPr algn="just">
              <a:buNone/>
            </a:pPr>
            <a:r>
              <a:rPr lang="es-ES" sz="6000" b="1" dirty="0" smtClean="0"/>
              <a:t>	ARBA. Informe N° 049/08. (30/10/08)). </a:t>
            </a:r>
            <a:r>
              <a:rPr lang="es-ES" sz="6000" dirty="0" smtClean="0"/>
              <a:t>Solicitud sola.</a:t>
            </a:r>
          </a:p>
          <a:p>
            <a:pPr algn="just">
              <a:lnSpc>
                <a:spcPct val="170000"/>
              </a:lnSpc>
              <a:buNone/>
            </a:pPr>
            <a:endParaRPr lang="es-AR" sz="5600" dirty="0" smtClean="0"/>
          </a:p>
          <a:p>
            <a:pPr>
              <a:buNone/>
            </a:pPr>
            <a:endParaRPr lang="es-AR" sz="56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25</a:t>
            </a:fld>
            <a:endParaRPr lang="es-ES" dirty="0"/>
          </a:p>
        </p:txBody>
      </p:sp>
      <p:sp>
        <p:nvSpPr>
          <p:cNvPr id="5" name="4 CuadroTexto"/>
          <p:cNvSpPr txBox="1"/>
          <p:nvPr/>
        </p:nvSpPr>
        <p:spPr>
          <a:xfrm>
            <a:off x="285720" y="-71462"/>
            <a:ext cx="8501122" cy="1200329"/>
          </a:xfrm>
          <a:prstGeom prst="rect">
            <a:avLst/>
          </a:prstGeom>
          <a:noFill/>
        </p:spPr>
        <p:txBody>
          <a:bodyPr wrap="square" rtlCol="0">
            <a:spAutoFit/>
          </a:bodyPr>
          <a:lstStyle/>
          <a:p>
            <a:pPr algn="ctr"/>
            <a:r>
              <a:rPr lang="es-AR" sz="3600" b="1" dirty="0" smtClean="0">
                <a:solidFill>
                  <a:srgbClr val="FF0000"/>
                </a:solidFill>
              </a:rPr>
              <a:t>IMPUESTOS SELLOS (I)</a:t>
            </a:r>
          </a:p>
          <a:p>
            <a:pPr algn="ctr"/>
            <a:r>
              <a:rPr lang="es-AR" sz="3600" b="1" dirty="0" smtClean="0">
                <a:solidFill>
                  <a:srgbClr val="FF0000"/>
                </a:solidFill>
              </a:rPr>
              <a:t>Hecho Imponible</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500034" y="-71462"/>
            <a:ext cx="8501122" cy="600164"/>
          </a:xfrm>
          <a:prstGeom prst="rect">
            <a:avLst/>
          </a:prstGeom>
          <a:noFill/>
        </p:spPr>
        <p:txBody>
          <a:bodyPr wrap="square" rtlCol="0">
            <a:spAutoFit/>
          </a:bodyPr>
          <a:lstStyle/>
          <a:p>
            <a:pPr algn="ctr"/>
            <a:r>
              <a:rPr lang="es-AR" sz="3300" b="1" dirty="0" smtClean="0">
                <a:solidFill>
                  <a:srgbClr val="FF0000"/>
                </a:solidFill>
              </a:rPr>
              <a:t>IMPUESTOS SELLOS (II) – Exenciones -</a:t>
            </a:r>
            <a:endParaRPr lang="es-ES" sz="3300" b="1" dirty="0">
              <a:solidFill>
                <a:srgbClr val="FF0000"/>
              </a:solidFill>
            </a:endParaRPr>
          </a:p>
        </p:txBody>
      </p:sp>
      <p:pic>
        <p:nvPicPr>
          <p:cNvPr id="9"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7" name="6 Marcador de número de diapositiva"/>
          <p:cNvSpPr>
            <a:spLocks noGrp="1"/>
          </p:cNvSpPr>
          <p:nvPr>
            <p:ph type="sldNum" sz="quarter" idx="12"/>
          </p:nvPr>
        </p:nvSpPr>
        <p:spPr/>
        <p:txBody>
          <a:bodyPr/>
          <a:lstStyle/>
          <a:p>
            <a:fld id="{47905A6E-3428-42CC-8A3B-D0D77FE4EB92}" type="slidenum">
              <a:rPr lang="es-ES" smtClean="0"/>
              <a:pPr/>
              <a:t>26</a:t>
            </a:fld>
            <a:endParaRPr lang="es-ES" dirty="0"/>
          </a:p>
        </p:txBody>
      </p:sp>
      <p:sp>
        <p:nvSpPr>
          <p:cNvPr id="10" name="9 CuadroTexto"/>
          <p:cNvSpPr txBox="1"/>
          <p:nvPr/>
        </p:nvSpPr>
        <p:spPr>
          <a:xfrm>
            <a:off x="36512" y="442982"/>
            <a:ext cx="9144000" cy="6586418"/>
          </a:xfrm>
          <a:prstGeom prst="rect">
            <a:avLst/>
          </a:prstGeom>
          <a:noFill/>
        </p:spPr>
        <p:txBody>
          <a:bodyPr wrap="square" rtlCol="0">
            <a:spAutoFit/>
          </a:bodyPr>
          <a:lstStyle/>
          <a:p>
            <a:pPr algn="just">
              <a:buNone/>
            </a:pPr>
            <a:r>
              <a:rPr lang="es-AR" b="1" u="sng" dirty="0" smtClean="0"/>
              <a:t>Santa Fe. Exención. </a:t>
            </a:r>
            <a:r>
              <a:rPr lang="es-AR" b="1" dirty="0" smtClean="0"/>
              <a:t>(art. 236, inc. 19 y 38). </a:t>
            </a:r>
          </a:p>
          <a:p>
            <a:pPr algn="just">
              <a:buNone/>
            </a:pPr>
            <a:endParaRPr lang="es-AR" b="1" u="sng" dirty="0" smtClean="0"/>
          </a:p>
          <a:p>
            <a:r>
              <a:rPr lang="es-AR" sz="1400" b="1" dirty="0" smtClean="0"/>
              <a:t>Inc. 19) </a:t>
            </a:r>
            <a:r>
              <a:rPr lang="es-AR" sz="1400" dirty="0" smtClean="0"/>
              <a:t>Los realizados por las sociedades cooperativas y asociaciones mutualistas con sus socios y, recíprocamente, los efectuados por los socios con sus cooperativas y mutualidades, siempre que los respectivos actos, contratos y operaciones que formalicen sean inherentes a la relación socio cooperativa o mutualidad que establezcan los estatutos de estas entidades. La exención alcanzará también al gravamen que recaiga sobre la garantía de terceros respecto de préstamos concedidos por las cooperativas y mutualidades a sus socios.</a:t>
            </a:r>
          </a:p>
          <a:p>
            <a:r>
              <a:rPr lang="es-AR" sz="1400" dirty="0" smtClean="0"/>
              <a:t>Esta exención no alcanza a los actos, contratos y operaciones:</a:t>
            </a:r>
          </a:p>
          <a:p>
            <a:r>
              <a:rPr lang="es-AR" sz="1400" b="1" dirty="0" smtClean="0"/>
              <a:t>a) </a:t>
            </a:r>
            <a:r>
              <a:rPr lang="es-AR" sz="1400" dirty="0" smtClean="0"/>
              <a:t>A los realizados por las cooperativas o asociaciones mutuales de seguros.</a:t>
            </a:r>
          </a:p>
          <a:p>
            <a:r>
              <a:rPr lang="es-AR" sz="1400" b="1" dirty="0" smtClean="0"/>
              <a:t>b) </a:t>
            </a:r>
            <a:r>
              <a:rPr lang="es-AR" sz="1400" dirty="0" smtClean="0"/>
              <a:t>A los realizados por las cooperativas encuadradas como entidades financieras a que refiere la ley nacional 21526.</a:t>
            </a:r>
          </a:p>
          <a:p>
            <a:r>
              <a:rPr lang="es-AR" sz="1400" b="1" dirty="0" smtClean="0"/>
              <a:t>c) </a:t>
            </a:r>
            <a:r>
              <a:rPr lang="es-AR" sz="1400" dirty="0" smtClean="0"/>
              <a:t>A las operaciones relacionadas con las actividades mutuales enumeradas en los puntos 1, 2 y 4 en el inciso e) del artículo 212 de este Código. Las operaciones financieras activas y pasivas de las mutuales que prestan servicios de ayuda económica tendrán idéntico tratamiento tributario frente al Impuesto de Sellos que las entidades comprendidas en el régimen de la ley 21526. (</a:t>
            </a:r>
            <a:r>
              <a:rPr lang="es-AR" sz="1400" b="1" dirty="0" smtClean="0"/>
              <a:t>Ley 11.257. art. 10. Alícuota reducida al 50 % sólo para operaciones activas).</a:t>
            </a:r>
            <a:endParaRPr lang="es-AR" sz="1400" dirty="0" smtClean="0"/>
          </a:p>
          <a:p>
            <a:pPr algn="just">
              <a:buNone/>
            </a:pPr>
            <a:endParaRPr lang="es-AR" sz="1400" dirty="0" smtClean="0"/>
          </a:p>
          <a:p>
            <a:r>
              <a:rPr lang="es-ES" sz="1400" b="1" dirty="0" smtClean="0"/>
              <a:t>Inc. 38) </a:t>
            </a:r>
            <a:r>
              <a:rPr lang="es-AR" sz="1400" dirty="0" smtClean="0"/>
              <a:t>Toda operación financiera activa y sus conexas, así como las de seguros, destinadas a los sectores agropecuario, industrial, </a:t>
            </a:r>
            <a:r>
              <a:rPr lang="es-AR" sz="1400" i="1" dirty="0" smtClean="0"/>
              <a:t>comercial</a:t>
            </a:r>
            <a:r>
              <a:rPr lang="es-AR" sz="1400" dirty="0" smtClean="0"/>
              <a:t>, minero y de la construcción, realizada con instituciones financieras y de seguros a que refiere la ley nacional 21526 y la ley 20091, y las entidades mutualistas comprendidas en la ley 20321, respectivamente, autorizadas a funcionar en tal carácter y regladas por las disposiciones legales nacionales que las regulan. Esta exención no alcanza a las actividades </a:t>
            </a:r>
            <a:r>
              <a:rPr lang="es-AR" sz="1400" dirty="0" err="1" smtClean="0"/>
              <a:t>hidrocarburíferas</a:t>
            </a:r>
            <a:r>
              <a:rPr lang="es-AR" sz="1400" dirty="0" smtClean="0"/>
              <a:t> y sus servicios complementarios, así como los supuestos previstos en el artículo 21 del Título III, Capítulo IV de la ley nacional 23966. </a:t>
            </a:r>
            <a:endParaRPr lang="es-AR" sz="1400" b="1" dirty="0" smtClean="0"/>
          </a:p>
          <a:p>
            <a:r>
              <a:rPr lang="es-AR" sz="1400" dirty="0" smtClean="0"/>
              <a:t>El Poder Ejecutivo podrá reglamentar los requisitos a que deberán adecuarse los sujetos pasivos del gravamen para gozar de la exención dispuesta. </a:t>
            </a:r>
            <a:r>
              <a:rPr lang="es-ES" sz="1400" b="1" dirty="0" smtClean="0"/>
              <a:t>(DDJJ Res. API 02/94 – Constancia de Actividad / RUPP </a:t>
            </a:r>
            <a:r>
              <a:rPr lang="es-ES" sz="1400" b="1" dirty="0" err="1" smtClean="0"/>
              <a:t>Dec</a:t>
            </a:r>
            <a:r>
              <a:rPr lang="es-ES" sz="1400" b="1" dirty="0" smtClean="0"/>
              <a:t>. 1724/2017).</a:t>
            </a:r>
            <a:endParaRPr lang="es-ES" sz="1400" dirty="0" smtClean="0"/>
          </a:p>
          <a:p>
            <a:pPr algn="just">
              <a:buNone/>
            </a:pPr>
            <a:endParaRPr lang="es-AR" sz="1200" dirty="0" smtClean="0"/>
          </a:p>
          <a:p>
            <a:pPr algn="just">
              <a:buFont typeface="Arial" pitchFamily="34" charset="0"/>
              <a:buChar char="•"/>
            </a:pPr>
            <a:r>
              <a:rPr lang="es-AR" sz="1200" b="1" dirty="0" smtClean="0"/>
              <a:t> Club Atlético San Jorge Mutual y Social c/</a:t>
            </a:r>
            <a:r>
              <a:rPr lang="es-AR" sz="1200" b="1" dirty="0" err="1" smtClean="0"/>
              <a:t>Pcia</a:t>
            </a:r>
            <a:r>
              <a:rPr lang="es-AR" sz="1200" b="1" dirty="0" smtClean="0"/>
              <a:t>. Santa Fe s/ recurso contencioso administrativo”. </a:t>
            </a:r>
            <a:r>
              <a:rPr lang="es-AR" sz="1200" b="1" dirty="0" err="1" smtClean="0"/>
              <a:t>Cám</a:t>
            </a:r>
            <a:r>
              <a:rPr lang="es-AR" sz="1200" b="1" dirty="0" smtClean="0"/>
              <a:t>. Cont. </a:t>
            </a:r>
            <a:r>
              <a:rPr lang="es-AR" sz="1200" b="1" dirty="0" err="1" smtClean="0"/>
              <a:t>Adm</a:t>
            </a:r>
            <a:r>
              <a:rPr lang="es-AR" sz="1200" b="1" dirty="0" smtClean="0"/>
              <a:t>. Nª 1”. 20/09/2013</a:t>
            </a:r>
            <a:r>
              <a:rPr lang="es-AR" sz="1200" dirty="0" smtClean="0"/>
              <a:t> / </a:t>
            </a:r>
            <a:r>
              <a:rPr lang="es-AR" sz="1200" b="1" dirty="0" smtClean="0"/>
              <a:t>CSJ Santa Fe. 17/08/2022.</a:t>
            </a:r>
            <a:r>
              <a:rPr lang="es-AR" sz="1200" dirty="0" smtClean="0"/>
              <a:t> Revocó la </a:t>
            </a:r>
            <a:r>
              <a:rPr lang="es-AR" sz="1200" dirty="0" err="1" smtClean="0"/>
              <a:t>dec</a:t>
            </a:r>
            <a:r>
              <a:rPr lang="es-AR" sz="1200" dirty="0" smtClean="0"/>
              <a:t>. Cámara.</a:t>
            </a:r>
          </a:p>
          <a:p>
            <a:pPr algn="just">
              <a:buFont typeface="Arial" pitchFamily="34" charset="0"/>
              <a:buChar char="•"/>
            </a:pPr>
            <a:r>
              <a:rPr lang="es-AR" sz="1200" b="1" dirty="0" smtClean="0"/>
              <a:t> Dictamen N° 241/2013 Dir. </a:t>
            </a:r>
            <a:r>
              <a:rPr lang="es-AR" sz="1200" b="1" dirty="0" err="1" smtClean="0"/>
              <a:t>Gral</a:t>
            </a:r>
            <a:r>
              <a:rPr lang="es-AR" sz="1200" b="1" dirty="0" smtClean="0"/>
              <a:t> Técnica  y Jurídica . API. </a:t>
            </a:r>
            <a:r>
              <a:rPr lang="es-AR" sz="1200" dirty="0" smtClean="0"/>
              <a:t>No se constató la </a:t>
            </a:r>
            <a:r>
              <a:rPr lang="es-AR" sz="1200" dirty="0" err="1" smtClean="0"/>
              <a:t>exist</a:t>
            </a:r>
            <a:r>
              <a:rPr lang="es-AR" sz="1200" dirty="0" smtClean="0"/>
              <a:t>. de instrumentos.</a:t>
            </a:r>
            <a:endParaRPr lang="es-AR" sz="1200" b="1" dirty="0" smtClean="0"/>
          </a:p>
          <a:p>
            <a:pPr algn="just">
              <a:buNone/>
            </a:pPr>
            <a:endParaRPr lang="es-AR" dirty="0" smtClean="0"/>
          </a:p>
          <a:p>
            <a:pPr algn="just">
              <a:buNone/>
            </a:pPr>
            <a:endParaRPr lang="es-AR"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214282" y="-24"/>
            <a:ext cx="8501122" cy="646331"/>
          </a:xfrm>
          <a:prstGeom prst="rect">
            <a:avLst/>
          </a:prstGeom>
          <a:noFill/>
        </p:spPr>
        <p:txBody>
          <a:bodyPr wrap="square" rtlCol="0">
            <a:spAutoFit/>
          </a:bodyPr>
          <a:lstStyle/>
          <a:p>
            <a:pPr algn="ctr"/>
            <a:r>
              <a:rPr lang="es-AR" sz="3600" b="1" dirty="0" smtClean="0">
                <a:solidFill>
                  <a:srgbClr val="FF0000"/>
                </a:solidFill>
              </a:rPr>
              <a:t>IMPUESTOS SELLOS (III) – Exenciones -</a:t>
            </a:r>
            <a:endParaRPr lang="es-ES" sz="3600" b="1" dirty="0">
              <a:solidFill>
                <a:srgbClr val="FF0000"/>
              </a:solidFill>
            </a:endParaRPr>
          </a:p>
        </p:txBody>
      </p:sp>
      <p:pic>
        <p:nvPicPr>
          <p:cNvPr id="9"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7" name="6 Marcador de número de diapositiva"/>
          <p:cNvSpPr>
            <a:spLocks noGrp="1"/>
          </p:cNvSpPr>
          <p:nvPr>
            <p:ph type="sldNum" sz="quarter" idx="12"/>
          </p:nvPr>
        </p:nvSpPr>
        <p:spPr/>
        <p:txBody>
          <a:bodyPr/>
          <a:lstStyle/>
          <a:p>
            <a:fld id="{47905A6E-3428-42CC-8A3B-D0D77FE4EB92}" type="slidenum">
              <a:rPr lang="es-ES" smtClean="0"/>
              <a:pPr/>
              <a:t>27</a:t>
            </a:fld>
            <a:endParaRPr lang="es-ES" dirty="0"/>
          </a:p>
        </p:txBody>
      </p:sp>
      <p:sp>
        <p:nvSpPr>
          <p:cNvPr id="10" name="9 CuadroTexto"/>
          <p:cNvSpPr txBox="1"/>
          <p:nvPr/>
        </p:nvSpPr>
        <p:spPr>
          <a:xfrm>
            <a:off x="179512" y="571480"/>
            <a:ext cx="8750206" cy="6647974"/>
          </a:xfrm>
          <a:prstGeom prst="rect">
            <a:avLst/>
          </a:prstGeom>
          <a:noFill/>
        </p:spPr>
        <p:txBody>
          <a:bodyPr wrap="square" rtlCol="0">
            <a:spAutoFit/>
          </a:bodyPr>
          <a:lstStyle/>
          <a:p>
            <a:pPr algn="just"/>
            <a:r>
              <a:rPr lang="es-AR" sz="2000" b="1" u="sng" dirty="0" smtClean="0"/>
              <a:t>Córdoba.</a:t>
            </a:r>
            <a:r>
              <a:rPr lang="es-AR" sz="2000" b="1" dirty="0" smtClean="0"/>
              <a:t> </a:t>
            </a:r>
            <a:r>
              <a:rPr lang="es-AR" sz="2000" b="1" u="sng" dirty="0" smtClean="0"/>
              <a:t>Gravada</a:t>
            </a:r>
            <a:r>
              <a:rPr lang="es-AR" sz="2000" b="1" dirty="0" smtClean="0"/>
              <a:t>. (art. 286, inc.2). </a:t>
            </a:r>
          </a:p>
          <a:p>
            <a:pPr algn="just"/>
            <a:endParaRPr lang="es-AR" sz="1600" b="1" u="sng" dirty="0" smtClean="0"/>
          </a:p>
          <a:p>
            <a:pPr algn="just">
              <a:buNone/>
            </a:pPr>
            <a:r>
              <a:rPr lang="es-AR" sz="1600" dirty="0" smtClean="0"/>
              <a:t>“No quedan comprendidas en esta exención las asociaciones mutualistas;…”.</a:t>
            </a:r>
          </a:p>
          <a:p>
            <a:pPr algn="just">
              <a:buNone/>
            </a:pPr>
            <a:endParaRPr lang="es-AR" sz="2000" dirty="0" smtClean="0"/>
          </a:p>
          <a:p>
            <a:pPr algn="just">
              <a:buNone/>
            </a:pPr>
            <a:r>
              <a:rPr lang="es-AR" sz="2000" b="1" u="sng" dirty="0" smtClean="0"/>
              <a:t>CABA.</a:t>
            </a:r>
            <a:r>
              <a:rPr lang="es-AR" sz="2000" b="1" dirty="0" smtClean="0"/>
              <a:t> </a:t>
            </a:r>
            <a:r>
              <a:rPr lang="es-AR" sz="2000" b="1" u="sng" dirty="0" smtClean="0"/>
              <a:t>Exenta</a:t>
            </a:r>
            <a:r>
              <a:rPr lang="es-AR" sz="2000" b="1" dirty="0" smtClean="0"/>
              <a:t>.</a:t>
            </a:r>
            <a:r>
              <a:rPr lang="es-AR" sz="2000" b="1" u="sng" dirty="0" smtClean="0"/>
              <a:t> </a:t>
            </a:r>
            <a:r>
              <a:rPr lang="es-AR" sz="2000" b="1" dirty="0" smtClean="0"/>
              <a:t>(art. 363, inc. 70). </a:t>
            </a:r>
          </a:p>
          <a:p>
            <a:pPr algn="just">
              <a:buNone/>
            </a:pPr>
            <a:endParaRPr lang="es-AR" sz="1400" b="1" u="sng" dirty="0" smtClean="0"/>
          </a:p>
          <a:p>
            <a:pPr algn="just">
              <a:buNone/>
            </a:pPr>
            <a:r>
              <a:rPr lang="es-AR" sz="1600" dirty="0" smtClean="0"/>
              <a:t>“Los actos que realicen las mutuales previstas en la Ley Nacional Nº 20.321 y sus asociados en el cumplimiento del objeto social y la consecución de los fines institucionales, </a:t>
            </a:r>
            <a:r>
              <a:rPr lang="es-AR" sz="1600" u="sng" dirty="0" smtClean="0"/>
              <a:t>excepto las actividades reguladas por la Ley de Seguros y las entidades financieras regidas por la Ley Nacional Nº 21.526</a:t>
            </a:r>
            <a:r>
              <a:rPr lang="es-AR" sz="1600" dirty="0" smtClean="0"/>
              <a:t>”. </a:t>
            </a:r>
          </a:p>
          <a:p>
            <a:pPr algn="just">
              <a:buNone/>
            </a:pPr>
            <a:endParaRPr lang="es-AR" sz="1200" dirty="0" smtClean="0"/>
          </a:p>
          <a:p>
            <a:pPr algn="just">
              <a:buNone/>
            </a:pPr>
            <a:r>
              <a:rPr lang="es-AR" sz="2000" b="1" u="sng" dirty="0" smtClean="0"/>
              <a:t>Provincia Buenos Aires.</a:t>
            </a:r>
            <a:r>
              <a:rPr lang="es-AR" sz="2000" b="1" dirty="0" smtClean="0"/>
              <a:t> </a:t>
            </a:r>
            <a:r>
              <a:rPr lang="es-AR" sz="2000" b="1" u="sng" dirty="0" smtClean="0"/>
              <a:t>Exenta parcial</a:t>
            </a:r>
            <a:r>
              <a:rPr lang="es-AR" sz="2000" b="1" dirty="0" smtClean="0"/>
              <a:t>.</a:t>
            </a:r>
          </a:p>
          <a:p>
            <a:pPr algn="just">
              <a:buNone/>
            </a:pPr>
            <a:endParaRPr lang="es-AR" sz="2000" b="1" dirty="0" smtClean="0"/>
          </a:p>
          <a:p>
            <a:pPr algn="just">
              <a:buNone/>
            </a:pPr>
            <a:r>
              <a:rPr lang="es-AR" sz="2000" b="1" dirty="0" smtClean="0"/>
              <a:t>(art. 296, </a:t>
            </a:r>
            <a:r>
              <a:rPr lang="es-AR" sz="2000" b="1" dirty="0" err="1" smtClean="0"/>
              <a:t>pto</a:t>
            </a:r>
            <a:r>
              <a:rPr lang="es-AR" sz="2000" b="1" dirty="0" smtClean="0"/>
              <a:t> 6): </a:t>
            </a:r>
            <a:r>
              <a:rPr lang="es-AR" sz="1600" dirty="0" smtClean="0"/>
              <a:t>“Los </a:t>
            </a:r>
            <a:r>
              <a:rPr lang="es-AR" sz="1600" u="sng" dirty="0" smtClean="0"/>
              <a:t>actos constitutivos </a:t>
            </a:r>
            <a:r>
              <a:rPr lang="es-AR" sz="1600" dirty="0" smtClean="0"/>
              <a:t>de las asociaciones mutualistas y de las entidades de bien público, incluso fundaciones”. </a:t>
            </a:r>
          </a:p>
          <a:p>
            <a:pPr algn="just"/>
            <a:r>
              <a:rPr lang="es-AR" sz="2000" b="1" dirty="0" smtClean="0"/>
              <a:t>(art. 297, </a:t>
            </a:r>
            <a:r>
              <a:rPr lang="es-AR" sz="2000" b="1" dirty="0" err="1" smtClean="0"/>
              <a:t>pto</a:t>
            </a:r>
            <a:r>
              <a:rPr lang="es-AR" sz="2000" b="1" dirty="0" smtClean="0"/>
              <a:t> 22): “</a:t>
            </a:r>
            <a:r>
              <a:rPr lang="es-AR" sz="1600" dirty="0" smtClean="0"/>
              <a:t>Documentación otorgada por sociedades mutuales formadas entre empleados, jubilados y pensionados de la Administración Pública Nacional, Provincial y Municipal”.</a:t>
            </a:r>
            <a:endParaRPr lang="es-ES" sz="1600" dirty="0" smtClean="0"/>
          </a:p>
          <a:p>
            <a:pPr algn="just">
              <a:buNone/>
            </a:pPr>
            <a:endParaRPr lang="es-AR" sz="2000" dirty="0" smtClean="0"/>
          </a:p>
          <a:p>
            <a:pPr algn="just">
              <a:buFont typeface="Arial" pitchFamily="34" charset="0"/>
              <a:buChar char="•"/>
            </a:pPr>
            <a:r>
              <a:rPr lang="es-AR" sz="1600" b="1" dirty="0" smtClean="0"/>
              <a:t> Consulta Dir. </a:t>
            </a:r>
            <a:r>
              <a:rPr lang="es-AR" sz="1600" b="1" dirty="0" err="1" smtClean="0"/>
              <a:t>Téc</a:t>
            </a:r>
            <a:r>
              <a:rPr lang="es-AR" sz="1600" b="1" dirty="0" smtClean="0"/>
              <a:t>. </a:t>
            </a:r>
            <a:r>
              <a:rPr lang="es-AR" sz="1600" b="1" dirty="0" err="1" smtClean="0"/>
              <a:t>Trib</a:t>
            </a:r>
            <a:r>
              <a:rPr lang="es-AR" sz="1600" b="1" dirty="0" smtClean="0"/>
              <a:t>. DPR Bs. As.) 148/2001. (29/05/2001)</a:t>
            </a:r>
            <a:r>
              <a:rPr lang="es-AR" sz="1600" dirty="0" smtClean="0"/>
              <a:t>. Presentación Federación Mutuales.</a:t>
            </a:r>
          </a:p>
          <a:p>
            <a:pPr algn="just">
              <a:buFont typeface="Arial" pitchFamily="34" charset="0"/>
              <a:buChar char="•"/>
            </a:pPr>
            <a:r>
              <a:rPr lang="es-ES" sz="1600" b="1" dirty="0" smtClean="0"/>
              <a:t> ARBA. Informe N° 4/2014. (13/03/2014). </a:t>
            </a:r>
            <a:r>
              <a:rPr lang="es-ES" sz="1600" dirty="0" smtClean="0"/>
              <a:t>Solicitud y pagaré. No aplica operaciones monetarias.</a:t>
            </a:r>
            <a:endParaRPr lang="es-ES" sz="1600" b="1" dirty="0" smtClean="0"/>
          </a:p>
          <a:p>
            <a:pPr algn="just">
              <a:buFont typeface="Arial" pitchFamily="34" charset="0"/>
              <a:buChar char="•"/>
            </a:pPr>
            <a:r>
              <a:rPr lang="es-ES" sz="1600" b="1" dirty="0" smtClean="0"/>
              <a:t> ARBA. Informe N° 075/03. (08/05/03). </a:t>
            </a:r>
            <a:r>
              <a:rPr lang="es-ES" sz="1600" dirty="0" smtClean="0"/>
              <a:t>Mayor a 50% empleados públicos.</a:t>
            </a:r>
            <a:endParaRPr lang="es-ES" sz="1600" b="1" dirty="0" smtClean="0"/>
          </a:p>
          <a:p>
            <a:pPr algn="just"/>
            <a:endParaRPr lang="es-ES" sz="1600" dirty="0" smtClean="0"/>
          </a:p>
          <a:p>
            <a:pPr algn="just">
              <a:buNone/>
            </a:pPr>
            <a:endParaRPr lang="es-AR" sz="1600" b="1" dirty="0" smtClean="0"/>
          </a:p>
          <a:p>
            <a:pPr algn="just">
              <a:buNone/>
            </a:pPr>
            <a:endParaRPr lang="es-AR" sz="1200" b="1" u="sng" dirty="0" smtClean="0"/>
          </a:p>
          <a:p>
            <a:pPr algn="just">
              <a:buNone/>
            </a:pPr>
            <a:endParaRPr lang="es-AR" sz="1200" b="1" u="sng" dirty="0" smtClean="0"/>
          </a:p>
          <a:p>
            <a:pPr algn="just">
              <a:buNone/>
            </a:pPr>
            <a:endParaRPr lang="es-AR" sz="1200" b="1" u="sng" dirty="0" smtClean="0"/>
          </a:p>
          <a:p>
            <a:pPr algn="just">
              <a:buNone/>
            </a:pPr>
            <a:endParaRPr lang="es-AR" sz="1200" b="1" u="sng" dirty="0" smtClean="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4 CuadroTexto"/>
          <p:cNvSpPr txBox="1"/>
          <p:nvPr/>
        </p:nvSpPr>
        <p:spPr>
          <a:xfrm>
            <a:off x="391358" y="-24"/>
            <a:ext cx="8501122" cy="646331"/>
          </a:xfrm>
          <a:prstGeom prst="rect">
            <a:avLst/>
          </a:prstGeom>
          <a:noFill/>
        </p:spPr>
        <p:txBody>
          <a:bodyPr wrap="square" rtlCol="0">
            <a:spAutoFit/>
          </a:bodyPr>
          <a:lstStyle/>
          <a:p>
            <a:pPr algn="ctr"/>
            <a:r>
              <a:rPr lang="es-AR" sz="3600" b="1" dirty="0" smtClean="0">
                <a:solidFill>
                  <a:srgbClr val="FF0000"/>
                </a:solidFill>
              </a:rPr>
              <a:t>IMPUESTOS SELLOS (IV)</a:t>
            </a:r>
            <a:endParaRPr lang="es-ES" sz="3600" b="1" dirty="0">
              <a:solidFill>
                <a:srgbClr val="FF0000"/>
              </a:solidFill>
            </a:endParaRPr>
          </a:p>
        </p:txBody>
      </p:sp>
      <p:pic>
        <p:nvPicPr>
          <p:cNvPr id="9"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
        <p:nvSpPr>
          <p:cNvPr id="7" name="6 Marcador de número de diapositiva"/>
          <p:cNvSpPr>
            <a:spLocks noGrp="1"/>
          </p:cNvSpPr>
          <p:nvPr>
            <p:ph type="sldNum" sz="quarter" idx="12"/>
          </p:nvPr>
        </p:nvSpPr>
        <p:spPr/>
        <p:txBody>
          <a:bodyPr/>
          <a:lstStyle/>
          <a:p>
            <a:fld id="{47905A6E-3428-42CC-8A3B-D0D77FE4EB92}" type="slidenum">
              <a:rPr lang="es-ES" smtClean="0"/>
              <a:pPr/>
              <a:t>28</a:t>
            </a:fld>
            <a:endParaRPr lang="es-ES" dirty="0"/>
          </a:p>
        </p:txBody>
      </p:sp>
      <p:pic>
        <p:nvPicPr>
          <p:cNvPr id="6" name="5 Imagen" descr="Cuadro IB 2025.jpg"/>
          <p:cNvPicPr>
            <a:picLocks noChangeAspect="1"/>
          </p:cNvPicPr>
          <p:nvPr/>
        </p:nvPicPr>
        <p:blipFill>
          <a:blip r:embed="rId3" cstate="print"/>
          <a:stretch>
            <a:fillRect/>
          </a:stretch>
        </p:blipFill>
        <p:spPr>
          <a:xfrm>
            <a:off x="214282" y="591903"/>
            <a:ext cx="8786874" cy="5694618"/>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8 Marcador de contenido"/>
          <p:cNvSpPr>
            <a:spLocks noGrp="1"/>
          </p:cNvSpPr>
          <p:nvPr>
            <p:ph idx="1"/>
          </p:nvPr>
        </p:nvSpPr>
        <p:spPr>
          <a:xfrm>
            <a:off x="214282" y="71414"/>
            <a:ext cx="8365134" cy="6215082"/>
          </a:xfrm>
        </p:spPr>
        <p:txBody>
          <a:bodyPr>
            <a:normAutofit/>
          </a:bodyPr>
          <a:lstStyle/>
          <a:p>
            <a:pPr>
              <a:buNone/>
            </a:pPr>
            <a:endParaRPr lang="es-AR" dirty="0" smtClean="0"/>
          </a:p>
          <a:p>
            <a:pPr algn="just">
              <a:buNone/>
            </a:pPr>
            <a:r>
              <a:rPr lang="es-AR" sz="2600" b="1" dirty="0" smtClean="0"/>
              <a:t>Santa Fe</a:t>
            </a:r>
          </a:p>
          <a:p>
            <a:pPr algn="just">
              <a:buFont typeface="Wingdings" pitchFamily="2" charset="2"/>
              <a:buChar char="ü"/>
            </a:pPr>
            <a:r>
              <a:rPr lang="es-AR" sz="1900" dirty="0" smtClean="0"/>
              <a:t>Vto. Pago: 1° Quincena. Día 25 de cada mes. 2° Quincena. Día 10 del mes siguiente. </a:t>
            </a:r>
          </a:p>
          <a:p>
            <a:pPr algn="just">
              <a:buFont typeface="Wingdings" pitchFamily="2" charset="2"/>
              <a:buChar char="ü"/>
            </a:pPr>
            <a:endParaRPr lang="es-AR" sz="1900" dirty="0" smtClean="0"/>
          </a:p>
          <a:p>
            <a:pPr algn="just">
              <a:buNone/>
            </a:pPr>
            <a:r>
              <a:rPr lang="es-AR" sz="2600" b="1" dirty="0" smtClean="0"/>
              <a:t>Córdoba</a:t>
            </a:r>
          </a:p>
          <a:p>
            <a:pPr algn="just">
              <a:buFont typeface="Wingdings" pitchFamily="2" charset="2"/>
              <a:buChar char="ü"/>
            </a:pPr>
            <a:r>
              <a:rPr lang="es-AR" sz="1900" dirty="0" smtClean="0"/>
              <a:t>Vto. Pago: 1° Quincena. Día 25 de cada mes. 2° Quincena. Día 10 del mes siguiente. </a:t>
            </a:r>
          </a:p>
          <a:p>
            <a:pPr algn="just">
              <a:buFont typeface="Wingdings" pitchFamily="2" charset="2"/>
              <a:buChar char="ü"/>
            </a:pPr>
            <a:endParaRPr lang="es-AR" sz="1900" dirty="0" smtClean="0"/>
          </a:p>
          <a:p>
            <a:pPr algn="just">
              <a:buNone/>
            </a:pPr>
            <a:r>
              <a:rPr lang="es-AR" sz="2600" b="1" dirty="0" smtClean="0"/>
              <a:t>CABA</a:t>
            </a:r>
          </a:p>
          <a:p>
            <a:pPr algn="just">
              <a:buFont typeface="Wingdings" pitchFamily="2" charset="2"/>
              <a:buChar char="ü"/>
            </a:pPr>
            <a:r>
              <a:rPr lang="es-AR" sz="1900" dirty="0" smtClean="0"/>
              <a:t>Vto. Pago: Día 10 de cada mes sin pago a cuenta.</a:t>
            </a:r>
          </a:p>
          <a:p>
            <a:pPr algn="just">
              <a:buFont typeface="Wingdings" pitchFamily="2" charset="2"/>
              <a:buChar char="ü"/>
            </a:pPr>
            <a:endParaRPr lang="es-ES" sz="1900" dirty="0" smtClean="0"/>
          </a:p>
          <a:p>
            <a:pPr algn="just">
              <a:buNone/>
            </a:pPr>
            <a:r>
              <a:rPr lang="es-AR" sz="2600" b="1" dirty="0" smtClean="0"/>
              <a:t>Provincia Buenos Aires</a:t>
            </a:r>
          </a:p>
          <a:p>
            <a:pPr algn="just">
              <a:buFont typeface="Wingdings" pitchFamily="2" charset="2"/>
              <a:buChar char="ü"/>
            </a:pPr>
            <a:r>
              <a:rPr lang="es-AR" sz="1900" dirty="0" smtClean="0"/>
              <a:t>Vto. Pago: 1° Quincena. Día 26 de cada mes. 2° Quincena. Día 10 del mes siguiente.</a:t>
            </a:r>
          </a:p>
          <a:p>
            <a:pPr algn="just">
              <a:buFont typeface="Wingdings" pitchFamily="2" charset="2"/>
              <a:buChar char="ü"/>
            </a:pPr>
            <a:endParaRPr lang="es-AR" sz="1900" dirty="0" smtClean="0"/>
          </a:p>
          <a:p>
            <a:pPr algn="just">
              <a:buNone/>
            </a:pPr>
            <a:endParaRPr lang="es-ES" sz="1900" dirty="0" smtClean="0"/>
          </a:p>
          <a:p>
            <a:pPr algn="just">
              <a:buNone/>
            </a:pPr>
            <a:endParaRPr lang="es-ES" sz="1900" dirty="0" smtClean="0"/>
          </a:p>
          <a:p>
            <a:pPr algn="just">
              <a:buNone/>
            </a:pPr>
            <a:endParaRPr lang="es-ES" sz="1900" dirty="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29</a:t>
            </a:fld>
            <a:endParaRPr lang="es-ES" dirty="0"/>
          </a:p>
        </p:txBody>
      </p:sp>
      <p:sp>
        <p:nvSpPr>
          <p:cNvPr id="5" name="4 CuadroTexto"/>
          <p:cNvSpPr txBox="1"/>
          <p:nvPr/>
        </p:nvSpPr>
        <p:spPr>
          <a:xfrm>
            <a:off x="142844" y="142852"/>
            <a:ext cx="8501122" cy="646331"/>
          </a:xfrm>
          <a:prstGeom prst="rect">
            <a:avLst/>
          </a:prstGeom>
          <a:noFill/>
        </p:spPr>
        <p:txBody>
          <a:bodyPr wrap="square" rtlCol="0">
            <a:spAutoFit/>
          </a:bodyPr>
          <a:lstStyle/>
          <a:p>
            <a:pPr algn="ctr"/>
            <a:r>
              <a:rPr lang="es-AR" sz="3600" b="1" dirty="0" smtClean="0">
                <a:solidFill>
                  <a:srgbClr val="FF0000"/>
                </a:solidFill>
              </a:rPr>
              <a:t>IMPUESTOS SELLOS (V)</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24"/>
            <a:ext cx="9001156" cy="7000924"/>
          </a:xfrm>
        </p:spPr>
        <p:txBody>
          <a:bodyPr>
            <a:noAutofit/>
          </a:bodyPr>
          <a:lstStyle/>
          <a:p>
            <a:pPr>
              <a:lnSpc>
                <a:spcPct val="170000"/>
              </a:lnSpc>
              <a:buNone/>
            </a:pPr>
            <a:endParaRPr lang="es-AR" sz="1200" dirty="0" smtClean="0"/>
          </a:p>
          <a:p>
            <a:pPr algn="just">
              <a:lnSpc>
                <a:spcPct val="170000"/>
              </a:lnSpc>
              <a:buNone/>
            </a:pPr>
            <a:endParaRPr lang="es-AR" sz="1200" dirty="0" smtClean="0"/>
          </a:p>
          <a:p>
            <a:pPr algn="just">
              <a:lnSpc>
                <a:spcPct val="170000"/>
              </a:lnSpc>
            </a:pPr>
            <a:r>
              <a:rPr lang="es-AR" sz="1500" b="1" dirty="0" smtClean="0"/>
              <a:t>Córdoba. Exención Subjetiva.</a:t>
            </a:r>
          </a:p>
          <a:p>
            <a:pPr algn="just">
              <a:lnSpc>
                <a:spcPct val="170000"/>
              </a:lnSpc>
              <a:buNone/>
            </a:pPr>
            <a:r>
              <a:rPr lang="es-AR" sz="1500" i="1" dirty="0" smtClean="0"/>
              <a:t>Art. 196, inc. 2) “Los inmuebles pertenecientes a fundaciones, colegios o consejos profesionales, asociaciones civiles y </a:t>
            </a:r>
            <a:r>
              <a:rPr lang="es-AR" sz="1500" b="1" i="1" u="sng" dirty="0" smtClean="0"/>
              <a:t>mutualistas</a:t>
            </a:r>
            <a:r>
              <a:rPr lang="es-AR" sz="1500" i="1" dirty="0" smtClean="0"/>
              <a:t>, simples asociaciones y entidades religiosas que, conforme a sus estatutos o documentos de constitución no persigan fines de lucro, a los centros vecinales constituidos, conforme la legislación vigente, siempre que estén afectados directamente a los fines específicos de dichas instituciones…”</a:t>
            </a:r>
          </a:p>
          <a:p>
            <a:pPr>
              <a:lnSpc>
                <a:spcPct val="170000"/>
              </a:lnSpc>
            </a:pPr>
            <a:r>
              <a:rPr lang="es-AR" sz="1500" b="1" dirty="0" smtClean="0"/>
              <a:t>Santa Fe. Exención Parcial.</a:t>
            </a:r>
          </a:p>
          <a:p>
            <a:pPr algn="just">
              <a:lnSpc>
                <a:spcPct val="150000"/>
              </a:lnSpc>
              <a:buNone/>
            </a:pPr>
            <a:r>
              <a:rPr lang="es-AR" sz="1500" i="1" dirty="0" smtClean="0"/>
              <a:t>Art. 166, inc. f) “Los inmuebles ocupados por asociaciones obreras, de empresarios o profesionales, de sociedades cooperativas de vivienda y/o trabajo, asociaciones de fomento, asociaciones vecinales con personería jurídica, </a:t>
            </a:r>
            <a:r>
              <a:rPr lang="es-AR" sz="1500" b="1" i="1" u="sng" dirty="0" smtClean="0"/>
              <a:t>asociaciones mutualistas</a:t>
            </a:r>
            <a:r>
              <a:rPr lang="es-AR" sz="1500" i="1" dirty="0" smtClean="0"/>
              <a:t>, centros de jubilados y los partidos políticos, siempre que les pertenezcan en propiedad. </a:t>
            </a:r>
            <a:r>
              <a:rPr lang="es-AR" sz="1500" b="1" i="1" u="sng" dirty="0" smtClean="0"/>
              <a:t>Esta exención no alcanza a los inmuebles de asociaciones mutuales que operen en el mercado del seguro</a:t>
            </a:r>
            <a:r>
              <a:rPr lang="es-AR" sz="1500" i="1" dirty="0" smtClean="0"/>
              <a:t>. Las exenciones se extenderán a solicitud de parte en cualquier tiempo y subsistirán mientras las condiciones que le dieron origen no varíen y la norma impositiva no sufra modificaciones.</a:t>
            </a:r>
          </a:p>
          <a:p>
            <a:pPr algn="just">
              <a:lnSpc>
                <a:spcPct val="150000"/>
              </a:lnSpc>
              <a:buNone/>
            </a:pPr>
            <a:r>
              <a:rPr lang="es-AR" sz="1500" i="1" dirty="0" smtClean="0"/>
              <a:t>	Las exenciones otorgadas no darán derecho a solicitar la repetición de lo que se hubiere pagado.”</a:t>
            </a:r>
          </a:p>
          <a:p>
            <a:pPr algn="just">
              <a:lnSpc>
                <a:spcPct val="150000"/>
              </a:lnSpc>
              <a:buNone/>
            </a:pPr>
            <a:endParaRPr lang="es-AR" sz="1500" i="1" dirty="0" smtClean="0"/>
          </a:p>
          <a:p>
            <a:pPr>
              <a:lnSpc>
                <a:spcPct val="150000"/>
              </a:lnSpc>
              <a:buNone/>
            </a:pPr>
            <a:endParaRPr lang="es-AR" sz="12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30</a:t>
            </a:fld>
            <a:endParaRPr lang="es-ES" dirty="0"/>
          </a:p>
        </p:txBody>
      </p:sp>
      <p:sp>
        <p:nvSpPr>
          <p:cNvPr id="5" name="4 CuadroTexto"/>
          <p:cNvSpPr txBox="1"/>
          <p:nvPr/>
        </p:nvSpPr>
        <p:spPr>
          <a:xfrm>
            <a:off x="1142976" y="-71462"/>
            <a:ext cx="8501122" cy="646331"/>
          </a:xfrm>
          <a:prstGeom prst="rect">
            <a:avLst/>
          </a:prstGeom>
          <a:noFill/>
        </p:spPr>
        <p:txBody>
          <a:bodyPr wrap="square" rtlCol="0">
            <a:spAutoFit/>
          </a:bodyPr>
          <a:lstStyle/>
          <a:p>
            <a:pPr algn="ctr"/>
            <a:r>
              <a:rPr lang="es-ES" sz="3600" b="1" dirty="0" smtClean="0">
                <a:solidFill>
                  <a:srgbClr val="FF0000"/>
                </a:solidFill>
              </a:rPr>
              <a:t>Impuesto Inmobiliario (I) </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142852"/>
            <a:ext cx="9001156" cy="5162346"/>
          </a:xfrm>
        </p:spPr>
        <p:txBody>
          <a:bodyPr>
            <a:noAutofit/>
          </a:bodyPr>
          <a:lstStyle/>
          <a:p>
            <a:pPr>
              <a:lnSpc>
                <a:spcPct val="170000"/>
              </a:lnSpc>
              <a:buNone/>
            </a:pPr>
            <a:endParaRPr lang="es-AR" sz="1200" dirty="0" smtClean="0"/>
          </a:p>
          <a:p>
            <a:pPr algn="just">
              <a:lnSpc>
                <a:spcPct val="170000"/>
              </a:lnSpc>
              <a:buNone/>
            </a:pPr>
            <a:r>
              <a:rPr lang="es-AR" sz="1600" b="1" dirty="0" smtClean="0"/>
              <a:t>Ciudad de Buenos Aires. Exención General Subjetiva.</a:t>
            </a:r>
          </a:p>
          <a:p>
            <a:pPr algn="just">
              <a:lnSpc>
                <a:spcPct val="150000"/>
              </a:lnSpc>
              <a:buNone/>
            </a:pPr>
            <a:r>
              <a:rPr lang="es-AR" sz="1600" b="1" i="1" dirty="0" smtClean="0"/>
              <a:t>Art. 195</a:t>
            </a:r>
            <a:r>
              <a:rPr lang="es-AR" sz="1600" i="1" dirty="0" smtClean="0"/>
              <a:t>- “Están exentos del pago de los tributos establecidos por el presente Código…, inc. 5). Las asociaciones mutualistas constituidas de conformidad con la legislación vigente…”</a:t>
            </a:r>
          </a:p>
          <a:p>
            <a:pPr algn="just">
              <a:lnSpc>
                <a:spcPct val="150000"/>
              </a:lnSpc>
              <a:buNone/>
            </a:pPr>
            <a:r>
              <a:rPr lang="es-AR" sz="1600" b="1" dirty="0" smtClean="0"/>
              <a:t>Provincia de Buenos Aires. Gravado. </a:t>
            </a:r>
          </a:p>
          <a:p>
            <a:pPr algn="just">
              <a:lnSpc>
                <a:spcPct val="150000"/>
              </a:lnSpc>
            </a:pPr>
            <a:r>
              <a:rPr lang="es-AR" sz="1600" dirty="0" smtClean="0"/>
              <a:t>Excepto que el inmueble esté destinado a alguna de las actividades que la normativa beneficie con la exención según el artículo 177. </a:t>
            </a:r>
          </a:p>
          <a:p>
            <a:pPr algn="just">
              <a:lnSpc>
                <a:spcPct val="150000"/>
              </a:lnSpc>
            </a:pPr>
            <a:r>
              <a:rPr lang="es-AR" sz="1600" dirty="0" smtClean="0"/>
              <a:t>Excepto l</a:t>
            </a:r>
            <a:r>
              <a:rPr lang="es-ES" sz="1600" dirty="0" smtClean="0"/>
              <a:t>as Mutuales de Organizaciones de Comunidades Migrantes que hayan tenido ingresos gravados, no gravados y exentos en el período fiscal anterior, por el desarrollo de cualquier actividad dentro o fuera de la Provincia, por ingresos anuales totales hasta un monto equivalente a los ingresos máximos de la categoría G de </a:t>
            </a:r>
            <a:r>
              <a:rPr lang="es-ES" sz="1600" dirty="0" err="1" smtClean="0"/>
              <a:t>monotributo</a:t>
            </a:r>
            <a:r>
              <a:rPr lang="es-ES" sz="1600" dirty="0" smtClean="0"/>
              <a:t>.</a:t>
            </a:r>
            <a:endParaRPr lang="es-AR" sz="1600" dirty="0" smtClean="0"/>
          </a:p>
          <a:p>
            <a:pPr algn="just">
              <a:lnSpc>
                <a:spcPct val="150000"/>
              </a:lnSpc>
              <a:buNone/>
            </a:pPr>
            <a:r>
              <a:rPr lang="es-AR" sz="1600" dirty="0" smtClean="0"/>
              <a:t>	</a:t>
            </a:r>
            <a:r>
              <a:rPr lang="es-AR" sz="1600" b="1" dirty="0" smtClean="0"/>
              <a:t>(“A.M.E.M.O.P.”. Suprema Corte PB. 21/03/2012</a:t>
            </a:r>
            <a:r>
              <a:rPr lang="es-AR" sz="1600" dirty="0" smtClean="0"/>
              <a:t>. Reconocimiento parcial de la exención según el destino del inmueble.). Pronunciamiento con anterior redacción de la ley.</a:t>
            </a:r>
          </a:p>
          <a:p>
            <a:pPr algn="just">
              <a:lnSpc>
                <a:spcPct val="150000"/>
              </a:lnSpc>
              <a:buNone/>
            </a:pPr>
            <a:endParaRPr lang="es-AR" sz="1600" b="1" dirty="0" smtClean="0"/>
          </a:p>
          <a:p>
            <a:pPr>
              <a:lnSpc>
                <a:spcPct val="150000"/>
              </a:lnSpc>
              <a:buNone/>
            </a:pPr>
            <a:endParaRPr lang="es-AR" sz="18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31</a:t>
            </a:fld>
            <a:endParaRPr lang="es-ES" dirty="0"/>
          </a:p>
        </p:txBody>
      </p:sp>
      <p:sp>
        <p:nvSpPr>
          <p:cNvPr id="5" name="4 CuadroTexto"/>
          <p:cNvSpPr txBox="1"/>
          <p:nvPr/>
        </p:nvSpPr>
        <p:spPr>
          <a:xfrm>
            <a:off x="214282" y="-71462"/>
            <a:ext cx="8501122" cy="646331"/>
          </a:xfrm>
          <a:prstGeom prst="rect">
            <a:avLst/>
          </a:prstGeom>
          <a:noFill/>
        </p:spPr>
        <p:txBody>
          <a:bodyPr wrap="square" rtlCol="0">
            <a:spAutoFit/>
          </a:bodyPr>
          <a:lstStyle/>
          <a:p>
            <a:pPr algn="ctr"/>
            <a:r>
              <a:rPr lang="es-ES" sz="3600" b="1" dirty="0" smtClean="0">
                <a:solidFill>
                  <a:srgbClr val="FF0000"/>
                </a:solidFill>
              </a:rPr>
              <a:t>Impuesto Inmobiliario (II) </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0" y="267488"/>
            <a:ext cx="9144000" cy="3665568"/>
          </a:xfrm>
        </p:spPr>
        <p:txBody>
          <a:bodyPr>
            <a:noAutofit/>
          </a:bodyPr>
          <a:lstStyle/>
          <a:p>
            <a:pPr>
              <a:lnSpc>
                <a:spcPct val="170000"/>
              </a:lnSpc>
              <a:buNone/>
            </a:pPr>
            <a:r>
              <a:rPr lang="es-AR" sz="1400" b="1" dirty="0" smtClean="0">
                <a:solidFill>
                  <a:srgbClr val="163F9A"/>
                </a:solidFill>
              </a:rPr>
              <a:t>Tasa General de Inmuebles. </a:t>
            </a:r>
          </a:p>
          <a:p>
            <a:pPr>
              <a:lnSpc>
                <a:spcPct val="170000"/>
              </a:lnSpc>
              <a:buNone/>
            </a:pPr>
            <a:r>
              <a:rPr lang="es-AR" sz="1400" b="1" u="sng" dirty="0" smtClean="0"/>
              <a:t>Exenta</a:t>
            </a:r>
            <a:r>
              <a:rPr lang="es-AR" sz="1400" dirty="0" smtClean="0"/>
              <a:t>:  Art. 76, inc. m) “Los inmuebles de propiedad de </a:t>
            </a:r>
            <a:r>
              <a:rPr lang="es-AR" sz="1400" b="1" u="sng" dirty="0" smtClean="0"/>
              <a:t>entidades mutualistas </a:t>
            </a:r>
            <a:r>
              <a:rPr lang="es-AR" sz="1400" dirty="0" smtClean="0"/>
              <a:t>con personería jurídica e inscriptos en los organismos oficiales correspondientes, que se hallen empadronados como “finca” a los fines del tributo, se ocupen por la entidad mutual y se destinen a la atención de sus fines específicos; con </a:t>
            </a:r>
            <a:r>
              <a:rPr lang="es-AR" sz="1400" u="sng" dirty="0" smtClean="0"/>
              <a:t>excepción de las actividades de seguros, colocaciones financieras y préstamos de dinero, cualquiera sea el origen de los fondos; y en tales casos las mismas revistan el carácter de principal, considerados individualmente los ingresos anuales de la entidad, conforme lo disponga la reglamentación pertinente</a:t>
            </a:r>
            <a:r>
              <a:rPr lang="es-AR" sz="1400" dirty="0" smtClean="0"/>
              <a:t>. </a:t>
            </a:r>
            <a:br>
              <a:rPr lang="es-AR" sz="1400" dirty="0" smtClean="0"/>
            </a:br>
            <a:r>
              <a:rPr lang="es-AR" sz="1400" dirty="0" smtClean="0"/>
              <a:t>El beneficio que reconoce el presente inciso poseerá un tope periódico equivalente a cinco (5) veces la cuota mínima total absoluta de “fincas” que corresponda tributar por la Tasa General de Inmuebles y sus adicionales del radio uno del Municipio. No se emitirá valor diferencial en su caso, mientras tal diferencia no iguale o supere aquella cuota mínima total.” </a:t>
            </a:r>
          </a:p>
          <a:p>
            <a:pPr>
              <a:lnSpc>
                <a:spcPct val="170000"/>
              </a:lnSpc>
              <a:buNone/>
            </a:pPr>
            <a:r>
              <a:rPr lang="es-AR" sz="1400" b="1" dirty="0" smtClean="0">
                <a:solidFill>
                  <a:srgbClr val="163F9A"/>
                </a:solidFill>
              </a:rPr>
              <a:t>Derecho Registro e Inspección.</a:t>
            </a:r>
          </a:p>
          <a:p>
            <a:r>
              <a:rPr lang="es-AR" sz="1400" b="1" u="sng" dirty="0" smtClean="0"/>
              <a:t>Exenta</a:t>
            </a:r>
            <a:r>
              <a:rPr lang="es-AR" sz="1400" b="1" dirty="0" smtClean="0"/>
              <a:t>.</a:t>
            </a:r>
            <a:r>
              <a:rPr lang="es-AR" sz="1400" dirty="0" smtClean="0"/>
              <a:t> Art. 89, inc. </a:t>
            </a:r>
            <a:r>
              <a:rPr lang="es-AR" sz="1400" b="1" dirty="0" smtClean="0"/>
              <a:t>f)</a:t>
            </a:r>
            <a:r>
              <a:rPr lang="es-AR" sz="1400" dirty="0" smtClean="0"/>
              <a:t> Las instituciones de carácter mutualista legalmente inscriptas en los organismos oficiales correspondientes, con excepción de:</a:t>
            </a:r>
          </a:p>
          <a:p>
            <a:r>
              <a:rPr lang="es-AR" sz="1400" dirty="0" smtClean="0"/>
              <a:t>1. Actividades de guarderías náuticas, siempre que la explotación sea realizada por empresas privadas, seguros, colocaciones financieras y préstamos de dinero, cualquiera sea el origen de los fondos.</a:t>
            </a:r>
          </a:p>
          <a:p>
            <a:r>
              <a:rPr lang="es-AR" sz="1400" dirty="0" smtClean="0"/>
              <a:t>2. Actividades comerciales, industriales y de servicios; cuyos ingresos derivados superen, anualmente, el monto de ingresos brutos establecido en artículo 12 bis de la Ordenanza General Impositiva. ($ 60.965.360.-). (por cada actividad) </a:t>
            </a:r>
            <a:r>
              <a:rPr lang="es-AR" sz="1400" i="1" dirty="0" smtClean="0">
                <a:hlinkClick r:id="rId2"/>
              </a:rPr>
              <a:t>(Inciso modificado por el Art. 7° de la Ordenanza N° 10.750)</a:t>
            </a:r>
            <a:r>
              <a:rPr lang="es-AR" sz="1400" dirty="0" smtClean="0"/>
              <a:t>. (Decreto 444/2025).</a:t>
            </a:r>
          </a:p>
          <a:p>
            <a:pPr algn="just">
              <a:lnSpc>
                <a:spcPct val="170000"/>
              </a:lnSpc>
              <a:buNone/>
            </a:pPr>
            <a:endParaRPr lang="es-AR" sz="1400" dirty="0" smtClean="0"/>
          </a:p>
          <a:p>
            <a:pPr>
              <a:lnSpc>
                <a:spcPct val="170000"/>
              </a:lnSpc>
              <a:buNone/>
            </a:pPr>
            <a:endParaRPr lang="es-AR" sz="12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32</a:t>
            </a:fld>
            <a:endParaRPr lang="es-ES" dirty="0"/>
          </a:p>
        </p:txBody>
      </p:sp>
      <p:sp>
        <p:nvSpPr>
          <p:cNvPr id="5" name="4 CuadroTexto"/>
          <p:cNvSpPr txBox="1"/>
          <p:nvPr/>
        </p:nvSpPr>
        <p:spPr>
          <a:xfrm>
            <a:off x="103326" y="-99392"/>
            <a:ext cx="8501122" cy="646331"/>
          </a:xfrm>
          <a:prstGeom prst="rect">
            <a:avLst/>
          </a:prstGeom>
          <a:noFill/>
        </p:spPr>
        <p:txBody>
          <a:bodyPr wrap="square" rtlCol="0">
            <a:spAutoFit/>
          </a:bodyPr>
          <a:lstStyle/>
          <a:p>
            <a:pPr algn="ctr"/>
            <a:r>
              <a:rPr lang="es-ES" sz="3600" b="1" dirty="0" smtClean="0">
                <a:solidFill>
                  <a:srgbClr val="FF0000"/>
                </a:solidFill>
              </a:rPr>
              <a:t>Tasas/Cont. Municipales (I) –Rosario- </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3"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1406" y="981298"/>
            <a:ext cx="8929718" cy="4876594"/>
          </a:xfrm>
        </p:spPr>
        <p:txBody>
          <a:bodyPr>
            <a:noAutofit/>
          </a:bodyPr>
          <a:lstStyle/>
          <a:p>
            <a:pPr>
              <a:lnSpc>
                <a:spcPct val="170000"/>
              </a:lnSpc>
              <a:buNone/>
            </a:pPr>
            <a:endParaRPr lang="es-AR" sz="1300" b="1" dirty="0" smtClean="0"/>
          </a:p>
          <a:p>
            <a:pPr>
              <a:lnSpc>
                <a:spcPct val="170000"/>
              </a:lnSpc>
              <a:buNone/>
            </a:pPr>
            <a:r>
              <a:rPr lang="es-AR" sz="1400" b="1" dirty="0" smtClean="0">
                <a:solidFill>
                  <a:srgbClr val="163F9A"/>
                </a:solidFill>
              </a:rPr>
              <a:t>Contribución que incide sobre Inmuebles</a:t>
            </a:r>
          </a:p>
          <a:p>
            <a:pPr algn="just">
              <a:lnSpc>
                <a:spcPct val="170000"/>
              </a:lnSpc>
              <a:buNone/>
            </a:pPr>
            <a:r>
              <a:rPr lang="es-AR" sz="1400" dirty="0" smtClean="0"/>
              <a:t>     </a:t>
            </a:r>
            <a:r>
              <a:rPr lang="es-AR" sz="1400" b="1" u="sng" dirty="0" smtClean="0"/>
              <a:t>Exenta</a:t>
            </a:r>
            <a:r>
              <a:rPr lang="es-AR" sz="1400" dirty="0" smtClean="0"/>
              <a:t>. Art. 227, inc. 13) “</a:t>
            </a:r>
            <a:r>
              <a:rPr lang="es-ES" sz="1400" dirty="0" smtClean="0"/>
              <a:t>Por el término de ocho (8) años o hasta la fecha de escrituración individual del inmueble, lo que fuera anterior, las Organizaciones Comunitarias, constituidas legalmente como Cooperativas, Asociaciones y Mutuales sin fines de lucro, propietarias de modo colectivo de </a:t>
            </a:r>
            <a:r>
              <a:rPr lang="es-ES" sz="1400" dirty="0" err="1" smtClean="0"/>
              <a:t>loteos</a:t>
            </a:r>
            <a:r>
              <a:rPr lang="es-ES" sz="1400" dirty="0" smtClean="0"/>
              <a:t> de interés social para familias de escasos recursos, que se encuentren legalmente constituidas con Personería Jurídica y Autoridades en vigencia, debidamente acreditadas por el Organismo pertinente, que demuestren la titularidad del dominio o ser usufructuarios y/o poseedores a título de dueño de uno o más </a:t>
            </a:r>
            <a:r>
              <a:rPr lang="es-ES" sz="1400" dirty="0" err="1" smtClean="0"/>
              <a:t>loteos</a:t>
            </a:r>
            <a:r>
              <a:rPr lang="es-ES" sz="1400" dirty="0" smtClean="0"/>
              <a:t>, y que cumplan con alguno de los siguientes requisitos: </a:t>
            </a:r>
            <a:r>
              <a:rPr lang="es-AR" sz="1400" dirty="0" smtClean="0"/>
              <a:t>…”</a:t>
            </a:r>
          </a:p>
          <a:p>
            <a:pPr>
              <a:lnSpc>
                <a:spcPct val="170000"/>
              </a:lnSpc>
              <a:buNone/>
            </a:pPr>
            <a:endParaRPr lang="es-AR" sz="1400" b="1" dirty="0" smtClean="0"/>
          </a:p>
          <a:p>
            <a:pPr>
              <a:lnSpc>
                <a:spcPct val="170000"/>
              </a:lnSpc>
              <a:buNone/>
            </a:pPr>
            <a:r>
              <a:rPr lang="es-AR" sz="1400" b="1" dirty="0" smtClean="0">
                <a:solidFill>
                  <a:srgbClr val="163F9A"/>
                </a:solidFill>
              </a:rPr>
              <a:t>Contribución que incide sobre la actividad comercial, industrial y de servicios</a:t>
            </a:r>
          </a:p>
          <a:p>
            <a:pPr algn="just">
              <a:lnSpc>
                <a:spcPct val="170000"/>
              </a:lnSpc>
              <a:buNone/>
            </a:pPr>
            <a:r>
              <a:rPr lang="es-AR" sz="1400" b="1" dirty="0" smtClean="0"/>
              <a:t>   </a:t>
            </a:r>
            <a:r>
              <a:rPr lang="es-AR" sz="1400" b="1" u="sng" dirty="0" smtClean="0"/>
              <a:t> Exenta</a:t>
            </a:r>
            <a:r>
              <a:rPr lang="es-AR" sz="1400" b="1" dirty="0" smtClean="0"/>
              <a:t>.</a:t>
            </a:r>
            <a:r>
              <a:rPr lang="es-AR" sz="1400" dirty="0" smtClean="0"/>
              <a:t> Art. 269, bis, inc. 2): “La venta de bienes y/o prestación de servicios realizada exclusivamente a sus afiliados, efectuadas por las </a:t>
            </a:r>
            <a:r>
              <a:rPr lang="es-AR" sz="1400" b="1" u="sng" dirty="0" smtClean="0"/>
              <a:t>Asociaciones Mutualistas </a:t>
            </a:r>
            <a:r>
              <a:rPr lang="es-AR" sz="1400" dirty="0" smtClean="0"/>
              <a:t>y/o de Beneficencia, con </a:t>
            </a:r>
            <a:r>
              <a:rPr lang="es-AR" sz="1400" u="sng" dirty="0" smtClean="0"/>
              <a:t>excepción del préstamo de dinero o ayudas económicas y actividades de seguros</a:t>
            </a:r>
            <a:r>
              <a:rPr lang="es-AR" sz="1400" dirty="0" smtClean="0"/>
              <a:t>, cualquiera fuera el origen de sus fondos.”</a:t>
            </a:r>
          </a:p>
          <a:p>
            <a:pPr>
              <a:lnSpc>
                <a:spcPct val="170000"/>
              </a:lnSpc>
              <a:buNone/>
            </a:pPr>
            <a:endParaRPr lang="es-AR" sz="13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33</a:t>
            </a:fld>
            <a:endParaRPr lang="es-ES" dirty="0"/>
          </a:p>
        </p:txBody>
      </p:sp>
      <p:sp>
        <p:nvSpPr>
          <p:cNvPr id="5" name="4 CuadroTexto"/>
          <p:cNvSpPr txBox="1"/>
          <p:nvPr/>
        </p:nvSpPr>
        <p:spPr>
          <a:xfrm>
            <a:off x="142844" y="214290"/>
            <a:ext cx="9001188" cy="1200329"/>
          </a:xfrm>
          <a:prstGeom prst="rect">
            <a:avLst/>
          </a:prstGeom>
          <a:noFill/>
        </p:spPr>
        <p:txBody>
          <a:bodyPr wrap="square" rtlCol="0">
            <a:spAutoFit/>
          </a:bodyPr>
          <a:lstStyle/>
          <a:p>
            <a:pPr algn="ctr"/>
            <a:r>
              <a:rPr lang="es-ES" sz="3600" b="1" dirty="0" smtClean="0">
                <a:solidFill>
                  <a:srgbClr val="FF0000"/>
                </a:solidFill>
              </a:rPr>
              <a:t>Contribuciones Municipales (II) </a:t>
            </a:r>
          </a:p>
          <a:p>
            <a:pPr algn="ctr"/>
            <a:r>
              <a:rPr lang="es-ES" sz="3600" b="1" dirty="0" smtClean="0">
                <a:solidFill>
                  <a:srgbClr val="FF0000"/>
                </a:solidFill>
              </a:rPr>
              <a:t>(Córdoba) </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85720" y="6357958"/>
            <a:ext cx="1500198" cy="512630"/>
          </a:xfrm>
          <a:prstGeom prst="rect">
            <a:avLst/>
          </a:prstGeom>
          <a:noFill/>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Marcador de contenido"/>
          <p:cNvSpPr>
            <a:spLocks noGrp="1"/>
          </p:cNvSpPr>
          <p:nvPr>
            <p:ph idx="1"/>
          </p:nvPr>
        </p:nvSpPr>
        <p:spPr>
          <a:xfrm>
            <a:off x="-72008" y="642918"/>
            <a:ext cx="9073164" cy="5641892"/>
          </a:xfrm>
        </p:spPr>
        <p:txBody>
          <a:bodyPr>
            <a:normAutofit fontScale="70000" lnSpcReduction="20000"/>
          </a:bodyPr>
          <a:lstStyle/>
          <a:p>
            <a:pPr algn="ctr">
              <a:buNone/>
            </a:pPr>
            <a:r>
              <a:rPr lang="es-AR" sz="3100" b="1" u="sng" dirty="0" smtClean="0">
                <a:solidFill>
                  <a:srgbClr val="163F9A"/>
                </a:solidFill>
              </a:rPr>
              <a:t>Jurisprudencia</a:t>
            </a:r>
            <a:r>
              <a:rPr lang="es-AR" sz="3100" b="1" dirty="0" smtClean="0">
                <a:solidFill>
                  <a:srgbClr val="163F9A"/>
                </a:solidFill>
              </a:rPr>
              <a:t> </a:t>
            </a:r>
          </a:p>
          <a:p>
            <a:pPr algn="ctr">
              <a:buNone/>
            </a:pPr>
            <a:endParaRPr lang="es-AR" sz="2000" dirty="0" smtClean="0"/>
          </a:p>
          <a:p>
            <a:pPr algn="just">
              <a:lnSpc>
                <a:spcPct val="150000"/>
              </a:lnSpc>
            </a:pPr>
            <a:r>
              <a:rPr lang="es-ES" sz="1700" b="1" dirty="0" smtClean="0"/>
              <a:t>“Asociación Mutualista del Docente de la Provincia de Córdoba c/Municipalidad de Córdoba – plena jurisdicción –recurso de casación “ </a:t>
            </a:r>
            <a:r>
              <a:rPr lang="es-ES" sz="1700" dirty="0" smtClean="0"/>
              <a:t>TSJ </a:t>
            </a:r>
            <a:r>
              <a:rPr lang="es-ES" sz="1700" dirty="0" err="1" smtClean="0"/>
              <a:t>Cba</a:t>
            </a:r>
            <a:r>
              <a:rPr lang="es-ES" sz="1700" dirty="0" smtClean="0"/>
              <a:t> -27/10/2015.</a:t>
            </a:r>
            <a:r>
              <a:rPr lang="es-AR" sz="1700" dirty="0" smtClean="0"/>
              <a:t> “… no puede sostenerse que la Asociación Mutualista del Docente de la Provincia de Córdoba realice actividades financieras, habida cuenta que la actora desarrolla una actividad sin fines de lucro inspirada en la solidaridad con el objeto de brindar ayuda recíproca entre los socios frente a riesgos eventuales (art. 2 Ley 20.321)…”. </a:t>
            </a:r>
            <a:r>
              <a:rPr lang="es-AR" sz="1700" u="sng" dirty="0" smtClean="0"/>
              <a:t>No obstante, debemos resaltar que el periodo en discusión es anterior a la modificación a la Contribución que incluyó las ayudas económicas</a:t>
            </a:r>
            <a:r>
              <a:rPr lang="es-AR" sz="1700" dirty="0" smtClean="0"/>
              <a:t>.</a:t>
            </a:r>
          </a:p>
          <a:p>
            <a:pPr algn="just">
              <a:lnSpc>
                <a:spcPct val="150000"/>
              </a:lnSpc>
              <a:buNone/>
            </a:pPr>
            <a:endParaRPr lang="es-AR" sz="1700" dirty="0" smtClean="0"/>
          </a:p>
          <a:p>
            <a:pPr algn="just">
              <a:lnSpc>
                <a:spcPct val="150000"/>
              </a:lnSpc>
            </a:pPr>
            <a:r>
              <a:rPr lang="es-AR" sz="1700" b="1" dirty="0" smtClean="0"/>
              <a:t>“Mutual Ferroviaria c/ Municipalidad de Pergamino”</a:t>
            </a:r>
            <a:r>
              <a:rPr lang="es-AR" sz="1700" dirty="0" smtClean="0"/>
              <a:t>. Juzgado Contencioso Administrativo Pergamino. 29/09/2017. Tasa de seguridad e higiene. Recepta lo normado en el artículo 29 de la Ley 20.321 y señala que no resulta óbice a su razonamiento, que la normativa municipal no contemple que las mutuales están exentas de pago de la tasa en cuestión. </a:t>
            </a:r>
          </a:p>
          <a:p>
            <a:pPr algn="just">
              <a:lnSpc>
                <a:spcPct val="150000"/>
              </a:lnSpc>
              <a:buNone/>
            </a:pPr>
            <a:r>
              <a:rPr lang="es-AR" sz="1700" b="1" dirty="0" smtClean="0"/>
              <a:t>	</a:t>
            </a:r>
            <a:r>
              <a:rPr lang="es-AR" sz="1700" b="1" u="sng" dirty="0" smtClean="0"/>
              <a:t>Cámara de Apelación en lo Contencioso Administrativo San Nicolás. Revocó la sentencia</a:t>
            </a:r>
            <a:r>
              <a:rPr lang="es-AR" sz="1700" b="1" dirty="0" smtClean="0"/>
              <a:t>.</a:t>
            </a:r>
          </a:p>
          <a:p>
            <a:pPr algn="just">
              <a:lnSpc>
                <a:spcPct val="150000"/>
              </a:lnSpc>
              <a:buNone/>
            </a:pPr>
            <a:r>
              <a:rPr lang="es-AR" sz="1700" b="1" dirty="0" smtClean="0"/>
              <a:t>	</a:t>
            </a:r>
            <a:r>
              <a:rPr lang="es-AR" sz="1700" b="1" u="sng" dirty="0" smtClean="0"/>
              <a:t>Suprema Corte de Justicia de la Provincia de Buenos Aires. 13/03/2019</a:t>
            </a:r>
            <a:r>
              <a:rPr lang="es-AR" sz="1700" dirty="0" smtClean="0"/>
              <a:t>. El Recurso Extraordinario Nulidad fue desestimado y el Recurso de Inaplicabilidad de la ley pendiente de sentencia.</a:t>
            </a:r>
          </a:p>
          <a:p>
            <a:pPr algn="just">
              <a:lnSpc>
                <a:spcPct val="150000"/>
              </a:lnSpc>
              <a:buNone/>
            </a:pPr>
            <a:r>
              <a:rPr lang="es-AR" sz="1700" b="1" dirty="0" smtClean="0"/>
              <a:t>	</a:t>
            </a:r>
            <a:r>
              <a:rPr lang="es-AR" sz="1700" b="1" u="sng" dirty="0" smtClean="0"/>
              <a:t>Suprema Corte de Justicia de la Provincia de Buenos Aires. 07/12/2022.</a:t>
            </a:r>
            <a:r>
              <a:rPr lang="es-AR" sz="1700" dirty="0" smtClean="0"/>
              <a:t> La corte rechazó el recurso y confirmó el pronunciamiento de la Cámara. Un juez sostuvo que la alegación de la recurrente ha sido desenfocada en relación con su pretensión inicial.</a:t>
            </a:r>
          </a:p>
          <a:p>
            <a:pPr algn="just">
              <a:lnSpc>
                <a:spcPct val="150000"/>
              </a:lnSpc>
            </a:pPr>
            <a:endParaRPr lang="es-AR" sz="1700" dirty="0" smtClean="0"/>
          </a:p>
          <a:p>
            <a:pPr algn="just">
              <a:lnSpc>
                <a:spcPct val="150000"/>
              </a:lnSpc>
            </a:pPr>
            <a:r>
              <a:rPr lang="es-AR" sz="1700" b="1" dirty="0" smtClean="0"/>
              <a:t>Asoc. Mutual de Ayuda entre Asociados y Adherentes del Club Colón de San Justo c/ Municipalidad de San Justo s/ amparo”. </a:t>
            </a:r>
            <a:r>
              <a:rPr lang="es-AR" sz="1700" b="1" dirty="0" err="1" smtClean="0"/>
              <a:t>Cám</a:t>
            </a:r>
            <a:r>
              <a:rPr lang="es-AR" sz="1700" b="1" dirty="0" smtClean="0"/>
              <a:t>. </a:t>
            </a:r>
            <a:r>
              <a:rPr lang="es-AR" sz="1700" b="1" dirty="0" err="1" smtClean="0"/>
              <a:t>Apel</a:t>
            </a:r>
            <a:r>
              <a:rPr lang="es-AR" sz="1700" b="1" dirty="0" smtClean="0"/>
              <a:t>. </a:t>
            </a:r>
            <a:r>
              <a:rPr lang="es-AR" sz="1700" b="1" dirty="0" err="1" smtClean="0"/>
              <a:t>Civ</a:t>
            </a:r>
            <a:r>
              <a:rPr lang="es-AR" sz="1700" b="1" dirty="0" smtClean="0"/>
              <a:t>. y Com. Santa Fe. Sala III. 03/02/2022.</a:t>
            </a:r>
            <a:r>
              <a:rPr lang="es-AR" sz="1700" dirty="0" smtClean="0"/>
              <a:t> Se rechazó el planteo de la mutual que pretendía la exención de la tasa general de inmuebles en todas las propiedades de su titularidad (no sólo de su sede) según el art. 75 del CTM. El tribunal sostuvo que la cantidad de inmuebles, su destino, utilidad e importancia como bienes raíces, requerían información y aclaración que la mutual no se encargó de especificar.</a:t>
            </a:r>
            <a:endParaRPr lang="es-AR" sz="1700" b="1" dirty="0" smtClean="0"/>
          </a:p>
          <a:p>
            <a:pPr algn="just">
              <a:buNone/>
            </a:pPr>
            <a:endParaRPr lang="es-AR" sz="2000" dirty="0" smtClean="0"/>
          </a:p>
        </p:txBody>
      </p:sp>
      <p:sp>
        <p:nvSpPr>
          <p:cNvPr id="6" name="5 Marcador de número de diapositiva"/>
          <p:cNvSpPr>
            <a:spLocks noGrp="1"/>
          </p:cNvSpPr>
          <p:nvPr>
            <p:ph type="sldNum" sz="quarter" idx="12"/>
          </p:nvPr>
        </p:nvSpPr>
        <p:spPr/>
        <p:txBody>
          <a:bodyPr/>
          <a:lstStyle/>
          <a:p>
            <a:fld id="{47905A6E-3428-42CC-8A3B-D0D77FE4EB92}" type="slidenum">
              <a:rPr lang="es-ES" smtClean="0"/>
              <a:pPr/>
              <a:t>34</a:t>
            </a:fld>
            <a:endParaRPr lang="es-ES" dirty="0"/>
          </a:p>
        </p:txBody>
      </p:sp>
      <p:sp>
        <p:nvSpPr>
          <p:cNvPr id="5" name="4 CuadroTexto"/>
          <p:cNvSpPr txBox="1"/>
          <p:nvPr/>
        </p:nvSpPr>
        <p:spPr>
          <a:xfrm>
            <a:off x="285720" y="139463"/>
            <a:ext cx="8501122" cy="646331"/>
          </a:xfrm>
          <a:prstGeom prst="rect">
            <a:avLst/>
          </a:prstGeom>
          <a:noFill/>
        </p:spPr>
        <p:txBody>
          <a:bodyPr wrap="square" rtlCol="0">
            <a:spAutoFit/>
          </a:bodyPr>
          <a:lstStyle/>
          <a:p>
            <a:pPr algn="ctr"/>
            <a:r>
              <a:rPr lang="es-ES" sz="3600" b="1" dirty="0" smtClean="0">
                <a:solidFill>
                  <a:srgbClr val="FF0000"/>
                </a:solidFill>
              </a:rPr>
              <a:t>Tasas/Contribuciones Municipales (III)</a:t>
            </a:r>
            <a:endParaRPr lang="es-ES" sz="3600" b="1" dirty="0">
              <a:solidFill>
                <a:srgbClr val="FF0000"/>
              </a:solidFill>
            </a:endParaRPr>
          </a:p>
        </p:txBody>
      </p:sp>
      <p:pic>
        <p:nvPicPr>
          <p:cNvPr id="7" name="Picture 14" descr="https://lh5.googleusercontent.com/PwJP3PLeEQwwt9H8ZOPdMQfuW_tC0EgdcrvJGuhsOI4XWFooCrei43MgtQFboadtL0wU5QYcPMoL5IkSMXBwXZMSn8wQHbxjLF1NljmzNsyjdKyaafKp6DF5uDYw=w199"/>
          <p:cNvPicPr>
            <a:picLocks noChangeAspect="1" noChangeArrowheads="1"/>
          </p:cNvPicPr>
          <p:nvPr/>
        </p:nvPicPr>
        <p:blipFill>
          <a:blip r:embed="rId2" cstate="print"/>
          <a:srcRect/>
          <a:stretch>
            <a:fillRect/>
          </a:stretch>
        </p:blipFill>
        <p:spPr bwMode="auto">
          <a:xfrm>
            <a:off x="251520" y="6300724"/>
            <a:ext cx="1500198" cy="512630"/>
          </a:xfrm>
          <a:prstGeom prst="rect">
            <a:avLst/>
          </a:prstGeom>
          <a:noFill/>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5 CuadroTexto"/>
          <p:cNvSpPr txBox="1"/>
          <p:nvPr/>
        </p:nvSpPr>
        <p:spPr>
          <a:xfrm>
            <a:off x="2786050" y="2428868"/>
            <a:ext cx="4275273" cy="1477328"/>
          </a:xfrm>
          <a:prstGeom prst="rect">
            <a:avLst/>
          </a:prstGeom>
          <a:noFill/>
        </p:spPr>
        <p:txBody>
          <a:bodyPr wrap="none" rtlCol="0">
            <a:spAutoFit/>
          </a:bodyPr>
          <a:lstStyle/>
          <a:p>
            <a:pPr algn="ctr"/>
            <a:r>
              <a:rPr lang="es-AR" sz="3000" b="1" dirty="0" smtClean="0">
                <a:solidFill>
                  <a:srgbClr val="FF0000"/>
                </a:solidFill>
              </a:rPr>
              <a:t>MUCHAS GRACIAS!!!</a:t>
            </a:r>
          </a:p>
          <a:p>
            <a:endParaRPr lang="es-AR" sz="3000" dirty="0" smtClean="0">
              <a:solidFill>
                <a:srgbClr val="FF0000"/>
              </a:solidFill>
            </a:endParaRPr>
          </a:p>
          <a:p>
            <a:pPr algn="ctr"/>
            <a:r>
              <a:rPr lang="es-AR" sz="3000" dirty="0" smtClean="0"/>
              <a:t>javier.arriola1@gmail.com</a:t>
            </a:r>
            <a:endParaRPr lang="es-AR" sz="3000" dirty="0"/>
          </a:p>
        </p:txBody>
      </p:sp>
      <p:pic>
        <p:nvPicPr>
          <p:cNvPr id="7" name="Picture 2" descr="https://ss-static-01.esmsv.com/id/101689/galeriaimagenes/obtenerimagen/?id=215&amp;tipoEscala=stretch&amp;width=1050&amp;height=100"/>
          <p:cNvPicPr>
            <a:picLocks noChangeAspect="1" noChangeArrowheads="1"/>
          </p:cNvPicPr>
          <p:nvPr/>
        </p:nvPicPr>
        <p:blipFill>
          <a:blip r:embed="rId2" cstate="print"/>
          <a:srcRect/>
          <a:stretch>
            <a:fillRect/>
          </a:stretch>
        </p:blipFill>
        <p:spPr bwMode="auto">
          <a:xfrm>
            <a:off x="-32" y="285728"/>
            <a:ext cx="7215206" cy="952500"/>
          </a:xfrm>
          <a:prstGeom prst="rect">
            <a:avLst/>
          </a:prstGeom>
          <a:noFill/>
        </p:spPr>
      </p:pic>
      <p:pic>
        <p:nvPicPr>
          <p:cNvPr id="4" name="Picture 2" descr="IECAM"/>
          <p:cNvPicPr>
            <a:picLocks noChangeAspect="1" noChangeArrowheads="1"/>
          </p:cNvPicPr>
          <p:nvPr/>
        </p:nvPicPr>
        <p:blipFill>
          <a:blip r:embed="rId3" cstate="print"/>
          <a:srcRect/>
          <a:stretch>
            <a:fillRect/>
          </a:stretch>
        </p:blipFill>
        <p:spPr bwMode="auto">
          <a:xfrm>
            <a:off x="5986473" y="285728"/>
            <a:ext cx="2971821" cy="928694"/>
          </a:xfrm>
          <a:prstGeom prst="rect">
            <a:avLst/>
          </a:prstGeo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Tema de Office">
  <a:themeElements>
    <a:clrScheme name="Orige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23797</TotalTime>
  <Words>5185</Words>
  <Application>Microsoft Office PowerPoint</Application>
  <PresentationFormat>Presentación en pantalla (4:3)</PresentationFormat>
  <Paragraphs>377</Paragraphs>
  <Slides>35</Slides>
  <Notes>12</Notes>
  <HiddenSlides>0</HiddenSlides>
  <MMClips>0</MMClips>
  <ScaleCrop>false</ScaleCrop>
  <HeadingPairs>
    <vt:vector size="4" baseType="variant">
      <vt:variant>
        <vt:lpstr>Tema</vt:lpstr>
      </vt:variant>
      <vt:variant>
        <vt:i4>1</vt:i4>
      </vt:variant>
      <vt:variant>
        <vt:lpstr>Títulos de diapositiva</vt:lpstr>
      </vt:variant>
      <vt:variant>
        <vt:i4>35</vt:i4>
      </vt:variant>
    </vt:vector>
  </HeadingPairs>
  <TitlesOfParts>
    <vt:vector size="36" baseType="lpstr">
      <vt:lpstr>Tema de Office</vt:lpstr>
      <vt:lpstr>Diapositiva 1</vt:lpstr>
      <vt:lpstr>Diapositiva 2</vt:lpstr>
      <vt:lpstr>Diapositiva 3</vt:lpstr>
      <vt:lpstr>Diapositiva 4</vt:lpstr>
      <vt:lpstr>Diapositiva 5</vt:lpstr>
      <vt:lpstr>Diapositiva 6</vt:lpstr>
      <vt:lpstr>Diapositiva 7</vt:lpstr>
      <vt:lpstr>Diapositiva 8</vt:lpstr>
      <vt:lpstr>Diapositiva 9</vt:lpstr>
      <vt:lpstr>Diapositiva 10</vt:lpstr>
      <vt:lpstr>Diapositiva 11</vt:lpstr>
      <vt:lpstr>Diapositiva 12</vt:lpstr>
      <vt:lpstr>Diapositiva 13</vt:lpstr>
      <vt:lpstr>Diapositiva 14</vt:lpstr>
      <vt:lpstr>Diapositiva 15</vt:lpstr>
      <vt:lpstr>Diapositiva 16</vt:lpstr>
      <vt:lpstr>Diapositiva 17</vt:lpstr>
      <vt:lpstr>Diapositiva 18</vt:lpstr>
      <vt:lpstr>Diapositiva 19</vt:lpstr>
      <vt:lpstr>Diapositiva 20</vt:lpstr>
      <vt:lpstr>Diapositiva 21</vt:lpstr>
      <vt:lpstr>Diapositiva 22</vt:lpstr>
      <vt:lpstr>Diapositiva 23</vt:lpstr>
      <vt:lpstr>Diapositiva 24</vt:lpstr>
      <vt:lpstr>Diapositiva 25</vt:lpstr>
      <vt:lpstr>Diapositiva 26</vt:lpstr>
      <vt:lpstr>Diapositiva 27</vt:lpstr>
      <vt:lpstr>Diapositiva 28</vt:lpstr>
      <vt:lpstr>Diapositiva 29</vt:lpstr>
      <vt:lpstr>Diapositiva 30</vt:lpstr>
      <vt:lpstr>Diapositiva 31</vt:lpstr>
      <vt:lpstr>Diapositiva 32</vt:lpstr>
      <vt:lpstr>Diapositiva 33</vt:lpstr>
      <vt:lpstr>Diapositiva 34</vt:lpstr>
      <vt:lpstr>Diapositiva 35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Régimen Tributario de Entidades Mutuales</dc:title>
  <dc:creator>jarriola</dc:creator>
  <cp:lastModifiedBy>Usuario</cp:lastModifiedBy>
  <cp:revision>1413</cp:revision>
  <dcterms:created xsi:type="dcterms:W3CDTF">2019-06-10T17:03:10Z</dcterms:created>
  <dcterms:modified xsi:type="dcterms:W3CDTF">2025-04-30T23:04:34Z</dcterms:modified>
</cp:coreProperties>
</file>