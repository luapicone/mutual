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1110" r:id="rId2"/>
    <p:sldId id="7224" r:id="rId3"/>
    <p:sldId id="7215" r:id="rId4"/>
    <p:sldId id="7217" r:id="rId5"/>
    <p:sldId id="7218" r:id="rId6"/>
    <p:sldId id="7216" r:id="rId7"/>
    <p:sldId id="1310" r:id="rId8"/>
    <p:sldId id="7219" r:id="rId9"/>
    <p:sldId id="1340" r:id="rId10"/>
    <p:sldId id="7220" r:id="rId11"/>
    <p:sldId id="7221" r:id="rId12"/>
    <p:sldId id="7202" r:id="rId13"/>
    <p:sldId id="7226" r:id="rId14"/>
    <p:sldId id="7227" r:id="rId15"/>
    <p:sldId id="7228" r:id="rId16"/>
    <p:sldId id="7232" r:id="rId17"/>
    <p:sldId id="7234" r:id="rId18"/>
    <p:sldId id="7235" r:id="rId19"/>
    <p:sldId id="7236" r:id="rId20"/>
    <p:sldId id="7237" r:id="rId21"/>
    <p:sldId id="7239" r:id="rId22"/>
    <p:sldId id="7240" r:id="rId23"/>
    <p:sldId id="7230" r:id="rId24"/>
    <p:sldId id="7241" r:id="rId25"/>
    <p:sldId id="7231" r:id="rId26"/>
    <p:sldId id="7207" r:id="rId27"/>
    <p:sldId id="7204" r:id="rId28"/>
    <p:sldId id="7242" r:id="rId29"/>
    <p:sldId id="439" r:id="rId30"/>
    <p:sldId id="1261" r:id="rId31"/>
  </p:sldIdLst>
  <p:sldSz cx="9144000" cy="6858000" type="screen4x3"/>
  <p:notesSz cx="6669088" cy="9926638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6600"/>
    <a:srgbClr val="FF00FF"/>
    <a:srgbClr val="6600FF"/>
    <a:srgbClr val="6729E3"/>
    <a:srgbClr val="FFFF00"/>
    <a:srgbClr val="0000FF"/>
    <a:srgbClr val="009999"/>
    <a:srgbClr val="CC9900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5" autoAdjust="0"/>
  </p:normalViewPr>
  <p:slideViewPr>
    <p:cSldViewPr>
      <p:cViewPr varScale="1">
        <p:scale>
          <a:sx n="78" d="100"/>
          <a:sy n="78" d="100"/>
        </p:scale>
        <p:origin x="16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56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890228" cy="495675"/>
          </a:xfrm>
          <a:prstGeom prst="rect">
            <a:avLst/>
          </a:prstGeom>
        </p:spPr>
        <p:txBody>
          <a:bodyPr vert="horz" lIns="87316" tIns="43658" rIns="87316" bIns="43658" rtlCol="0"/>
          <a:lstStyle>
            <a:lvl1pPr algn="l">
              <a:defRPr sz="1100"/>
            </a:lvl1pPr>
          </a:lstStyle>
          <a:p>
            <a:endParaRPr lang="es-AR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777413" y="3"/>
            <a:ext cx="2890228" cy="495675"/>
          </a:xfrm>
          <a:prstGeom prst="rect">
            <a:avLst/>
          </a:prstGeom>
        </p:spPr>
        <p:txBody>
          <a:bodyPr vert="horz" lIns="87316" tIns="43658" rIns="87316" bIns="43658" rtlCol="0"/>
          <a:lstStyle>
            <a:lvl1pPr algn="r">
              <a:defRPr sz="1100"/>
            </a:lvl1pPr>
          </a:lstStyle>
          <a:p>
            <a:fld id="{3B95D086-4F08-4AAE-9722-C2DAE5DE3ED9}" type="datetimeFigureOut">
              <a:rPr lang="es-AR" smtClean="0"/>
              <a:pPr/>
              <a:t>26/4/2026</a:t>
            </a:fld>
            <a:endParaRPr lang="es-AR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429323"/>
            <a:ext cx="2890228" cy="495675"/>
          </a:xfrm>
          <a:prstGeom prst="rect">
            <a:avLst/>
          </a:prstGeom>
        </p:spPr>
        <p:txBody>
          <a:bodyPr vert="horz" lIns="87316" tIns="43658" rIns="87316" bIns="43658" rtlCol="0" anchor="b"/>
          <a:lstStyle>
            <a:lvl1pPr algn="l">
              <a:defRPr sz="1100"/>
            </a:lvl1pPr>
          </a:lstStyle>
          <a:p>
            <a:endParaRPr lang="es-AR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777413" y="9429323"/>
            <a:ext cx="2890228" cy="495675"/>
          </a:xfrm>
          <a:prstGeom prst="rect">
            <a:avLst/>
          </a:prstGeom>
        </p:spPr>
        <p:txBody>
          <a:bodyPr vert="horz" lIns="87316" tIns="43658" rIns="87316" bIns="43658" rtlCol="0" anchor="b"/>
          <a:lstStyle>
            <a:lvl1pPr algn="r">
              <a:defRPr sz="1100"/>
            </a:lvl1pPr>
          </a:lstStyle>
          <a:p>
            <a:fld id="{DE1AC37F-4CBC-49DE-820E-5608AB840C0F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44112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6332"/>
          </a:xfrm>
          <a:prstGeom prst="rect">
            <a:avLst/>
          </a:prstGeom>
        </p:spPr>
        <p:txBody>
          <a:bodyPr vert="horz" lIns="92292" tIns="46146" rIns="92292" bIns="46146" rtlCol="0"/>
          <a:lstStyle>
            <a:lvl1pPr algn="l">
              <a:defRPr sz="1100"/>
            </a:lvl1pPr>
          </a:lstStyle>
          <a:p>
            <a:endParaRPr lang="es-AR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777608" y="0"/>
            <a:ext cx="2889938" cy="496332"/>
          </a:xfrm>
          <a:prstGeom prst="rect">
            <a:avLst/>
          </a:prstGeom>
        </p:spPr>
        <p:txBody>
          <a:bodyPr vert="horz" lIns="92292" tIns="46146" rIns="92292" bIns="46146" rtlCol="0"/>
          <a:lstStyle>
            <a:lvl1pPr algn="r">
              <a:defRPr sz="1100"/>
            </a:lvl1pPr>
          </a:lstStyle>
          <a:p>
            <a:fld id="{F4D8D38B-E485-4C7C-9FFA-DBE7FDEC11E9}" type="datetimeFigureOut">
              <a:rPr lang="es-AR" smtClean="0"/>
              <a:pPr/>
              <a:t>26/4/2026</a:t>
            </a:fld>
            <a:endParaRPr lang="es-AR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6125"/>
            <a:ext cx="4960938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2" tIns="46146" rIns="92292" bIns="46146" rtlCol="0" anchor="ctr"/>
          <a:lstStyle/>
          <a:p>
            <a:endParaRPr lang="es-AR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66910" y="4715155"/>
            <a:ext cx="5335270" cy="4466987"/>
          </a:xfrm>
          <a:prstGeom prst="rect">
            <a:avLst/>
          </a:prstGeom>
        </p:spPr>
        <p:txBody>
          <a:bodyPr vert="horz" lIns="92292" tIns="46146" rIns="92292" bIns="46146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889938" cy="496332"/>
          </a:xfrm>
          <a:prstGeom prst="rect">
            <a:avLst/>
          </a:prstGeom>
        </p:spPr>
        <p:txBody>
          <a:bodyPr vert="horz" lIns="92292" tIns="46146" rIns="92292" bIns="46146" rtlCol="0" anchor="b"/>
          <a:lstStyle>
            <a:lvl1pPr algn="l">
              <a:defRPr sz="1100"/>
            </a:lvl1pPr>
          </a:lstStyle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777608" y="9428584"/>
            <a:ext cx="2889938" cy="496332"/>
          </a:xfrm>
          <a:prstGeom prst="rect">
            <a:avLst/>
          </a:prstGeom>
        </p:spPr>
        <p:txBody>
          <a:bodyPr vert="horz" lIns="92292" tIns="46146" rIns="92292" bIns="46146" rtlCol="0" anchor="b"/>
          <a:lstStyle>
            <a:lvl1pPr algn="r">
              <a:defRPr sz="1100"/>
            </a:lvl1pPr>
          </a:lstStyle>
          <a:p>
            <a:fld id="{642CD49D-23CD-4411-9779-B795DC2C055D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3723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1pPr>
            <a:lvl2pPr marL="691252" indent="-265284"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2pPr>
            <a:lvl3pPr marL="1064164" indent="-212227"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3pPr>
            <a:lvl4pPr marL="1490134" indent="-212227"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4pPr>
            <a:lvl5pPr marL="1916102" indent="-212227"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5pPr>
            <a:lvl6pPr marL="2352683" indent="-212227" algn="ctr" defTabSz="87164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itchFamily="34" charset="0"/>
              </a:defRPr>
            </a:lvl6pPr>
            <a:lvl7pPr marL="2789263" indent="-212227" algn="ctr" defTabSz="87164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itchFamily="34" charset="0"/>
              </a:defRPr>
            </a:lvl7pPr>
            <a:lvl8pPr marL="3225843" indent="-212227" algn="ctr" defTabSz="87164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itchFamily="34" charset="0"/>
              </a:defRPr>
            </a:lvl8pPr>
            <a:lvl9pPr marL="3662423" indent="-212227" algn="ctr" defTabSz="87164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7F8B1E65-6DAD-4846-9E4D-B68CC7E5D9E0}" type="slidenum">
              <a:rPr lang="es-ES" sz="1100"/>
              <a:pPr eaLnBrk="1" hangingPunct="1"/>
              <a:t>9</a:t>
            </a:fld>
            <a:endParaRPr lang="es-ES" sz="1100" dirty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62013" y="749300"/>
            <a:ext cx="4946650" cy="3711575"/>
          </a:xfrm>
          <a:ln w="12700" cap="flat"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635" y="4712808"/>
            <a:ext cx="4889819" cy="4468016"/>
          </a:xfrm>
          <a:noFill/>
        </p:spPr>
        <p:txBody>
          <a:bodyPr lIns="87892" tIns="43945" rIns="87892" bIns="43945"/>
          <a:lstStyle/>
          <a:p>
            <a:pPr eaLnBrk="1" hangingPunct="1"/>
            <a:r>
              <a:rPr lang="es-MX" dirty="0"/>
              <a:t>El control en sí mismo es un sistema de comunicación que realimenta permanentemente al sistema  operativo, posibilitando la rectificación oportuna de conductas o la confirmación de las mismas.</a:t>
            </a:r>
            <a:endParaRPr lang="es-ES" dirty="0"/>
          </a:p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4757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1pPr>
            <a:lvl2pPr marL="691252" indent="-265284"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2pPr>
            <a:lvl3pPr marL="1064164" indent="-212227"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3pPr>
            <a:lvl4pPr marL="1490134" indent="-212227"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4pPr>
            <a:lvl5pPr marL="1916102" indent="-212227"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5pPr>
            <a:lvl6pPr marL="2352683" indent="-212227" algn="ctr" defTabSz="87164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itchFamily="34" charset="0"/>
              </a:defRPr>
            </a:lvl6pPr>
            <a:lvl7pPr marL="2789263" indent="-212227" algn="ctr" defTabSz="87164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itchFamily="34" charset="0"/>
              </a:defRPr>
            </a:lvl7pPr>
            <a:lvl8pPr marL="3225843" indent="-212227" algn="ctr" defTabSz="87164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itchFamily="34" charset="0"/>
              </a:defRPr>
            </a:lvl8pPr>
            <a:lvl9pPr marL="3662423" indent="-212227" algn="ctr" defTabSz="87164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7F8B1E65-6DAD-4846-9E4D-B68CC7E5D9E0}" type="slidenum">
              <a:rPr lang="es-ES" sz="1100"/>
              <a:pPr eaLnBrk="1" hangingPunct="1"/>
              <a:t>10</a:t>
            </a:fld>
            <a:endParaRPr lang="es-ES" sz="1100" dirty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62013" y="749300"/>
            <a:ext cx="4946650" cy="3711575"/>
          </a:xfrm>
          <a:ln w="12700" cap="flat"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635" y="4712808"/>
            <a:ext cx="4889819" cy="4468016"/>
          </a:xfrm>
          <a:noFill/>
        </p:spPr>
        <p:txBody>
          <a:bodyPr lIns="87892" tIns="43945" rIns="87892" bIns="43945"/>
          <a:lstStyle/>
          <a:p>
            <a:pPr eaLnBrk="1" hangingPunct="1"/>
            <a:r>
              <a:rPr lang="es-MX" dirty="0"/>
              <a:t>El control en sí mismo es un sistema de comunicación que realimenta permanentemente al sistema  operativo, posibilitando la rectificación oportuna de conductas o la confirmación de las mismas.</a:t>
            </a:r>
            <a:endParaRPr lang="es-ES" dirty="0"/>
          </a:p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6556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1pPr>
            <a:lvl2pPr marL="691252" indent="-265284"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2pPr>
            <a:lvl3pPr marL="1064164" indent="-212227"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3pPr>
            <a:lvl4pPr marL="1490134" indent="-212227"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4pPr>
            <a:lvl5pPr marL="1916102" indent="-212227" defTabSz="871645" eaLnBrk="0" hangingPunct="0">
              <a:defRPr sz="2700">
                <a:solidFill>
                  <a:schemeClr val="tx1"/>
                </a:solidFill>
                <a:latin typeface="Verdana" pitchFamily="34" charset="0"/>
              </a:defRPr>
            </a:lvl5pPr>
            <a:lvl6pPr marL="2352683" indent="-212227" algn="ctr" defTabSz="87164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itchFamily="34" charset="0"/>
              </a:defRPr>
            </a:lvl6pPr>
            <a:lvl7pPr marL="2789263" indent="-212227" algn="ctr" defTabSz="87164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itchFamily="34" charset="0"/>
              </a:defRPr>
            </a:lvl7pPr>
            <a:lvl8pPr marL="3225843" indent="-212227" algn="ctr" defTabSz="87164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itchFamily="34" charset="0"/>
              </a:defRPr>
            </a:lvl8pPr>
            <a:lvl9pPr marL="3662423" indent="-212227" algn="ctr" defTabSz="87164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7F8B1E65-6DAD-4846-9E4D-B68CC7E5D9E0}" type="slidenum">
              <a:rPr lang="es-ES" sz="1100"/>
              <a:pPr eaLnBrk="1" hangingPunct="1"/>
              <a:t>11</a:t>
            </a:fld>
            <a:endParaRPr lang="es-ES" sz="1100" dirty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62013" y="749300"/>
            <a:ext cx="4946650" cy="3711575"/>
          </a:xfrm>
          <a:ln w="12700" cap="flat"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635" y="4712808"/>
            <a:ext cx="4889819" cy="4468016"/>
          </a:xfrm>
          <a:noFill/>
        </p:spPr>
        <p:txBody>
          <a:bodyPr lIns="87892" tIns="43945" rIns="87892" bIns="43945"/>
          <a:lstStyle/>
          <a:p>
            <a:pPr eaLnBrk="1" hangingPunct="1"/>
            <a:r>
              <a:rPr lang="es-MX" dirty="0"/>
              <a:t>El control en sí mismo es un sistema de comunicación que realimenta permanentemente al sistema  operativo, posibilitando la rectificación oportuna de conductas o la confirmación de las mismas.</a:t>
            </a:r>
            <a:endParaRPr lang="es-ES" dirty="0"/>
          </a:p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95846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439ABE-4AD7-4A75-9C45-51A2810D54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4648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26/4/2026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26/4/2026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26/4/2026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26/4/2026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26/4/2026</a:t>
            </a:fld>
            <a:endParaRPr lang="es-AR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26/4/2026</a:t>
            </a:fld>
            <a:endParaRPr lang="es-AR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26/4/2026</a:t>
            </a:fld>
            <a:endParaRPr lang="es-AR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26/4/2026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26/4/2026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26/4/2026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26/4/2026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E1002-0056-4C89-9D24-C12C003693D9}" type="datetimeFigureOut">
              <a:rPr lang="es-AR" smtClean="0"/>
              <a:pPr/>
              <a:t>26/4/2026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in.un.org/securitycouncil/en/content/un-sc-consolidated-list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5892A70-0085-6F2A-588C-1CE217AF0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035" y="991335"/>
            <a:ext cx="6086866" cy="5523267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-571536" y="-86692"/>
            <a:ext cx="8743936" cy="887452"/>
            <a:chOff x="-571536" y="-758102"/>
            <a:chExt cx="8743936" cy="3044094"/>
          </a:xfrm>
        </p:grpSpPr>
        <p:sp>
          <p:nvSpPr>
            <p:cNvPr id="6" name="5 Rectángulo redondeado"/>
            <p:cNvSpPr/>
            <p:nvPr/>
          </p:nvSpPr>
          <p:spPr>
            <a:xfrm>
              <a:off x="-571536" y="89248"/>
              <a:ext cx="8743936" cy="219674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-412036" y="-758102"/>
              <a:ext cx="8424936" cy="2850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MX" sz="2400" b="1" dirty="0">
                <a:solidFill>
                  <a:schemeClr val="bg1"/>
                </a:solidFill>
              </a:endParaRPr>
            </a:p>
            <a:p>
              <a:pPr algn="ctr"/>
              <a:r>
                <a:rPr lang="es-MX" sz="2400" b="1" dirty="0">
                  <a:solidFill>
                    <a:schemeClr val="bg1"/>
                  </a:solidFill>
                </a:rPr>
                <a:t>Auditoría Interna – ITAER – Revisión Externa Independiente</a:t>
              </a:r>
              <a:endParaRPr lang="es-AR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75778" name="AutoShape 2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75780" name="AutoShape 4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FEFC461-E94B-24F8-76DA-3128B21C6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" y="1021712"/>
            <a:ext cx="3390900" cy="111442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2407A14-B737-BB0E-2E86-1B5241A65C5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064365" y="5517097"/>
            <a:ext cx="6983584" cy="11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50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-285784" y="214290"/>
            <a:ext cx="903424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angle 9"/>
          <p:cNvSpPr txBox="1">
            <a:spLocks noChangeArrowheads="1"/>
          </p:cNvSpPr>
          <p:nvPr/>
        </p:nvSpPr>
        <p:spPr>
          <a:xfrm>
            <a:off x="-36512" y="265802"/>
            <a:ext cx="918051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AR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Novedades Normativas 2025 - 2026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8EEE0F0-DEAC-D547-8EBE-77EC564A3669}"/>
              </a:ext>
            </a:extLst>
          </p:cNvPr>
          <p:cNvSpPr txBox="1"/>
          <p:nvPr/>
        </p:nvSpPr>
        <p:spPr>
          <a:xfrm>
            <a:off x="1163629" y="1340768"/>
            <a:ext cx="7582996" cy="110799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s-ES" sz="2200" b="1" dirty="0"/>
              <a:t>La Resolución 207/2025 de FT</a:t>
            </a:r>
            <a:r>
              <a:rPr lang="es-AR" sz="2200" b="1" dirty="0"/>
              <a:t> actualiza el texto de la norma con términos y denominaciones que habían ido cambiando desde la emisión de la Resolución 29/2015.</a:t>
            </a:r>
          </a:p>
        </p:txBody>
      </p:sp>
      <p:pic>
        <p:nvPicPr>
          <p:cNvPr id="3" name="Imagen 2" descr="&lt;strong&gt;Laptop&lt;/strong&gt; notebook PNG image">
            <a:extLst>
              <a:ext uri="{FF2B5EF4-FFF2-40B4-BE49-F238E27FC236}">
                <a16:creationId xmlns:a16="http://schemas.microsoft.com/office/drawing/2014/main" id="{9A626D87-7287-C102-0215-9A5F8580DA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84" y="2840309"/>
            <a:ext cx="3182959" cy="203262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84C47D6-0917-F83B-6369-694A5EA89C61}"/>
              </a:ext>
            </a:extLst>
          </p:cNvPr>
          <p:cNvSpPr txBox="1"/>
          <p:nvPr/>
        </p:nvSpPr>
        <p:spPr>
          <a:xfrm>
            <a:off x="3923928" y="3429000"/>
            <a:ext cx="4176464" cy="212365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s-AR" sz="2200" b="1" dirty="0"/>
              <a:t>También se modifica el texto del procedimiento, con lo cual se requiere de una modificación en el formulario del formulario de </a:t>
            </a:r>
            <a:br>
              <a:rPr lang="es-AR" sz="2200" b="1" dirty="0"/>
            </a:br>
            <a:r>
              <a:rPr lang="es-AR" sz="2200" b="1" dirty="0"/>
              <a:t>Análisis de Riesgo de Financiamiento del Terrorismo.</a:t>
            </a:r>
            <a:endParaRPr lang="es-ES" sz="2200" b="1" dirty="0"/>
          </a:p>
        </p:txBody>
      </p:sp>
    </p:spTree>
    <p:extLst>
      <p:ext uri="{BB962C8B-B14F-4D97-AF65-F5344CB8AC3E}">
        <p14:creationId xmlns:p14="http://schemas.microsoft.com/office/powerpoint/2010/main" val="194809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3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-285784" y="214290"/>
            <a:ext cx="903424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angle 9"/>
          <p:cNvSpPr txBox="1">
            <a:spLocks noChangeArrowheads="1"/>
          </p:cNvSpPr>
          <p:nvPr/>
        </p:nvSpPr>
        <p:spPr>
          <a:xfrm>
            <a:off x="-36512" y="265802"/>
            <a:ext cx="918051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AR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Novedades Normativas 2025 - 2026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8EEE0F0-DEAC-D547-8EBE-77EC564A3669}"/>
              </a:ext>
            </a:extLst>
          </p:cNvPr>
          <p:cNvSpPr txBox="1"/>
          <p:nvPr/>
        </p:nvSpPr>
        <p:spPr>
          <a:xfrm>
            <a:off x="1163629" y="1340768"/>
            <a:ext cx="7582996" cy="280076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s-ES" sz="2200" b="1" dirty="0"/>
              <a:t>La Resolución 3/2026 de FP dice que el Sujeto Obligado deberá </a:t>
            </a:r>
            <a:r>
              <a:rPr lang="es-MX" sz="2200" b="1" dirty="0"/>
              <a:t>“</a:t>
            </a:r>
            <a:r>
              <a:rPr lang="es-MX" sz="2200" b="1" i="1" dirty="0"/>
              <a:t>verificar regular y periódicamente las listas de personas y entidades objeto de sanciones financieras dirigidas relacionadas con el financiamiento de la proliferación de armas de destrucción masiva designadas por el CONSEJO DE SEGURIDAD DE LAS NACIONES UNIDAS o por el Comité respectivo de dicho Consejo de Seguridad, así como los registros que eventualmente se creen al efecto en la jurisdicción”</a:t>
            </a:r>
            <a:endParaRPr lang="es-ES" sz="2200" b="1" dirty="0"/>
          </a:p>
        </p:txBody>
      </p:sp>
      <p:pic>
        <p:nvPicPr>
          <p:cNvPr id="3" name="Imagen 2" descr="&lt;strong&gt;Laptop&lt;/strong&gt; notebook PNG image">
            <a:extLst>
              <a:ext uri="{FF2B5EF4-FFF2-40B4-BE49-F238E27FC236}">
                <a16:creationId xmlns:a16="http://schemas.microsoft.com/office/drawing/2014/main" id="{9A626D87-7287-C102-0215-9A5F8580DA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84" y="4293096"/>
            <a:ext cx="3182959" cy="203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4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4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-285784" y="214290"/>
            <a:ext cx="903424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angle 9"/>
          <p:cNvSpPr txBox="1">
            <a:spLocks noChangeArrowheads="1"/>
          </p:cNvSpPr>
          <p:nvPr/>
        </p:nvSpPr>
        <p:spPr>
          <a:xfrm>
            <a:off x="-36512" y="265802"/>
            <a:ext cx="918051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AR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Novedades Normativas 2025 - 2026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8EEE0F0-DEAC-D547-8EBE-77EC564A3669}"/>
              </a:ext>
            </a:extLst>
          </p:cNvPr>
          <p:cNvSpPr txBox="1"/>
          <p:nvPr/>
        </p:nvSpPr>
        <p:spPr>
          <a:xfrm>
            <a:off x="1163629" y="1340768"/>
            <a:ext cx="7582996" cy="243143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s-AR" sz="2200" b="1" dirty="0"/>
              <a:t>Una manera de obtener la información actualizada de estas listas es recurrir al enlace de Naciones Unidas en donde se puede acceder a estos registros:</a:t>
            </a:r>
          </a:p>
          <a:p>
            <a:endParaRPr lang="es-AR" sz="2200" b="1" dirty="0"/>
          </a:p>
          <a:p>
            <a:endParaRPr lang="es-AR" sz="2200" b="1" dirty="0"/>
          </a:p>
          <a:p>
            <a:r>
              <a:rPr lang="es-AR" sz="2000" u="sng" dirty="0">
                <a:hlinkClick r:id="rId3"/>
              </a:rPr>
              <a:t>https://main.un.org/securitycouncil/en/content/un-sc-consolidated-list</a:t>
            </a:r>
            <a:endParaRPr lang="es-AR" sz="2000" b="1" dirty="0"/>
          </a:p>
          <a:p>
            <a:endParaRPr lang="es-ES" sz="2200" b="1" dirty="0"/>
          </a:p>
        </p:txBody>
      </p:sp>
      <p:pic>
        <p:nvPicPr>
          <p:cNvPr id="3" name="Imagen 2" descr="&lt;strong&gt;Laptop&lt;/strong&gt; notebook PNG image">
            <a:extLst>
              <a:ext uri="{FF2B5EF4-FFF2-40B4-BE49-F238E27FC236}">
                <a16:creationId xmlns:a16="http://schemas.microsoft.com/office/drawing/2014/main" id="{9A626D87-7287-C102-0215-9A5F8580DA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84" y="4293096"/>
            <a:ext cx="3182959" cy="203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1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5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-285784" y="214290"/>
            <a:ext cx="903424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angle 9"/>
          <p:cNvSpPr txBox="1">
            <a:spLocks noChangeArrowheads="1"/>
          </p:cNvSpPr>
          <p:nvPr/>
        </p:nvSpPr>
        <p:spPr>
          <a:xfrm>
            <a:off x="-36512" y="265802"/>
            <a:ext cx="918051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AR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Novedades Normativas 2025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3BF95E-B908-BCDA-851D-4B41D3346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728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3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6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-285784" y="214290"/>
            <a:ext cx="903424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angle 9"/>
          <p:cNvSpPr txBox="1">
            <a:spLocks noChangeArrowheads="1"/>
          </p:cNvSpPr>
          <p:nvPr/>
        </p:nvSpPr>
        <p:spPr>
          <a:xfrm>
            <a:off x="-36512" y="265802"/>
            <a:ext cx="918051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AR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Novedades Normativas 2025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0EE7A7-BDEE-ED39-9823-89994C434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5" y="1280455"/>
            <a:ext cx="9144000" cy="489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97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Line 3"/>
          <p:cNvSpPr>
            <a:spLocks noChangeShapeType="1"/>
          </p:cNvSpPr>
          <p:nvPr/>
        </p:nvSpPr>
        <p:spPr bwMode="auto">
          <a:xfrm>
            <a:off x="252047" y="5780160"/>
            <a:ext cx="6705600" cy="0"/>
          </a:xfrm>
          <a:prstGeom prst="line">
            <a:avLst/>
          </a:prstGeom>
          <a:noFill/>
          <a:ln w="25400">
            <a:solidFill>
              <a:srgbClr val="3333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AR" dirty="0"/>
          </a:p>
        </p:txBody>
      </p:sp>
      <p:sp>
        <p:nvSpPr>
          <p:cNvPr id="4108" name="Line 4"/>
          <p:cNvSpPr>
            <a:spLocks noChangeShapeType="1"/>
          </p:cNvSpPr>
          <p:nvPr/>
        </p:nvSpPr>
        <p:spPr bwMode="auto">
          <a:xfrm flipV="1">
            <a:off x="252047" y="1243085"/>
            <a:ext cx="3352800" cy="4495800"/>
          </a:xfrm>
          <a:prstGeom prst="line">
            <a:avLst/>
          </a:prstGeom>
          <a:noFill/>
          <a:ln w="25400">
            <a:solidFill>
              <a:srgbClr val="3333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AR" dirty="0"/>
          </a:p>
        </p:txBody>
      </p:sp>
      <p:sp>
        <p:nvSpPr>
          <p:cNvPr id="4109" name="Line 5"/>
          <p:cNvSpPr>
            <a:spLocks noChangeShapeType="1"/>
          </p:cNvSpPr>
          <p:nvPr/>
        </p:nvSpPr>
        <p:spPr bwMode="auto">
          <a:xfrm>
            <a:off x="3641481" y="1243085"/>
            <a:ext cx="3276600" cy="4495800"/>
          </a:xfrm>
          <a:prstGeom prst="line">
            <a:avLst/>
          </a:prstGeom>
          <a:noFill/>
          <a:ln w="25400">
            <a:solidFill>
              <a:srgbClr val="3333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AR" dirty="0"/>
          </a:p>
        </p:txBody>
      </p:sp>
      <p:sp>
        <p:nvSpPr>
          <p:cNvPr id="4110" name="Line 6"/>
          <p:cNvSpPr>
            <a:spLocks noChangeShapeType="1"/>
          </p:cNvSpPr>
          <p:nvPr/>
        </p:nvSpPr>
        <p:spPr bwMode="auto">
          <a:xfrm>
            <a:off x="1248509" y="4556198"/>
            <a:ext cx="4552950" cy="0"/>
          </a:xfrm>
          <a:prstGeom prst="line">
            <a:avLst/>
          </a:prstGeom>
          <a:noFill/>
          <a:ln w="25400">
            <a:solidFill>
              <a:srgbClr val="3333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AR" dirty="0"/>
          </a:p>
        </p:txBody>
      </p:sp>
      <p:sp>
        <p:nvSpPr>
          <p:cNvPr id="4111" name="Line 7"/>
          <p:cNvSpPr>
            <a:spLocks noChangeShapeType="1"/>
          </p:cNvSpPr>
          <p:nvPr/>
        </p:nvSpPr>
        <p:spPr bwMode="auto">
          <a:xfrm>
            <a:off x="2045677" y="3475110"/>
            <a:ext cx="3124200" cy="0"/>
          </a:xfrm>
          <a:prstGeom prst="line">
            <a:avLst/>
          </a:prstGeom>
          <a:noFill/>
          <a:ln w="25400">
            <a:solidFill>
              <a:srgbClr val="3333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AR" dirty="0"/>
          </a:p>
        </p:txBody>
      </p:sp>
      <p:sp>
        <p:nvSpPr>
          <p:cNvPr id="4112" name="Rectangle 8"/>
          <p:cNvSpPr>
            <a:spLocks noChangeArrowheads="1"/>
          </p:cNvSpPr>
          <p:nvPr/>
        </p:nvSpPr>
        <p:spPr bwMode="auto">
          <a:xfrm>
            <a:off x="2955684" y="3378275"/>
            <a:ext cx="1846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s-AR" dirty="0"/>
          </a:p>
        </p:txBody>
      </p:sp>
      <p:sp>
        <p:nvSpPr>
          <p:cNvPr id="188427" name="Text Box 11"/>
          <p:cNvSpPr txBox="1">
            <a:spLocks noChangeArrowheads="1"/>
          </p:cNvSpPr>
          <p:nvPr/>
        </p:nvSpPr>
        <p:spPr bwMode="auto">
          <a:xfrm>
            <a:off x="2244971" y="2251149"/>
            <a:ext cx="2725616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1600" b="1" dirty="0"/>
              <a:t>CONTROL </a:t>
            </a:r>
          </a:p>
          <a:p>
            <a:pPr algn="ctr">
              <a:spcBef>
                <a:spcPct val="50000"/>
              </a:spcBef>
            </a:pPr>
            <a:r>
              <a:rPr lang="es-ES" sz="1600" b="1" dirty="0"/>
              <a:t>TERCIARIO</a:t>
            </a:r>
          </a:p>
          <a:p>
            <a:pPr algn="ctr">
              <a:spcBef>
                <a:spcPct val="50000"/>
              </a:spcBef>
            </a:pPr>
            <a:r>
              <a:rPr lang="es-ES" sz="1600" b="1" dirty="0">
                <a:solidFill>
                  <a:srgbClr val="969696"/>
                </a:solidFill>
              </a:rPr>
              <a:t>(Correctivo)</a:t>
            </a:r>
          </a:p>
        </p:txBody>
      </p:sp>
      <p:sp>
        <p:nvSpPr>
          <p:cNvPr id="188428" name="Text Box 12"/>
          <p:cNvSpPr txBox="1">
            <a:spLocks noChangeArrowheads="1"/>
          </p:cNvSpPr>
          <p:nvPr/>
        </p:nvSpPr>
        <p:spPr bwMode="auto">
          <a:xfrm>
            <a:off x="1979737" y="3764036"/>
            <a:ext cx="319014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1600" b="1" dirty="0"/>
              <a:t>CONTROL SECUNDARIO </a:t>
            </a:r>
            <a:r>
              <a:rPr lang="es-ES" sz="1600" b="1" dirty="0">
                <a:solidFill>
                  <a:srgbClr val="969696"/>
                </a:solidFill>
              </a:rPr>
              <a:t>(Detectivo)</a:t>
            </a:r>
          </a:p>
        </p:txBody>
      </p:sp>
      <p:sp>
        <p:nvSpPr>
          <p:cNvPr id="188429" name="Text Box 13"/>
          <p:cNvSpPr txBox="1">
            <a:spLocks noChangeArrowheads="1"/>
          </p:cNvSpPr>
          <p:nvPr/>
        </p:nvSpPr>
        <p:spPr bwMode="auto">
          <a:xfrm>
            <a:off x="1248508" y="4843536"/>
            <a:ext cx="471853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1600" b="1" dirty="0"/>
              <a:t>CONTROL PRIMARIO</a:t>
            </a:r>
          </a:p>
          <a:p>
            <a:pPr algn="ctr">
              <a:spcBef>
                <a:spcPct val="50000"/>
              </a:spcBef>
            </a:pPr>
            <a:r>
              <a:rPr lang="es-ES" sz="1600" b="1" dirty="0">
                <a:solidFill>
                  <a:srgbClr val="969696"/>
                </a:solidFill>
              </a:rPr>
              <a:t> (Preventivo)</a:t>
            </a:r>
          </a:p>
        </p:txBody>
      </p:sp>
      <p:sp>
        <p:nvSpPr>
          <p:cNvPr id="188430" name="Text Box 14"/>
          <p:cNvSpPr txBox="1">
            <a:spLocks noChangeArrowheads="1"/>
          </p:cNvSpPr>
          <p:nvPr/>
        </p:nvSpPr>
        <p:spPr bwMode="auto">
          <a:xfrm>
            <a:off x="5108787" y="1872264"/>
            <a:ext cx="2916917" cy="75777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ctr" eaLnBrk="0" hangingPunct="0">
              <a:lnSpc>
                <a:spcPct val="95000"/>
              </a:lnSpc>
              <a:spcBef>
                <a:spcPct val="50000"/>
              </a:spcBef>
              <a:defRPr b="1">
                <a:solidFill>
                  <a:schemeClr val="lt1"/>
                </a:solidFill>
                <a:latin typeface="TheSansCorrespondence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Auditoría Interna</a:t>
            </a:r>
          </a:p>
          <a:p>
            <a:r>
              <a:rPr lang="es-ES" dirty="0"/>
              <a:t>Auditoría Externa</a:t>
            </a:r>
          </a:p>
        </p:txBody>
      </p:sp>
      <p:sp>
        <p:nvSpPr>
          <p:cNvPr id="188431" name="Text Box 15"/>
          <p:cNvSpPr txBox="1">
            <a:spLocks noChangeArrowheads="1"/>
          </p:cNvSpPr>
          <p:nvPr/>
        </p:nvSpPr>
        <p:spPr bwMode="auto">
          <a:xfrm>
            <a:off x="6157148" y="3530632"/>
            <a:ext cx="2193681" cy="61927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2075" tIns="46038" rIns="92075" bIns="46038">
            <a:spAutoFit/>
            <a:flatTx/>
          </a:bodyPr>
          <a:lstStyle>
            <a:defPPr>
              <a:defRPr lang="es-AR"/>
            </a:defPPr>
            <a:lvl1pPr algn="ctr" eaLnBrk="0" hangingPunct="0">
              <a:lnSpc>
                <a:spcPct val="95000"/>
              </a:lnSpc>
              <a:spcBef>
                <a:spcPct val="50000"/>
              </a:spcBef>
              <a:defRPr b="1">
                <a:solidFill>
                  <a:schemeClr val="lt1"/>
                </a:solidFill>
                <a:latin typeface="TheSansCorrespondence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Independiente del Proceso / Negocio</a:t>
            </a:r>
          </a:p>
        </p:txBody>
      </p:sp>
      <p:sp>
        <p:nvSpPr>
          <p:cNvPr id="188432" name="Text Box 16"/>
          <p:cNvSpPr txBox="1">
            <a:spLocks noChangeArrowheads="1"/>
          </p:cNvSpPr>
          <p:nvPr/>
        </p:nvSpPr>
        <p:spPr bwMode="auto">
          <a:xfrm>
            <a:off x="6497918" y="4744210"/>
            <a:ext cx="2645017" cy="75777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ctr" eaLnBrk="0" hangingPunct="0">
              <a:lnSpc>
                <a:spcPct val="95000"/>
              </a:lnSpc>
              <a:spcBef>
                <a:spcPct val="50000"/>
              </a:spcBef>
              <a:defRPr b="1">
                <a:solidFill>
                  <a:schemeClr val="lt1"/>
                </a:solidFill>
                <a:latin typeface="TheSansCorrespondence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Línea de Negocios</a:t>
            </a:r>
          </a:p>
          <a:p>
            <a:r>
              <a:rPr lang="es-ES" dirty="0"/>
              <a:t>Línea Operacional</a:t>
            </a:r>
          </a:p>
        </p:txBody>
      </p:sp>
      <p:sp>
        <p:nvSpPr>
          <p:cNvPr id="188433" name="Text Box 17"/>
          <p:cNvSpPr txBox="1">
            <a:spLocks noChangeArrowheads="1"/>
          </p:cNvSpPr>
          <p:nvPr/>
        </p:nvSpPr>
        <p:spPr bwMode="auto">
          <a:xfrm>
            <a:off x="252047" y="5851598"/>
            <a:ext cx="6712928" cy="338554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1600" b="1" dirty="0">
                <a:solidFill>
                  <a:schemeClr val="bg1"/>
                </a:solidFill>
              </a:rPr>
              <a:t>R   I   E   S   G   O   S</a:t>
            </a:r>
          </a:p>
        </p:txBody>
      </p:sp>
      <p:sp>
        <p:nvSpPr>
          <p:cNvPr id="188434" name="AutoShape 18"/>
          <p:cNvSpPr>
            <a:spLocks noChangeArrowheads="1"/>
          </p:cNvSpPr>
          <p:nvPr/>
        </p:nvSpPr>
        <p:spPr bwMode="auto">
          <a:xfrm>
            <a:off x="650631" y="5851602"/>
            <a:ext cx="464528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s-AR" dirty="0"/>
          </a:p>
        </p:txBody>
      </p:sp>
      <p:sp>
        <p:nvSpPr>
          <p:cNvPr id="188435" name="AutoShape 19"/>
          <p:cNvSpPr>
            <a:spLocks noChangeArrowheads="1"/>
          </p:cNvSpPr>
          <p:nvPr/>
        </p:nvSpPr>
        <p:spPr bwMode="auto">
          <a:xfrm>
            <a:off x="1581152" y="5851602"/>
            <a:ext cx="464526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s-AR" dirty="0"/>
          </a:p>
        </p:txBody>
      </p:sp>
      <p:sp>
        <p:nvSpPr>
          <p:cNvPr id="188436" name="AutoShape 20"/>
          <p:cNvSpPr>
            <a:spLocks noChangeArrowheads="1"/>
          </p:cNvSpPr>
          <p:nvPr/>
        </p:nvSpPr>
        <p:spPr bwMode="auto">
          <a:xfrm>
            <a:off x="5039459" y="5851602"/>
            <a:ext cx="463062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s-AR" dirty="0"/>
          </a:p>
        </p:txBody>
      </p:sp>
      <p:sp>
        <p:nvSpPr>
          <p:cNvPr id="188437" name="AutoShape 21"/>
          <p:cNvSpPr>
            <a:spLocks noChangeArrowheads="1"/>
          </p:cNvSpPr>
          <p:nvPr/>
        </p:nvSpPr>
        <p:spPr bwMode="auto">
          <a:xfrm>
            <a:off x="6034454" y="5851602"/>
            <a:ext cx="464528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s-AR" dirty="0"/>
          </a:p>
        </p:txBody>
      </p:sp>
      <p:grpSp>
        <p:nvGrpSpPr>
          <p:cNvPr id="2" name="Diagram 23"/>
          <p:cNvGrpSpPr>
            <a:grpSpLocks/>
          </p:cNvGrpSpPr>
          <p:nvPr/>
        </p:nvGrpSpPr>
        <p:grpSpPr bwMode="auto">
          <a:xfrm>
            <a:off x="1915259" y="2106685"/>
            <a:ext cx="3387969" cy="3671888"/>
            <a:chOff x="1653" y="703"/>
            <a:chExt cx="2858" cy="2858"/>
          </a:xfrm>
        </p:grpSpPr>
        <p:sp>
          <p:nvSpPr>
            <p:cNvPr id="3" name="_s4100"/>
            <p:cNvSpPr>
              <a:spLocks noChangeArrowheads="1" noTextEdit="1"/>
            </p:cNvSpPr>
            <p:nvPr/>
          </p:nvSpPr>
          <p:spPr bwMode="auto">
            <a:xfrm>
              <a:off x="2159" y="917"/>
              <a:ext cx="1847" cy="1847"/>
            </a:xfrm>
            <a:custGeom>
              <a:avLst/>
              <a:gdLst>
                <a:gd name="G0" fmla="+- -5242880 0 0"/>
                <a:gd name="G1" fmla="+- -8519680 0 0"/>
                <a:gd name="G2" fmla="+- -5242880 0 -8519680"/>
                <a:gd name="G3" fmla="+- 10800 0 0"/>
                <a:gd name="G4" fmla="+- 0 0 -5242880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7200 0 0"/>
                <a:gd name="G9" fmla="+- 0 0 -8519680"/>
                <a:gd name="G10" fmla="+- 7200 0 2700"/>
                <a:gd name="G11" fmla="cos G10 -5242880"/>
                <a:gd name="G12" fmla="sin G10 -5242880"/>
                <a:gd name="G13" fmla="cos 13500 -5242880"/>
                <a:gd name="G14" fmla="sin 13500 -5242880"/>
                <a:gd name="G15" fmla="+- G11 10800 0"/>
                <a:gd name="G16" fmla="+- G12 10800 0"/>
                <a:gd name="G17" fmla="+- G13 10800 0"/>
                <a:gd name="G18" fmla="+- G14 10800 0"/>
                <a:gd name="G19" fmla="*/ 7200 1 2"/>
                <a:gd name="G20" fmla="+- G19 5400 0"/>
                <a:gd name="G21" fmla="cos G20 -5242880"/>
                <a:gd name="G22" fmla="sin G20 -5242880"/>
                <a:gd name="G23" fmla="+- G21 10800 0"/>
                <a:gd name="G24" fmla="+- G12 G23 G22"/>
                <a:gd name="G25" fmla="+- G22 G23 G11"/>
                <a:gd name="G26" fmla="cos 10800 -5242880"/>
                <a:gd name="G27" fmla="sin 10800 -5242880"/>
                <a:gd name="G28" fmla="cos 7200 -5242880"/>
                <a:gd name="G29" fmla="sin 7200 -5242880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8519680"/>
                <a:gd name="G36" fmla="sin G34 -8519680"/>
                <a:gd name="G37" fmla="+/ -8519680 -5242880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7200 G39"/>
                <a:gd name="G43" fmla="sin 7200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8004 w 21600"/>
                <a:gd name="T5" fmla="*/ 368 h 21600"/>
                <a:gd name="T6" fmla="*/ 5014 w 21600"/>
                <a:gd name="T7" fmla="*/ 3905 h 21600"/>
                <a:gd name="T8" fmla="*/ 8936 w 21600"/>
                <a:gd name="T9" fmla="*/ 3845 h 21600"/>
                <a:gd name="T10" fmla="*/ 13144 w 21600"/>
                <a:gd name="T11" fmla="*/ -2495 h 21600"/>
                <a:gd name="T12" fmla="*/ 16794 w 21600"/>
                <a:gd name="T13" fmla="*/ 2717 h 21600"/>
                <a:gd name="T14" fmla="*/ 11581 w 21600"/>
                <a:gd name="T15" fmla="*/ 6368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2050" y="3709"/>
                  </a:moveTo>
                  <a:cubicBezTo>
                    <a:pt x="11637" y="3636"/>
                    <a:pt x="11219" y="3600"/>
                    <a:pt x="10800" y="3600"/>
                  </a:cubicBezTo>
                  <a:cubicBezTo>
                    <a:pt x="9107" y="3599"/>
                    <a:pt x="7468" y="4196"/>
                    <a:pt x="6171" y="5284"/>
                  </a:cubicBezTo>
                  <a:lnTo>
                    <a:pt x="3857" y="2526"/>
                  </a:lnTo>
                  <a:cubicBezTo>
                    <a:pt x="5802" y="894"/>
                    <a:pt x="8260" y="-1"/>
                    <a:pt x="10800" y="0"/>
                  </a:cubicBezTo>
                  <a:cubicBezTo>
                    <a:pt x="11428" y="0"/>
                    <a:pt x="12056" y="54"/>
                    <a:pt x="12675" y="164"/>
                  </a:cubicBezTo>
                  <a:lnTo>
                    <a:pt x="13144" y="-2495"/>
                  </a:lnTo>
                  <a:lnTo>
                    <a:pt x="16794" y="2717"/>
                  </a:lnTo>
                  <a:lnTo>
                    <a:pt x="11581" y="6368"/>
                  </a:lnTo>
                  <a:lnTo>
                    <a:pt x="12050" y="3709"/>
                  </a:lnTo>
                  <a:close/>
                </a:path>
              </a:pathLst>
            </a:custGeom>
            <a:solidFill>
              <a:schemeClr val="accent2">
                <a:alpha val="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s-AR" dirty="0"/>
            </a:p>
          </p:txBody>
        </p:sp>
        <p:sp>
          <p:nvSpPr>
            <p:cNvPr id="4" name="_s4101"/>
            <p:cNvSpPr>
              <a:spLocks noChangeArrowheads="1" noTextEdit="1"/>
            </p:cNvSpPr>
            <p:nvPr/>
          </p:nvSpPr>
          <p:spPr bwMode="auto">
            <a:xfrm rot="7200000">
              <a:off x="2412" y="1355"/>
              <a:ext cx="1847" cy="1847"/>
            </a:xfrm>
            <a:custGeom>
              <a:avLst/>
              <a:gdLst>
                <a:gd name="G0" fmla="+- -5242880 0 0"/>
                <a:gd name="G1" fmla="+- -8519680 0 0"/>
                <a:gd name="G2" fmla="+- -5242880 0 -8519680"/>
                <a:gd name="G3" fmla="+- 10800 0 0"/>
                <a:gd name="G4" fmla="+- 0 0 -5242880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7200 0 0"/>
                <a:gd name="G9" fmla="+- 0 0 -8519680"/>
                <a:gd name="G10" fmla="+- 7200 0 2700"/>
                <a:gd name="G11" fmla="cos G10 -5242880"/>
                <a:gd name="G12" fmla="sin G10 -5242880"/>
                <a:gd name="G13" fmla="cos 13500 -5242880"/>
                <a:gd name="G14" fmla="sin 13500 -5242880"/>
                <a:gd name="G15" fmla="+- G11 10800 0"/>
                <a:gd name="G16" fmla="+- G12 10800 0"/>
                <a:gd name="G17" fmla="+- G13 10800 0"/>
                <a:gd name="G18" fmla="+- G14 10800 0"/>
                <a:gd name="G19" fmla="*/ 7200 1 2"/>
                <a:gd name="G20" fmla="+- G19 5400 0"/>
                <a:gd name="G21" fmla="cos G20 -5242880"/>
                <a:gd name="G22" fmla="sin G20 -5242880"/>
                <a:gd name="G23" fmla="+- G21 10800 0"/>
                <a:gd name="G24" fmla="+- G12 G23 G22"/>
                <a:gd name="G25" fmla="+- G22 G23 G11"/>
                <a:gd name="G26" fmla="cos 10800 -5242880"/>
                <a:gd name="G27" fmla="sin 10800 -5242880"/>
                <a:gd name="G28" fmla="cos 7200 -5242880"/>
                <a:gd name="G29" fmla="sin 7200 -5242880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8519680"/>
                <a:gd name="G36" fmla="sin G34 -8519680"/>
                <a:gd name="G37" fmla="+/ -8519680 -5242880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7200 G39"/>
                <a:gd name="G43" fmla="sin 7200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8004 w 21600"/>
                <a:gd name="T5" fmla="*/ 368 h 21600"/>
                <a:gd name="T6" fmla="*/ 5014 w 21600"/>
                <a:gd name="T7" fmla="*/ 3905 h 21600"/>
                <a:gd name="T8" fmla="*/ 8936 w 21600"/>
                <a:gd name="T9" fmla="*/ 3845 h 21600"/>
                <a:gd name="T10" fmla="*/ 13144 w 21600"/>
                <a:gd name="T11" fmla="*/ -2495 h 21600"/>
                <a:gd name="T12" fmla="*/ 16794 w 21600"/>
                <a:gd name="T13" fmla="*/ 2717 h 21600"/>
                <a:gd name="T14" fmla="*/ 11581 w 21600"/>
                <a:gd name="T15" fmla="*/ 6368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2050" y="3709"/>
                  </a:moveTo>
                  <a:cubicBezTo>
                    <a:pt x="11637" y="3636"/>
                    <a:pt x="11219" y="3600"/>
                    <a:pt x="10800" y="3600"/>
                  </a:cubicBezTo>
                  <a:cubicBezTo>
                    <a:pt x="9107" y="3599"/>
                    <a:pt x="7468" y="4196"/>
                    <a:pt x="6171" y="5284"/>
                  </a:cubicBezTo>
                  <a:lnTo>
                    <a:pt x="3857" y="2526"/>
                  </a:lnTo>
                  <a:cubicBezTo>
                    <a:pt x="5802" y="894"/>
                    <a:pt x="8260" y="-1"/>
                    <a:pt x="10800" y="0"/>
                  </a:cubicBezTo>
                  <a:cubicBezTo>
                    <a:pt x="11428" y="0"/>
                    <a:pt x="12056" y="54"/>
                    <a:pt x="12675" y="164"/>
                  </a:cubicBezTo>
                  <a:lnTo>
                    <a:pt x="13144" y="-2495"/>
                  </a:lnTo>
                  <a:lnTo>
                    <a:pt x="16794" y="2717"/>
                  </a:lnTo>
                  <a:lnTo>
                    <a:pt x="11581" y="6368"/>
                  </a:lnTo>
                  <a:lnTo>
                    <a:pt x="12050" y="3709"/>
                  </a:lnTo>
                  <a:close/>
                </a:path>
              </a:pathLst>
            </a:custGeom>
            <a:solidFill>
              <a:schemeClr val="accent2">
                <a:alpha val="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s-AR" dirty="0"/>
            </a:p>
          </p:txBody>
        </p:sp>
        <p:sp>
          <p:nvSpPr>
            <p:cNvPr id="5" name="_s4102"/>
            <p:cNvSpPr>
              <a:spLocks noChangeArrowheads="1" noTextEdit="1"/>
            </p:cNvSpPr>
            <p:nvPr/>
          </p:nvSpPr>
          <p:spPr bwMode="auto">
            <a:xfrm rot="14400000">
              <a:off x="1906" y="1355"/>
              <a:ext cx="1847" cy="1847"/>
            </a:xfrm>
            <a:custGeom>
              <a:avLst/>
              <a:gdLst>
                <a:gd name="G0" fmla="+- -5242880 0 0"/>
                <a:gd name="G1" fmla="+- -8519680 0 0"/>
                <a:gd name="G2" fmla="+- -5242880 0 -8519680"/>
                <a:gd name="G3" fmla="+- 10800 0 0"/>
                <a:gd name="G4" fmla="+- 0 0 -5242880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7200 0 0"/>
                <a:gd name="G9" fmla="+- 0 0 -8519680"/>
                <a:gd name="G10" fmla="+- 7200 0 2700"/>
                <a:gd name="G11" fmla="cos G10 -5242880"/>
                <a:gd name="G12" fmla="sin G10 -5242880"/>
                <a:gd name="G13" fmla="cos 13500 -5242880"/>
                <a:gd name="G14" fmla="sin 13500 -5242880"/>
                <a:gd name="G15" fmla="+- G11 10800 0"/>
                <a:gd name="G16" fmla="+- G12 10800 0"/>
                <a:gd name="G17" fmla="+- G13 10800 0"/>
                <a:gd name="G18" fmla="+- G14 10800 0"/>
                <a:gd name="G19" fmla="*/ 7200 1 2"/>
                <a:gd name="G20" fmla="+- G19 5400 0"/>
                <a:gd name="G21" fmla="cos G20 -5242880"/>
                <a:gd name="G22" fmla="sin G20 -5242880"/>
                <a:gd name="G23" fmla="+- G21 10800 0"/>
                <a:gd name="G24" fmla="+- G12 G23 G22"/>
                <a:gd name="G25" fmla="+- G22 G23 G11"/>
                <a:gd name="G26" fmla="cos 10800 -5242880"/>
                <a:gd name="G27" fmla="sin 10800 -5242880"/>
                <a:gd name="G28" fmla="cos 7200 -5242880"/>
                <a:gd name="G29" fmla="sin 7200 -5242880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8519680"/>
                <a:gd name="G36" fmla="sin G34 -8519680"/>
                <a:gd name="G37" fmla="+/ -8519680 -5242880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7200 G39"/>
                <a:gd name="G43" fmla="sin 7200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8004 w 21600"/>
                <a:gd name="T5" fmla="*/ 368 h 21600"/>
                <a:gd name="T6" fmla="*/ 5014 w 21600"/>
                <a:gd name="T7" fmla="*/ 3905 h 21600"/>
                <a:gd name="T8" fmla="*/ 8936 w 21600"/>
                <a:gd name="T9" fmla="*/ 3845 h 21600"/>
                <a:gd name="T10" fmla="*/ 13144 w 21600"/>
                <a:gd name="T11" fmla="*/ -2495 h 21600"/>
                <a:gd name="T12" fmla="*/ 16794 w 21600"/>
                <a:gd name="T13" fmla="*/ 2717 h 21600"/>
                <a:gd name="T14" fmla="*/ 11581 w 21600"/>
                <a:gd name="T15" fmla="*/ 6368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2050" y="3709"/>
                  </a:moveTo>
                  <a:cubicBezTo>
                    <a:pt x="11637" y="3636"/>
                    <a:pt x="11219" y="3600"/>
                    <a:pt x="10800" y="3600"/>
                  </a:cubicBezTo>
                  <a:cubicBezTo>
                    <a:pt x="9107" y="3599"/>
                    <a:pt x="7468" y="4196"/>
                    <a:pt x="6171" y="5284"/>
                  </a:cubicBezTo>
                  <a:lnTo>
                    <a:pt x="3857" y="2526"/>
                  </a:lnTo>
                  <a:cubicBezTo>
                    <a:pt x="5802" y="894"/>
                    <a:pt x="8260" y="-1"/>
                    <a:pt x="10800" y="0"/>
                  </a:cubicBezTo>
                  <a:cubicBezTo>
                    <a:pt x="11428" y="0"/>
                    <a:pt x="12056" y="54"/>
                    <a:pt x="12675" y="164"/>
                  </a:cubicBezTo>
                  <a:lnTo>
                    <a:pt x="13144" y="-2495"/>
                  </a:lnTo>
                  <a:lnTo>
                    <a:pt x="16794" y="2717"/>
                  </a:lnTo>
                  <a:lnTo>
                    <a:pt x="11581" y="6368"/>
                  </a:lnTo>
                  <a:lnTo>
                    <a:pt x="12050" y="3709"/>
                  </a:lnTo>
                  <a:close/>
                </a:path>
              </a:pathLst>
            </a:custGeom>
            <a:solidFill>
              <a:schemeClr val="accent2">
                <a:alpha val="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s-AR" dirty="0"/>
            </a:p>
          </p:txBody>
        </p:sp>
        <p:sp>
          <p:nvSpPr>
            <p:cNvPr id="6" name="_s4103"/>
            <p:cNvSpPr>
              <a:spLocks noChangeArrowheads="1"/>
            </p:cNvSpPr>
            <p:nvPr/>
          </p:nvSpPr>
          <p:spPr bwMode="auto">
            <a:xfrm>
              <a:off x="3588" y="1255"/>
              <a:ext cx="741" cy="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s-AR" dirty="0"/>
            </a:p>
          </p:txBody>
        </p:sp>
        <p:sp>
          <p:nvSpPr>
            <p:cNvPr id="7" name="_s4104"/>
            <p:cNvSpPr>
              <a:spLocks noChangeArrowheads="1"/>
            </p:cNvSpPr>
            <p:nvPr/>
          </p:nvSpPr>
          <p:spPr bwMode="auto">
            <a:xfrm>
              <a:off x="2713" y="2774"/>
              <a:ext cx="741" cy="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s-AR" dirty="0"/>
            </a:p>
          </p:txBody>
        </p:sp>
        <p:sp>
          <p:nvSpPr>
            <p:cNvPr id="8" name="_s4105"/>
            <p:cNvSpPr>
              <a:spLocks noChangeArrowheads="1"/>
            </p:cNvSpPr>
            <p:nvPr/>
          </p:nvSpPr>
          <p:spPr bwMode="auto">
            <a:xfrm>
              <a:off x="1835" y="1256"/>
              <a:ext cx="741" cy="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s-AR" dirty="0"/>
            </a:p>
          </p:txBody>
        </p:sp>
      </p:grpSp>
      <p:sp>
        <p:nvSpPr>
          <p:cNvPr id="11" name="9 CuadroTexto">
            <a:extLst>
              <a:ext uri="{FF2B5EF4-FFF2-40B4-BE49-F238E27FC236}">
                <a16:creationId xmlns:a16="http://schemas.microsoft.com/office/drawing/2014/main" id="{77C5FA1D-1FBC-8F24-45BC-FA676F40B220}"/>
              </a:ext>
            </a:extLst>
          </p:cNvPr>
          <p:cNvSpPr txBox="1"/>
          <p:nvPr/>
        </p:nvSpPr>
        <p:spPr>
          <a:xfrm>
            <a:off x="7589896" y="1098064"/>
            <a:ext cx="121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800" b="1" dirty="0">
                <a:solidFill>
                  <a:schemeClr val="bg1"/>
                </a:solidFill>
              </a:rPr>
              <a:t>A: I </a:t>
            </a:r>
          </a:p>
          <a:p>
            <a:pPr algn="ctr"/>
            <a:r>
              <a:rPr lang="es-AR" sz="2800" b="1" dirty="0">
                <a:solidFill>
                  <a:schemeClr val="bg1"/>
                </a:solidFill>
              </a:rPr>
              <a:t>a IV 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1CD04CD-E6D2-793A-995F-7EFAF0E9A8C9}"/>
              </a:ext>
            </a:extLst>
          </p:cNvPr>
          <p:cNvGrpSpPr/>
          <p:nvPr/>
        </p:nvGrpSpPr>
        <p:grpSpPr>
          <a:xfrm>
            <a:off x="-106197" y="216741"/>
            <a:ext cx="9249132" cy="693860"/>
            <a:chOff x="-428660" y="142852"/>
            <a:chExt cx="9249132" cy="693860"/>
          </a:xfrm>
        </p:grpSpPr>
        <p:sp>
          <p:nvSpPr>
            <p:cNvPr id="13" name="3 Rectángulo redondeado">
              <a:extLst>
                <a:ext uri="{FF2B5EF4-FFF2-40B4-BE49-F238E27FC236}">
                  <a16:creationId xmlns:a16="http://schemas.microsoft.com/office/drawing/2014/main" id="{7EF46A7A-8CE4-035F-ECF6-93625371788C}"/>
                </a:ext>
              </a:extLst>
            </p:cNvPr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52EF9ADC-4446-28AE-D31C-B9CA7B2BC4F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Tipos de Controles Formales</a:t>
              </a:r>
            </a:p>
          </p:txBody>
        </p:sp>
      </p:grpSp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82F401B4-9664-ECAA-A7E8-B8D8E63C4C50}"/>
              </a:ext>
            </a:extLst>
          </p:cNvPr>
          <p:cNvSpPr txBox="1">
            <a:spLocks/>
          </p:cNvSpPr>
          <p:nvPr/>
        </p:nvSpPr>
        <p:spPr>
          <a:xfrm>
            <a:off x="118583" y="6525344"/>
            <a:ext cx="372435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7</a:t>
            </a:fld>
            <a:endParaRPr lang="es-E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0332369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8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-285784" y="214290"/>
            <a:ext cx="903424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angle 9"/>
          <p:cNvSpPr txBox="1">
            <a:spLocks noChangeArrowheads="1"/>
          </p:cNvSpPr>
          <p:nvPr/>
        </p:nvSpPr>
        <p:spPr>
          <a:xfrm>
            <a:off x="-36512" y="265802"/>
            <a:ext cx="918051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AR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Sistema de Gestión de LA/FT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3C984C6-7DCB-4660-8088-8935AEAD7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6564" y="2132856"/>
            <a:ext cx="4447924" cy="619273"/>
          </a:xfrm>
          <a:prstGeom prst="rect">
            <a:avLst/>
          </a:prstGeom>
          <a:solidFill>
            <a:srgbClr val="0070C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just" eaLnBrk="0" hangingPunct="0">
              <a:lnSpc>
                <a:spcPct val="95000"/>
              </a:lnSpc>
              <a:spcBef>
                <a:spcPct val="50000"/>
              </a:spcBef>
              <a:defRPr b="1">
                <a:latin typeface="TheSansCorrespondence" pitchFamily="34" charset="0"/>
              </a:defRPr>
            </a:lvl1pPr>
          </a:lstStyle>
          <a:p>
            <a:pPr lvl="0"/>
            <a:r>
              <a:rPr lang="es-ES" dirty="0"/>
              <a:t>Una metodología de análisis y valoración de los riesgos residuales de LA/FT</a:t>
            </a:r>
            <a:endParaRPr lang="es-AR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E3DDA63B-B507-4D80-BDF4-7D6C6EF24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6442" y="4437112"/>
            <a:ext cx="4447924" cy="619273"/>
          </a:xfrm>
          <a:prstGeom prst="rect">
            <a:avLst/>
          </a:prstGeom>
          <a:solidFill>
            <a:srgbClr val="0070C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just" eaLnBrk="0" hangingPunct="0">
              <a:lnSpc>
                <a:spcPct val="95000"/>
              </a:lnSpc>
              <a:spcBef>
                <a:spcPct val="50000"/>
              </a:spcBef>
              <a:defRPr b="1">
                <a:latin typeface="TheSansCorrespondence" pitchFamily="34" charset="0"/>
              </a:defRPr>
            </a:lvl1pPr>
          </a:lstStyle>
          <a:p>
            <a:pPr lvl="0"/>
            <a:r>
              <a:rPr lang="es-ES" dirty="0"/>
              <a:t>Un modelo maduro para el cálculo del Perfil Transaccional Anual.</a:t>
            </a:r>
            <a:endParaRPr lang="es-AR" dirty="0"/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E6840860-B3E7-4E1A-808D-77BC41DB5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493" y="5600798"/>
            <a:ext cx="4442995" cy="882422"/>
          </a:xfrm>
          <a:prstGeom prst="rect">
            <a:avLst/>
          </a:prstGeom>
          <a:solidFill>
            <a:srgbClr val="0070C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just" eaLnBrk="0" hangingPunct="0">
              <a:lnSpc>
                <a:spcPct val="95000"/>
              </a:lnSpc>
              <a:spcBef>
                <a:spcPct val="50000"/>
              </a:spcBef>
              <a:defRPr b="1">
                <a:latin typeface="TheSansCorrespondence" pitchFamily="34" charset="0"/>
              </a:defRPr>
            </a:lvl1pPr>
          </a:lstStyle>
          <a:p>
            <a:pPr lvl="0"/>
            <a:r>
              <a:rPr lang="es-ES" dirty="0"/>
              <a:t>Un sistema de alertas de operaciones inusuales o sospechosas acorde al tamaño y complejidad de los negocios de la Entidad.</a:t>
            </a:r>
            <a:endParaRPr lang="es-AR" dirty="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85E4F0E-8464-4DCD-A3B1-DA24E21D4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1088322"/>
            <a:ext cx="6918306" cy="83099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0"/>
            <a:r>
              <a:rPr lang="es-AR" sz="2400" b="1" dirty="0"/>
              <a:t>¿De qué estamos hablando cuando hablamos de Sistema de LA/FT?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F613594-8EA3-4129-B88C-13B377B58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2521" y="2149924"/>
            <a:ext cx="4946489" cy="3467695"/>
          </a:xfrm>
          <a:prstGeom prst="rect">
            <a:avLst/>
          </a:prstGeom>
        </p:spPr>
      </p:pic>
      <p:sp>
        <p:nvSpPr>
          <p:cNvPr id="2" name="Text Box 3">
            <a:extLst>
              <a:ext uri="{FF2B5EF4-FFF2-40B4-BE49-F238E27FC236}">
                <a16:creationId xmlns:a16="http://schemas.microsoft.com/office/drawing/2014/main" id="{E68B8BCE-23C4-94DA-E39F-E84CA26F7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5611" y="3169767"/>
            <a:ext cx="4447924" cy="619273"/>
          </a:xfrm>
          <a:prstGeom prst="rect">
            <a:avLst/>
          </a:prstGeom>
          <a:solidFill>
            <a:srgbClr val="0070C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just" eaLnBrk="0" hangingPunct="0">
              <a:lnSpc>
                <a:spcPct val="95000"/>
              </a:lnSpc>
              <a:spcBef>
                <a:spcPct val="50000"/>
              </a:spcBef>
              <a:defRPr b="1">
                <a:latin typeface="TheSansCorrespondence" pitchFamily="34" charset="0"/>
              </a:defRPr>
            </a:lvl1pPr>
          </a:lstStyle>
          <a:p>
            <a:pPr lvl="0"/>
            <a:r>
              <a:rPr lang="es-ES" dirty="0"/>
              <a:t>Existencia y pertinencia de la Matriz de Riesgo de LA/FT (individual o por segmento)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2983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1002"/>
            <a:ext cx="4815304" cy="4787786"/>
          </a:xfrm>
          <a:prstGeom prst="rect">
            <a:avLst/>
          </a:prstGeom>
        </p:spPr>
      </p:pic>
      <p:sp>
        <p:nvSpPr>
          <p:cNvPr id="11" name="10 Rectángulo redondeado"/>
          <p:cNvSpPr/>
          <p:nvPr/>
        </p:nvSpPr>
        <p:spPr>
          <a:xfrm>
            <a:off x="-571537" y="214290"/>
            <a:ext cx="6367673" cy="6858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142844" y="294928"/>
            <a:ext cx="5653292" cy="6858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s-ES" sz="2400" b="1" dirty="0">
                <a:solidFill>
                  <a:schemeClr val="bg1"/>
                </a:solidFill>
              </a:rPr>
              <a:t>Revisión del Sistema de LA/FT/FP</a:t>
            </a:r>
            <a:endParaRPr lang="es-ES" sz="2400" b="1" dirty="0">
              <a:solidFill>
                <a:schemeClr val="bg1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9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851920" y="1100364"/>
            <a:ext cx="5112568" cy="882422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just" eaLnBrk="0" hangingPunct="0">
              <a:lnSpc>
                <a:spcPct val="95000"/>
              </a:lnSpc>
              <a:spcBef>
                <a:spcPct val="50000"/>
              </a:spcBef>
              <a:defRPr b="1">
                <a:latin typeface="TheSansCorrespondence" pitchFamily="34" charset="0"/>
              </a:defRPr>
            </a:lvl1pPr>
          </a:lstStyle>
          <a:p>
            <a:r>
              <a:rPr lang="es-ES" dirty="0">
                <a:solidFill>
                  <a:schemeClr val="tx1"/>
                </a:solidFill>
              </a:rPr>
              <a:t>El Responsable de Control Interno (propio o </a:t>
            </a:r>
            <a:r>
              <a:rPr lang="es-ES" dirty="0" err="1">
                <a:solidFill>
                  <a:schemeClr val="tx1"/>
                </a:solidFill>
              </a:rPr>
              <a:t>tercerizado</a:t>
            </a:r>
            <a:r>
              <a:rPr lang="es-ES" dirty="0">
                <a:solidFill>
                  <a:schemeClr val="tx1"/>
                </a:solidFill>
              </a:rPr>
              <a:t>) emite el informe anual y lo eleva al Oficial de Cumplimiento.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325789" y="5184850"/>
            <a:ext cx="5112568" cy="1145571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just" eaLnBrk="0" hangingPunct="0">
              <a:lnSpc>
                <a:spcPct val="95000"/>
              </a:lnSpc>
              <a:spcBef>
                <a:spcPct val="50000"/>
              </a:spcBef>
              <a:defRPr b="1">
                <a:latin typeface="TheSansCorrespondence" pitchFamily="34" charset="0"/>
              </a:defRPr>
            </a:lvl1pPr>
          </a:lstStyle>
          <a:p>
            <a:r>
              <a:rPr lang="es-ES" dirty="0">
                <a:solidFill>
                  <a:schemeClr val="tx1"/>
                </a:solidFill>
              </a:rPr>
              <a:t>La Entidad debe contratar un Revisor Externo Independiente (</a:t>
            </a:r>
            <a:r>
              <a:rPr lang="es-ES" dirty="0" err="1">
                <a:solidFill>
                  <a:schemeClr val="tx1"/>
                </a:solidFill>
              </a:rPr>
              <a:t>REI</a:t>
            </a:r>
            <a:r>
              <a:rPr lang="es-ES" dirty="0">
                <a:solidFill>
                  <a:schemeClr val="tx1"/>
                </a:solidFill>
              </a:rPr>
              <a:t>) con antecedentes profesionales en </a:t>
            </a:r>
            <a:r>
              <a:rPr lang="es-ES" dirty="0" err="1">
                <a:solidFill>
                  <a:schemeClr val="tx1"/>
                </a:solidFill>
              </a:rPr>
              <a:t>PLAyFT</a:t>
            </a:r>
            <a:r>
              <a:rPr lang="es-ES" dirty="0">
                <a:solidFill>
                  <a:schemeClr val="tx1"/>
                </a:solidFill>
              </a:rPr>
              <a:t> debidamente registrado como tal en la </a:t>
            </a:r>
            <a:r>
              <a:rPr lang="es-ES" dirty="0" err="1">
                <a:solidFill>
                  <a:schemeClr val="tx1"/>
                </a:solidFill>
              </a:rPr>
              <a:t>UIF</a:t>
            </a:r>
            <a:r>
              <a:rPr lang="es-ES" dirty="0">
                <a:solidFill>
                  <a:schemeClr val="tx1"/>
                </a:solidFill>
              </a:rPr>
              <a:t>.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B0EA666C-9151-3C34-86EB-A3591E1E9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840" y="3002109"/>
            <a:ext cx="5112568" cy="1145571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just" eaLnBrk="0" hangingPunct="0">
              <a:lnSpc>
                <a:spcPct val="95000"/>
              </a:lnSpc>
              <a:spcBef>
                <a:spcPct val="50000"/>
              </a:spcBef>
              <a:defRPr b="1">
                <a:latin typeface="TheSansCorrespondence" pitchFamily="34" charset="0"/>
              </a:defRPr>
            </a:lvl1pPr>
          </a:lstStyle>
          <a:p>
            <a:r>
              <a:rPr lang="es-ES" dirty="0">
                <a:solidFill>
                  <a:schemeClr val="tx1"/>
                </a:solidFill>
              </a:rPr>
              <a:t>Para las entidades que prestan con capital propio y dan el servicio de ayuda / préstamo o gestión de préstamos, la REI y el Informe de Autoevaluación de Riesgos es bianual, para el resto anual.</a:t>
            </a:r>
            <a:endParaRPr lang="es-A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83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068" y="529039"/>
            <a:ext cx="1259632" cy="1252434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AA81021F-FB54-378E-137D-E9226AFC5546}"/>
              </a:ext>
            </a:extLst>
          </p:cNvPr>
          <p:cNvGrpSpPr/>
          <p:nvPr/>
        </p:nvGrpSpPr>
        <p:grpSpPr>
          <a:xfrm>
            <a:off x="-571537" y="214290"/>
            <a:ext cx="8239881" cy="766438"/>
            <a:chOff x="-571537" y="214290"/>
            <a:chExt cx="8239881" cy="766438"/>
          </a:xfrm>
        </p:grpSpPr>
        <p:sp>
          <p:nvSpPr>
            <p:cNvPr id="11" name="10 Rectángulo redondeado"/>
            <p:cNvSpPr/>
            <p:nvPr/>
          </p:nvSpPr>
          <p:spPr>
            <a:xfrm>
              <a:off x="-571537" y="214290"/>
              <a:ext cx="8239881" cy="68580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2" name="Rectangle 2"/>
            <p:cNvSpPr txBox="1">
              <a:spLocks noChangeArrowheads="1"/>
            </p:cNvSpPr>
            <p:nvPr/>
          </p:nvSpPr>
          <p:spPr>
            <a:xfrm>
              <a:off x="142844" y="294928"/>
              <a:ext cx="6589396" cy="685800"/>
            </a:xfrm>
            <a:prstGeom prst="rect">
              <a:avLst/>
            </a:prstGeom>
          </p:spPr>
          <p:txBody>
            <a:bodyPr>
              <a:no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s-ES" sz="2400" b="1" dirty="0">
                  <a:solidFill>
                    <a:schemeClr val="bg1"/>
                  </a:solidFill>
                </a:rPr>
                <a:t>El programa de trabajo de la Auditoría Interna</a:t>
              </a:r>
              <a:endParaRPr lang="es-ES" sz="24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endParaRPr>
            </a:p>
          </p:txBody>
        </p:sp>
      </p:grpSp>
      <p:sp>
        <p:nvSpPr>
          <p:cNvPr id="17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10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517396" y="1155256"/>
            <a:ext cx="6835500" cy="882422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just" eaLnBrk="0" hangingPunct="0">
              <a:lnSpc>
                <a:spcPct val="95000"/>
              </a:lnSpc>
              <a:spcBef>
                <a:spcPct val="50000"/>
              </a:spcBef>
              <a:defRPr b="1">
                <a:latin typeface="TheSansCorrespondence" pitchFamily="34" charset="0"/>
              </a:defRPr>
            </a:lvl1pPr>
          </a:lstStyle>
          <a:p>
            <a:pPr lvl="0"/>
            <a:r>
              <a:rPr lang="es-ES" dirty="0"/>
              <a:t>Evaluación de las Políticas LA/FT/FP,  control y monitoreo de las operaciones de los clientes, conocimiento del cliente, resguardo de la documentación, personal de la Entidad.</a:t>
            </a:r>
            <a:endParaRPr lang="es-AR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AE39A81-AF0C-8691-8135-7C5443033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96" y="2268066"/>
            <a:ext cx="6835500" cy="1824218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just" eaLnBrk="0" hangingPunct="0">
              <a:lnSpc>
                <a:spcPct val="95000"/>
              </a:lnSpc>
              <a:spcBef>
                <a:spcPct val="50000"/>
              </a:spcBef>
              <a:defRPr b="1">
                <a:latin typeface="TheSansCorrespondence" pitchFamily="34" charset="0"/>
              </a:defRPr>
            </a:lvl1pPr>
          </a:lstStyle>
          <a:p>
            <a:pPr lvl="0"/>
            <a:r>
              <a:rPr lang="es-ES" dirty="0"/>
              <a:t>Designación del Oficial de Cumplimiento titular y suplente.</a:t>
            </a:r>
            <a:endParaRPr lang="es-AR" dirty="0"/>
          </a:p>
          <a:p>
            <a:pPr lvl="0"/>
            <a:r>
              <a:rPr lang="es-ES" dirty="0"/>
              <a:t>Verificación de la elaboración y presentación del ITAER. </a:t>
            </a:r>
          </a:p>
          <a:p>
            <a:pPr lvl="0"/>
            <a:r>
              <a:rPr lang="es-ES" dirty="0"/>
              <a:t>Revisión del modelo basado en riesgos que se ha implementado.</a:t>
            </a:r>
            <a:endParaRPr lang="es-AR" dirty="0"/>
          </a:p>
          <a:p>
            <a:pPr lvl="0"/>
            <a:r>
              <a:rPr lang="es-ES" dirty="0"/>
              <a:t>Revisión de la existencia y pertinencia de la Matriz de Riesgo de Prevención del Lavado de Activos y Financiamiento del Terrorismo.</a:t>
            </a:r>
            <a:endParaRPr lang="es-AR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F748D18-77AA-9BBE-2D0B-4805CC295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96" y="4463526"/>
            <a:ext cx="6835500" cy="128407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just" eaLnBrk="0" hangingPunct="0">
              <a:lnSpc>
                <a:spcPct val="95000"/>
              </a:lnSpc>
              <a:spcBef>
                <a:spcPct val="50000"/>
              </a:spcBef>
              <a:defRPr b="1">
                <a:latin typeface="TheSansCorrespondence" pitchFamily="34" charset="0"/>
              </a:defRPr>
            </a:lvl1pPr>
          </a:lstStyle>
          <a:p>
            <a:pPr lvl="0"/>
            <a:r>
              <a:rPr lang="es-ES" dirty="0"/>
              <a:t>Existencia y pertinencia del Manual de Procedimientos de LA/FT/FP</a:t>
            </a:r>
            <a:endParaRPr lang="es-AR" dirty="0"/>
          </a:p>
          <a:p>
            <a:pPr lvl="0"/>
            <a:r>
              <a:rPr lang="es-ES" dirty="0"/>
              <a:t>Revisión de la metodología para la verificación de la identidad de los clientes en relación a su eventual inclusión en la base de Personas Expuestas Políticamente y listados de terroristas.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6253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068" y="529039"/>
            <a:ext cx="1259632" cy="1252434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AA81021F-FB54-378E-137D-E9226AFC5546}"/>
              </a:ext>
            </a:extLst>
          </p:cNvPr>
          <p:cNvGrpSpPr/>
          <p:nvPr/>
        </p:nvGrpSpPr>
        <p:grpSpPr>
          <a:xfrm>
            <a:off x="-571537" y="214290"/>
            <a:ext cx="8239881" cy="766438"/>
            <a:chOff x="-571537" y="214290"/>
            <a:chExt cx="8239881" cy="766438"/>
          </a:xfrm>
        </p:grpSpPr>
        <p:sp>
          <p:nvSpPr>
            <p:cNvPr id="11" name="10 Rectángulo redondeado"/>
            <p:cNvSpPr/>
            <p:nvPr/>
          </p:nvSpPr>
          <p:spPr>
            <a:xfrm>
              <a:off x="-571537" y="214290"/>
              <a:ext cx="8239881" cy="68580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2" name="Rectangle 2"/>
            <p:cNvSpPr txBox="1">
              <a:spLocks noChangeArrowheads="1"/>
            </p:cNvSpPr>
            <p:nvPr/>
          </p:nvSpPr>
          <p:spPr>
            <a:xfrm>
              <a:off x="142844" y="294928"/>
              <a:ext cx="6589396" cy="685800"/>
            </a:xfrm>
            <a:prstGeom prst="rect">
              <a:avLst/>
            </a:prstGeom>
          </p:spPr>
          <p:txBody>
            <a:bodyPr>
              <a:no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s-ES" sz="2400" b="1" dirty="0">
                  <a:solidFill>
                    <a:schemeClr val="bg1"/>
                  </a:solidFill>
                </a:rPr>
                <a:t>El programa de trabajo de la Auditoría Interna</a:t>
              </a:r>
              <a:endParaRPr lang="es-ES" sz="24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endParaRPr>
            </a:p>
          </p:txBody>
        </p:sp>
      </p:grpSp>
      <p:sp>
        <p:nvSpPr>
          <p:cNvPr id="17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11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517396" y="1155256"/>
            <a:ext cx="6835500" cy="1948868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just" eaLnBrk="0" hangingPunct="0">
              <a:lnSpc>
                <a:spcPct val="95000"/>
              </a:lnSpc>
              <a:spcBef>
                <a:spcPct val="50000"/>
              </a:spcBef>
              <a:defRPr b="1">
                <a:latin typeface="TheSansCorrespondence" pitchFamily="34" charset="0"/>
              </a:defRPr>
            </a:lvl1pPr>
          </a:lstStyle>
          <a:p>
            <a:pPr lvl="0"/>
            <a:r>
              <a:rPr lang="es-ES" dirty="0"/>
              <a:t>Revisión de la metodología seguida para la determinación del perfil de los clientes.</a:t>
            </a:r>
            <a:endParaRPr lang="es-AR" dirty="0"/>
          </a:p>
          <a:p>
            <a:r>
              <a:rPr lang="es-ES" dirty="0"/>
              <a:t>Metodología utilizada para el monitoreo de las operaciones y la emisión de alertas.</a:t>
            </a:r>
          </a:p>
          <a:p>
            <a:r>
              <a:rPr lang="es-ES" dirty="0"/>
              <a:t>Revisión del tratamiento de las alertas (emitidas, desestimadas, en curso de tratamiento y de antigua data).</a:t>
            </a:r>
            <a:endParaRPr lang="es-AR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AE39A81-AF0C-8691-8135-7C5443033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96" y="3474188"/>
            <a:ext cx="6835500" cy="619273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just" eaLnBrk="0" hangingPunct="0">
              <a:lnSpc>
                <a:spcPct val="95000"/>
              </a:lnSpc>
              <a:spcBef>
                <a:spcPct val="50000"/>
              </a:spcBef>
              <a:defRPr b="1">
                <a:latin typeface="TheSansCorrespondence" pitchFamily="34" charset="0"/>
              </a:defRPr>
            </a:lvl1pPr>
          </a:lstStyle>
          <a:p>
            <a:pPr lvl="0"/>
            <a:r>
              <a:rPr lang="es-ES" dirty="0"/>
              <a:t>Designación del y pertinencia de la Matriz de Riesgo de Prevención del Lavado de Activos y Financiamiento del Terrorismo.</a:t>
            </a:r>
            <a:endParaRPr lang="es-AR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F748D18-77AA-9BBE-2D0B-4805CC295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96" y="4463526"/>
            <a:ext cx="6835500" cy="1159421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just" eaLnBrk="0" hangingPunct="0">
              <a:lnSpc>
                <a:spcPct val="95000"/>
              </a:lnSpc>
              <a:spcBef>
                <a:spcPct val="50000"/>
              </a:spcBef>
              <a:defRPr b="1">
                <a:latin typeface="TheSansCorrespondence" pitchFamily="34" charset="0"/>
              </a:defRPr>
            </a:lvl1pPr>
          </a:lstStyle>
          <a:p>
            <a:pPr lvl="0"/>
            <a:r>
              <a:rPr lang="es-AR" dirty="0"/>
              <a:t>Revisión de legajos.</a:t>
            </a:r>
          </a:p>
          <a:p>
            <a:pPr lvl="0"/>
            <a:r>
              <a:rPr lang="es-AR" dirty="0"/>
              <a:t>Cumplimiento de las capacitaciones</a:t>
            </a:r>
          </a:p>
          <a:p>
            <a:pPr lvl="0"/>
            <a:r>
              <a:rPr lang="es-AR" dirty="0"/>
              <a:t>Presentación de Regímenes Informativos</a:t>
            </a:r>
          </a:p>
        </p:txBody>
      </p:sp>
    </p:spTree>
    <p:extLst>
      <p:ext uri="{BB962C8B-B14F-4D97-AF65-F5344CB8AC3E}">
        <p14:creationId xmlns:p14="http://schemas.microsoft.com/office/powerpoint/2010/main" val="66684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3A965-8901-02A0-D2F1-1021A6B1F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2C0B0BB0-1DCD-7CBE-A9AF-AF2F0D76B14F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12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9 Rectángulo redondeado">
            <a:extLst>
              <a:ext uri="{FF2B5EF4-FFF2-40B4-BE49-F238E27FC236}">
                <a16:creationId xmlns:a16="http://schemas.microsoft.com/office/drawing/2014/main" id="{291A7B49-22A9-6CB1-9FC8-B128675EB6BE}"/>
              </a:ext>
            </a:extLst>
          </p:cNvPr>
          <p:cNvSpPr/>
          <p:nvPr/>
        </p:nvSpPr>
        <p:spPr>
          <a:xfrm>
            <a:off x="-285784" y="214290"/>
            <a:ext cx="903424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3C7A4D9-888F-F775-F2AF-7F4C8BC5445F}"/>
              </a:ext>
            </a:extLst>
          </p:cNvPr>
          <p:cNvSpPr txBox="1">
            <a:spLocks noChangeArrowheads="1"/>
          </p:cNvSpPr>
          <p:nvPr/>
        </p:nvSpPr>
        <p:spPr>
          <a:xfrm>
            <a:off x="-36512" y="265802"/>
            <a:ext cx="918051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AR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Atributo de escepticismo del Auditor Interno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0BB5F68-0641-A906-85A6-A9A8C0B38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234" y="1085834"/>
            <a:ext cx="2180230" cy="3312368"/>
          </a:xfrm>
          <a:prstGeom prst="rect">
            <a:avLst/>
          </a:prstGeom>
        </p:spPr>
      </p:pic>
      <p:sp>
        <p:nvSpPr>
          <p:cNvPr id="2" name="Text Box 3">
            <a:extLst>
              <a:ext uri="{FF2B5EF4-FFF2-40B4-BE49-F238E27FC236}">
                <a16:creationId xmlns:a16="http://schemas.microsoft.com/office/drawing/2014/main" id="{022FB33D-3DEB-0523-C6C6-3B6686A96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43" y="2060848"/>
            <a:ext cx="5410920" cy="3989426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  <a:flatTx/>
          </a:bodyPr>
          <a:lstStyle>
            <a:defPPr>
              <a:defRPr lang="es-AR"/>
            </a:defPPr>
            <a:lvl1pPr algn="ctr" eaLnBrk="0" hangingPunct="0">
              <a:lnSpc>
                <a:spcPct val="95000"/>
              </a:lnSpc>
              <a:spcBef>
                <a:spcPct val="50000"/>
              </a:spcBef>
              <a:defRPr b="1">
                <a:solidFill>
                  <a:schemeClr val="lt1"/>
                </a:solidFill>
                <a:latin typeface="TheSansCorrespondence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_tradnl" sz="2400" dirty="0">
                <a:latin typeface="+mn-lt"/>
              </a:rPr>
              <a:t>El auditor debe sustentar su opinión en los papeles de trabajo.</a:t>
            </a:r>
          </a:p>
          <a:p>
            <a:pPr algn="l"/>
            <a:endParaRPr lang="es-ES_tradnl" sz="2400" dirty="0">
              <a:latin typeface="+mn-lt"/>
            </a:endParaRPr>
          </a:p>
          <a:p>
            <a:pPr algn="l"/>
            <a:r>
              <a:rPr lang="es-ES_tradnl" sz="2400" dirty="0">
                <a:latin typeface="+mn-lt"/>
              </a:rPr>
              <a:t>Las evidencias de control deben ser evaluadas objetivamente y no en base a criterios subjetivos del auditor.</a:t>
            </a:r>
          </a:p>
          <a:p>
            <a:pPr algn="l"/>
            <a:endParaRPr lang="es-ES_tradnl" sz="2400" dirty="0">
              <a:latin typeface="+mn-lt"/>
            </a:endParaRPr>
          </a:p>
          <a:p>
            <a:pPr algn="l"/>
            <a:r>
              <a:rPr lang="es-ES_tradnl" sz="2400" dirty="0">
                <a:latin typeface="+mn-lt"/>
              </a:rPr>
              <a:t>Una evidencia objetiva es el mejor sustento del informe de auditoría.</a:t>
            </a:r>
            <a:endParaRPr lang="es-E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743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FD62-B673-0810-D4BD-2266A98E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62CDEF3B-5873-99FB-DCAB-1724514D6C0A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13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9 Rectángulo redondeado">
            <a:extLst>
              <a:ext uri="{FF2B5EF4-FFF2-40B4-BE49-F238E27FC236}">
                <a16:creationId xmlns:a16="http://schemas.microsoft.com/office/drawing/2014/main" id="{8698960C-8FF2-11CC-08E7-7990C80378D8}"/>
              </a:ext>
            </a:extLst>
          </p:cNvPr>
          <p:cNvSpPr/>
          <p:nvPr/>
        </p:nvSpPr>
        <p:spPr>
          <a:xfrm>
            <a:off x="-285784" y="214290"/>
            <a:ext cx="903424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6B7177E4-BF88-CF87-BDD2-AC53756AABCC}"/>
              </a:ext>
            </a:extLst>
          </p:cNvPr>
          <p:cNvSpPr txBox="1">
            <a:spLocks noChangeArrowheads="1"/>
          </p:cNvSpPr>
          <p:nvPr/>
        </p:nvSpPr>
        <p:spPr>
          <a:xfrm>
            <a:off x="-36512" y="265802"/>
            <a:ext cx="918051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MX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Informe de Retroalimentación del ITAER </a:t>
            </a:r>
            <a:endParaRPr lang="es-AR" sz="2800" b="1" dirty="0">
              <a:solidFill>
                <a:schemeClr val="bg1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31D0E4F-61B5-79F5-80F8-C5ED8DC79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124744"/>
            <a:ext cx="7200800" cy="54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64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FD62-B673-0810-D4BD-2266A98E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62CDEF3B-5873-99FB-DCAB-1724514D6C0A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14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9 Rectángulo redondeado">
            <a:extLst>
              <a:ext uri="{FF2B5EF4-FFF2-40B4-BE49-F238E27FC236}">
                <a16:creationId xmlns:a16="http://schemas.microsoft.com/office/drawing/2014/main" id="{8698960C-8FF2-11CC-08E7-7990C80378D8}"/>
              </a:ext>
            </a:extLst>
          </p:cNvPr>
          <p:cNvSpPr/>
          <p:nvPr/>
        </p:nvSpPr>
        <p:spPr>
          <a:xfrm>
            <a:off x="-285784" y="214290"/>
            <a:ext cx="903424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6B7177E4-BF88-CF87-BDD2-AC53756AABCC}"/>
              </a:ext>
            </a:extLst>
          </p:cNvPr>
          <p:cNvSpPr txBox="1">
            <a:spLocks noChangeArrowheads="1"/>
          </p:cNvSpPr>
          <p:nvPr/>
        </p:nvSpPr>
        <p:spPr>
          <a:xfrm>
            <a:off x="-36512" y="265802"/>
            <a:ext cx="918051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MX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Informe de Retroalimentación del ITAER </a:t>
            </a:r>
            <a:endParaRPr lang="es-AR" sz="2800" b="1" dirty="0">
              <a:solidFill>
                <a:schemeClr val="bg1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516808A-4DF4-9809-E7B6-C5A9CE75991F}"/>
              </a:ext>
            </a:extLst>
          </p:cNvPr>
          <p:cNvSpPr txBox="1"/>
          <p:nvPr/>
        </p:nvSpPr>
        <p:spPr>
          <a:xfrm>
            <a:off x="229364" y="1484784"/>
            <a:ext cx="6934924" cy="2462213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s-ES" sz="2200" b="1" dirty="0"/>
              <a:t>La Dirección de Supervisión de la Unidad de Información Financiera (UIF), a través de la Subdirección de Monitoreo y Evaluación de Riesgos, es responsable de supervisar el cumplimiento de los regímenes informativos relacionados con las evaluaciones de riesgos realizadas por los sujetos obligados, así como de analizar dichas evaluaciones y sus respectivas gestiones de riesgo.</a:t>
            </a:r>
          </a:p>
        </p:txBody>
      </p:sp>
      <p:pic>
        <p:nvPicPr>
          <p:cNvPr id="5" name="Imagen 4" descr="U4_Actividad de introspección sobre mis prácticas de evaluación.">
            <a:extLst>
              <a:ext uri="{FF2B5EF4-FFF2-40B4-BE49-F238E27FC236}">
                <a16:creationId xmlns:a16="http://schemas.microsoft.com/office/drawing/2014/main" id="{4D520318-97C9-1347-4558-333C3048BC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319" y="4491387"/>
            <a:ext cx="2037739" cy="152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9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FD62-B673-0810-D4BD-2266A98E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4_Actividad de introspección sobre mis prácticas de evaluación.">
            <a:extLst>
              <a:ext uri="{FF2B5EF4-FFF2-40B4-BE49-F238E27FC236}">
                <a16:creationId xmlns:a16="http://schemas.microsoft.com/office/drawing/2014/main" id="{BE1CB130-BD7B-E60B-19A5-CB3F3EE198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173" y="1693263"/>
            <a:ext cx="2311901" cy="1735737"/>
          </a:xfrm>
          <a:prstGeom prst="rect">
            <a:avLst/>
          </a:prstGeom>
        </p:spPr>
      </p:pic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62CDEF3B-5873-99FB-DCAB-1724514D6C0A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15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9 Rectángulo redondeado">
            <a:extLst>
              <a:ext uri="{FF2B5EF4-FFF2-40B4-BE49-F238E27FC236}">
                <a16:creationId xmlns:a16="http://schemas.microsoft.com/office/drawing/2014/main" id="{8698960C-8FF2-11CC-08E7-7990C80378D8}"/>
              </a:ext>
            </a:extLst>
          </p:cNvPr>
          <p:cNvSpPr/>
          <p:nvPr/>
        </p:nvSpPr>
        <p:spPr>
          <a:xfrm>
            <a:off x="-285784" y="214290"/>
            <a:ext cx="903424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6B7177E4-BF88-CF87-BDD2-AC53756AABCC}"/>
              </a:ext>
            </a:extLst>
          </p:cNvPr>
          <p:cNvSpPr txBox="1">
            <a:spLocks noChangeArrowheads="1"/>
          </p:cNvSpPr>
          <p:nvPr/>
        </p:nvSpPr>
        <p:spPr>
          <a:xfrm>
            <a:off x="-36512" y="265802"/>
            <a:ext cx="918051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MX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Informe de Retroalimentación del ITAER </a:t>
            </a:r>
            <a:endParaRPr lang="es-AR" sz="2800" b="1" dirty="0">
              <a:solidFill>
                <a:schemeClr val="bg1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68CACAF-D555-ACC2-32CD-B74D96732C1B}"/>
              </a:ext>
            </a:extLst>
          </p:cNvPr>
          <p:cNvSpPr txBox="1"/>
          <p:nvPr/>
        </p:nvSpPr>
        <p:spPr>
          <a:xfrm>
            <a:off x="508844" y="2924944"/>
            <a:ext cx="6934924" cy="280076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s-ES" sz="2200" b="1" dirty="0"/>
              <a:t>Durante el 2024, se recibieron 859 Informes Técnicos de Autoevaluación de Riesgos (IT AER). </a:t>
            </a:r>
          </a:p>
          <a:p>
            <a:endParaRPr lang="es-ES" sz="2200" b="1" dirty="0"/>
          </a:p>
          <a:p>
            <a:r>
              <a:rPr lang="es-ES" sz="2200" b="1" dirty="0"/>
              <a:t>Se presentaron avances sustanciales que llevaron a contemplar una mayor calidad en dichos IT AER. </a:t>
            </a:r>
          </a:p>
          <a:p>
            <a:endParaRPr lang="es-ES" sz="2200" b="1" dirty="0"/>
          </a:p>
          <a:p>
            <a:r>
              <a:rPr lang="es-ES" sz="2200" b="1" dirty="0"/>
              <a:t>Sin embargo un grupo minoritario de informes fue objeto de observaciones. </a:t>
            </a:r>
          </a:p>
        </p:txBody>
      </p:sp>
    </p:spTree>
    <p:extLst>
      <p:ext uri="{BB962C8B-B14F-4D97-AF65-F5344CB8AC3E}">
        <p14:creationId xmlns:p14="http://schemas.microsoft.com/office/powerpoint/2010/main" val="211486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FD62-B673-0810-D4BD-2266A98E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62CDEF3B-5873-99FB-DCAB-1724514D6C0A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16</a:t>
            </a:fld>
            <a:endParaRPr lang="es-ES" sz="1200" b="1" dirty="0">
              <a:latin typeface="+mn-lt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5CF1EDA-CEFB-32C6-472A-328D77F26E77}"/>
              </a:ext>
            </a:extLst>
          </p:cNvPr>
          <p:cNvGrpSpPr/>
          <p:nvPr/>
        </p:nvGrpSpPr>
        <p:grpSpPr>
          <a:xfrm>
            <a:off x="-285784" y="116632"/>
            <a:ext cx="9429784" cy="714926"/>
            <a:chOff x="-285784" y="265802"/>
            <a:chExt cx="9429784" cy="714926"/>
          </a:xfrm>
        </p:grpSpPr>
        <p:sp>
          <p:nvSpPr>
            <p:cNvPr id="10" name="9 Rectángulo redondeado">
              <a:extLst>
                <a:ext uri="{FF2B5EF4-FFF2-40B4-BE49-F238E27FC236}">
                  <a16:creationId xmlns:a16="http://schemas.microsoft.com/office/drawing/2014/main" id="{8698960C-8FF2-11CC-08E7-7990C80378D8}"/>
                </a:ext>
              </a:extLst>
            </p:cNvPr>
            <p:cNvSpPr/>
            <p:nvPr/>
          </p:nvSpPr>
          <p:spPr>
            <a:xfrm>
              <a:off x="-285784" y="266372"/>
              <a:ext cx="9034248" cy="71435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6B7177E4-BF88-CF87-BDD2-AC53756AABC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-36512" y="265802"/>
              <a:ext cx="9180512" cy="64291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s-MX" sz="2800" b="1" dirty="0">
                  <a:solidFill>
                    <a:schemeClr val="bg1"/>
                  </a:solidFill>
                  <a:latin typeface="+mj-lt"/>
                  <a:ea typeface="Verdana" pitchFamily="34" charset="0"/>
                  <a:cs typeface="Verdana" pitchFamily="34" charset="0"/>
                </a:rPr>
                <a:t>Informe de Retroalimentación del ITAER </a:t>
              </a:r>
              <a:endParaRPr lang="es-AR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endParaRP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168CACAF-D555-ACC2-32CD-B74D96732C1B}"/>
              </a:ext>
            </a:extLst>
          </p:cNvPr>
          <p:cNvSpPr txBox="1"/>
          <p:nvPr/>
        </p:nvSpPr>
        <p:spPr>
          <a:xfrm>
            <a:off x="288238" y="1628800"/>
            <a:ext cx="6934924" cy="452431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s-ES" sz="2400" b="1" dirty="0"/>
              <a:t>AUSENCIA DE METODOLOGIA: </a:t>
            </a:r>
            <a:r>
              <a:rPr lang="es-ES" sz="2200" b="1" dirty="0"/>
              <a:t>Persiste la ausencia de mención a la metodología adoptada en el IT AER. </a:t>
            </a:r>
          </a:p>
          <a:p>
            <a:endParaRPr lang="es-ES" sz="2200" b="1" dirty="0"/>
          </a:p>
          <a:p>
            <a:r>
              <a:rPr lang="es-ES" sz="2200" b="1" dirty="0"/>
              <a:t>La ausencia de la metodología de elaboración de un informe genera importantes deficiencias tales como:</a:t>
            </a:r>
          </a:p>
          <a:p>
            <a:endParaRPr lang="es-ES" sz="2200" b="1" dirty="0"/>
          </a:p>
          <a:p>
            <a:pPr lvl="1"/>
            <a:r>
              <a:rPr lang="es-ES" sz="2200" b="1" dirty="0"/>
              <a:t>Falta de transparencia y claridad sobre cómo se recopiló, analizó y presentó la información contenida en el informe.</a:t>
            </a:r>
          </a:p>
          <a:p>
            <a:pPr lvl="1"/>
            <a:endParaRPr lang="es-ES" sz="2200" b="1" dirty="0"/>
          </a:p>
          <a:p>
            <a:pPr lvl="1"/>
            <a:r>
              <a:rPr lang="es-ES" sz="2200" b="1" dirty="0"/>
              <a:t>Dificulta la validación de la rigurosidad del proceso, aumentando la posibilidad de sesgos o limitaciones y reduciendo la credibilidad del informe.</a:t>
            </a:r>
          </a:p>
        </p:txBody>
      </p:sp>
      <p:pic>
        <p:nvPicPr>
          <p:cNvPr id="4" name="Imagen 3" descr="U4_Actividad de introspección sobre mis prácticas de evaluación.">
            <a:extLst>
              <a:ext uri="{FF2B5EF4-FFF2-40B4-BE49-F238E27FC236}">
                <a16:creationId xmlns:a16="http://schemas.microsoft.com/office/drawing/2014/main" id="{32549FE0-8614-5727-0FD5-71F904CDF0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381" y="3429000"/>
            <a:ext cx="1599818" cy="120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3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FD62-B673-0810-D4BD-2266A98E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62CDEF3B-5873-99FB-DCAB-1724514D6C0A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17</a:t>
            </a:fld>
            <a:endParaRPr lang="es-ES" sz="1200" b="1" dirty="0">
              <a:latin typeface="+mn-lt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5CF1EDA-CEFB-32C6-472A-328D77F26E77}"/>
              </a:ext>
            </a:extLst>
          </p:cNvPr>
          <p:cNvGrpSpPr/>
          <p:nvPr/>
        </p:nvGrpSpPr>
        <p:grpSpPr>
          <a:xfrm>
            <a:off x="-285784" y="116632"/>
            <a:ext cx="9429784" cy="714926"/>
            <a:chOff x="-285784" y="265802"/>
            <a:chExt cx="9429784" cy="714926"/>
          </a:xfrm>
        </p:grpSpPr>
        <p:sp>
          <p:nvSpPr>
            <p:cNvPr id="10" name="9 Rectángulo redondeado">
              <a:extLst>
                <a:ext uri="{FF2B5EF4-FFF2-40B4-BE49-F238E27FC236}">
                  <a16:creationId xmlns:a16="http://schemas.microsoft.com/office/drawing/2014/main" id="{8698960C-8FF2-11CC-08E7-7990C80378D8}"/>
                </a:ext>
              </a:extLst>
            </p:cNvPr>
            <p:cNvSpPr/>
            <p:nvPr/>
          </p:nvSpPr>
          <p:spPr>
            <a:xfrm>
              <a:off x="-285784" y="266372"/>
              <a:ext cx="9034248" cy="71435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6B7177E4-BF88-CF87-BDD2-AC53756AABC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-36512" y="265802"/>
              <a:ext cx="9180512" cy="64291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s-MX" sz="2800" b="1" dirty="0">
                  <a:solidFill>
                    <a:schemeClr val="bg1"/>
                  </a:solidFill>
                  <a:latin typeface="+mj-lt"/>
                  <a:ea typeface="Verdana" pitchFamily="34" charset="0"/>
                  <a:cs typeface="Verdana" pitchFamily="34" charset="0"/>
                </a:rPr>
                <a:t>Informe de Retroalimentación del ITAER </a:t>
              </a:r>
              <a:endParaRPr lang="es-AR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endParaRP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168CACAF-D555-ACC2-32CD-B74D96732C1B}"/>
              </a:ext>
            </a:extLst>
          </p:cNvPr>
          <p:cNvSpPr txBox="1"/>
          <p:nvPr/>
        </p:nvSpPr>
        <p:spPr>
          <a:xfrm>
            <a:off x="1792294" y="2308805"/>
            <a:ext cx="6934924" cy="421653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s-ES" sz="2400" b="1" dirty="0"/>
              <a:t>METODOLOGIA INSUFICIENTE</a:t>
            </a:r>
          </a:p>
          <a:p>
            <a:endParaRPr lang="es-ES" sz="2400" b="1" dirty="0"/>
          </a:p>
          <a:p>
            <a:r>
              <a:rPr lang="es-ES" sz="2200" b="1" dirty="0"/>
              <a:t>Las actividades secundarias carecieron de la evaluación</a:t>
            </a:r>
          </a:p>
          <a:p>
            <a:r>
              <a:rPr lang="es-ES" sz="2200" b="1" dirty="0"/>
              <a:t>integral de los cuatro factores de riesgo mínimos exigidos por la normativa en LA/FT/FP.</a:t>
            </a:r>
          </a:p>
          <a:p>
            <a:endParaRPr lang="es-ES" sz="2200" b="1" dirty="0"/>
          </a:p>
          <a:p>
            <a:r>
              <a:rPr lang="es-ES" sz="2200" b="1" dirty="0"/>
              <a:t>Se omitió evaluar el riesgo derivado de la actuación de</a:t>
            </a:r>
          </a:p>
          <a:p>
            <a:r>
              <a:rPr lang="es-ES" sz="2200" b="1" dirty="0"/>
              <a:t>los empleados internos.</a:t>
            </a:r>
          </a:p>
          <a:p>
            <a:endParaRPr lang="es-ES" sz="2200" b="1" dirty="0"/>
          </a:p>
          <a:p>
            <a:r>
              <a:rPr lang="es-ES" sz="2200" b="1" dirty="0"/>
              <a:t>No se menciona la opinión del REI con lo cual no se puede hacer un seguimiento del plan de regularización como lo exige la Resolución UIF </a:t>
            </a:r>
            <a:r>
              <a:rPr lang="es-ES" sz="2200" b="1" dirty="0" err="1"/>
              <a:t>N°</a:t>
            </a:r>
            <a:r>
              <a:rPr lang="es-ES" sz="2200" b="1" dirty="0"/>
              <a:t> 67/2017.</a:t>
            </a:r>
          </a:p>
        </p:txBody>
      </p:sp>
      <p:pic>
        <p:nvPicPr>
          <p:cNvPr id="4" name="Imagen 3" descr="U4_Actividad de introspección sobre mis prácticas de evaluación.">
            <a:extLst>
              <a:ext uri="{FF2B5EF4-FFF2-40B4-BE49-F238E27FC236}">
                <a16:creationId xmlns:a16="http://schemas.microsoft.com/office/drawing/2014/main" id="{20BF01D7-D222-0F92-79D9-1D2FC906AB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82" y="1192605"/>
            <a:ext cx="1599818" cy="120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3A965-8901-02A0-D2F1-1021A6B1F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2C0B0BB0-1DCD-7CBE-A9AF-AF2F0D76B14F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18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9 Rectángulo redondeado">
            <a:extLst>
              <a:ext uri="{FF2B5EF4-FFF2-40B4-BE49-F238E27FC236}">
                <a16:creationId xmlns:a16="http://schemas.microsoft.com/office/drawing/2014/main" id="{291A7B49-22A9-6CB1-9FC8-B128675EB6BE}"/>
              </a:ext>
            </a:extLst>
          </p:cNvPr>
          <p:cNvSpPr/>
          <p:nvPr/>
        </p:nvSpPr>
        <p:spPr>
          <a:xfrm>
            <a:off x="-285784" y="214290"/>
            <a:ext cx="903424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3C7A4D9-888F-F775-F2AF-7F4C8BC5445F}"/>
              </a:ext>
            </a:extLst>
          </p:cNvPr>
          <p:cNvSpPr txBox="1">
            <a:spLocks noChangeArrowheads="1"/>
          </p:cNvSpPr>
          <p:nvPr/>
        </p:nvSpPr>
        <p:spPr>
          <a:xfrm>
            <a:off x="-36512" y="265802"/>
            <a:ext cx="918051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AR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ELEMENTOS IMPRESCINDIBLES DEL ITAER</a:t>
            </a:r>
          </a:p>
        </p:txBody>
      </p:sp>
      <p:pic>
        <p:nvPicPr>
          <p:cNvPr id="16" name="Picture 9" descr="tilde">
            <a:extLst>
              <a:ext uri="{FF2B5EF4-FFF2-40B4-BE49-F238E27FC236}">
                <a16:creationId xmlns:a16="http://schemas.microsoft.com/office/drawing/2014/main" id="{0F90C726-71E2-568E-2379-3649F7A4A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57" y="1282440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Box 4">
            <a:extLst>
              <a:ext uri="{FF2B5EF4-FFF2-40B4-BE49-F238E27FC236}">
                <a16:creationId xmlns:a16="http://schemas.microsoft.com/office/drawing/2014/main" id="{9ED2C932-2625-E4BB-36F3-171CC5EE8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40" y="1340768"/>
            <a:ext cx="45026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Alcance del informe.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18" name="Picture 9" descr="tilde">
            <a:extLst>
              <a:ext uri="{FF2B5EF4-FFF2-40B4-BE49-F238E27FC236}">
                <a16:creationId xmlns:a16="http://schemas.microsoft.com/office/drawing/2014/main" id="{F605CC47-497E-B507-2002-AFC370D7B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65" y="2348880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Box 4">
            <a:extLst>
              <a:ext uri="{FF2B5EF4-FFF2-40B4-BE49-F238E27FC236}">
                <a16:creationId xmlns:a16="http://schemas.microsoft.com/office/drawing/2014/main" id="{89912A88-A929-02A9-40C7-B94761222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1421" y="2204864"/>
            <a:ext cx="45026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Nivel de riesgo de la Entidad.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20" name="Picture 9" descr="tilde">
            <a:extLst>
              <a:ext uri="{FF2B5EF4-FFF2-40B4-BE49-F238E27FC236}">
                <a16:creationId xmlns:a16="http://schemas.microsoft.com/office/drawing/2014/main" id="{942FBD97-42B0-356F-E939-009A98D45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65" y="3501008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Box 4">
            <a:extLst>
              <a:ext uri="{FF2B5EF4-FFF2-40B4-BE49-F238E27FC236}">
                <a16:creationId xmlns:a16="http://schemas.microsoft.com/office/drawing/2014/main" id="{9BBD2D56-6C35-4634-65B8-A1C30DAD7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033" y="3316201"/>
            <a:ext cx="450267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Contexto externo incluyendo la relación con el entorno operativo, fortalezas, debilidades,</a:t>
            </a:r>
          </a:p>
          <a:p>
            <a:r>
              <a:rPr lang="es-ES" sz="2400" b="1" dirty="0">
                <a:solidFill>
                  <a:srgbClr val="0070C0"/>
                </a:solidFill>
              </a:rPr>
              <a:t>oportunidades y amenazas.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22" name="Picture 9" descr="tilde">
            <a:extLst>
              <a:ext uri="{FF2B5EF4-FFF2-40B4-BE49-F238E27FC236}">
                <a16:creationId xmlns:a16="http://schemas.microsoft.com/office/drawing/2014/main" id="{27D88E29-BE9E-D5C2-101A-6E7CE20AD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87" y="5402124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Box 4">
            <a:extLst>
              <a:ext uri="{FF2B5EF4-FFF2-40B4-BE49-F238E27FC236}">
                <a16:creationId xmlns:a16="http://schemas.microsoft.com/office/drawing/2014/main" id="{5691E9A7-EEB0-0D1F-A3BE-7A395C7A9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317" y="5313982"/>
            <a:ext cx="450267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sz="2400" b="1" dirty="0">
                <a:solidFill>
                  <a:srgbClr val="0070C0"/>
                </a:solidFill>
              </a:rPr>
              <a:t>Contexto interno identificando objetivos, estrategias y recursos organizacionales.</a:t>
            </a:r>
          </a:p>
        </p:txBody>
      </p:sp>
      <p:pic>
        <p:nvPicPr>
          <p:cNvPr id="2" name="Imagen 1" descr="U4_Actividad de introspección sobre mis prácticas de evaluación.">
            <a:extLst>
              <a:ext uri="{FF2B5EF4-FFF2-40B4-BE49-F238E27FC236}">
                <a16:creationId xmlns:a16="http://schemas.microsoft.com/office/drawing/2014/main" id="{737CB9EB-85A3-D5AA-0D03-8CE6D5A64D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1703388"/>
            <a:ext cx="1599818" cy="120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68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1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3A965-8901-02A0-D2F1-1021A6B1F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2C0B0BB0-1DCD-7CBE-A9AF-AF2F0D76B14F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19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9 Rectángulo redondeado">
            <a:extLst>
              <a:ext uri="{FF2B5EF4-FFF2-40B4-BE49-F238E27FC236}">
                <a16:creationId xmlns:a16="http://schemas.microsoft.com/office/drawing/2014/main" id="{291A7B49-22A9-6CB1-9FC8-B128675EB6BE}"/>
              </a:ext>
            </a:extLst>
          </p:cNvPr>
          <p:cNvSpPr/>
          <p:nvPr/>
        </p:nvSpPr>
        <p:spPr>
          <a:xfrm>
            <a:off x="-285784" y="214290"/>
            <a:ext cx="903424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3C7A4D9-888F-F775-F2AF-7F4C8BC5445F}"/>
              </a:ext>
            </a:extLst>
          </p:cNvPr>
          <p:cNvSpPr txBox="1">
            <a:spLocks noChangeArrowheads="1"/>
          </p:cNvSpPr>
          <p:nvPr/>
        </p:nvSpPr>
        <p:spPr>
          <a:xfrm>
            <a:off x="-36512" y="265802"/>
            <a:ext cx="918051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AR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ELEMENTOS IMPRESCINDIBLES DEL ITAER</a:t>
            </a:r>
          </a:p>
        </p:txBody>
      </p:sp>
      <p:pic>
        <p:nvPicPr>
          <p:cNvPr id="16" name="Picture 9" descr="tilde">
            <a:extLst>
              <a:ext uri="{FF2B5EF4-FFF2-40B4-BE49-F238E27FC236}">
                <a16:creationId xmlns:a16="http://schemas.microsoft.com/office/drawing/2014/main" id="{0F90C726-71E2-568E-2379-3649F7A4A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57" y="1282440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Box 4">
            <a:extLst>
              <a:ext uri="{FF2B5EF4-FFF2-40B4-BE49-F238E27FC236}">
                <a16:creationId xmlns:a16="http://schemas.microsoft.com/office/drawing/2014/main" id="{9ED2C932-2625-E4BB-36F3-171CC5EE8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40" y="1340768"/>
            <a:ext cx="45026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Período evaluado.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18" name="Picture 9" descr="tilde">
            <a:extLst>
              <a:ext uri="{FF2B5EF4-FFF2-40B4-BE49-F238E27FC236}">
                <a16:creationId xmlns:a16="http://schemas.microsoft.com/office/drawing/2014/main" id="{F605CC47-497E-B507-2002-AFC370D7B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65" y="2598003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Box 4">
            <a:extLst>
              <a:ext uri="{FF2B5EF4-FFF2-40B4-BE49-F238E27FC236}">
                <a16:creationId xmlns:a16="http://schemas.microsoft.com/office/drawing/2014/main" id="{89912A88-A929-02A9-40C7-B94761222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1421" y="2453987"/>
            <a:ext cx="45026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Comparación con la </a:t>
            </a:r>
            <a:r>
              <a:rPr lang="es-ES" sz="2400" b="1" dirty="0" err="1">
                <a:solidFill>
                  <a:srgbClr val="0070C0"/>
                </a:solidFill>
              </a:rPr>
              <a:t>autoeva-luación</a:t>
            </a:r>
            <a:r>
              <a:rPr lang="es-ES" sz="2400" b="1" dirty="0">
                <a:solidFill>
                  <a:srgbClr val="0070C0"/>
                </a:solidFill>
              </a:rPr>
              <a:t> anterior.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20" name="Picture 9" descr="tilde">
            <a:extLst>
              <a:ext uri="{FF2B5EF4-FFF2-40B4-BE49-F238E27FC236}">
                <a16:creationId xmlns:a16="http://schemas.microsoft.com/office/drawing/2014/main" id="{942FBD97-42B0-356F-E939-009A98D45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65" y="4046926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Box 4">
            <a:extLst>
              <a:ext uri="{FF2B5EF4-FFF2-40B4-BE49-F238E27FC236}">
                <a16:creationId xmlns:a16="http://schemas.microsoft.com/office/drawing/2014/main" id="{9BBD2D56-6C35-4634-65B8-A1C30DAD7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033" y="4017838"/>
            <a:ext cx="45026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sz="2400" b="1" dirty="0">
                <a:solidFill>
                  <a:srgbClr val="0070C0"/>
                </a:solidFill>
              </a:rPr>
              <a:t>Periodicidad de presentación</a:t>
            </a:r>
          </a:p>
        </p:txBody>
      </p:sp>
      <p:pic>
        <p:nvPicPr>
          <p:cNvPr id="2" name="Imagen 1" descr="U4_Actividad de introspección sobre mis prácticas de evaluación.">
            <a:extLst>
              <a:ext uri="{FF2B5EF4-FFF2-40B4-BE49-F238E27FC236}">
                <a16:creationId xmlns:a16="http://schemas.microsoft.com/office/drawing/2014/main" id="{2B2447AA-204A-073E-4888-9DD86EDC81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3014101"/>
            <a:ext cx="1599818" cy="120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77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3A965-8901-02A0-D2F1-1021A6B1F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2C0B0BB0-1DCD-7CBE-A9AF-AF2F0D76B14F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20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9 Rectángulo redondeado">
            <a:extLst>
              <a:ext uri="{FF2B5EF4-FFF2-40B4-BE49-F238E27FC236}">
                <a16:creationId xmlns:a16="http://schemas.microsoft.com/office/drawing/2014/main" id="{291A7B49-22A9-6CB1-9FC8-B128675EB6BE}"/>
              </a:ext>
            </a:extLst>
          </p:cNvPr>
          <p:cNvSpPr/>
          <p:nvPr/>
        </p:nvSpPr>
        <p:spPr>
          <a:xfrm>
            <a:off x="-285784" y="214290"/>
            <a:ext cx="903424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3C7A4D9-888F-F775-F2AF-7F4C8BC5445F}"/>
              </a:ext>
            </a:extLst>
          </p:cNvPr>
          <p:cNvSpPr txBox="1">
            <a:spLocks noChangeArrowheads="1"/>
          </p:cNvSpPr>
          <p:nvPr/>
        </p:nvSpPr>
        <p:spPr>
          <a:xfrm>
            <a:off x="-36512" y="265802"/>
            <a:ext cx="918051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ES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Análisis de factores de riesgo mínimos de LA/FT/FP</a:t>
            </a:r>
            <a:endParaRPr lang="es-AR" sz="2800" b="1" dirty="0">
              <a:solidFill>
                <a:schemeClr val="bg1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6" name="Picture 9" descr="tilde">
            <a:extLst>
              <a:ext uri="{FF2B5EF4-FFF2-40B4-BE49-F238E27FC236}">
                <a16:creationId xmlns:a16="http://schemas.microsoft.com/office/drawing/2014/main" id="{0F90C726-71E2-568E-2379-3649F7A4A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57" y="1282440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Box 4">
            <a:extLst>
              <a:ext uri="{FF2B5EF4-FFF2-40B4-BE49-F238E27FC236}">
                <a16:creationId xmlns:a16="http://schemas.microsoft.com/office/drawing/2014/main" id="{9ED2C932-2625-E4BB-36F3-171CC5EE8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40" y="1340768"/>
            <a:ext cx="497884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Se omite la definición de escalas para evaluar la probabilidad de ocurrencia y el impacto de los riesgos.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18" name="Picture 9" descr="tilde">
            <a:extLst>
              <a:ext uri="{FF2B5EF4-FFF2-40B4-BE49-F238E27FC236}">
                <a16:creationId xmlns:a16="http://schemas.microsoft.com/office/drawing/2014/main" id="{F605CC47-497E-B507-2002-AFC370D7B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65" y="3017391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Box 4">
            <a:extLst>
              <a:ext uri="{FF2B5EF4-FFF2-40B4-BE49-F238E27FC236}">
                <a16:creationId xmlns:a16="http://schemas.microsoft.com/office/drawing/2014/main" id="{89912A88-A929-02A9-40C7-B94761222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033" y="3013501"/>
            <a:ext cx="473512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No se indican los ponderadores asignados a cada factor de riesgo ni a sus </a:t>
            </a:r>
            <a:r>
              <a:rPr lang="es-ES" sz="2400" b="1" dirty="0" err="1">
                <a:solidFill>
                  <a:srgbClr val="0070C0"/>
                </a:solidFill>
              </a:rPr>
              <a:t>subfactores</a:t>
            </a:r>
            <a:r>
              <a:rPr lang="es-ES" sz="2400" b="1" dirty="0">
                <a:solidFill>
                  <a:srgbClr val="0070C0"/>
                </a:solidFill>
              </a:rPr>
              <a:t> o no se justifica la lógica detrás de su asignación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20" name="Picture 9" descr="tilde">
            <a:extLst>
              <a:ext uri="{FF2B5EF4-FFF2-40B4-BE49-F238E27FC236}">
                <a16:creationId xmlns:a16="http://schemas.microsoft.com/office/drawing/2014/main" id="{942FBD97-42B0-356F-E939-009A98D45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65" y="5193250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Box 4">
            <a:extLst>
              <a:ext uri="{FF2B5EF4-FFF2-40B4-BE49-F238E27FC236}">
                <a16:creationId xmlns:a16="http://schemas.microsoft.com/office/drawing/2014/main" id="{9BBD2D56-6C35-4634-65B8-A1C30DAD7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40" y="5055565"/>
            <a:ext cx="45026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Falta de evaluación del riesgo inherente o del residual.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2" name="Imagen 1" descr="U4_Actividad de introspección sobre mis prácticas de evaluación.">
            <a:extLst>
              <a:ext uri="{FF2B5EF4-FFF2-40B4-BE49-F238E27FC236}">
                <a16:creationId xmlns:a16="http://schemas.microsoft.com/office/drawing/2014/main" id="{F1D74DB4-7020-9316-5602-07B183E938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4870503"/>
            <a:ext cx="1599818" cy="120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976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3A965-8901-02A0-D2F1-1021A6B1F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2C0B0BB0-1DCD-7CBE-A9AF-AF2F0D76B14F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21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9 Rectángulo redondeado">
            <a:extLst>
              <a:ext uri="{FF2B5EF4-FFF2-40B4-BE49-F238E27FC236}">
                <a16:creationId xmlns:a16="http://schemas.microsoft.com/office/drawing/2014/main" id="{291A7B49-22A9-6CB1-9FC8-B128675EB6BE}"/>
              </a:ext>
            </a:extLst>
          </p:cNvPr>
          <p:cNvSpPr/>
          <p:nvPr/>
        </p:nvSpPr>
        <p:spPr>
          <a:xfrm>
            <a:off x="-285784" y="214290"/>
            <a:ext cx="903424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3C7A4D9-888F-F775-F2AF-7F4C8BC5445F}"/>
              </a:ext>
            </a:extLst>
          </p:cNvPr>
          <p:cNvSpPr txBox="1">
            <a:spLocks noChangeArrowheads="1"/>
          </p:cNvSpPr>
          <p:nvPr/>
        </p:nvSpPr>
        <p:spPr>
          <a:xfrm>
            <a:off x="-36512" y="265802"/>
            <a:ext cx="918051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ES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Análisis de factores de riesgo mínimos de LA/FT/FP</a:t>
            </a:r>
            <a:endParaRPr lang="es-AR" sz="2800" b="1" dirty="0">
              <a:solidFill>
                <a:schemeClr val="bg1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6" name="Picture 9" descr="tilde">
            <a:extLst>
              <a:ext uri="{FF2B5EF4-FFF2-40B4-BE49-F238E27FC236}">
                <a16:creationId xmlns:a16="http://schemas.microsoft.com/office/drawing/2014/main" id="{0F90C726-71E2-568E-2379-3649F7A4A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57" y="1282440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Box 4">
            <a:extLst>
              <a:ext uri="{FF2B5EF4-FFF2-40B4-BE49-F238E27FC236}">
                <a16:creationId xmlns:a16="http://schemas.microsoft.com/office/drawing/2014/main" id="{9ED2C932-2625-E4BB-36F3-171CC5EE8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40" y="1340768"/>
            <a:ext cx="45026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Análisis incompleto por líneas de negocio / ausencia del análisis.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18" name="Picture 9" descr="tilde">
            <a:extLst>
              <a:ext uri="{FF2B5EF4-FFF2-40B4-BE49-F238E27FC236}">
                <a16:creationId xmlns:a16="http://schemas.microsoft.com/office/drawing/2014/main" id="{F605CC47-497E-B507-2002-AFC370D7B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65" y="2852936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Box 4">
            <a:extLst>
              <a:ext uri="{FF2B5EF4-FFF2-40B4-BE49-F238E27FC236}">
                <a16:creationId xmlns:a16="http://schemas.microsoft.com/office/drawing/2014/main" id="{89912A88-A929-02A9-40C7-B94761222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1421" y="2708920"/>
            <a:ext cx="5120779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Análisis incompleto de los factores de riesgo de clientes y geográfico (ubicación de la casa matriz, sucursales y su expansión, representaciones y agentes comerciales).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20" name="Picture 9" descr="tilde">
            <a:extLst>
              <a:ext uri="{FF2B5EF4-FFF2-40B4-BE49-F238E27FC236}">
                <a16:creationId xmlns:a16="http://schemas.microsoft.com/office/drawing/2014/main" id="{942FBD97-42B0-356F-E939-009A98D45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65" y="5210087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Box 4">
            <a:extLst>
              <a:ext uri="{FF2B5EF4-FFF2-40B4-BE49-F238E27FC236}">
                <a16:creationId xmlns:a16="http://schemas.microsoft.com/office/drawing/2014/main" id="{9BBD2D56-6C35-4634-65B8-A1C30DAD7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033" y="5180999"/>
            <a:ext cx="450267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Análisis incompleto de nuevos productos o servicios o nuevas tecnologías implementadas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2" name="Imagen 1" descr="U4_Actividad de introspección sobre mis prácticas de evaluación.">
            <a:extLst>
              <a:ext uri="{FF2B5EF4-FFF2-40B4-BE49-F238E27FC236}">
                <a16:creationId xmlns:a16="http://schemas.microsoft.com/office/drawing/2014/main" id="{2DE13BC4-0873-6F17-3A58-0533993723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670" y="1756266"/>
            <a:ext cx="1599818" cy="120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6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3A965-8901-02A0-D2F1-1021A6B1F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2C0B0BB0-1DCD-7CBE-A9AF-AF2F0D76B14F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22</a:t>
            </a:fld>
            <a:endParaRPr lang="es-ES" sz="1200" b="1" dirty="0">
              <a:latin typeface="+mn-lt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C5E60CE-B885-24ED-49C2-017EE2586508}"/>
              </a:ext>
            </a:extLst>
          </p:cNvPr>
          <p:cNvGrpSpPr/>
          <p:nvPr/>
        </p:nvGrpSpPr>
        <p:grpSpPr>
          <a:xfrm>
            <a:off x="-285784" y="44624"/>
            <a:ext cx="9466296" cy="877998"/>
            <a:chOff x="-285784" y="246746"/>
            <a:chExt cx="9466296" cy="877998"/>
          </a:xfrm>
        </p:grpSpPr>
        <p:sp>
          <p:nvSpPr>
            <p:cNvPr id="10" name="9 Rectángulo redondeado">
              <a:extLst>
                <a:ext uri="{FF2B5EF4-FFF2-40B4-BE49-F238E27FC236}">
                  <a16:creationId xmlns:a16="http://schemas.microsoft.com/office/drawing/2014/main" id="{291A7B49-22A9-6CB1-9FC8-B128675EB6BE}"/>
                </a:ext>
              </a:extLst>
            </p:cNvPr>
            <p:cNvSpPr/>
            <p:nvPr/>
          </p:nvSpPr>
          <p:spPr>
            <a:xfrm>
              <a:off x="-285784" y="246746"/>
              <a:ext cx="9034248" cy="87799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33C7A4D9-888F-F775-F2AF-7F4C8BC5445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0" y="349216"/>
              <a:ext cx="9180512" cy="64159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s-ES" sz="2800" b="1" dirty="0">
                  <a:solidFill>
                    <a:schemeClr val="bg1"/>
                  </a:solidFill>
                  <a:latin typeface="+mj-lt"/>
                  <a:ea typeface="Verdana" pitchFamily="34" charset="0"/>
                  <a:cs typeface="Verdana" pitchFamily="34" charset="0"/>
                </a:rPr>
                <a:t>Deficiencias en la Especificidad y Evaluación de</a:t>
              </a:r>
            </a:p>
            <a:p>
              <a:pPr>
                <a:spcBef>
                  <a:spcPct val="0"/>
                </a:spcBef>
                <a:defRPr/>
              </a:pPr>
              <a:r>
                <a:rPr lang="es-ES" sz="2800" b="1" dirty="0">
                  <a:solidFill>
                    <a:schemeClr val="bg1"/>
                  </a:solidFill>
                  <a:latin typeface="+mj-lt"/>
                  <a:ea typeface="Verdana" pitchFamily="34" charset="0"/>
                  <a:cs typeface="Verdana" pitchFamily="34" charset="0"/>
                </a:rPr>
                <a:t>Controles Mitigantes</a:t>
              </a:r>
              <a:endParaRPr lang="es-AR" sz="28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endParaRPr>
            </a:p>
          </p:txBody>
        </p:sp>
      </p:grpSp>
      <p:pic>
        <p:nvPicPr>
          <p:cNvPr id="16" name="Picture 9" descr="tilde">
            <a:extLst>
              <a:ext uri="{FF2B5EF4-FFF2-40B4-BE49-F238E27FC236}">
                <a16:creationId xmlns:a16="http://schemas.microsoft.com/office/drawing/2014/main" id="{0F90C726-71E2-568E-2379-3649F7A4A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57" y="1282440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Box 4">
            <a:extLst>
              <a:ext uri="{FF2B5EF4-FFF2-40B4-BE49-F238E27FC236}">
                <a16:creationId xmlns:a16="http://schemas.microsoft.com/office/drawing/2014/main" id="{9ED2C932-2625-E4BB-36F3-171CC5EE8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40" y="1340768"/>
            <a:ext cx="45026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Descripción genérica de los controles. 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18" name="Picture 9" descr="tilde">
            <a:extLst>
              <a:ext uri="{FF2B5EF4-FFF2-40B4-BE49-F238E27FC236}">
                <a16:creationId xmlns:a16="http://schemas.microsoft.com/office/drawing/2014/main" id="{F605CC47-497E-B507-2002-AFC370D7B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65" y="2852936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Box 4">
            <a:extLst>
              <a:ext uri="{FF2B5EF4-FFF2-40B4-BE49-F238E27FC236}">
                <a16:creationId xmlns:a16="http://schemas.microsoft.com/office/drawing/2014/main" id="{89912A88-A929-02A9-40C7-B94761222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1421" y="2708920"/>
            <a:ext cx="512077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Falta de mención a la opinión de la Auditoría Interna, Auditoría Externa, REI y reguladores.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20" name="Picture 9" descr="tilde">
            <a:extLst>
              <a:ext uri="{FF2B5EF4-FFF2-40B4-BE49-F238E27FC236}">
                <a16:creationId xmlns:a16="http://schemas.microsoft.com/office/drawing/2014/main" id="{942FBD97-42B0-356F-E939-009A98D45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65" y="4394192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Box 4">
            <a:extLst>
              <a:ext uri="{FF2B5EF4-FFF2-40B4-BE49-F238E27FC236}">
                <a16:creationId xmlns:a16="http://schemas.microsoft.com/office/drawing/2014/main" id="{9BBD2D56-6C35-4634-65B8-A1C30DAD7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033" y="4365104"/>
            <a:ext cx="45026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Ausencia de datos estadísticos.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3" name="Picture 9" descr="tilde">
            <a:extLst>
              <a:ext uri="{FF2B5EF4-FFF2-40B4-BE49-F238E27FC236}">
                <a16:creationId xmlns:a16="http://schemas.microsoft.com/office/drawing/2014/main" id="{D9D5275F-1CF2-80DC-C6F4-9C8B1C038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65" y="5505053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4">
            <a:extLst>
              <a:ext uri="{FF2B5EF4-FFF2-40B4-BE49-F238E27FC236}">
                <a16:creationId xmlns:a16="http://schemas.microsoft.com/office/drawing/2014/main" id="{F276E530-76CC-4337-30BA-42261DDF2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033" y="5475965"/>
            <a:ext cx="46631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Deficientes planes de remediación</a:t>
            </a:r>
            <a:endParaRPr lang="es-AR" sz="2400" b="1" dirty="0">
              <a:solidFill>
                <a:srgbClr val="0070C0"/>
              </a:solidFill>
            </a:endParaRPr>
          </a:p>
        </p:txBody>
      </p:sp>
      <p:pic>
        <p:nvPicPr>
          <p:cNvPr id="5" name="Imagen 4" descr="U4_Actividad de introspección sobre mis prácticas de evaluación.">
            <a:extLst>
              <a:ext uri="{FF2B5EF4-FFF2-40B4-BE49-F238E27FC236}">
                <a16:creationId xmlns:a16="http://schemas.microsoft.com/office/drawing/2014/main" id="{E1D17D73-92AC-3CF3-BCE6-D0EDC8A063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688" y="3830754"/>
            <a:ext cx="1599818" cy="120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5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1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FD62-B673-0810-D4BD-2266A98E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62CDEF3B-5873-99FB-DCAB-1724514D6C0A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23</a:t>
            </a:fld>
            <a:endParaRPr lang="es-ES" sz="1200" b="1" dirty="0">
              <a:latin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997412D-6D21-1279-3A57-C2A31D262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94" y="332656"/>
            <a:ext cx="8334814" cy="61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815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FD62-B673-0810-D4BD-2266A98E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62CDEF3B-5873-99FB-DCAB-1724514D6C0A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24</a:t>
            </a:fld>
            <a:endParaRPr lang="es-ES" sz="1200" b="1" dirty="0">
              <a:latin typeface="+mn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715E44-5E70-E02E-A64C-066EC76EB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00841"/>
            <a:ext cx="8568952" cy="483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96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FD62-B673-0810-D4BD-2266A98E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62CDEF3B-5873-99FB-DCAB-1724514D6C0A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25</a:t>
            </a:fld>
            <a:endParaRPr lang="es-ES" sz="1200" b="1" dirty="0">
              <a:latin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F2EAF95-4C08-522B-BBB9-4B9D56CA1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09" y="1928603"/>
            <a:ext cx="8459381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452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4D830-1C30-2D7E-1370-ABA4E524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DE926196-F40F-8923-0943-C6042E251AF6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26</a:t>
            </a:fld>
            <a:endParaRPr lang="es-ES" sz="1200" b="1" dirty="0">
              <a:latin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A2EEA8-B036-F492-8B4B-E571A895D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72" y="1556792"/>
            <a:ext cx="8978399" cy="260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28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0C0C4-243B-1150-8172-54DD1B901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B46CAD38-C8EC-DB48-40A4-1285E3986234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27</a:t>
            </a:fld>
            <a:endParaRPr lang="es-ES" sz="1200" b="1" dirty="0">
              <a:latin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586C91-8706-57E1-25F7-F7B6D99C3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17" y="476672"/>
            <a:ext cx="8271339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45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0C0C4-243B-1150-8172-54DD1B901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4 Marcador de número de diapositiva">
            <a:extLst>
              <a:ext uri="{FF2B5EF4-FFF2-40B4-BE49-F238E27FC236}">
                <a16:creationId xmlns:a16="http://schemas.microsoft.com/office/drawing/2014/main" id="{B46CAD38-C8EC-DB48-40A4-1285E3986234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28</a:t>
            </a:fld>
            <a:endParaRPr lang="es-ES" sz="1200" b="1" dirty="0">
              <a:latin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F5788A7-C8EB-5553-2E8F-D772D9CF5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11" y="1340768"/>
            <a:ext cx="8311415" cy="311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452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CF061-F511-4678-CC02-A402CFD04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59F51A5-9B98-0103-7945-83F5941AA451}"/>
              </a:ext>
            </a:extLst>
          </p:cNvPr>
          <p:cNvSpPr txBox="1"/>
          <p:nvPr/>
        </p:nvSpPr>
        <p:spPr>
          <a:xfrm>
            <a:off x="2386361" y="916293"/>
            <a:ext cx="6235552" cy="154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535290">
              <a:lnSpc>
                <a:spcPts val="4200"/>
              </a:lnSpc>
              <a:defRPr/>
            </a:pPr>
            <a:r>
              <a:rPr lang="es-ES" sz="2342" spc="-70" dirty="0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LA EVOLUCIÓN SECTOR: DEL CUMPLIMIENTO FORMAL </a:t>
            </a:r>
          </a:p>
          <a:p>
            <a:pPr algn="ctr" defTabSz="535290">
              <a:lnSpc>
                <a:spcPts val="4200"/>
              </a:lnSpc>
              <a:defRPr/>
            </a:pPr>
            <a:r>
              <a:rPr lang="es-ES" sz="2342" spc="-70" dirty="0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A LA CULTURA DE CUMPLIMIENTO</a:t>
            </a:r>
            <a:endParaRPr lang="en-US" sz="2342" spc="-70" dirty="0">
              <a:solidFill>
                <a:srgbClr val="FFFFFF"/>
              </a:solidFill>
              <a:latin typeface="Antonio Bold"/>
              <a:ea typeface="Antonio Bold"/>
              <a:cs typeface="Antonio Bold"/>
              <a:sym typeface="Antonio Bold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A2E9D98-6190-9B62-EE56-64306A91D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757768"/>
              </p:ext>
            </p:extLst>
          </p:nvPr>
        </p:nvGraphicFramePr>
        <p:xfrm>
          <a:off x="155492" y="1594273"/>
          <a:ext cx="8826190" cy="3634927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227456">
                  <a:extLst>
                    <a:ext uri="{9D8B030D-6E8A-4147-A177-3AD203B41FA5}">
                      <a16:colId xmlns:a16="http://schemas.microsoft.com/office/drawing/2014/main" val="1064905785"/>
                    </a:ext>
                  </a:extLst>
                </a:gridCol>
                <a:gridCol w="3139821">
                  <a:extLst>
                    <a:ext uri="{9D8B030D-6E8A-4147-A177-3AD203B41FA5}">
                      <a16:colId xmlns:a16="http://schemas.microsoft.com/office/drawing/2014/main" val="3315242656"/>
                    </a:ext>
                  </a:extLst>
                </a:gridCol>
                <a:gridCol w="3458913">
                  <a:extLst>
                    <a:ext uri="{9D8B030D-6E8A-4147-A177-3AD203B41FA5}">
                      <a16:colId xmlns:a16="http://schemas.microsoft.com/office/drawing/2014/main" val="603495547"/>
                    </a:ext>
                  </a:extLst>
                </a:gridCol>
              </a:tblGrid>
              <a:tr h="44604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ES" sz="1300" kern="1200" spc="-119" dirty="0">
                          <a:blipFill>
                            <a:blip r:embed="rId3"/>
                            <a:stretch>
                              <a:fillRect/>
                            </a:stretch>
                          </a:blipFill>
                          <a:latin typeface="Antonio Bold"/>
                          <a:ea typeface="+mn-ea"/>
                          <a:cs typeface="+mn-cs"/>
                        </a:rPr>
                        <a:t>PERCEPCIÓN PARA LA UIF E INAES </a:t>
                      </a:r>
                    </a:p>
                  </a:txBody>
                  <a:tcPr marL="53526" marR="53526" marT="26763" marB="267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Cumplimiento (</a:t>
                      </a:r>
                      <a:r>
                        <a:rPr lang="en-US" sz="1300" kern="1200" spc="-119" dirty="0" err="1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normativista</a:t>
                      </a:r>
                      <a:r>
                        <a:rPr lang="en-US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)</a:t>
                      </a:r>
                      <a:endParaRPr lang="es-ES" sz="1300" kern="1200" spc="-119" dirty="0">
                        <a:solidFill>
                          <a:schemeClr val="tx1"/>
                        </a:solidFill>
                        <a:latin typeface="Antonio Bold"/>
                        <a:ea typeface="+mn-ea"/>
                        <a:cs typeface="+mn-cs"/>
                      </a:endParaRP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Colaboración (preventivo/estratégico).</a:t>
                      </a:r>
                      <a:endParaRPr lang="es-ES" sz="1300" kern="1200" spc="-119" dirty="0">
                        <a:solidFill>
                          <a:schemeClr val="tx1"/>
                        </a:solidFill>
                        <a:latin typeface="Antonio Bold"/>
                        <a:ea typeface="+mn-ea"/>
                        <a:cs typeface="+mn-cs"/>
                      </a:endParaRP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7993729"/>
                  </a:ext>
                </a:extLst>
              </a:tr>
              <a:tr h="24978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spc="-119" dirty="0">
                          <a:blipFill>
                            <a:blip r:embed="rId3"/>
                            <a:stretch>
                              <a:fillRect/>
                            </a:stretch>
                          </a:blipFill>
                          <a:latin typeface="Antonio Bold"/>
                          <a:ea typeface="+mn-ea"/>
                          <a:cs typeface="+mn-cs"/>
                        </a:rPr>
                        <a:t>VISIÓN</a:t>
                      </a:r>
                    </a:p>
                  </a:txBody>
                  <a:tcPr marL="53526" marR="53526" marT="26763" marB="267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Actor pasivo</a:t>
                      </a:r>
                      <a:endParaRPr lang="es-AR" sz="1300" kern="1200" spc="-119" dirty="0">
                        <a:solidFill>
                          <a:schemeClr val="tx1"/>
                        </a:solidFill>
                        <a:latin typeface="Antonio Bold"/>
                        <a:ea typeface="+mn-ea"/>
                        <a:cs typeface="+mn-cs"/>
                      </a:endParaRP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ES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Aliado activo. </a:t>
                      </a:r>
                      <a:endParaRPr lang="es-AR" sz="1300" kern="1200" spc="-119" dirty="0">
                        <a:solidFill>
                          <a:schemeClr val="tx1"/>
                        </a:solidFill>
                        <a:latin typeface="Antonio Bold"/>
                        <a:ea typeface="+mn-ea"/>
                        <a:cs typeface="+mn-cs"/>
                      </a:endParaRP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3800232"/>
                  </a:ext>
                </a:extLst>
              </a:tr>
              <a:tr h="44604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spc="-119" dirty="0">
                          <a:blipFill>
                            <a:blip r:embed="rId3"/>
                            <a:stretch>
                              <a:fillRect/>
                            </a:stretch>
                          </a:blipFill>
                          <a:latin typeface="Antonio Bold"/>
                          <a:ea typeface="+mn-ea"/>
                          <a:cs typeface="+mn-cs"/>
                        </a:rPr>
                        <a:t>RELACIÓN CON EL REGULADOR</a:t>
                      </a:r>
                      <a:endParaRPr lang="es-AR" sz="1300" kern="1200" spc="-119" dirty="0">
                        <a:blipFill>
                          <a:blip r:embed="rId3"/>
                          <a:stretch>
                            <a:fillRect/>
                          </a:stretch>
                        </a:blipFill>
                        <a:latin typeface="Antonio Bold"/>
                        <a:ea typeface="+mn-ea"/>
                        <a:cs typeface="+mn-cs"/>
                      </a:endParaRPr>
                    </a:p>
                  </a:txBody>
                  <a:tcPr marL="53526" marR="53526" marT="26763" marB="267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ES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Vertical y punitiva: autoridad controla y sanciona.</a:t>
                      </a:r>
                      <a:endParaRPr lang="es-AR" sz="1300" kern="1200" spc="-119" dirty="0">
                        <a:solidFill>
                          <a:schemeClr val="tx1"/>
                        </a:solidFill>
                        <a:latin typeface="Antonio Bold"/>
                        <a:ea typeface="+mn-ea"/>
                        <a:cs typeface="+mn-cs"/>
                      </a:endParaRP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AR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Cooperativa y de retroalimentación: </a:t>
                      </a:r>
                      <a:r>
                        <a:rPr lang="es-AR" sz="1300" b="0" u="none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la supervisión como oportunidad de mejora.</a:t>
                      </a: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5994013"/>
                  </a:ext>
                </a:extLst>
              </a:tr>
              <a:tr h="24978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AR" sz="1300" kern="1200" spc="-119" dirty="0">
                          <a:blipFill>
                            <a:blip r:embed="rId3"/>
                            <a:stretch>
                              <a:fillRect/>
                            </a:stretch>
                          </a:blipFill>
                          <a:latin typeface="Antonio Bold"/>
                          <a:ea typeface="+mn-ea"/>
                          <a:cs typeface="+mn-cs"/>
                        </a:rPr>
                        <a:t>OBJETIVO</a:t>
                      </a:r>
                    </a:p>
                  </a:txBody>
                  <a:tcPr marL="53526" marR="53526" marT="26763" marB="267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AR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Evitar multas o sanciones</a:t>
                      </a: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ES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Contribuir a la integridad del sistema financiero. </a:t>
                      </a:r>
                      <a:endParaRPr lang="es-AR" sz="1300" kern="1200" spc="-119" dirty="0">
                        <a:solidFill>
                          <a:schemeClr val="tx1"/>
                        </a:solidFill>
                        <a:latin typeface="Antonio Bold"/>
                        <a:ea typeface="+mn-ea"/>
                        <a:cs typeface="+mn-cs"/>
                      </a:endParaRP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0780142"/>
                  </a:ext>
                </a:extLst>
              </a:tr>
              <a:tr h="64231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spc="-119" dirty="0">
                          <a:blipFill>
                            <a:blip r:embed="rId3"/>
                            <a:stretch>
                              <a:fillRect/>
                            </a:stretch>
                          </a:blipFill>
                          <a:latin typeface="Antonio Bold"/>
                          <a:ea typeface="+mn-ea"/>
                          <a:cs typeface="+mn-cs"/>
                        </a:rPr>
                        <a:t>CONOCIMIENTO DEL CLIENTE Y MONITOREO DE OPERACIONES</a:t>
                      </a:r>
                      <a:endParaRPr lang="es-AR" sz="1300" kern="1200" spc="-119" dirty="0">
                        <a:blipFill>
                          <a:blip r:embed="rId3"/>
                          <a:stretch>
                            <a:fillRect/>
                          </a:stretch>
                        </a:blipFill>
                        <a:latin typeface="Antonio Bold"/>
                        <a:ea typeface="+mn-ea"/>
                        <a:cs typeface="+mn-cs"/>
                      </a:endParaRPr>
                    </a:p>
                  </a:txBody>
                  <a:tcPr marL="53526" marR="53526" marT="26763" marB="267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AR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Carga administrativa</a:t>
                      </a: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AR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Herramienta de gestión de riesgo que fortalece la confianza del asociado y el negocio.</a:t>
                      </a: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8566743"/>
                  </a:ext>
                </a:extLst>
              </a:tr>
              <a:tr h="44604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spc="-119" dirty="0">
                          <a:blipFill>
                            <a:blip r:embed="rId3"/>
                            <a:stretch>
                              <a:fillRect/>
                            </a:stretch>
                          </a:blipFill>
                          <a:latin typeface="Antonio Bold"/>
                          <a:ea typeface="+mn-ea"/>
                          <a:cs typeface="+mn-cs"/>
                        </a:rPr>
                        <a:t>CAPACITACIÓN </a:t>
                      </a:r>
                      <a:endParaRPr lang="es-AR" sz="1300" kern="1200" spc="-119" dirty="0">
                        <a:blipFill>
                          <a:blip r:embed="rId3"/>
                          <a:stretch>
                            <a:fillRect/>
                          </a:stretch>
                        </a:blipFill>
                        <a:latin typeface="Antonio Bold"/>
                        <a:ea typeface="+mn-ea"/>
                        <a:cs typeface="+mn-cs"/>
                      </a:endParaRPr>
                    </a:p>
                  </a:txBody>
                  <a:tcPr marL="53526" marR="53526" marT="26763" marB="267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spc="-119" dirty="0" err="1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Obligación</a:t>
                      </a:r>
                      <a:r>
                        <a:rPr lang="en-US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 formal de </a:t>
                      </a:r>
                      <a:r>
                        <a:rPr lang="en-US" sz="1300" kern="1200" spc="-119" dirty="0" err="1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capacitar</a:t>
                      </a:r>
                      <a:endParaRPr lang="es-AR" sz="1300" kern="1200" spc="-119" dirty="0">
                        <a:solidFill>
                          <a:schemeClr val="tx1"/>
                        </a:solidFill>
                        <a:latin typeface="Antonio Bold"/>
                        <a:ea typeface="+mn-ea"/>
                        <a:cs typeface="+mn-cs"/>
                      </a:endParaRP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AR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Construcción de la cultura organizacional en PLA/FT/FP</a:t>
                      </a: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8972482"/>
                  </a:ext>
                </a:extLst>
              </a:tr>
              <a:tr h="44604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spc="-119" dirty="0">
                          <a:blipFill>
                            <a:blip r:embed="rId3"/>
                            <a:stretch>
                              <a:fillRect/>
                            </a:stretch>
                          </a:blipFill>
                          <a:latin typeface="Antonio Bold"/>
                          <a:ea typeface="+mn-ea"/>
                          <a:cs typeface="+mn-cs"/>
                        </a:rPr>
                        <a:t>RELACIÓN CON LOS AUDITORES/REI</a:t>
                      </a:r>
                      <a:endParaRPr lang="es-AR" sz="1300" kern="1200" spc="-119" dirty="0">
                        <a:blipFill>
                          <a:blip r:embed="rId3"/>
                          <a:stretch>
                            <a:fillRect/>
                          </a:stretch>
                        </a:blipFill>
                        <a:latin typeface="Antonio Bold"/>
                        <a:ea typeface="+mn-ea"/>
                        <a:cs typeface="+mn-cs"/>
                      </a:endParaRPr>
                    </a:p>
                  </a:txBody>
                  <a:tcPr marL="53526" marR="53526" marT="26763" marB="267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AR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Evaluación formal o requisito regulatorio</a:t>
                      </a: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AR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Instancia de aprendizaje con valor agregado para la gestión</a:t>
                      </a: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028838"/>
                  </a:ext>
                </a:extLst>
              </a:tr>
              <a:tr h="24978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spc="-119" dirty="0">
                          <a:blipFill>
                            <a:blip r:embed="rId3"/>
                            <a:stretch>
                              <a:fillRect/>
                            </a:stretch>
                          </a:blipFill>
                          <a:latin typeface="Antonio Bold"/>
                          <a:ea typeface="+mn-ea"/>
                          <a:cs typeface="+mn-cs"/>
                        </a:rPr>
                        <a:t>ROS</a:t>
                      </a:r>
                      <a:endParaRPr lang="es-AR" sz="1300" kern="1200" spc="-119" dirty="0">
                        <a:blipFill>
                          <a:blip r:embed="rId3"/>
                          <a:stretch>
                            <a:fillRect/>
                          </a:stretch>
                        </a:blipFill>
                        <a:latin typeface="Antonio Bold"/>
                        <a:ea typeface="+mn-ea"/>
                        <a:cs typeface="+mn-cs"/>
                      </a:endParaRPr>
                    </a:p>
                  </a:txBody>
                  <a:tcPr marL="53526" marR="53526" marT="26763" marB="267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AR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Reporte defensivo (evitar problemas)</a:t>
                      </a: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AR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Inteligencia financiera (reportes de calidad)</a:t>
                      </a: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4419359"/>
                  </a:ext>
                </a:extLst>
              </a:tr>
              <a:tr h="44604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AR" sz="1300" kern="1200" spc="-119" dirty="0">
                          <a:blipFill>
                            <a:blip r:embed="rId3"/>
                            <a:stretch>
                              <a:fillRect/>
                            </a:stretch>
                          </a:blipFill>
                          <a:latin typeface="Antonio Bold"/>
                          <a:ea typeface="+mn-ea"/>
                          <a:cs typeface="+mn-cs"/>
                        </a:rPr>
                        <a:t>PERCEPCIÓN DE LAS ENTIDADES</a:t>
                      </a:r>
                    </a:p>
                  </a:txBody>
                  <a:tcPr marL="53526" marR="53526" marT="26763" marB="267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AR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“Si no cumplo, me sancionan”</a:t>
                      </a: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ES" sz="1300" kern="1200" spc="-119" dirty="0">
                          <a:solidFill>
                            <a:schemeClr val="tx1"/>
                          </a:solidFill>
                          <a:latin typeface="Antonio Bold"/>
                          <a:ea typeface="+mn-ea"/>
                          <a:cs typeface="+mn-cs"/>
                        </a:rPr>
                        <a:t>“Soy parte de la primera línea de defensa contra el delito económico”</a:t>
                      </a:r>
                      <a:endParaRPr lang="es-AR" sz="1300" kern="1200" spc="-119" dirty="0">
                        <a:solidFill>
                          <a:schemeClr val="tx1"/>
                        </a:solidFill>
                        <a:latin typeface="Antonio Bold"/>
                        <a:ea typeface="+mn-ea"/>
                        <a:cs typeface="+mn-cs"/>
                      </a:endParaRPr>
                    </a:p>
                  </a:txBody>
                  <a:tcPr marL="53526" marR="53526" marT="26763" marB="267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06813"/>
                  </a:ext>
                </a:extLst>
              </a:tr>
            </a:tbl>
          </a:graphicData>
        </a:graphic>
      </p:graphicFrame>
      <p:sp>
        <p:nvSpPr>
          <p:cNvPr id="2" name="Abrir llave 1">
            <a:extLst>
              <a:ext uri="{FF2B5EF4-FFF2-40B4-BE49-F238E27FC236}">
                <a16:creationId xmlns:a16="http://schemas.microsoft.com/office/drawing/2014/main" id="{02CAF984-2581-1447-FC3A-7085B2D19273}"/>
              </a:ext>
            </a:extLst>
          </p:cNvPr>
          <p:cNvSpPr/>
          <p:nvPr/>
        </p:nvSpPr>
        <p:spPr>
          <a:xfrm rot="16200000">
            <a:off x="4412471" y="1063642"/>
            <a:ext cx="312234" cy="8826191"/>
          </a:xfrm>
          <a:prstGeom prst="lef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35290">
              <a:defRPr/>
            </a:pPr>
            <a:endParaRPr lang="es-AR" sz="105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94E5F52-39C2-6659-658A-0785D2AD7F65}"/>
              </a:ext>
            </a:extLst>
          </p:cNvPr>
          <p:cNvSpPr txBox="1"/>
          <p:nvPr/>
        </p:nvSpPr>
        <p:spPr>
          <a:xfrm>
            <a:off x="2603828" y="5730318"/>
            <a:ext cx="3929521" cy="723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35290">
              <a:defRPr/>
            </a:pPr>
            <a:r>
              <a:rPr lang="es-AR" sz="2049" spc="-70" dirty="0">
                <a:blipFill>
                  <a:blip r:embed="rId3"/>
                  <a:stretch>
                    <a:fillRect/>
                  </a:stretch>
                </a:blipFill>
                <a:latin typeface="Antonio Bold"/>
              </a:rPr>
              <a:t>COMPROMISO DEL CONSEJO Y LA GERENCIA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72C84C-657F-DA69-6CDA-FECCB8F4A1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172438"/>
            <a:ext cx="1324372" cy="132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82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30</a:t>
            </a:fld>
            <a:endParaRPr lang="es-ES" sz="1200" b="1" dirty="0">
              <a:latin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FC40BD8-E091-CF46-80CB-D3FB7D8049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96" y="359541"/>
            <a:ext cx="8060573" cy="5373715"/>
          </a:xfrm>
          <a:prstGeom prst="rect">
            <a:avLst/>
          </a:prstGeom>
        </p:spPr>
      </p:pic>
      <p:sp>
        <p:nvSpPr>
          <p:cNvPr id="4" name="34 CuadroTexto">
            <a:extLst>
              <a:ext uri="{FF2B5EF4-FFF2-40B4-BE49-F238E27FC236}">
                <a16:creationId xmlns:a16="http://schemas.microsoft.com/office/drawing/2014/main" id="{19728458-6225-7D45-9D75-0C49AD55D0BD}"/>
              </a:ext>
            </a:extLst>
          </p:cNvPr>
          <p:cNvSpPr txBox="1"/>
          <p:nvPr/>
        </p:nvSpPr>
        <p:spPr>
          <a:xfrm>
            <a:off x="1122550" y="6036794"/>
            <a:ext cx="6898900" cy="461665"/>
          </a:xfrm>
          <a:prstGeom prst="rect">
            <a:avLst/>
          </a:prstGeom>
          <a:solidFill>
            <a:schemeClr val="accent2"/>
          </a:solidFill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¡Muchas gracias por tu atención!</a:t>
            </a:r>
          </a:p>
        </p:txBody>
      </p:sp>
    </p:spTree>
    <p:extLst>
      <p:ext uri="{BB962C8B-B14F-4D97-AF65-F5344CB8AC3E}">
        <p14:creationId xmlns:p14="http://schemas.microsoft.com/office/powerpoint/2010/main" val="262176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12875</TotalTime>
  <Words>1514</Words>
  <Application>Microsoft Office PowerPoint</Application>
  <PresentationFormat>Presentación en pantalla (4:3)</PresentationFormat>
  <Paragraphs>178</Paragraphs>
  <Slides>30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Antonio Bold</vt:lpstr>
      <vt:lpstr>Aptos</vt:lpstr>
      <vt:lpstr>Arial</vt:lpstr>
      <vt:lpstr>Arial Narrow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Sony Electronics,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JULY</dc:creator>
  <cp:lastModifiedBy>Alberto Chichilnitzky</cp:lastModifiedBy>
  <cp:revision>1425</cp:revision>
  <cp:lastPrinted>2016-11-07T21:16:58Z</cp:lastPrinted>
  <dcterms:created xsi:type="dcterms:W3CDTF">2011-05-03T20:44:05Z</dcterms:created>
  <dcterms:modified xsi:type="dcterms:W3CDTF">2026-04-27T00:18:49Z</dcterms:modified>
</cp:coreProperties>
</file>