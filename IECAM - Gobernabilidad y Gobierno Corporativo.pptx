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585" r:id="rId2"/>
    <p:sldId id="1432" r:id="rId3"/>
    <p:sldId id="1433" r:id="rId4"/>
    <p:sldId id="1435" r:id="rId5"/>
    <p:sldId id="1434" r:id="rId6"/>
    <p:sldId id="599" r:id="rId7"/>
    <p:sldId id="1438" r:id="rId8"/>
    <p:sldId id="1436" r:id="rId9"/>
    <p:sldId id="1439" r:id="rId10"/>
    <p:sldId id="1440" r:id="rId11"/>
    <p:sldId id="1441" r:id="rId12"/>
    <p:sldId id="1442" r:id="rId13"/>
    <p:sldId id="1443" r:id="rId14"/>
    <p:sldId id="1444" r:id="rId15"/>
    <p:sldId id="1445" r:id="rId16"/>
    <p:sldId id="1446" r:id="rId17"/>
    <p:sldId id="1447" r:id="rId18"/>
    <p:sldId id="1448" r:id="rId19"/>
    <p:sldId id="1449" r:id="rId20"/>
    <p:sldId id="1450" r:id="rId21"/>
    <p:sldId id="1451" r:id="rId22"/>
    <p:sldId id="1452" r:id="rId23"/>
    <p:sldId id="1453" r:id="rId24"/>
    <p:sldId id="1454" r:id="rId25"/>
    <p:sldId id="1455" r:id="rId26"/>
    <p:sldId id="1419" r:id="rId27"/>
  </p:sldIdLst>
  <p:sldSz cx="9144000" cy="6858000" type="screen4x3"/>
  <p:notesSz cx="6669088" cy="9926638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CC00"/>
    <a:srgbClr val="6729E3"/>
    <a:srgbClr val="FFFF00"/>
    <a:srgbClr val="0000FF"/>
    <a:srgbClr val="FF00FF"/>
    <a:srgbClr val="6600FF"/>
    <a:srgbClr val="009999"/>
    <a:srgbClr val="CC9900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42" autoAdjust="0"/>
    <p:restoredTop sz="95341" autoAdjust="0"/>
  </p:normalViewPr>
  <p:slideViewPr>
    <p:cSldViewPr>
      <p:cViewPr varScale="1">
        <p:scale>
          <a:sx n="82" d="100"/>
          <a:sy n="82" d="100"/>
        </p:scale>
        <p:origin x="119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123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890228" cy="4956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777413" y="2"/>
            <a:ext cx="2890228" cy="4956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5D086-4F08-4AAE-9722-C2DAE5DE3ED9}" type="datetimeFigureOut">
              <a:rPr lang="es-AR" smtClean="0"/>
              <a:pPr/>
              <a:t>16/9/2023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429323"/>
            <a:ext cx="2890228" cy="4956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777413" y="9429323"/>
            <a:ext cx="2890228" cy="4956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1AC37F-4CBC-49DE-820E-5608AB840C0F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441121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6332"/>
          </a:xfrm>
          <a:prstGeom prst="rect">
            <a:avLst/>
          </a:prstGeom>
        </p:spPr>
        <p:txBody>
          <a:bodyPr vert="horz" lIns="96651" tIns="48325" rIns="96651" bIns="48325" rtlCol="0"/>
          <a:lstStyle>
            <a:lvl1pPr algn="l">
              <a:defRPr sz="1200"/>
            </a:lvl1pPr>
          </a:lstStyle>
          <a:p>
            <a:endParaRPr lang="es-AR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6651" tIns="48325" rIns="96651" bIns="48325" rtlCol="0"/>
          <a:lstStyle>
            <a:lvl1pPr algn="r">
              <a:defRPr sz="1200"/>
            </a:lvl1pPr>
          </a:lstStyle>
          <a:p>
            <a:fld id="{F4D8D38B-E485-4C7C-9FFA-DBE7FDEC11E9}" type="datetimeFigureOut">
              <a:rPr lang="es-AR" smtClean="0"/>
              <a:pPr/>
              <a:t>16/9/2023</a:t>
            </a:fld>
            <a:endParaRPr lang="es-AR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1" tIns="48325" rIns="96651" bIns="48325" rtlCol="0" anchor="ctr"/>
          <a:lstStyle/>
          <a:p>
            <a:endParaRPr lang="es-AR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66910" y="4715155"/>
            <a:ext cx="5335270" cy="4466987"/>
          </a:xfrm>
          <a:prstGeom prst="rect">
            <a:avLst/>
          </a:prstGeom>
        </p:spPr>
        <p:txBody>
          <a:bodyPr vert="horz" lIns="96651" tIns="48325" rIns="96651" bIns="48325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889938" cy="496332"/>
          </a:xfrm>
          <a:prstGeom prst="rect">
            <a:avLst/>
          </a:prstGeom>
        </p:spPr>
        <p:txBody>
          <a:bodyPr vert="horz" lIns="96651" tIns="48325" rIns="96651" bIns="48325" rtlCol="0" anchor="b"/>
          <a:lstStyle>
            <a:lvl1pPr algn="l">
              <a:defRPr sz="1200"/>
            </a:lvl1pPr>
          </a:lstStyle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777607" y="9428584"/>
            <a:ext cx="2889938" cy="496332"/>
          </a:xfrm>
          <a:prstGeom prst="rect">
            <a:avLst/>
          </a:prstGeom>
        </p:spPr>
        <p:txBody>
          <a:bodyPr vert="horz" lIns="96651" tIns="48325" rIns="96651" bIns="48325" rtlCol="0" anchor="b"/>
          <a:lstStyle>
            <a:lvl1pPr algn="r">
              <a:defRPr sz="1200"/>
            </a:lvl1pPr>
          </a:lstStyle>
          <a:p>
            <a:fld id="{642CD49D-23CD-4411-9779-B795DC2C055D}" type="slidenum">
              <a:rPr lang="es-AR" smtClean="0"/>
              <a:pPr/>
              <a:t>‹Nº›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37232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16/9/2023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16/9/2023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16/9/2023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16/9/2023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16/9/2023</a:t>
            </a:fld>
            <a:endParaRPr lang="es-AR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16/9/2023</a:t>
            </a:fld>
            <a:endParaRPr lang="es-AR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16/9/2023</a:t>
            </a:fld>
            <a:endParaRPr lang="es-AR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16/9/2023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16/9/2023</a:t>
            </a:fld>
            <a:endParaRPr lang="es-AR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16/9/2023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E1002-0056-4C89-9D24-C12C003693D9}" type="datetimeFigureOut">
              <a:rPr lang="es-AR" smtClean="0"/>
              <a:pPr/>
              <a:t>16/9/2023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E1002-0056-4C89-9D24-C12C003693D9}" type="datetimeFigureOut">
              <a:rPr lang="es-AR" smtClean="0"/>
              <a:pPr/>
              <a:t>16/9/2023</a:t>
            </a:fld>
            <a:endParaRPr lang="es-AR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7B6C3-4367-4234-BEE8-B6D91C28DACF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 redondeado"/>
          <p:cNvSpPr/>
          <p:nvPr/>
        </p:nvSpPr>
        <p:spPr>
          <a:xfrm>
            <a:off x="-571536" y="188639"/>
            <a:ext cx="8743936" cy="1224137"/>
          </a:xfrm>
          <a:prstGeom prst="roundRect">
            <a:avLst/>
          </a:prstGeom>
          <a:solidFill>
            <a:srgbClr val="66CCFF"/>
          </a:solidFill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0" y="144016"/>
            <a:ext cx="7956376" cy="114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s-AR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anose="020B0604020202020204" pitchFamily="34" charset="0"/>
              </a:rPr>
              <a:t>Gobernabilidad y </a:t>
            </a:r>
          </a:p>
          <a:p>
            <a:pPr algn="ctr">
              <a:lnSpc>
                <a:spcPct val="95000"/>
              </a:lnSpc>
              <a:defRPr/>
            </a:pPr>
            <a:r>
              <a:rPr lang="es-AR" sz="3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cs typeface="Arial" panose="020B0604020202020204" pitchFamily="34" charset="0"/>
              </a:rPr>
              <a:t>Gobierno Corporativo</a:t>
            </a:r>
            <a:endParaRPr lang="es-MX" sz="3600" b="1" dirty="0">
              <a:effectLst>
                <a:outerShdw blurRad="38100" dist="38100" dir="2700000" algn="tl">
                  <a:srgbClr val="C0C0C0"/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75778" name="AutoShape 2" descr="data:image/jpg;base64,/9j/4AAQSkZJRgABAQAAAQABAAD/2wCEAAkGBhQRERQUEhMWFBUVFh8YDxQYEhQYGhUbHxkYFB8VEhQYGyYeGBokGSMVIDEsJCc1LTgsHiM9NTArNSwyLikBCQoKDQwNGQ4OGTUjHiQ1KjUwMjQ1MCw0NSw1LDQ1KSk0LCwsLC82LCwtNjQsNCk0LCw2LCw0LDUyLCwsNCwsKf/AABEIADAAkAMBIgACEQEDEQH/xAAbAAACAgMBAAAAAAAAAAAAAAAABgEHAwQFAv/EADMQAAIBAwIFAgQEBgMAAAAAAAECAwAEERIhBQYTMUEiUQcyYYEUcZHBI1Jik6GiFUNT/8QAGQEAAwEBAQAAAAAAAAAAAAAAAAEDAgQF/8QAIhEAAgIBBAMBAQEAAAAAAAAAAAECEQMEEiFhEzFBYnFR/9oADAMBAAIRAxEAPwC7Kg14uGwpIOMfp9/pSrzdzk1rDG0SAu7FTqziMrjUCAd2yffGN964xZMkccXKXobRRS9y/wAzm4tUlZQrsxTSM4JXuwzuFAyT7YNc74i8zy2cEJhbTJI/cqD6QpJ9J7blK3jxvJJRX0Fki4KfwcqKqTh3MnGriPqQjqJkgMIodyNiADv3rf5H+IlxNdLb3WlteQjBNLKwBOGA2I2I7ZzXTLRzim7Trsys0W6LMqaq3nvn25t7x4beRVRFXUDGreojUdyPYisY4vx7/wAn/sQ0LSScVJtK+weZXVFq0Uh8c5ju7ThcUkp03UjgHKJ6RlmxoxjZB/mtr4a8dubyOaS4cMFcJHhFXHp1N2791/SpPTyUHk+I0sicto5VNFFQKhRRRQAUUUUAFFFFAGG6+U/t3+3ufp5pIu7qJHPXRXgOOuCCQoABEy+copX6mJh5jNPciBgQfNV9zNEyOfm1AjGkAswJYhkXsSTrIHbV1U7SCqYyGbiJucOug7gqnTUemGMLjpoCCF0/zElHb+pok8GlT4uX2q5hi8Rw5O+d3bPfzsFpn5UtzIw7jbLb50rlhu3lieoM+WMrfy0tc1cnXl1fyuIG6bOFVtSYCAKmrGrtjJ7V26Xastt1RF28fH05Q5lv7GGOAHooya4v4aZKsS2oNg75pp+G/I7K6XkrqwK6oFVtWS2QXdvcAnb3zntv2PiLyo11bJ0E1SQsOmoIBKEBSoJ/JT9vrWlyRZ3ttaXMMsDAhWa09SbsykFBhtvVpb7mqSyqeFuFJv2NQanT5K94iz3l/IYhreWZjEu2+Ccd9vlApyWXj/bGM+dNvtv3/esXw95KuYL1ZbiFkVEbSSynLEBQPSTvgk1atLU6hRajFJ8Bjxt8vgqr4xXvrtoc50qzt9SSEB/QPTZ8M7Hp8Oh95NUh+52/1ApQ595Wvbq9kkjgZkCqsTak3AXvu2fmJqz+G2giijjHaNFQfYBanmklp4wT/puCfkcmbVFRRXnnQTRRUUATRUUUDJoqKmkIiuJzXwQ3EOUUNIgOhScCQHGqJmHyhsAg+GVT4ruUVpOnYmk1TOZwHhP4eEKcFzvKwGAWwBhR4RQAqj2UUrpweY3kjyWzyS9cvBcdfRHHEF9CKFOTk7MuN8nJp6orccri2/8AROC9CLZvxRlAbqKXaESMyQZjOpmmaNRsYgulRnJyfzr3avxLNqHEhyc3G0S7GU/PIMjKxYyukZzsc9neprfm/KFs7K8u04lPDJG8cih0dWz0hkvOFGkqc6Y4MnPmsq2t9E0xQXGlrnT6eizLAqMI/wAOG2AJ0g+w8ZJNPtTR536pC2diRp4oY5GLYkjgjEcYWLTLKQTI2f6QRtsCwHjY45ZeJCJdPVZjIxA0Rq2jChVeQj0+rWwJTtscY3e6KPN+UPZ2J/PfD5pvwyRxvIiuXn0hG7LpUFGdAwJJ8+KxcPgu45I41SWOJRGYwiW4Q5y0pudTMVOdsIfyzTrRSWao7aDZzYhwScVZTnWrNoVyyw4jczetoAO8Sw5+bcnFYryPibRqpDsSZGjysBOsTfwhc59IjEY1HSO9WDRT835QbOxFvv8AlC0jI0irmfpoqw4wqqsQUtk5d9TbnZfrRLDfq7vpf1PHHK8SQmUxpBktHq2w05Yb9h2FPNTR5ukGzsTC/EetEMSaR0skiDSy7mb8QV/7OygJtnH1rocqPds0putenbpagi9yxIEYBK4GkfMQfFMVFZlltVQ1Hs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75780" name="AutoShape 4" descr="data:image/jpg;base64,/9j/4AAQSkZJRgABAQAAAQABAAD/2wCEAAkGBhQRERQUEhMWFBUVFh8YDxQYEhQYGhUbHxkYFB8VEhQYGyYeGBokGSMVIDEsJCc1LTgsHiM9NTArNSwyLikBCQoKDQwNGQ4OGTUjHiQ1KjUwMjQ1MCw0NSw1LDQ1KSk0LCwsLC82LCwtNjQsNCk0LCw2LCw0LDUyLCwsNCwsKf/AABEIADAAkAMBIgACEQEDEQH/xAAbAAACAgMBAAAAAAAAAAAAAAAABgEHAwQFAv/EADMQAAIBAwIFAgQEBgMAAAAAAAECAwAEERIhBQYTMUEiUQcyYYEUcZHBI1Jik6GiFUNT/8QAGQEAAwEBAQAAAAAAAAAAAAAAAAEDAgQF/8QAIhEAAgIBBAMBAQEAAAAAAAAAAAECEQMEEiFhEzFBYnFR/9oADAMBAAIRAxEAPwC7Kg14uGwpIOMfp9/pSrzdzk1rDG0SAu7FTqziMrjUCAd2yffGN964xZMkccXKXobRRS9y/wAzm4tUlZQrsxTSM4JXuwzuFAyT7YNc74i8zy2cEJhbTJI/cqD6QpJ9J7blK3jxvJJRX0Fki4KfwcqKqTh3MnGriPqQjqJkgMIodyNiADv3rf5H+IlxNdLb3WlteQjBNLKwBOGA2I2I7ZzXTLRzim7Trsys0W6LMqaq3nvn25t7x4beRVRFXUDGreojUdyPYisY4vx7/wAn/sQ0LSScVJtK+weZXVFq0Uh8c5ju7ThcUkp03UjgHKJ6RlmxoxjZB/mtr4a8dubyOaS4cMFcJHhFXHp1N2791/SpPTyUHk+I0sicto5VNFFQKhRRRQAUUUUAFFFFAGG6+U/t3+3ufp5pIu7qJHPXRXgOOuCCQoABEy+copX6mJh5jNPciBgQfNV9zNEyOfm1AjGkAswJYhkXsSTrIHbV1U7SCqYyGbiJucOug7gqnTUemGMLjpoCCF0/zElHb+pok8GlT4uX2q5hi8Rw5O+d3bPfzsFpn5UtzIw7jbLb50rlhu3lieoM+WMrfy0tc1cnXl1fyuIG6bOFVtSYCAKmrGrtjJ7V26Xastt1RF28fH05Q5lv7GGOAHooya4v4aZKsS2oNg75pp+G/I7K6XkrqwK6oFVtWS2QXdvcAnb3zntv2PiLyo11bJ0E1SQsOmoIBKEBSoJ/JT9vrWlyRZ3ttaXMMsDAhWa09SbsykFBhtvVpb7mqSyqeFuFJv2NQanT5K94iz3l/IYhreWZjEu2+Ccd9vlApyWXj/bGM+dNvtv3/esXw95KuYL1ZbiFkVEbSSynLEBQPSTvgk1atLU6hRajFJ8Bjxt8vgqr4xXvrtoc50qzt9SSEB/QPTZ8M7Hp8Oh95NUh+52/1ApQ595Wvbq9kkjgZkCqsTak3AXvu2fmJqz+G2giijjHaNFQfYBanmklp4wT/puCfkcmbVFRRXnnQTRRUUATRUUUDJoqKmkIiuJzXwQ3EOUUNIgOhScCQHGqJmHyhsAg+GVT4ruUVpOnYmk1TOZwHhP4eEKcFzvKwGAWwBhR4RQAqj2UUrpweY3kjyWzyS9cvBcdfRHHEF9CKFOTk7MuN8nJp6orccri2/8AROC9CLZvxRlAbqKXaESMyQZjOpmmaNRsYgulRnJyfzr3avxLNqHEhyc3G0S7GU/PIMjKxYyukZzsc9neprfm/KFs7K8u04lPDJG8cih0dWz0hkvOFGkqc6Y4MnPmsq2t9E0xQXGlrnT6eizLAqMI/wAOG2AJ0g+w8ZJNPtTR536pC2diRp4oY5GLYkjgjEcYWLTLKQTI2f6QRtsCwHjY45ZeJCJdPVZjIxA0Rq2jChVeQj0+rWwJTtscY3e6KPN+UPZ2J/PfD5pvwyRxvIiuXn0hG7LpUFGdAwJJ8+KxcPgu45I41SWOJRGYwiW4Q5y0pudTMVOdsIfyzTrRSWao7aDZzYhwScVZTnWrNoVyyw4jczetoAO8Sw5+bcnFYryPibRqpDsSZGjysBOsTfwhc59IjEY1HSO9WDRT835QbOxFvv8AlC0jI0irmfpoqw4wqqsQUtk5d9TbnZfrRLDfq7vpf1PHHK8SQmUxpBktHq2w05Yb9h2FPNTR5ukGzsTC/EetEMSaR0skiDSy7mb8QV/7OygJtnH1rocqPds0putenbpagi9yxIEYBK4GkfMQfFMVFZlltVQ1Hs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8945"/>
            <a:ext cx="6997724" cy="7068407"/>
          </a:xfrm>
          <a:prstGeom prst="rect">
            <a:avLst/>
          </a:prstGeom>
        </p:spPr>
      </p:pic>
      <p:pic>
        <p:nvPicPr>
          <p:cNvPr id="8" name="Imagen 7"/>
          <p:cNvPicPr/>
          <p:nvPr/>
        </p:nvPicPr>
        <p:blipFill>
          <a:blip r:embed="rId3"/>
          <a:stretch>
            <a:fillRect/>
          </a:stretch>
        </p:blipFill>
        <p:spPr>
          <a:xfrm>
            <a:off x="1145465" y="5553437"/>
            <a:ext cx="6331585" cy="827405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A5C4D83-3D6B-DF84-4997-DF3E1E2C1A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1938244"/>
            <a:ext cx="3498011" cy="114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73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 redondeado"/>
          <p:cNvSpPr/>
          <p:nvPr/>
        </p:nvSpPr>
        <p:spPr>
          <a:xfrm>
            <a:off x="-571536" y="188639"/>
            <a:ext cx="8743936" cy="1224137"/>
          </a:xfrm>
          <a:prstGeom prst="roundRect">
            <a:avLst/>
          </a:prstGeom>
          <a:solidFill>
            <a:srgbClr val="66CCFF"/>
          </a:solidFill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0" y="286867"/>
            <a:ext cx="7956376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3600" b="1" dirty="0">
                <a:solidFill>
                  <a:schemeClr val="tx1"/>
                </a:solidFill>
              </a:rPr>
              <a:t>GOBERNANZA CORPORATIVA</a:t>
            </a:r>
            <a:endParaRPr lang="es-MX" sz="3600" b="1" dirty="0">
              <a:effectLst>
                <a:outerShdw blurRad="38100" dist="38100" dir="2700000" algn="tl">
                  <a:srgbClr val="C0C0C0"/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75778" name="AutoShape 2" descr="data:image/jpg;base64,/9j/4AAQSkZJRgABAQAAAQABAAD/2wCEAAkGBhQRERQUEhMWFBUVFh8YDxQYEhQYGhUbHxkYFB8VEhQYGyYeGBokGSMVIDEsJCc1LTgsHiM9NTArNSwyLikBCQoKDQwNGQ4OGTUjHiQ1KjUwMjQ1MCw0NSw1LDQ1KSk0LCwsLC82LCwtNjQsNCk0LCw2LCw0LDUyLCwsNCwsKf/AABEIADAAkAMBIgACEQEDEQH/xAAbAAACAgMBAAAAAAAAAAAAAAAABgEHAwQFAv/EADMQAAIBAwIFAgQEBgMAAAAAAAECAwAEERIhBQYTMUEiUQcyYYEUcZHBI1Jik6GiFUNT/8QAGQEAAwEBAQAAAAAAAAAAAAAAAAEDAgQF/8QAIhEAAgIBBAMBAQEAAAAAAAAAAAECEQMEEiFhEzFBYnFR/9oADAMBAAIRAxEAPwC7Kg14uGwpIOMfp9/pSrzdzk1rDG0SAu7FTqziMrjUCAd2yffGN964xZMkccXKXobRRS9y/wAzm4tUlZQrsxTSM4JXuwzuFAyT7YNc74i8zy2cEJhbTJI/cqD6QpJ9J7blK3jxvJJRX0Fki4KfwcqKqTh3MnGriPqQjqJkgMIodyNiADv3rf5H+IlxNdLb3WlteQjBNLKwBOGA2I2I7ZzXTLRzim7Trsys0W6LMqaq3nvn25t7x4beRVRFXUDGreojUdyPYisY4vx7/wAn/sQ0LSScVJtK+weZXVFq0Uh8c5ju7ThcUkp03UjgHKJ6RlmxoxjZB/mtr4a8dubyOaS4cMFcJHhFXHp1N2791/SpPTyUHk+I0sicto5VNFFQKhRRRQAUUUUAFFFFAGG6+U/t3+3ufp5pIu7qJHPXRXgOOuCCQoABEy+copX6mJh5jNPciBgQfNV9zNEyOfm1AjGkAswJYhkXsSTrIHbV1U7SCqYyGbiJucOug7gqnTUemGMLjpoCCF0/zElHb+pok8GlT4uX2q5hi8Rw5O+d3bPfzsFpn5UtzIw7jbLb50rlhu3lieoM+WMrfy0tc1cnXl1fyuIG6bOFVtSYCAKmrGrtjJ7V26Xastt1RF28fH05Q5lv7GGOAHooya4v4aZKsS2oNg75pp+G/I7K6XkrqwK6oFVtWS2QXdvcAnb3zntv2PiLyo11bJ0E1SQsOmoIBKEBSoJ/JT9vrWlyRZ3ttaXMMsDAhWa09SbsykFBhtvVpb7mqSyqeFuFJv2NQanT5K94iz3l/IYhreWZjEu2+Ccd9vlApyWXj/bGM+dNvtv3/esXw95KuYL1ZbiFkVEbSSynLEBQPSTvgk1atLU6hRajFJ8Bjxt8vgqr4xXvrtoc50qzt9SSEB/QPTZ8M7Hp8Oh95NUh+52/1ApQ595Wvbq9kkjgZkCqsTak3AXvu2fmJqz+G2giijjHaNFQfYBanmklp4wT/puCfkcmbVFRRXnnQTRRUUATRUUUDJoqKmkIiuJzXwQ3EOUUNIgOhScCQHGqJmHyhsAg+GVT4ruUVpOnYmk1TOZwHhP4eEKcFzvKwGAWwBhR4RQAqj2UUrpweY3kjyWzyS9cvBcdfRHHEF9CKFOTk7MuN8nJp6orccri2/8AROC9CLZvxRlAbqKXaESMyQZjOpmmaNRsYgulRnJyfzr3avxLNqHEhyc3G0S7GU/PIMjKxYyukZzsc9neprfm/KFs7K8u04lPDJG8cih0dWz0hkvOFGkqc6Y4MnPmsq2t9E0xQXGlrnT6eizLAqMI/wAOG2AJ0g+w8ZJNPtTR536pC2diRp4oY5GLYkjgjEcYWLTLKQTI2f6QRtsCwHjY45ZeJCJdPVZjIxA0Rq2jChVeQj0+rWwJTtscY3e6KPN+UPZ2J/PfD5pvwyRxvIiuXn0hG7LpUFGdAwJJ8+KxcPgu45I41SWOJRGYwiW4Q5y0pudTMVOdsIfyzTrRSWao7aDZzYhwScVZTnWrNoVyyw4jczetoAO8Sw5+bcnFYryPibRqpDsSZGjysBOsTfwhc59IjEY1HSO9WDRT835QbOxFvv8AlC0jI0irmfpoqw4wqqsQUtk5d9TbnZfrRLDfq7vpf1PHHK8SQmUxpBktHq2w05Yb9h2FPNTR5ukGzsTC/EetEMSaR0skiDSy7mb8QV/7OygJtnH1rocqPds0putenbpagi9yxIEYBK4GkfMQfFMVFZlltVQ1Hs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75780" name="AutoShape 4" descr="data:image/jpg;base64,/9j/4AAQSkZJRgABAQAAAQABAAD/2wCEAAkGBhQRERQUEhMWFBUVFh8YDxQYEhQYGhUbHxkYFB8VEhQYGyYeGBokGSMVIDEsJCc1LTgsHiM9NTArNSwyLikBCQoKDQwNGQ4OGTUjHiQ1KjUwMjQ1MCw0NSw1LDQ1KSk0LCwsLC82LCwtNjQsNCk0LCw2LCw0LDUyLCwsNCwsKf/AABEIADAAkAMBIgACEQEDEQH/xAAbAAACAgMBAAAAAAAAAAAAAAAABgEHAwQFAv/EADMQAAIBAwIFAgQEBgMAAAAAAAECAwAEERIhBQYTMUEiUQcyYYEUcZHBI1Jik6GiFUNT/8QAGQEAAwEBAQAAAAAAAAAAAAAAAAEDAgQF/8QAIhEAAgIBBAMBAQEAAAAAAAAAAAECEQMEEiFhEzFBYnFR/9oADAMBAAIRAxEAPwC7Kg14uGwpIOMfp9/pSrzdzk1rDG0SAu7FTqziMrjUCAd2yffGN964xZMkccXKXobRRS9y/wAzm4tUlZQrsxTSM4JXuwzuFAyT7YNc74i8zy2cEJhbTJI/cqD6QpJ9J7blK3jxvJJRX0Fki4KfwcqKqTh3MnGriPqQjqJkgMIodyNiADv3rf5H+IlxNdLb3WlteQjBNLKwBOGA2I2I7ZzXTLRzim7Trsys0W6LMqaq3nvn25t7x4beRVRFXUDGreojUdyPYisY4vx7/wAn/sQ0LSScVJtK+weZXVFq0Uh8c5ju7ThcUkp03UjgHKJ6RlmxoxjZB/mtr4a8dubyOaS4cMFcJHhFXHp1N2791/SpPTyUHk+I0sicto5VNFFQKhRRRQAUUUUAFFFFAGG6+U/t3+3ufp5pIu7qJHPXRXgOOuCCQoABEy+copX6mJh5jNPciBgQfNV9zNEyOfm1AjGkAswJYhkXsSTrIHbV1U7SCqYyGbiJucOug7gqnTUemGMLjpoCCF0/zElHb+pok8GlT4uX2q5hi8Rw5O+d3bPfzsFpn5UtzIw7jbLb50rlhu3lieoM+WMrfy0tc1cnXl1fyuIG6bOFVtSYCAKmrGrtjJ7V26Xastt1RF28fH05Q5lv7GGOAHooya4v4aZKsS2oNg75pp+G/I7K6XkrqwK6oFVtWS2QXdvcAnb3zntv2PiLyo11bJ0E1SQsOmoIBKEBSoJ/JT9vrWlyRZ3ttaXMMsDAhWa09SbsykFBhtvVpb7mqSyqeFuFJv2NQanT5K94iz3l/IYhreWZjEu2+Ccd9vlApyWXj/bGM+dNvtv3/esXw95KuYL1ZbiFkVEbSSynLEBQPSTvgk1atLU6hRajFJ8Bjxt8vgqr4xXvrtoc50qzt9SSEB/QPTZ8M7Hp8Oh95NUh+52/1ApQ595Wvbq9kkjgZkCqsTak3AXvu2fmJqz+G2giijjHaNFQfYBanmklp4wT/puCfkcmbVFRRXnnQTRRUUATRUUUDJoqKmkIiuJzXwQ3EOUUNIgOhScCQHGqJmHyhsAg+GVT4ruUVpOnYmk1TOZwHhP4eEKcFzvKwGAWwBhR4RQAqj2UUrpweY3kjyWzyS9cvBcdfRHHEF9CKFOTk7MuN8nJp6orccri2/8AROC9CLZvxRlAbqKXaESMyQZjOpmmaNRsYgulRnJyfzr3avxLNqHEhyc3G0S7GU/PIMjKxYyukZzsc9neprfm/KFs7K8u04lPDJG8cih0dWz0hkvOFGkqc6Y4MnPmsq2t9E0xQXGlrnT6eizLAqMI/wAOG2AJ0g+w8ZJNPtTR536pC2diRp4oY5GLYkjgjEcYWLTLKQTI2f6QRtsCwHjY45ZeJCJdPVZjIxA0Rq2jChVeQj0+rWwJTtscY3e6KPN+UPZ2J/PfD5pvwyRxvIiuXn0hG7LpUFGdAwJJ8+KxcPgu45I41SWOJRGYwiW4Q5y0pudTMVOdsIfyzTrRSWao7aDZzYhwScVZTnWrNoVyyw4jczetoAO8Sw5+bcnFYryPibRqpDsSZGjysBOsTfwhc59IjEY1HSO9WDRT835QbOxFvv8AlC0jI0irmfpoqw4wqqsQUtk5d9TbnZfrRLDfq7vpf1PHHK8SQmUxpBktHq2w05Yb9h2FPNTR5ukGzsTC/EetEMSaR0skiDSy7mb8QV/7OygJtnH1rocqPds0putenbpagi9yxIEYBK4GkfMQfFMVFZlltVQ1Hs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8654" y="1196752"/>
            <a:ext cx="6997724" cy="7068407"/>
          </a:xfrm>
          <a:prstGeom prst="rect">
            <a:avLst/>
          </a:prstGeom>
        </p:spPr>
      </p:pic>
      <p:sp>
        <p:nvSpPr>
          <p:cNvPr id="4" name="21 Rectángulo">
            <a:extLst>
              <a:ext uri="{FF2B5EF4-FFF2-40B4-BE49-F238E27FC236}">
                <a16:creationId xmlns:a16="http://schemas.microsoft.com/office/drawing/2014/main" id="{15FC95EA-0FBE-E128-F7A7-35B426894E7F}"/>
              </a:ext>
            </a:extLst>
          </p:cNvPr>
          <p:cNvSpPr/>
          <p:nvPr/>
        </p:nvSpPr>
        <p:spPr bwMode="auto">
          <a:xfrm>
            <a:off x="3563888" y="1511004"/>
            <a:ext cx="5241764" cy="163121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s-AR" sz="2000" b="1" dirty="0">
                <a:solidFill>
                  <a:schemeClr val="bg2"/>
                </a:solidFill>
              </a:rPr>
              <a:t>Arte o manera de gobernar cuyo objetivo es el logro de un desarrollo económico, social e institucional duradero, promoviendo un sano equilibrio entre el Estado, la sociedad civil y el mercado de la economía.</a:t>
            </a:r>
            <a:endParaRPr lang="es-AR" sz="20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21 Rectángulo">
            <a:extLst>
              <a:ext uri="{FF2B5EF4-FFF2-40B4-BE49-F238E27FC236}">
                <a16:creationId xmlns:a16="http://schemas.microsoft.com/office/drawing/2014/main" id="{B2E196F3-77EE-162F-660F-256142FD8A95}"/>
              </a:ext>
            </a:extLst>
          </p:cNvPr>
          <p:cNvSpPr/>
          <p:nvPr/>
        </p:nvSpPr>
        <p:spPr bwMode="auto">
          <a:xfrm>
            <a:off x="755576" y="4608135"/>
            <a:ext cx="5616624" cy="193899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s-MX" sz="2000" b="1" dirty="0">
                <a:solidFill>
                  <a:schemeClr val="bg2"/>
                </a:solidFill>
              </a:rPr>
              <a:t>Según la Real Academia Española, es el arte o manera de gobernar; es mandar, dirigir, guiar, manejar a alguien o influenciarlo; también alude a regirse según normas, reglas, ideas. </a:t>
            </a:r>
          </a:p>
          <a:p>
            <a:pPr algn="just">
              <a:spcAft>
                <a:spcPts val="0"/>
              </a:spcAft>
            </a:pPr>
            <a:r>
              <a:rPr lang="es-MX" sz="2000" b="1" dirty="0">
                <a:solidFill>
                  <a:schemeClr val="bg2"/>
                </a:solidFill>
              </a:rPr>
              <a:t>La gobernabilidad remite a la gestión concreta de nuestras instituciones.</a:t>
            </a:r>
          </a:p>
        </p:txBody>
      </p:sp>
    </p:spTree>
    <p:extLst>
      <p:ext uri="{BB962C8B-B14F-4D97-AF65-F5344CB8AC3E}">
        <p14:creationId xmlns:p14="http://schemas.microsoft.com/office/powerpoint/2010/main" val="335541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4404D2C-B14D-EFD5-5BC4-C78494D23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29" y="648808"/>
            <a:ext cx="6997724" cy="7068407"/>
          </a:xfrm>
          <a:prstGeom prst="rect">
            <a:avLst/>
          </a:prstGeom>
        </p:spPr>
      </p:pic>
      <p:sp>
        <p:nvSpPr>
          <p:cNvPr id="6" name="5 Rectángulo redondeado"/>
          <p:cNvSpPr/>
          <p:nvPr/>
        </p:nvSpPr>
        <p:spPr>
          <a:xfrm>
            <a:off x="-571536" y="36740"/>
            <a:ext cx="8743936" cy="1224137"/>
          </a:xfrm>
          <a:prstGeom prst="roundRect">
            <a:avLst/>
          </a:prstGeom>
          <a:solidFill>
            <a:srgbClr val="66CCFF"/>
          </a:solidFill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-23529" y="404987"/>
            <a:ext cx="7956376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3600" b="1" dirty="0">
                <a:solidFill>
                  <a:schemeClr val="tx1"/>
                </a:solidFill>
              </a:rPr>
              <a:t>GOBERNANZA CORPORATIVA</a:t>
            </a:r>
            <a:endParaRPr lang="es-MX" sz="3600" b="1" dirty="0">
              <a:effectLst>
                <a:outerShdw blurRad="38100" dist="38100" dir="2700000" algn="tl">
                  <a:srgbClr val="C0C0C0"/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75778" name="AutoShape 2" descr="data:image/jpg;base64,/9j/4AAQSkZJRgABAQAAAQABAAD/2wCEAAkGBhQRERQUEhMWFBUVFh8YDxQYEhQYGhUbHxkYFB8VEhQYGyYeGBokGSMVIDEsJCc1LTgsHiM9NTArNSwyLikBCQoKDQwNGQ4OGTUjHiQ1KjUwMjQ1MCw0NSw1LDQ1KSk0LCwsLC82LCwtNjQsNCk0LCw2LCw0LDUyLCwsNCwsKf/AABEIADAAkAMBIgACEQEDEQH/xAAbAAACAgMBAAAAAAAAAAAAAAAABgEHAwQFAv/EADMQAAIBAwIFAgQEBgMAAAAAAAECAwAEERIhBQYTMUEiUQcyYYEUcZHBI1Jik6GiFUNT/8QAGQEAAwEBAQAAAAAAAAAAAAAAAAEDAgQF/8QAIhEAAgIBBAMBAQEAAAAAAAAAAAECEQMEEiFhEzFBYnFR/9oADAMBAAIRAxEAPwC7Kg14uGwpIOMfp9/pSrzdzk1rDG0SAu7FTqziMrjUCAd2yffGN964xZMkccXKXobRRS9y/wAzm4tUlZQrsxTSM4JXuwzuFAyT7YNc74i8zy2cEJhbTJI/cqD6QpJ9J7blK3jxvJJRX0Fki4KfwcqKqTh3MnGriPqQjqJkgMIodyNiADv3rf5H+IlxNdLb3WlteQjBNLKwBOGA2I2I7ZzXTLRzim7Trsys0W6LMqaq3nvn25t7x4beRVRFXUDGreojUdyPYisY4vx7/wAn/sQ0LSScVJtK+weZXVFq0Uh8c5ju7ThcUkp03UjgHKJ6RlmxoxjZB/mtr4a8dubyOaS4cMFcJHhFXHp1N2791/SpPTyUHk+I0sicto5VNFFQKhRRRQAUUUUAFFFFAGG6+U/t3+3ufp5pIu7qJHPXRXgOOuCCQoABEy+copX6mJh5jNPciBgQfNV9zNEyOfm1AjGkAswJYhkXsSTrIHbV1U7SCqYyGbiJucOug7gqnTUemGMLjpoCCF0/zElHb+pok8GlT4uX2q5hi8Rw5O+d3bPfzsFpn5UtzIw7jbLb50rlhu3lieoM+WMrfy0tc1cnXl1fyuIG6bOFVtSYCAKmrGrtjJ7V26Xastt1RF28fH05Q5lv7GGOAHooya4v4aZKsS2oNg75pp+G/I7K6XkrqwK6oFVtWS2QXdvcAnb3zntv2PiLyo11bJ0E1SQsOmoIBKEBSoJ/JT9vrWlyRZ3ttaXMMsDAhWa09SbsykFBhtvVpb7mqSyqeFuFJv2NQanT5K94iz3l/IYhreWZjEu2+Ccd9vlApyWXj/bGM+dNvtv3/esXw95KuYL1ZbiFkVEbSSynLEBQPSTvgk1atLU6hRajFJ8Bjxt8vgqr4xXvrtoc50qzt9SSEB/QPTZ8M7Hp8Oh95NUh+52/1ApQ595Wvbq9kkjgZkCqsTak3AXvu2fmJqz+G2giijjHaNFQfYBanmklp4wT/puCfkcmbVFRRXnnQTRRUUATRUUUDJoqKmkIiuJzXwQ3EOUUNIgOhScCQHGqJmHyhsAg+GVT4ruUVpOnYmk1TOZwHhP4eEKcFzvKwGAWwBhR4RQAqj2UUrpweY3kjyWzyS9cvBcdfRHHEF9CKFOTk7MuN8nJp6orccri2/8AROC9CLZvxRlAbqKXaESMyQZjOpmmaNRsYgulRnJyfzr3avxLNqHEhyc3G0S7GU/PIMjKxYyukZzsc9neprfm/KFs7K8u04lPDJG8cih0dWz0hkvOFGkqc6Y4MnPmsq2t9E0xQXGlrnT6eizLAqMI/wAOG2AJ0g+w8ZJNPtTR536pC2diRp4oY5GLYkjgjEcYWLTLKQTI2f6QRtsCwHjY45ZeJCJdPVZjIxA0Rq2jChVeQj0+rWwJTtscY3e6KPN+UPZ2J/PfD5pvwyRxvIiuXn0hG7LpUFGdAwJJ8+KxcPgu45I41SWOJRGYwiW4Q5y0pudTMVOdsIfyzTrRSWao7aDZzYhwScVZTnWrNoVyyw4jczetoAO8Sw5+bcnFYryPibRqpDsSZGjysBOsTfwhc59IjEY1HSO9WDRT835QbOxFvv8AlC0jI0irmfpoqw4wqqsQUtk5d9TbnZfrRLDfq7vpf1PHHK8SQmUxpBktHq2w05Yb9h2FPNTR5ukGzsTC/EetEMSaR0skiDSy7mb8QV/7OygJtnH1rocqPds0putenbpagi9yxIEYBK4GkfMQfFMVFZlltVQ1Hs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75780" name="AutoShape 4" descr="data:image/jpg;base64,/9j/4AAQSkZJRgABAQAAAQABAAD/2wCEAAkGBhQRERQUEhMWFBUVFh8YDxQYEhQYGhUbHxkYFB8VEhQYGyYeGBokGSMVIDEsJCc1LTgsHiM9NTArNSwyLikBCQoKDQwNGQ4OGTUjHiQ1KjUwMjQ1MCw0NSw1LDQ1KSk0LCwsLC82LCwtNjQsNCk0LCw2LCw0LDUyLCwsNCwsKf/AABEIADAAkAMBIgACEQEDEQH/xAAbAAACAgMBAAAAAAAAAAAAAAAABgEHAwQFAv/EADMQAAIBAwIFAgQEBgMAAAAAAAECAwAEERIhBQYTMUEiUQcyYYEUcZHBI1Jik6GiFUNT/8QAGQEAAwEBAQAAAAAAAAAAAAAAAAEDAgQF/8QAIhEAAgIBBAMBAQEAAAAAAAAAAAECEQMEEiFhEzFBYnFR/9oADAMBAAIRAxEAPwC7Kg14uGwpIOMfp9/pSrzdzk1rDG0SAu7FTqziMrjUCAd2yffGN964xZMkccXKXobRRS9y/wAzm4tUlZQrsxTSM4JXuwzuFAyT7YNc74i8zy2cEJhbTJI/cqD6QpJ9J7blK3jxvJJRX0Fki4KfwcqKqTh3MnGriPqQjqJkgMIodyNiADv3rf5H+IlxNdLb3WlteQjBNLKwBOGA2I2I7ZzXTLRzim7Trsys0W6LMqaq3nvn25t7x4beRVRFXUDGreojUdyPYisY4vx7/wAn/sQ0LSScVJtK+weZXVFq0Uh8c5ju7ThcUkp03UjgHKJ6RlmxoxjZB/mtr4a8dubyOaS4cMFcJHhFXHp1N2791/SpPTyUHk+I0sicto5VNFFQKhRRRQAUUUUAFFFFAGG6+U/t3+3ufp5pIu7qJHPXRXgOOuCCQoABEy+copX6mJh5jNPciBgQfNV9zNEyOfm1AjGkAswJYhkXsSTrIHbV1U7SCqYyGbiJucOug7gqnTUemGMLjpoCCF0/zElHb+pok8GlT4uX2q5hi8Rw5O+d3bPfzsFpn5UtzIw7jbLb50rlhu3lieoM+WMrfy0tc1cnXl1fyuIG6bOFVtSYCAKmrGrtjJ7V26Xastt1RF28fH05Q5lv7GGOAHooya4v4aZKsS2oNg75pp+G/I7K6XkrqwK6oFVtWS2QXdvcAnb3zntv2PiLyo11bJ0E1SQsOmoIBKEBSoJ/JT9vrWlyRZ3ttaXMMsDAhWa09SbsykFBhtvVpb7mqSyqeFuFJv2NQanT5K94iz3l/IYhreWZjEu2+Ccd9vlApyWXj/bGM+dNvtv3/esXw95KuYL1ZbiFkVEbSSynLEBQPSTvgk1atLU6hRajFJ8Bjxt8vgqr4xXvrtoc50qzt9SSEB/QPTZ8M7Hp8Oh95NUh+52/1ApQ595Wvbq9kkjgZkCqsTak3AXvu2fmJqz+G2giijjHaNFQfYBanmklp4wT/puCfkcmbVFRRXnnQTRRUUATRUUUDJoqKmkIiuJzXwQ3EOUUNIgOhScCQHGqJmHyhsAg+GVT4ruUVpOnYmk1TOZwHhP4eEKcFzvKwGAWwBhR4RQAqj2UUrpweY3kjyWzyS9cvBcdfRHHEF9CKFOTk7MuN8nJp6orccri2/8AROC9CLZvxRlAbqKXaESMyQZjOpmmaNRsYgulRnJyfzr3avxLNqHEhyc3G0S7GU/PIMjKxYyukZzsc9neprfm/KFs7K8u04lPDJG8cih0dWz0hkvOFGkqc6Y4MnPmsq2t9E0xQXGlrnT6eizLAqMI/wAOG2AJ0g+w8ZJNPtTR536pC2diRp4oY5GLYkjgjEcYWLTLKQTI2f6QRtsCwHjY45ZeJCJdPVZjIxA0Rq2jChVeQj0+rWwJTtscY3e6KPN+UPZ2J/PfD5pvwyRxvIiuXn0hG7LpUFGdAwJJ8+KxcPgu45I41SWOJRGYwiW4Q5y0pudTMVOdsIfyzTrRSWao7aDZzYhwScVZTnWrNoVyyw4jczetoAO8Sw5+bcnFYryPibRqpDsSZGjysBOsTfwhc59IjEY1HSO9WDRT835QbOxFvv8AlC0jI0irmfpoqw4wqqsQUtk5d9TbnZfrRLDfq7vpf1PHHK8SQmUxpBktHq2w05Yb9h2FPNTR5ukGzsTC/EetEMSaR0skiDSy7mb8QV/7OygJtnH1rocqPds0putenbpagi9yxIEYBK4GkfMQfFMVFZlltVQ1Hs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4" name="21 Rectángulo">
            <a:extLst>
              <a:ext uri="{FF2B5EF4-FFF2-40B4-BE49-F238E27FC236}">
                <a16:creationId xmlns:a16="http://schemas.microsoft.com/office/drawing/2014/main" id="{15FC95EA-0FBE-E128-F7A7-35B426894E7F}"/>
              </a:ext>
            </a:extLst>
          </p:cNvPr>
          <p:cNvSpPr/>
          <p:nvPr/>
        </p:nvSpPr>
        <p:spPr bwMode="auto">
          <a:xfrm>
            <a:off x="3800432" y="3068960"/>
            <a:ext cx="5241764" cy="34778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s-MX" sz="2000" b="1" dirty="0">
                <a:solidFill>
                  <a:schemeClr val="bg2"/>
                </a:solidFill>
              </a:rPr>
              <a:t>En París en 1960 se crea la ORGANIZACIÓN PARA LA COOPERACIÓN Y EL DESARROLLO ECONÓMICOS (OCDE), que marca el rumbo en esta temática.</a:t>
            </a:r>
          </a:p>
          <a:p>
            <a:pPr algn="just">
              <a:spcAft>
                <a:spcPts val="0"/>
              </a:spcAft>
            </a:pPr>
            <a:endParaRPr lang="es-MX" sz="2000" b="1" dirty="0">
              <a:solidFill>
                <a:schemeClr val="bg2"/>
              </a:solidFill>
            </a:endParaRPr>
          </a:p>
          <a:p>
            <a:pPr algn="just">
              <a:spcAft>
                <a:spcPts val="0"/>
              </a:spcAft>
            </a:pPr>
            <a:r>
              <a:rPr lang="es-MX" sz="2000" b="1" dirty="0">
                <a:solidFill>
                  <a:schemeClr val="bg2"/>
                </a:solidFill>
              </a:rPr>
              <a:t>Lograr el mayor crecimiento sostenible posible de la economía y del empleo, y aumentar el nivel de vida en los países miembros, manteniendo la estabilidad financiera, contribuyendo al desarrollo de la economía mundial. </a:t>
            </a:r>
          </a:p>
        </p:txBody>
      </p:sp>
    </p:spTree>
    <p:extLst>
      <p:ext uri="{BB962C8B-B14F-4D97-AF65-F5344CB8AC3E}">
        <p14:creationId xmlns:p14="http://schemas.microsoft.com/office/powerpoint/2010/main" val="3960350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4404D2C-B14D-EFD5-5BC4-C78494D23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29" y="648808"/>
            <a:ext cx="6997724" cy="7068407"/>
          </a:xfrm>
          <a:prstGeom prst="rect">
            <a:avLst/>
          </a:prstGeom>
        </p:spPr>
      </p:pic>
      <p:sp>
        <p:nvSpPr>
          <p:cNvPr id="6" name="5 Rectángulo redondeado"/>
          <p:cNvSpPr/>
          <p:nvPr/>
        </p:nvSpPr>
        <p:spPr>
          <a:xfrm>
            <a:off x="-571536" y="36740"/>
            <a:ext cx="8743936" cy="1224137"/>
          </a:xfrm>
          <a:prstGeom prst="roundRect">
            <a:avLst/>
          </a:prstGeom>
          <a:solidFill>
            <a:srgbClr val="66CCFF"/>
          </a:solidFill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-23529" y="404987"/>
            <a:ext cx="7956376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3600" b="1" dirty="0">
                <a:solidFill>
                  <a:schemeClr val="tx1"/>
                </a:solidFill>
              </a:rPr>
              <a:t>GOBERNANZA CORPORATIVA</a:t>
            </a:r>
            <a:endParaRPr lang="es-MX" sz="3600" b="1" dirty="0">
              <a:effectLst>
                <a:outerShdw blurRad="38100" dist="38100" dir="2700000" algn="tl">
                  <a:srgbClr val="C0C0C0"/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75778" name="AutoShape 2" descr="data:image/jpg;base64,/9j/4AAQSkZJRgABAQAAAQABAAD/2wCEAAkGBhQRERQUEhMWFBUVFh8YDxQYEhQYGhUbHxkYFB8VEhQYGyYeGBokGSMVIDEsJCc1LTgsHiM9NTArNSwyLikBCQoKDQwNGQ4OGTUjHiQ1KjUwMjQ1MCw0NSw1LDQ1KSk0LCwsLC82LCwtNjQsNCk0LCw2LCw0LDUyLCwsNCwsKf/AABEIADAAkAMBIgACEQEDEQH/xAAbAAACAgMBAAAAAAAAAAAAAAAABgEHAwQFAv/EADMQAAIBAwIFAgQEBgMAAAAAAAECAwAEERIhBQYTMUEiUQcyYYEUcZHBI1Jik6GiFUNT/8QAGQEAAwEBAQAAAAAAAAAAAAAAAAEDAgQF/8QAIhEAAgIBBAMBAQEAAAAAAAAAAAECEQMEEiFhEzFBYnFR/9oADAMBAAIRAxEAPwC7Kg14uGwpIOMfp9/pSrzdzk1rDG0SAu7FTqziMrjUCAd2yffGN964xZMkccXKXobRRS9y/wAzm4tUlZQrsxTSM4JXuwzuFAyT7YNc74i8zy2cEJhbTJI/cqD6QpJ9J7blK3jxvJJRX0Fki4KfwcqKqTh3MnGriPqQjqJkgMIodyNiADv3rf5H+IlxNdLb3WlteQjBNLKwBOGA2I2I7ZzXTLRzim7Trsys0W6LMqaq3nvn25t7x4beRVRFXUDGreojUdyPYisY4vx7/wAn/sQ0LSScVJtK+weZXVFq0Uh8c5ju7ThcUkp03UjgHKJ6RlmxoxjZB/mtr4a8dubyOaS4cMFcJHhFXHp1N2791/SpPTyUHk+I0sicto5VNFFQKhRRRQAUUUUAFFFFAGG6+U/t3+3ufp5pIu7qJHPXRXgOOuCCQoABEy+copX6mJh5jNPciBgQfNV9zNEyOfm1AjGkAswJYhkXsSTrIHbV1U7SCqYyGbiJucOug7gqnTUemGMLjpoCCF0/zElHb+pok8GlT4uX2q5hi8Rw5O+d3bPfzsFpn5UtzIw7jbLb50rlhu3lieoM+WMrfy0tc1cnXl1fyuIG6bOFVtSYCAKmrGrtjJ7V26Xastt1RF28fH05Q5lv7GGOAHooya4v4aZKsS2oNg75pp+G/I7K6XkrqwK6oFVtWS2QXdvcAnb3zntv2PiLyo11bJ0E1SQsOmoIBKEBSoJ/JT9vrWlyRZ3ttaXMMsDAhWa09SbsykFBhtvVpb7mqSyqeFuFJv2NQanT5K94iz3l/IYhreWZjEu2+Ccd9vlApyWXj/bGM+dNvtv3/esXw95KuYL1ZbiFkVEbSSynLEBQPSTvgk1atLU6hRajFJ8Bjxt8vgqr4xXvrtoc50qzt9SSEB/QPTZ8M7Hp8Oh95NUh+52/1ApQ595Wvbq9kkjgZkCqsTak3AXvu2fmJqz+G2giijjHaNFQfYBanmklp4wT/puCfkcmbVFRRXnnQTRRUUATRUUUDJoqKmkIiuJzXwQ3EOUUNIgOhScCQHGqJmHyhsAg+GVT4ruUVpOnYmk1TOZwHhP4eEKcFzvKwGAWwBhR4RQAqj2UUrpweY3kjyWzyS9cvBcdfRHHEF9CKFOTk7MuN8nJp6orccri2/8AROC9CLZvxRlAbqKXaESMyQZjOpmmaNRsYgulRnJyfzr3avxLNqHEhyc3G0S7GU/PIMjKxYyukZzsc9neprfm/KFs7K8u04lPDJG8cih0dWz0hkvOFGkqc6Y4MnPmsq2t9E0xQXGlrnT6eizLAqMI/wAOG2AJ0g+w8ZJNPtTR536pC2diRp4oY5GLYkjgjEcYWLTLKQTI2f6QRtsCwHjY45ZeJCJdPVZjIxA0Rq2jChVeQj0+rWwJTtscY3e6KPN+UPZ2J/PfD5pvwyRxvIiuXn0hG7LpUFGdAwJJ8+KxcPgu45I41SWOJRGYwiW4Q5y0pudTMVOdsIfyzTrRSWao7aDZzYhwScVZTnWrNoVyyw4jczetoAO8Sw5+bcnFYryPibRqpDsSZGjysBOsTfwhc59IjEY1HSO9WDRT835QbOxFvv8AlC0jI0irmfpoqw4wqqsQUtk5d9TbnZfrRLDfq7vpf1PHHK8SQmUxpBktHq2w05Yb9h2FPNTR5ukGzsTC/EetEMSaR0skiDSy7mb8QV/7OygJtnH1rocqPds0putenbpagi9yxIEYBK4GkfMQfFMVFZlltVQ1Hs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75780" name="AutoShape 4" descr="data:image/jpg;base64,/9j/4AAQSkZJRgABAQAAAQABAAD/2wCEAAkGBhQRERQUEhMWFBUVFh8YDxQYEhQYGhUbHxkYFB8VEhQYGyYeGBokGSMVIDEsJCc1LTgsHiM9NTArNSwyLikBCQoKDQwNGQ4OGTUjHiQ1KjUwMjQ1MCw0NSw1LDQ1KSk0LCwsLC82LCwtNjQsNCk0LCw2LCw0LDUyLCwsNCwsKf/AABEIADAAkAMBIgACEQEDEQH/xAAbAAACAgMBAAAAAAAAAAAAAAAABgEHAwQFAv/EADMQAAIBAwIFAgQEBgMAAAAAAAECAwAEERIhBQYTMUEiUQcyYYEUcZHBI1Jik6GiFUNT/8QAGQEAAwEBAQAAAAAAAAAAAAAAAAEDAgQF/8QAIhEAAgIBBAMBAQEAAAAAAAAAAAECEQMEEiFhEzFBYnFR/9oADAMBAAIRAxEAPwC7Kg14uGwpIOMfp9/pSrzdzk1rDG0SAu7FTqziMrjUCAd2yffGN964xZMkccXKXobRRS9y/wAzm4tUlZQrsxTSM4JXuwzuFAyT7YNc74i8zy2cEJhbTJI/cqD6QpJ9J7blK3jxvJJRX0Fki4KfwcqKqTh3MnGriPqQjqJkgMIodyNiADv3rf5H+IlxNdLb3WlteQjBNLKwBOGA2I2I7ZzXTLRzim7Trsys0W6LMqaq3nvn25t7x4beRVRFXUDGreojUdyPYisY4vx7/wAn/sQ0LSScVJtK+weZXVFq0Uh8c5ju7ThcUkp03UjgHKJ6RlmxoxjZB/mtr4a8dubyOaS4cMFcJHhFXHp1N2791/SpPTyUHk+I0sicto5VNFFQKhRRRQAUUUUAFFFFAGG6+U/t3+3ufp5pIu7qJHPXRXgOOuCCQoABEy+copX6mJh5jNPciBgQfNV9zNEyOfm1AjGkAswJYhkXsSTrIHbV1U7SCqYyGbiJucOug7gqnTUemGMLjpoCCF0/zElHb+pok8GlT4uX2q5hi8Rw5O+d3bPfzsFpn5UtzIw7jbLb50rlhu3lieoM+WMrfy0tc1cnXl1fyuIG6bOFVtSYCAKmrGrtjJ7V26Xastt1RF28fH05Q5lv7GGOAHooya4v4aZKsS2oNg75pp+G/I7K6XkrqwK6oFVtWS2QXdvcAnb3zntv2PiLyo11bJ0E1SQsOmoIBKEBSoJ/JT9vrWlyRZ3ttaXMMsDAhWa09SbsykFBhtvVpb7mqSyqeFuFJv2NQanT5K94iz3l/IYhreWZjEu2+Ccd9vlApyWXj/bGM+dNvtv3/esXw95KuYL1ZbiFkVEbSSynLEBQPSTvgk1atLU6hRajFJ8Bjxt8vgqr4xXvrtoc50qzt9SSEB/QPTZ8M7Hp8Oh95NUh+52/1ApQ595Wvbq9kkjgZkCqsTak3AXvu2fmJqz+G2giijjHaNFQfYBanmklp4wT/puCfkcmbVFRRXnnQTRRUUATRUUUDJoqKmkIiuJzXwQ3EOUUNIgOhScCQHGqJmHyhsAg+GVT4ruUVpOnYmk1TOZwHhP4eEKcFzvKwGAWwBhR4RQAqj2UUrpweY3kjyWzyS9cvBcdfRHHEF9CKFOTk7MuN8nJp6orccri2/8AROC9CLZvxRlAbqKXaESMyQZjOpmmaNRsYgulRnJyfzr3avxLNqHEhyc3G0S7GU/PIMjKxYyukZzsc9neprfm/KFs7K8u04lPDJG8cih0dWz0hkvOFGkqc6Y4MnPmsq2t9E0xQXGlrnT6eizLAqMI/wAOG2AJ0g+w8ZJNPtTR536pC2diRp4oY5GLYkjgjEcYWLTLKQTI2f6QRtsCwHjY45ZeJCJdPVZjIxA0Rq2jChVeQj0+rWwJTtscY3e6KPN+UPZ2J/PfD5pvwyRxvIiuXn0hG7LpUFGdAwJJ8+KxcPgu45I41SWOJRGYwiW4Q5y0pudTMVOdsIfyzTrRSWao7aDZzYhwScVZTnWrNoVyyw4jczetoAO8Sw5+bcnFYryPibRqpDsSZGjysBOsTfwhc59IjEY1HSO9WDRT835QbOxFvv8AlC0jI0irmfpoqw4wqqsQUtk5d9TbnZfrRLDfq7vpf1PHHK8SQmUxpBktHq2w05Yb9h2FPNTR5ukGzsTC/EetEMSaR0skiDSy7mb8QV/7OygJtnH1rocqPds0putenbpagi9yxIEYBK4GkfMQfFMVFZlltVQ1Hs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4" name="21 Rectángulo">
            <a:extLst>
              <a:ext uri="{FF2B5EF4-FFF2-40B4-BE49-F238E27FC236}">
                <a16:creationId xmlns:a16="http://schemas.microsoft.com/office/drawing/2014/main" id="{15FC95EA-0FBE-E128-F7A7-35B426894E7F}"/>
              </a:ext>
            </a:extLst>
          </p:cNvPr>
          <p:cNvSpPr/>
          <p:nvPr/>
        </p:nvSpPr>
        <p:spPr bwMode="auto">
          <a:xfrm>
            <a:off x="3800432" y="3068960"/>
            <a:ext cx="5241764" cy="224676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s-MX" sz="2000" b="1" dirty="0">
                <a:solidFill>
                  <a:schemeClr val="bg2"/>
                </a:solidFill>
              </a:rPr>
              <a:t>La OCDE es una organización vinculada a Naciones Unidas, al Banco Mundial, al Fondo Monetario Internacional (FMI) y a la Organización Mundial del Comercio (OMC). También está asociada a Global </a:t>
            </a:r>
            <a:r>
              <a:rPr lang="es-MX" sz="2000" b="1" dirty="0" err="1">
                <a:solidFill>
                  <a:schemeClr val="bg2"/>
                </a:solidFill>
              </a:rPr>
              <a:t>Reporting</a:t>
            </a:r>
            <a:r>
              <a:rPr lang="es-MX" sz="2000" b="1" dirty="0">
                <a:solidFill>
                  <a:schemeClr val="bg2"/>
                </a:solidFill>
              </a:rPr>
              <a:t> Iniciative (GRI) y a International Standard </a:t>
            </a:r>
            <a:r>
              <a:rPr lang="es-MX" sz="2000" b="1" dirty="0" err="1">
                <a:solidFill>
                  <a:schemeClr val="bg2"/>
                </a:solidFill>
              </a:rPr>
              <a:t>Organization</a:t>
            </a:r>
            <a:r>
              <a:rPr lang="es-MX" sz="2000" b="1" dirty="0">
                <a:solidFill>
                  <a:schemeClr val="bg2"/>
                </a:solidFill>
              </a:rPr>
              <a:t> (ISO).</a:t>
            </a:r>
          </a:p>
        </p:txBody>
      </p:sp>
    </p:spTree>
    <p:extLst>
      <p:ext uri="{BB962C8B-B14F-4D97-AF65-F5344CB8AC3E}">
        <p14:creationId xmlns:p14="http://schemas.microsoft.com/office/powerpoint/2010/main" val="160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CAE0CFA7-9611-18FD-B618-D1A24BABA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68560" y="1313674"/>
            <a:ext cx="7704856" cy="5560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 redondeado"/>
          <p:cNvSpPr/>
          <p:nvPr/>
        </p:nvSpPr>
        <p:spPr>
          <a:xfrm>
            <a:off x="-571536" y="188639"/>
            <a:ext cx="8743936" cy="1224137"/>
          </a:xfrm>
          <a:prstGeom prst="roundRect">
            <a:avLst/>
          </a:prstGeom>
          <a:solidFill>
            <a:srgbClr val="66CCFF"/>
          </a:solidFill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0" y="441841"/>
            <a:ext cx="7956376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3600" b="1" dirty="0">
                <a:solidFill>
                  <a:schemeClr val="tx1"/>
                </a:solidFill>
              </a:rPr>
              <a:t>GOBERNANZA CORPORATIVA</a:t>
            </a:r>
            <a:endParaRPr lang="es-MX" sz="3600" b="1" dirty="0">
              <a:effectLst>
                <a:outerShdw blurRad="38100" dist="38100" dir="2700000" algn="tl">
                  <a:srgbClr val="C0C0C0"/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75778" name="AutoShape 2" descr="data:image/jpg;base64,/9j/4AAQSkZJRgABAQAAAQABAAD/2wCEAAkGBhQRERQUEhMWFBUVFh8YDxQYEhQYGhUbHxkYFB8VEhQYGyYeGBokGSMVIDEsJCc1LTgsHiM9NTArNSwyLikBCQoKDQwNGQ4OGTUjHiQ1KjUwMjQ1MCw0NSw1LDQ1KSk0LCwsLC82LCwtNjQsNCk0LCw2LCw0LDUyLCwsNCwsKf/AABEIADAAkAMBIgACEQEDEQH/xAAbAAACAgMBAAAAAAAAAAAAAAAABgEHAwQFAv/EADMQAAIBAwIFAgQEBgMAAAAAAAECAwAEERIhBQYTMUEiUQcyYYEUcZHBI1Jik6GiFUNT/8QAGQEAAwEBAQAAAAAAAAAAAAAAAAEDAgQF/8QAIhEAAgIBBAMBAQEAAAAAAAAAAAECEQMEEiFhEzFBYnFR/9oADAMBAAIRAxEAPwC7Kg14uGwpIOMfp9/pSrzdzk1rDG0SAu7FTqziMrjUCAd2yffGN964xZMkccXKXobRRS9y/wAzm4tUlZQrsxTSM4JXuwzuFAyT7YNc74i8zy2cEJhbTJI/cqD6QpJ9J7blK3jxvJJRX0Fki4KfwcqKqTh3MnGriPqQjqJkgMIodyNiADv3rf5H+IlxNdLb3WlteQjBNLKwBOGA2I2I7ZzXTLRzim7Trsys0W6LMqaq3nvn25t7x4beRVRFXUDGreojUdyPYisY4vx7/wAn/sQ0LSScVJtK+weZXVFq0Uh8c5ju7ThcUkp03UjgHKJ6RlmxoxjZB/mtr4a8dubyOaS4cMFcJHhFXHp1N2791/SpPTyUHk+I0sicto5VNFFQKhRRRQAUUUUAFFFFAGG6+U/t3+3ufp5pIu7qJHPXRXgOOuCCQoABEy+copX6mJh5jNPciBgQfNV9zNEyOfm1AjGkAswJYhkXsSTrIHbV1U7SCqYyGbiJucOug7gqnTUemGMLjpoCCF0/zElHb+pok8GlT4uX2q5hi8Rw5O+d3bPfzsFpn5UtzIw7jbLb50rlhu3lieoM+WMrfy0tc1cnXl1fyuIG6bOFVtSYCAKmrGrtjJ7V26Xastt1RF28fH05Q5lv7GGOAHooya4v4aZKsS2oNg75pp+G/I7K6XkrqwK6oFVtWS2QXdvcAnb3zntv2PiLyo11bJ0E1SQsOmoIBKEBSoJ/JT9vrWlyRZ3ttaXMMsDAhWa09SbsykFBhtvVpb7mqSyqeFuFJv2NQanT5K94iz3l/IYhreWZjEu2+Ccd9vlApyWXj/bGM+dNvtv3/esXw95KuYL1ZbiFkVEbSSynLEBQPSTvgk1atLU6hRajFJ8Bjxt8vgqr4xXvrtoc50qzt9SSEB/QPTZ8M7Hp8Oh95NUh+52/1ApQ595Wvbq9kkjgZkCqsTak3AXvu2fmJqz+G2giijjHaNFQfYBanmklp4wT/puCfkcmbVFRRXnnQTRRUUATRUUUDJoqKmkIiuJzXwQ3EOUUNIgOhScCQHGqJmHyhsAg+GVT4ruUVpOnYmk1TOZwHhP4eEKcFzvKwGAWwBhR4RQAqj2UUrpweY3kjyWzyS9cvBcdfRHHEF9CKFOTk7MuN8nJp6orccri2/8AROC9CLZvxRlAbqKXaESMyQZjOpmmaNRsYgulRnJyfzr3avxLNqHEhyc3G0S7GU/PIMjKxYyukZzsc9neprfm/KFs7K8u04lPDJG8cih0dWz0hkvOFGkqc6Y4MnPmsq2t9E0xQXGlrnT6eizLAqMI/wAOG2AJ0g+w8ZJNPtTR536pC2diRp4oY5GLYkjgjEcYWLTLKQTI2f6QRtsCwHjY45ZeJCJdPVZjIxA0Rq2jChVeQj0+rWwJTtscY3e6KPN+UPZ2J/PfD5pvwyRxvIiuXn0hG7LpUFGdAwJJ8+KxcPgu45I41SWOJRGYwiW4Q5y0pudTMVOdsIfyzTrRSWao7aDZzYhwScVZTnWrNoVyyw4jczetoAO8Sw5+bcnFYryPibRqpDsSZGjysBOsTfwhc59IjEY1HSO9WDRT835QbOxFvv8AlC0jI0irmfpoqw4wqqsQUtk5d9TbnZfrRLDfq7vpf1PHHK8SQmUxpBktHq2w05Yb9h2FPNTR5ukGzsTC/EetEMSaR0skiDSy7mb8QV/7OygJtnH1rocqPds0putenbpagi9yxIEYBK4GkfMQfFMVFZlltVQ1Hs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75780" name="AutoShape 4" descr="data:image/jpg;base64,/9j/4AAQSkZJRgABAQAAAQABAAD/2wCEAAkGBhQRERQUEhMWFBUVFh8YDxQYEhQYGhUbHxkYFB8VEhQYGyYeGBokGSMVIDEsJCc1LTgsHiM9NTArNSwyLikBCQoKDQwNGQ4OGTUjHiQ1KjUwMjQ1MCw0NSw1LDQ1KSk0LCwsLC82LCwtNjQsNCk0LCw2LCw0LDUyLCwsNCwsKf/AABEIADAAkAMBIgACEQEDEQH/xAAbAAACAgMBAAAAAAAAAAAAAAAABgEHAwQFAv/EADMQAAIBAwIFAgQEBgMAAAAAAAECAwAEERIhBQYTMUEiUQcyYYEUcZHBI1Jik6GiFUNT/8QAGQEAAwEBAQAAAAAAAAAAAAAAAAEDAgQF/8QAIhEAAgIBBAMBAQEAAAAAAAAAAAECEQMEEiFhEzFBYnFR/9oADAMBAAIRAxEAPwC7Kg14uGwpIOMfp9/pSrzdzk1rDG0SAu7FTqziMrjUCAd2yffGN964xZMkccXKXobRRS9y/wAzm4tUlZQrsxTSM4JXuwzuFAyT7YNc74i8zy2cEJhbTJI/cqD6QpJ9J7blK3jxvJJRX0Fki4KfwcqKqTh3MnGriPqQjqJkgMIodyNiADv3rf5H+IlxNdLb3WlteQjBNLKwBOGA2I2I7ZzXTLRzim7Trsys0W6LMqaq3nvn25t7x4beRVRFXUDGreojUdyPYisY4vx7/wAn/sQ0LSScVJtK+weZXVFq0Uh8c5ju7ThcUkp03UjgHKJ6RlmxoxjZB/mtr4a8dubyOaS4cMFcJHhFXHp1N2791/SpPTyUHk+I0sicto5VNFFQKhRRRQAUUUUAFFFFAGG6+U/t3+3ufp5pIu7qJHPXRXgOOuCCQoABEy+copX6mJh5jNPciBgQfNV9zNEyOfm1AjGkAswJYhkXsSTrIHbV1U7SCqYyGbiJucOug7gqnTUemGMLjpoCCF0/zElHb+pok8GlT4uX2q5hi8Rw5O+d3bPfzsFpn5UtzIw7jbLb50rlhu3lieoM+WMrfy0tc1cnXl1fyuIG6bOFVtSYCAKmrGrtjJ7V26Xastt1RF28fH05Q5lv7GGOAHooya4v4aZKsS2oNg75pp+G/I7K6XkrqwK6oFVtWS2QXdvcAnb3zntv2PiLyo11bJ0E1SQsOmoIBKEBSoJ/JT9vrWlyRZ3ttaXMMsDAhWa09SbsykFBhtvVpb7mqSyqeFuFJv2NQanT5K94iz3l/IYhreWZjEu2+Ccd9vlApyWXj/bGM+dNvtv3/esXw95KuYL1ZbiFkVEbSSynLEBQPSTvgk1atLU6hRajFJ8Bjxt8vgqr4xXvrtoc50qzt9SSEB/QPTZ8M7Hp8Oh95NUh+52/1ApQ595Wvbq9kkjgZkCqsTak3AXvu2fmJqz+G2giijjHaNFQfYBanmklp4wT/puCfkcmbVFRRXnnQTRRUUATRUUUDJoqKmkIiuJzXwQ3EOUUNIgOhScCQHGqJmHyhsAg+GVT4ruUVpOnYmk1TOZwHhP4eEKcFzvKwGAWwBhR4RQAqj2UUrpweY3kjyWzyS9cvBcdfRHHEF9CKFOTk7MuN8nJp6orccri2/8AROC9CLZvxRlAbqKXaESMyQZjOpmmaNRsYgulRnJyfzr3avxLNqHEhyc3G0S7GU/PIMjKxYyukZzsc9neprfm/KFs7K8u04lPDJG8cih0dWz0hkvOFGkqc6Y4MnPmsq2t9E0xQXGlrnT6eizLAqMI/wAOG2AJ0g+w8ZJNPtTR536pC2diRp4oY5GLYkjgjEcYWLTLKQTI2f6QRtsCwHjY45ZeJCJdPVZjIxA0Rq2jChVeQj0+rWwJTtscY3e6KPN+UPZ2J/PfD5pvwyRxvIiuXn0hG7LpUFGdAwJJ8+KxcPgu45I41SWOJRGYwiW4Q5y0pudTMVOdsIfyzTrRSWao7aDZzYhwScVZTnWrNoVyyw4jczetoAO8Sw5+bcnFYryPibRqpDsSZGjysBOsTfwhc59IjEY1HSO9WDRT835QbOxFvv8AlC0jI0irmfpoqw4wqqsQUtk5d9TbnZfrRLDfq7vpf1PHHK8SQmUxpBktHq2w05Yb9h2FPNTR5ukGzsTC/EetEMSaR0skiDSy7mb8QV/7OygJtnH1rocqPds0putenbpagi9yxIEYBK4GkfMQfFMVFZlltVQ1Hs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4" name="21 Rectángulo">
            <a:extLst>
              <a:ext uri="{FF2B5EF4-FFF2-40B4-BE49-F238E27FC236}">
                <a16:creationId xmlns:a16="http://schemas.microsoft.com/office/drawing/2014/main" id="{15FC95EA-0FBE-E128-F7A7-35B426894E7F}"/>
              </a:ext>
            </a:extLst>
          </p:cNvPr>
          <p:cNvSpPr/>
          <p:nvPr/>
        </p:nvSpPr>
        <p:spPr bwMode="auto">
          <a:xfrm>
            <a:off x="3707904" y="5013176"/>
            <a:ext cx="5241764" cy="132343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s-MX" sz="2000" b="1" dirty="0">
                <a:solidFill>
                  <a:schemeClr val="bg2"/>
                </a:solidFill>
              </a:rPr>
              <a:t>Por fraudes contables y bancarrotas en EEUU, en 2002 se dicta la ley Sarbanes-Oxley 2002, para preservación de la documentación empresaria.</a:t>
            </a:r>
          </a:p>
        </p:txBody>
      </p:sp>
    </p:spTree>
    <p:extLst>
      <p:ext uri="{BB962C8B-B14F-4D97-AF65-F5344CB8AC3E}">
        <p14:creationId xmlns:p14="http://schemas.microsoft.com/office/powerpoint/2010/main" val="3890360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3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1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400" decel="5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400" decel="10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400" decel="100000" autoRev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cumplimiento de la ley,detectives privados,gafas de aumento,gente,gente trabajando,inspectores,investigadores,lentes de aumento,sexo masculino,varó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1116" y="1597678"/>
            <a:ext cx="3095625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9715" name="Text Box 3"/>
          <p:cNvSpPr txBox="1">
            <a:spLocks noChangeArrowheads="1"/>
          </p:cNvSpPr>
          <p:nvPr/>
        </p:nvSpPr>
        <p:spPr bwMode="auto">
          <a:xfrm>
            <a:off x="849923" y="1628775"/>
            <a:ext cx="7776797" cy="36933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AR"/>
            </a:defPPr>
            <a:lvl1pPr algn="ctr">
              <a:spcBef>
                <a:spcPct val="50000"/>
              </a:spcBef>
              <a:buClr>
                <a:srgbClr val="CC1204"/>
              </a:buClr>
              <a:defRPr b="1">
                <a:solidFill>
                  <a:srgbClr val="FFFFFF"/>
                </a:solidFill>
              </a:defRPr>
            </a:lvl1pPr>
          </a:lstStyle>
          <a:p>
            <a:r>
              <a:rPr lang="es-AR" dirty="0"/>
              <a:t>Debe contarse con una certificación sobre el control interno.</a:t>
            </a:r>
            <a:endParaRPr lang="es-ES" dirty="0"/>
          </a:p>
        </p:txBody>
      </p:sp>
      <p:sp>
        <p:nvSpPr>
          <p:cNvPr id="499716" name="Text Box 4"/>
          <p:cNvSpPr txBox="1">
            <a:spLocks noChangeArrowheads="1"/>
          </p:cNvSpPr>
          <p:nvPr/>
        </p:nvSpPr>
        <p:spPr bwMode="auto">
          <a:xfrm>
            <a:off x="849923" y="2492896"/>
            <a:ext cx="1489829" cy="36933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es-AR" b="1" dirty="0"/>
              <a:t>Este informe</a:t>
            </a:r>
            <a:r>
              <a:rPr lang="es-AR" dirty="0"/>
              <a:t>:</a:t>
            </a:r>
            <a:endParaRPr lang="es-ES" dirty="0"/>
          </a:p>
        </p:txBody>
      </p:sp>
      <p:sp>
        <p:nvSpPr>
          <p:cNvPr id="49971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3568" y="4693303"/>
            <a:ext cx="8376138" cy="646331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rtlCol="0">
            <a:spAutoFit/>
          </a:bodyPr>
          <a:lstStyle/>
          <a:p>
            <a:pPr marL="0" algn="just">
              <a:buFont typeface="Wingdings" pitchFamily="2" charset="2"/>
              <a:buChar char="ü"/>
            </a:pPr>
            <a:r>
              <a:rPr lang="es-AR" sz="1800" b="1" dirty="0">
                <a:ea typeface="宋体" pitchFamily="2" charset="-122"/>
              </a:rPr>
              <a:t>Incluirá una evaluación de la efectividad de la estructura y procedimientos de control interno del emisor para los informes financieros.</a:t>
            </a:r>
            <a:endParaRPr lang="es-ES" sz="1800" b="1" dirty="0">
              <a:ea typeface="宋体" pitchFamily="2" charset="-122"/>
            </a:endParaRPr>
          </a:p>
        </p:txBody>
      </p:sp>
      <p:sp>
        <p:nvSpPr>
          <p:cNvPr id="8" name="7 Rectángulo redondeado"/>
          <p:cNvSpPr/>
          <p:nvPr/>
        </p:nvSpPr>
        <p:spPr>
          <a:xfrm>
            <a:off x="-285784" y="214290"/>
            <a:ext cx="7954128" cy="714356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9" name="Rectangle 9"/>
          <p:cNvSpPr txBox="1">
            <a:spLocks noChangeArrowheads="1"/>
          </p:cNvSpPr>
          <p:nvPr/>
        </p:nvSpPr>
        <p:spPr>
          <a:xfrm>
            <a:off x="-36513" y="265802"/>
            <a:ext cx="8784977" cy="642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s-AR" sz="3200" b="1" dirty="0">
                <a:solidFill>
                  <a:schemeClr val="bg1"/>
                </a:solidFill>
                <a:latin typeface="+mj-lt"/>
                <a:ea typeface="Verdana" pitchFamily="34" charset="0"/>
                <a:cs typeface="Verdana" pitchFamily="34" charset="0"/>
              </a:rPr>
              <a:t>SOX - Evaluación de los Controles Internos</a:t>
            </a: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>
          <a:xfrm>
            <a:off x="678054" y="3464133"/>
            <a:ext cx="8376138" cy="6463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just">
              <a:buFont typeface="Wingdings" pitchFamily="2" charset="2"/>
              <a:buChar char="ü"/>
            </a:pPr>
            <a:r>
              <a:rPr lang="es-AR" sz="1800" b="1" dirty="0">
                <a:ea typeface="宋体" pitchFamily="2" charset="-122"/>
              </a:rPr>
              <a:t>Señalará la responsabilidad de la administración de establecer y mantener una estructura y procedimientos adecuados de control interno para informes financieros.</a:t>
            </a:r>
            <a:endParaRPr lang="es-ES" sz="1800" b="1" dirty="0">
              <a:ea typeface="宋体" pitchFamily="2" charset="-122"/>
            </a:endParaRPr>
          </a:p>
        </p:txBody>
      </p:sp>
      <p:sp>
        <p:nvSpPr>
          <p:cNvPr id="12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6</a:t>
            </a:fld>
            <a:endParaRPr lang="es-ES" sz="1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36788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4404D2C-B14D-EFD5-5BC4-C78494D23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29" y="648808"/>
            <a:ext cx="6997724" cy="7068407"/>
          </a:xfrm>
          <a:prstGeom prst="rect">
            <a:avLst/>
          </a:prstGeom>
        </p:spPr>
      </p:pic>
      <p:sp>
        <p:nvSpPr>
          <p:cNvPr id="6" name="5 Rectángulo redondeado"/>
          <p:cNvSpPr/>
          <p:nvPr/>
        </p:nvSpPr>
        <p:spPr>
          <a:xfrm>
            <a:off x="-571536" y="36740"/>
            <a:ext cx="8743936" cy="1224137"/>
          </a:xfrm>
          <a:prstGeom prst="roundRect">
            <a:avLst/>
          </a:prstGeom>
          <a:solidFill>
            <a:srgbClr val="66CCFF"/>
          </a:solidFill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11" name="10 CuadroTexto"/>
          <p:cNvSpPr txBox="1"/>
          <p:nvPr/>
        </p:nvSpPr>
        <p:spPr>
          <a:xfrm>
            <a:off x="-23529" y="404987"/>
            <a:ext cx="7956376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3600" b="1" dirty="0">
                <a:solidFill>
                  <a:schemeClr val="tx1"/>
                </a:solidFill>
              </a:rPr>
              <a:t>TIPOS DE GOVERNANZA</a:t>
            </a:r>
            <a:endParaRPr lang="es-MX" sz="3600" b="1" dirty="0">
              <a:effectLst>
                <a:outerShdw blurRad="38100" dist="38100" dir="2700000" algn="tl">
                  <a:srgbClr val="C0C0C0"/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75778" name="AutoShape 2" descr="data:image/jpg;base64,/9j/4AAQSkZJRgABAQAAAQABAAD/2wCEAAkGBhQRERQUEhMWFBUVFh8YDxQYEhQYGhUbHxkYFB8VEhQYGyYeGBokGSMVIDEsJCc1LTgsHiM9NTArNSwyLikBCQoKDQwNGQ4OGTUjHiQ1KjUwMjQ1MCw0NSw1LDQ1KSk0LCwsLC82LCwtNjQsNCk0LCw2LCw0LDUyLCwsNCwsKf/AABEIADAAkAMBIgACEQEDEQH/xAAbAAACAgMBAAAAAAAAAAAAAAAABgEHAwQFAv/EADMQAAIBAwIFAgQEBgMAAAAAAAECAwAEERIhBQYTMUEiUQcyYYEUcZHBI1Jik6GiFUNT/8QAGQEAAwEBAQAAAAAAAAAAAAAAAAEDAgQF/8QAIhEAAgIBBAMBAQEAAAAAAAAAAAECEQMEEiFhEzFBYnFR/9oADAMBAAIRAxEAPwC7Kg14uGwpIOMfp9/pSrzdzk1rDG0SAu7FTqziMrjUCAd2yffGN964xZMkccXKXobRRS9y/wAzm4tUlZQrsxTSM4JXuwzuFAyT7YNc74i8zy2cEJhbTJI/cqD6QpJ9J7blK3jxvJJRX0Fki4KfwcqKqTh3MnGriPqQjqJkgMIodyNiADv3rf5H+IlxNdLb3WlteQjBNLKwBOGA2I2I7ZzXTLRzim7Trsys0W6LMqaq3nvn25t7x4beRVRFXUDGreojUdyPYisY4vx7/wAn/sQ0LSScVJtK+weZXVFq0Uh8c5ju7ThcUkp03UjgHKJ6RlmxoxjZB/mtr4a8dubyOaS4cMFcJHhFXHp1N2791/SpPTyUHk+I0sicto5VNFFQKhRRRQAUUUUAFFFFAGG6+U/t3+3ufp5pIu7qJHPXRXgOOuCCQoABEy+copX6mJh5jNPciBgQfNV9zNEyOfm1AjGkAswJYhkXsSTrIHbV1U7SCqYyGbiJucOug7gqnTUemGMLjpoCCF0/zElHb+pok8GlT4uX2q5hi8Rw5O+d3bPfzsFpn5UtzIw7jbLb50rlhu3lieoM+WMrfy0tc1cnXl1fyuIG6bOFVtSYCAKmrGrtjJ7V26Xastt1RF28fH05Q5lv7GGOAHooya4v4aZKsS2oNg75pp+G/I7K6XkrqwK6oFVtWS2QXdvcAnb3zntv2PiLyo11bJ0E1SQsOmoIBKEBSoJ/JT9vrWlyRZ3ttaXMMsDAhWa09SbsykFBhtvVpb7mqSyqeFuFJv2NQanT5K94iz3l/IYhreWZjEu2+Ccd9vlApyWXj/bGM+dNvtv3/esXw95KuYL1ZbiFkVEbSSynLEBQPSTvgk1atLU6hRajFJ8Bjxt8vgqr4xXvrtoc50qzt9SSEB/QPTZ8M7Hp8Oh95NUh+52/1ApQ595Wvbq9kkjgZkCqsTak3AXvu2fmJqz+G2giijjHaNFQfYBanmklp4wT/puCfkcmbVFRRXnnQTRRUUATRUUUDJoqKmkIiuJzXwQ3EOUUNIgOhScCQHGqJmHyhsAg+GVT4ruUVpOnYmk1TOZwHhP4eEKcFzvKwGAWwBhR4RQAqj2UUrpweY3kjyWzyS9cvBcdfRHHEF9CKFOTk7MuN8nJp6orccri2/8AROC9CLZvxRlAbqKXaESMyQZjOpmmaNRsYgulRnJyfzr3avxLNqHEhyc3G0S7GU/PIMjKxYyukZzsc9neprfm/KFs7K8u04lPDJG8cih0dWz0hkvOFGkqc6Y4MnPmsq2t9E0xQXGlrnT6eizLAqMI/wAOG2AJ0g+w8ZJNPtTR536pC2diRp4oY5GLYkjgjEcYWLTLKQTI2f6QRtsCwHjY45ZeJCJdPVZjIxA0Rq2jChVeQj0+rWwJTtscY3e6KPN+UPZ2J/PfD5pvwyRxvIiuXn0hG7LpUFGdAwJJ8+KxcPgu45I41SWOJRGYwiW4Q5y0pudTMVOdsIfyzTrRSWao7aDZzYhwScVZTnWrNoVyyw4jczetoAO8Sw5+bcnFYryPibRqpDsSZGjysBOsTfwhc59IjEY1HSO9WDRT835QbOxFvv8AlC0jI0irmfpoqw4wqqsQUtk5d9TbnZfrRLDfq7vpf1PHHK8SQmUxpBktHq2w05Yb9h2FPNTR5ukGzsTC/EetEMSaR0skiDSy7mb8QV/7OygJtnH1rocqPds0putenbpagi9yxIEYBK4GkfMQfFMVFZlltVQ1Hs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75780" name="AutoShape 4" descr="data:image/jpg;base64,/9j/4AAQSkZJRgABAQAAAQABAAD/2wCEAAkGBhQRERQUEhMWFBUVFh8YDxQYEhQYGhUbHxkYFB8VEhQYGyYeGBokGSMVIDEsJCc1LTgsHiM9NTArNSwyLikBCQoKDQwNGQ4OGTUjHiQ1KjUwMjQ1MCw0NSw1LDQ1KSk0LCwsLC82LCwtNjQsNCk0LCw2LCw0LDUyLCwsNCwsKf/AABEIADAAkAMBIgACEQEDEQH/xAAbAAACAgMBAAAAAAAAAAAAAAAABgEHAwQFAv/EADMQAAIBAwIFAgQEBgMAAAAAAAECAwAEERIhBQYTMUEiUQcyYYEUcZHBI1Jik6GiFUNT/8QAGQEAAwEBAQAAAAAAAAAAAAAAAAEDAgQF/8QAIhEAAgIBBAMBAQEAAAAAAAAAAAECEQMEEiFhEzFBYnFR/9oADAMBAAIRAxEAPwC7Kg14uGwpIOMfp9/pSrzdzk1rDG0SAu7FTqziMrjUCAd2yffGN964xZMkccXKXobRRS9y/wAzm4tUlZQrsxTSM4JXuwzuFAyT7YNc74i8zy2cEJhbTJI/cqD6QpJ9J7blK3jxvJJRX0Fki4KfwcqKqTh3MnGriPqQjqJkgMIodyNiADv3rf5H+IlxNdLb3WlteQjBNLKwBOGA2I2I7ZzXTLRzim7Trsys0W6LMqaq3nvn25t7x4beRVRFXUDGreojUdyPYisY4vx7/wAn/sQ0LSScVJtK+weZXVFq0Uh8c5ju7ThcUkp03UjgHKJ6RlmxoxjZB/mtr4a8dubyOaS4cMFcJHhFXHp1N2791/SpPTyUHk+I0sicto5VNFFQKhRRRQAUUUUAFFFFAGG6+U/t3+3ufp5pIu7qJHPXRXgOOuCCQoABEy+copX6mJh5jNPciBgQfNV9zNEyOfm1AjGkAswJYhkXsSTrIHbV1U7SCqYyGbiJucOug7gqnTUemGMLjpoCCF0/zElHb+pok8GlT4uX2q5hi8Rw5O+d3bPfzsFpn5UtzIw7jbLb50rlhu3lieoM+WMrfy0tc1cnXl1fyuIG6bOFVtSYCAKmrGrtjJ7V26Xastt1RF28fH05Q5lv7GGOAHooya4v4aZKsS2oNg75pp+G/I7K6XkrqwK6oFVtWS2QXdvcAnb3zntv2PiLyo11bJ0E1SQsOmoIBKEBSoJ/JT9vrWlyRZ3ttaXMMsDAhWa09SbsykFBhtvVpb7mqSyqeFuFJv2NQanT5K94iz3l/IYhreWZjEu2+Ccd9vlApyWXj/bGM+dNvtv3/esXw95KuYL1ZbiFkVEbSSynLEBQPSTvgk1atLU6hRajFJ8Bjxt8vgqr4xXvrtoc50qzt9SSEB/QPTZ8M7Hp8Oh95NUh+52/1ApQ595Wvbq9kkjgZkCqsTak3AXvu2fmJqz+G2giijjHaNFQfYBanmklp4wT/puCfkcmbVFRRXnnQTRRUUATRUUUDJoqKmkIiuJzXwQ3EOUUNIgOhScCQHGqJmHyhsAg+GVT4ruUVpOnYmk1TOZwHhP4eEKcFzvKwGAWwBhR4RQAqj2UUrpweY3kjyWzyS9cvBcdfRHHEF9CKFOTk7MuN8nJp6orccri2/8AROC9CLZvxRlAbqKXaESMyQZjOpmmaNRsYgulRnJyfzr3avxLNqHEhyc3G0S7GU/PIMjKxYyukZzsc9neprfm/KFs7K8u04lPDJG8cih0dWz0hkvOFGkqc6Y4MnPmsq2t9E0xQXGlrnT6eizLAqMI/wAOG2AJ0g+w8ZJNPtTR536pC2diRp4oY5GLYkjgjEcYWLTLKQTI2f6QRtsCwHjY45ZeJCJdPVZjIxA0Rq2jChVeQj0+rWwJTtscY3e6KPN+UPZ2J/PfD5pvwyRxvIiuXn0hG7LpUFGdAwJJ8+KxcPgu45I41SWOJRGYwiW4Q5y0pudTMVOdsIfyzTrRSWao7aDZzYhwScVZTnWrNoVyyw4jczetoAO8Sw5+bcnFYryPibRqpDsSZGjysBOsTfwhc59IjEY1HSO9WDRT835QbOxFvv8AlC0jI0irmfpoqw4wqqsQUtk5d9TbnZfrRLDfq7vpf1PHHK8SQmUxpBktHq2w05Yb9h2FPNTR5ukGzsTC/EetEMSaR0skiDSy7mb8QV/7OygJtnH1rocqPds0putenbpagi9yxIEYBK4GkfMQfFMVFZlltVQ1Hs/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 dirty="0"/>
          </a:p>
        </p:txBody>
      </p:sp>
      <p:sp>
        <p:nvSpPr>
          <p:cNvPr id="4" name="21 Rectángulo">
            <a:extLst>
              <a:ext uri="{FF2B5EF4-FFF2-40B4-BE49-F238E27FC236}">
                <a16:creationId xmlns:a16="http://schemas.microsoft.com/office/drawing/2014/main" id="{15FC95EA-0FBE-E128-F7A7-35B426894E7F}"/>
              </a:ext>
            </a:extLst>
          </p:cNvPr>
          <p:cNvSpPr/>
          <p:nvPr/>
        </p:nvSpPr>
        <p:spPr bwMode="auto">
          <a:xfrm>
            <a:off x="2843808" y="3068960"/>
            <a:ext cx="6198388" cy="255454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s-MX" sz="2000" b="1" dirty="0">
                <a:solidFill>
                  <a:schemeClr val="bg2"/>
                </a:solidFill>
              </a:rPr>
              <a:t>Es posible distinguir: </a:t>
            </a:r>
          </a:p>
          <a:p>
            <a:pPr algn="just">
              <a:spcAft>
                <a:spcPts val="0"/>
              </a:spcAft>
            </a:pPr>
            <a:endParaRPr lang="es-MX" sz="2000" b="1" dirty="0">
              <a:solidFill>
                <a:schemeClr val="bg2"/>
              </a:solidFill>
            </a:endParaRPr>
          </a:p>
          <a:p>
            <a:pPr lvl="1" algn="just"/>
            <a:r>
              <a:rPr lang="es-MX" sz="2000" b="1" dirty="0">
                <a:solidFill>
                  <a:schemeClr val="bg2"/>
                </a:solidFill>
              </a:rPr>
              <a:t>una gobernabilidad formal, </a:t>
            </a:r>
          </a:p>
          <a:p>
            <a:pPr algn="just">
              <a:spcAft>
                <a:spcPts val="0"/>
              </a:spcAft>
            </a:pPr>
            <a:endParaRPr lang="es-MX" sz="2000" b="1" dirty="0">
              <a:solidFill>
                <a:schemeClr val="bg2"/>
              </a:solidFill>
            </a:endParaRPr>
          </a:p>
          <a:p>
            <a:pPr lvl="1" algn="just"/>
            <a:r>
              <a:rPr lang="es-MX" sz="2000" b="1" dirty="0">
                <a:solidFill>
                  <a:schemeClr val="bg2"/>
                </a:solidFill>
              </a:rPr>
              <a:t>una gobernabilidad moral, ética, de valores, que se expresa en la práctica del buen gobierno corporativo, y que se puede plasmar en un código del buen gobierno.</a:t>
            </a:r>
          </a:p>
        </p:txBody>
      </p:sp>
    </p:spTree>
    <p:extLst>
      <p:ext uri="{BB962C8B-B14F-4D97-AF65-F5344CB8AC3E}">
        <p14:creationId xmlns:p14="http://schemas.microsoft.com/office/powerpoint/2010/main" val="195056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000" y="760850"/>
            <a:ext cx="2961564" cy="2340506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8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MX" sz="2800" b="1" dirty="0">
                  <a:latin typeface="Arial Narrow" panose="020B0606020202030204" pitchFamily="34" charset="0"/>
                </a:rPr>
                <a:t>G</a:t>
              </a:r>
              <a:r>
                <a:rPr lang="es-AR" sz="2800" b="1" dirty="0" err="1">
                  <a:latin typeface="Arial Narrow" panose="020B0606020202030204" pitchFamily="34" charset="0"/>
                </a:rPr>
                <a:t>obernabilidad</a:t>
              </a:r>
              <a:r>
                <a:rPr lang="es-AR" sz="2800" b="1" dirty="0">
                  <a:latin typeface="Arial Narrow" panose="020B0606020202030204" pitchFamily="34" charset="0"/>
                </a:rPr>
                <a:t> Formal </a:t>
              </a:r>
            </a:p>
          </p:txBody>
        </p:sp>
      </p:grpSp>
      <p:sp>
        <p:nvSpPr>
          <p:cNvPr id="2" name="Rectángulo 1"/>
          <p:cNvSpPr/>
          <p:nvPr/>
        </p:nvSpPr>
        <p:spPr>
          <a:xfrm>
            <a:off x="517396" y="2708920"/>
            <a:ext cx="6696744" cy="347787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El plexo normativo que regulará a las Mutuales se compone de: 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La ley 20.321 –de Mutuales-.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El Estatuto Social.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Las resoluciones del INAES.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Las normas UIF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Y leyes específicas que regulan actividades de servicios que pueden prestar las mutuales, como la legislación escolar, seguros, CNV, etc.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Las Mutuales tienen la responsabilidad de llevar a su cumplimiento efectivo estas normas.</a:t>
            </a:r>
          </a:p>
        </p:txBody>
      </p:sp>
    </p:spTree>
    <p:extLst>
      <p:ext uri="{BB962C8B-B14F-4D97-AF65-F5344CB8AC3E}">
        <p14:creationId xmlns:p14="http://schemas.microsoft.com/office/powerpoint/2010/main" val="111398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2" y="835569"/>
            <a:ext cx="2961564" cy="2340506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9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MX" sz="2800" b="1" dirty="0">
                  <a:latin typeface="Arial Narrow" panose="020B0606020202030204" pitchFamily="34" charset="0"/>
                </a:rPr>
                <a:t>G</a:t>
              </a:r>
              <a:r>
                <a:rPr lang="es-AR" sz="2800" b="1" dirty="0" err="1">
                  <a:latin typeface="Arial Narrow" panose="020B0606020202030204" pitchFamily="34" charset="0"/>
                </a:rPr>
                <a:t>obernabilidad</a:t>
              </a:r>
              <a:r>
                <a:rPr lang="es-AR" sz="2800" b="1" dirty="0">
                  <a:latin typeface="Arial Narrow" panose="020B0606020202030204" pitchFamily="34" charset="0"/>
                </a:rPr>
                <a:t> Formal </a:t>
              </a:r>
            </a:p>
          </p:txBody>
        </p:sp>
      </p:grpSp>
      <p:sp>
        <p:nvSpPr>
          <p:cNvPr id="2" name="Rectángulo 1"/>
          <p:cNvSpPr/>
          <p:nvPr/>
        </p:nvSpPr>
        <p:spPr>
          <a:xfrm>
            <a:off x="2156759" y="2598244"/>
            <a:ext cx="6696744" cy="409342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1.- Resolución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1151/02 y su modificatoria 1780/02: Presentación de estados contables de Mutuales según Resoluciones Técnicas Números 11, 17 y 24 de la Federación Argentina de Consejos Profesionales de Ciencias Económicas.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2.- Resolución N° 419/19: Presentación de estados contables en moneda homogénea (DEROGA RES.1150/02, 1424/03 y 1539/06).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3.- Documentación ordinaria y extraordinaria establecida por la Ley orgánica de mutualidades: Asambleas, actas de Comisión Directiva, Actas de Junta Fiscalizadora, nóminas. Artículos 18 y 19 de la Ley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20.321 y Resolución Ex INAM 1088/79.</a:t>
            </a:r>
          </a:p>
        </p:txBody>
      </p:sp>
    </p:spTree>
    <p:extLst>
      <p:ext uri="{BB962C8B-B14F-4D97-AF65-F5344CB8AC3E}">
        <p14:creationId xmlns:p14="http://schemas.microsoft.com/office/powerpoint/2010/main" val="1248143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2" y="835569"/>
            <a:ext cx="2961564" cy="2340506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10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MX" sz="2800" b="1" dirty="0">
                  <a:latin typeface="Arial Narrow" panose="020B0606020202030204" pitchFamily="34" charset="0"/>
                </a:rPr>
                <a:t>G</a:t>
              </a:r>
              <a:r>
                <a:rPr lang="es-AR" sz="2800" b="1" dirty="0" err="1">
                  <a:latin typeface="Arial Narrow" panose="020B0606020202030204" pitchFamily="34" charset="0"/>
                </a:rPr>
                <a:t>obernabilidad</a:t>
              </a:r>
              <a:r>
                <a:rPr lang="es-AR" sz="2800" b="1" dirty="0">
                  <a:latin typeface="Arial Narrow" panose="020B0606020202030204" pitchFamily="34" charset="0"/>
                </a:rPr>
                <a:t> Formal </a:t>
              </a:r>
            </a:p>
          </p:txBody>
        </p:sp>
      </p:grpSp>
      <p:sp>
        <p:nvSpPr>
          <p:cNvPr id="2" name="Rectángulo 1"/>
          <p:cNvSpPr/>
          <p:nvPr/>
        </p:nvSpPr>
        <p:spPr>
          <a:xfrm>
            <a:off x="2156759" y="2598244"/>
            <a:ext cx="6696744" cy="409342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1.- Resolución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1151/02 y su modificatoria 1780/02: Presentación de estados contables de Mutuales según Resoluciones Técnicas Números 11, 17 y 24 de la Federación Argentina de Consejos Profesionales de Ciencias Económicas.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2.- Resolución N° 419/19: Presentación de estados contables en moneda homogénea (DEROGA RES.1150/02, 1424/03 y 1539/06).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3.- Documentación ordinaria y extraordinaria establecida por la Ley orgánica de mutualidades: Asambleas, actas de Comisión Directiva, Actas de Junta Fiscalizadora, nóminas. Artículos 18 y 19 de la Ley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20.321 y Resolución Ex INAM 1088/79.</a:t>
            </a:r>
          </a:p>
        </p:txBody>
      </p:sp>
    </p:spTree>
    <p:extLst>
      <p:ext uri="{BB962C8B-B14F-4D97-AF65-F5344CB8AC3E}">
        <p14:creationId xmlns:p14="http://schemas.microsoft.com/office/powerpoint/2010/main" val="840312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2" y="835569"/>
            <a:ext cx="2961564" cy="2340506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11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MX" sz="2800" b="1" dirty="0">
                  <a:latin typeface="Arial Narrow" panose="020B0606020202030204" pitchFamily="34" charset="0"/>
                </a:rPr>
                <a:t>G</a:t>
              </a:r>
              <a:r>
                <a:rPr lang="es-AR" sz="2800" b="1" dirty="0" err="1">
                  <a:latin typeface="Arial Narrow" panose="020B0606020202030204" pitchFamily="34" charset="0"/>
                </a:rPr>
                <a:t>obernabilidad</a:t>
              </a:r>
              <a:r>
                <a:rPr lang="es-AR" sz="2800" b="1" dirty="0">
                  <a:latin typeface="Arial Narrow" panose="020B0606020202030204" pitchFamily="34" charset="0"/>
                </a:rPr>
                <a:t> Formal </a:t>
              </a:r>
            </a:p>
          </p:txBody>
        </p:sp>
      </p:grpSp>
      <p:sp>
        <p:nvSpPr>
          <p:cNvPr id="2" name="Rectángulo 1"/>
          <p:cNvSpPr/>
          <p:nvPr/>
        </p:nvSpPr>
        <p:spPr>
          <a:xfrm>
            <a:off x="2156759" y="2598244"/>
            <a:ext cx="6696744" cy="3785652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4.- Información del Servicio de Ayuda Económica Mutual (Resolución INAES 1418/03 – Texto Ordenado Resolución INAES 2316/15).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5.- Información del Servicio de Gestión de Préstamos (Resolución INAES 1481/09 modificada por la Resolución INAES 7536/12).	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6.- Información y transmisión del Balance Web (Resolución INAES 4110/10)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7.- Transmisión electrónica de registro de asociados para mutuales que prestan el servicio de gestión de préstamos y/o ayuda económica mutual - (Resolución INAES 5586/12).</a:t>
            </a:r>
          </a:p>
        </p:txBody>
      </p:sp>
    </p:spTree>
    <p:extLst>
      <p:ext uri="{BB962C8B-B14F-4D97-AF65-F5344CB8AC3E}">
        <p14:creationId xmlns:p14="http://schemas.microsoft.com/office/powerpoint/2010/main" val="21256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4376062"/>
            <a:ext cx="2961564" cy="2340506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12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MX" sz="2800" b="1" dirty="0">
                  <a:latin typeface="Arial Narrow" panose="020B0606020202030204" pitchFamily="34" charset="0"/>
                </a:rPr>
                <a:t>G</a:t>
              </a:r>
              <a:r>
                <a:rPr lang="es-AR" sz="2800" b="1" dirty="0" err="1">
                  <a:latin typeface="Arial Narrow" panose="020B0606020202030204" pitchFamily="34" charset="0"/>
                </a:rPr>
                <a:t>obernabilidad</a:t>
              </a:r>
              <a:r>
                <a:rPr lang="es-AR" sz="2800" b="1" dirty="0">
                  <a:latin typeface="Arial Narrow" panose="020B0606020202030204" pitchFamily="34" charset="0"/>
                </a:rPr>
                <a:t> Formal </a:t>
              </a:r>
            </a:p>
          </p:txBody>
        </p:sp>
      </p:grpSp>
      <p:sp>
        <p:nvSpPr>
          <p:cNvPr id="2" name="Rectángulo 1"/>
          <p:cNvSpPr/>
          <p:nvPr/>
        </p:nvSpPr>
        <p:spPr>
          <a:xfrm>
            <a:off x="293648" y="1556792"/>
            <a:ext cx="6696744" cy="255454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8.- Transmisión electrónica de nómina de integrantes de los órganos de administración y fiscalización para cooperativas y mutuales (Resolución INAES 5587/12).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9.- Información diversa que deben cumplir las mutuales que revisten el carácter de Sujetos Obligados- (Resolución INAES 5588/12).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10.- Información Estadística de Presentación de Reporte de Operaciones Sospechosas Resolución INAES 806/18).</a:t>
            </a:r>
          </a:p>
        </p:txBody>
      </p:sp>
    </p:spTree>
    <p:extLst>
      <p:ext uri="{BB962C8B-B14F-4D97-AF65-F5344CB8AC3E}">
        <p14:creationId xmlns:p14="http://schemas.microsoft.com/office/powerpoint/2010/main" val="981561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473" y="4401485"/>
            <a:ext cx="2961564" cy="2340506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13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 Normas UIF</a:t>
              </a:r>
            </a:p>
          </p:txBody>
        </p:sp>
      </p:grpSp>
      <p:sp>
        <p:nvSpPr>
          <p:cNvPr id="2" name="Rectángulo 1"/>
          <p:cNvSpPr/>
          <p:nvPr/>
        </p:nvSpPr>
        <p:spPr>
          <a:xfrm>
            <a:off x="25963" y="749017"/>
            <a:ext cx="6696744" cy="5632311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Resolución UIF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11/2012 - Determina en su art. 2° las entidades de la economía solidaria que son sujetos obligados a informar ante la Unidad de Información Financiera, a saber:</a:t>
            </a:r>
            <a:b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</a:b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1. Las entidades cooperativas que realicen operaciones de crédito sujetas al régimen de la Ley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20.337, y resoluciones de la autoridad de aplicación.</a:t>
            </a:r>
            <a:b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</a:b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2. Las mutuales que prestan el servicio de ayuda económica y que se encuentran sujetas al régimen de la Ley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20.321</a:t>
            </a:r>
            <a:b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</a:b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3. Las entidades que prestan el servicio de gestión de préstamos en el marco de la Resolución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1481/09 INAES, sean cooperativas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ó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mutuales. 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Asimismo establece las medidas y procedimientos que esos Sujetos Obligados deberán observar para prevenir, detectar y reportar los hechos, actos, operaciones u omisiones que pudieran constituir delitos de Lavado de Activos y Financiación del Terrorismo</a:t>
            </a:r>
          </a:p>
        </p:txBody>
      </p:sp>
    </p:spTree>
    <p:extLst>
      <p:ext uri="{BB962C8B-B14F-4D97-AF65-F5344CB8AC3E}">
        <p14:creationId xmlns:p14="http://schemas.microsoft.com/office/powerpoint/2010/main" val="165316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396" y="4374642"/>
            <a:ext cx="2961564" cy="2340506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14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 Normas UIF</a:t>
              </a:r>
            </a:p>
          </p:txBody>
        </p:sp>
      </p:grpSp>
      <p:sp>
        <p:nvSpPr>
          <p:cNvPr id="2" name="Rectángulo 1"/>
          <p:cNvSpPr/>
          <p:nvPr/>
        </p:nvSpPr>
        <p:spPr>
          <a:xfrm>
            <a:off x="2447256" y="519088"/>
            <a:ext cx="6696744" cy="409342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Resolución UIF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12/2012 - Establece que el INAES y los OLC con los cuales tenga suscripto o no convenio a fin de ejercer la fiscalización pública, son sujetos obligados a informar ante la Unidad de Información Financiera.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Asimismo establece las medidas y procedimientos que deberán observar para prevenir, detectar y reportar los hechos, actos, omisiones u operaciones que pudieran constituir delitos de Lavados de Activos y Financiación del Terrorismo.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Resolución UIF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104/2010 - Reglamentación del procedimiento de supervisión del cumplimiento de la normativa de la UIF por parte de los sujetos obligados enumerados en el artículo 20 de la Ley N° 25.246.</a:t>
            </a:r>
          </a:p>
        </p:txBody>
      </p:sp>
    </p:spTree>
    <p:extLst>
      <p:ext uri="{BB962C8B-B14F-4D97-AF65-F5344CB8AC3E}">
        <p14:creationId xmlns:p14="http://schemas.microsoft.com/office/powerpoint/2010/main" val="150424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851" y="692696"/>
            <a:ext cx="2961564" cy="2340506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15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 Normas UIF</a:t>
              </a:r>
            </a:p>
          </p:txBody>
        </p:sp>
      </p:grpSp>
      <p:sp>
        <p:nvSpPr>
          <p:cNvPr id="2" name="Rectángulo 1"/>
          <p:cNvSpPr/>
          <p:nvPr/>
        </p:nvSpPr>
        <p:spPr>
          <a:xfrm>
            <a:off x="523856" y="2585630"/>
            <a:ext cx="6696744" cy="409342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Resolución UIF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12/2012 - Establece que el INAES y los OLC con los cuales tenga suscripto o no convenio a fin de ejercer la fiscalización pública, son sujetos obligados a informar ante la Unidad de Información Financiera.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Asimismo establece las medidas y procedimientos que deberán observar para prevenir, detectar y reportar los hechos, actos, omisiones u operaciones que pudieran constituir delitos de Lavados de Activos y Financiación del Terrorismo.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Resolución UIF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104/2010 - Reglamentación del procedimiento de supervisión del cumplimiento de la normativa de la UIF por parte de los sujetos obligados enumerados en el artículo 20 de la Ley N° 25.246.</a:t>
            </a:r>
          </a:p>
        </p:txBody>
      </p:sp>
    </p:spTree>
    <p:extLst>
      <p:ext uri="{BB962C8B-B14F-4D97-AF65-F5344CB8AC3E}">
        <p14:creationId xmlns:p14="http://schemas.microsoft.com/office/powerpoint/2010/main" val="218282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282" y="4517494"/>
            <a:ext cx="2961564" cy="2340506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16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 Normas UIF</a:t>
              </a:r>
            </a:p>
          </p:txBody>
        </p:sp>
      </p:grpSp>
      <p:sp>
        <p:nvSpPr>
          <p:cNvPr id="2" name="Rectángulo 1"/>
          <p:cNvSpPr/>
          <p:nvPr/>
        </p:nvSpPr>
        <p:spPr>
          <a:xfrm>
            <a:off x="517396" y="836712"/>
            <a:ext cx="6696744" cy="3785652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Resolución INAES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5.586/12 dispone que las cooperativas y mutuales que se encuentran comprendidas en el artículo 2° de la Resolución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UIF 11/12 deben adicionar en sus registraciones la identificación de CUIT, CUIL o CDI de sus asociados y enviar electrónicamente al organismo toda la información identificatoria de los mismos en forma trimestral dentro de los 10 días siguientes a la terminación del trimestre tomando en cuenta el cierre de cada ejercicio social. La primera información debe enviarse dentro de los 60 días corridos contados desde el 1 de octubre de 2012.</a:t>
            </a:r>
          </a:p>
        </p:txBody>
      </p:sp>
    </p:spTree>
    <p:extLst>
      <p:ext uri="{BB962C8B-B14F-4D97-AF65-F5344CB8AC3E}">
        <p14:creationId xmlns:p14="http://schemas.microsoft.com/office/powerpoint/2010/main" val="94608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82" y="1004585"/>
            <a:ext cx="2961564" cy="2340506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17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 Normas UIF</a:t>
              </a:r>
            </a:p>
          </p:txBody>
        </p:sp>
      </p:grpSp>
      <p:sp>
        <p:nvSpPr>
          <p:cNvPr id="2" name="Rectángulo 1"/>
          <p:cNvSpPr/>
          <p:nvPr/>
        </p:nvSpPr>
        <p:spPr>
          <a:xfrm>
            <a:off x="2328674" y="1567484"/>
            <a:ext cx="6696744" cy="501675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Resolución INAES 5.588/12 las entidades comprendidas en la Resolución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11/12 de la Unidad de Información Financiera o en cualquier otra que la sustituya o complemente, deben presentar: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1. En caso de recibir donaciones o aportes de terceros al tiempo de su constitución o con posterioridad, una declaración jurada sobre la licitud y origen de esos fondos acompañada de la documentación de respaldo, al momento de solicitar la autorización para funcionar o en su defecto con cada presentación de estados contables.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2. Una declaración jurada sobre la condición de persona expuesta políticamente de los integrantes de los órganos de administración y fiscalización. Esa presentación se efectúa al tiempo de solicitar la autorización para funcionar, con cada modificación en la integración de esos órganos o al quedar encuadrado en ese carácter.</a:t>
            </a:r>
          </a:p>
        </p:txBody>
      </p:sp>
    </p:spTree>
    <p:extLst>
      <p:ext uri="{BB962C8B-B14F-4D97-AF65-F5344CB8AC3E}">
        <p14:creationId xmlns:p14="http://schemas.microsoft.com/office/powerpoint/2010/main" val="2128796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4351166"/>
            <a:ext cx="2961564" cy="2340506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18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 Normas UIF</a:t>
              </a:r>
            </a:p>
          </p:txBody>
        </p:sp>
      </p:grpSp>
      <p:sp>
        <p:nvSpPr>
          <p:cNvPr id="2" name="Rectángulo 1"/>
          <p:cNvSpPr/>
          <p:nvPr/>
        </p:nvSpPr>
        <p:spPr>
          <a:xfrm>
            <a:off x="2415004" y="836712"/>
            <a:ext cx="6696744" cy="440120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3. Las cooperativas y mutuales comprendidas en la Resolución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11/12 de la UIF o en cualquier otra que la sustituya o complemente deben presentar al INAES una declaración jurada en la cual se informe y, en su caso, se acompañe la documentación que seguidamente se individualiza: a) Domicilio legal (calle, número, localidad, provincia y código postal) b) Número de teléfono actualizado de la sede social, dirección de correo electrónico; c) C.U.I.T.; d) Actividad principal realizada y volumen de ingresos/facturación anual e) Copia del acta del órgano decisorio designando autoridades, representantes legales, apoderados y/o autorizados con uso de firma social, certificadas por escribano público o por el propio sujeto obligado;.</a:t>
            </a:r>
          </a:p>
        </p:txBody>
      </p:sp>
    </p:spTree>
    <p:extLst>
      <p:ext uri="{BB962C8B-B14F-4D97-AF65-F5344CB8AC3E}">
        <p14:creationId xmlns:p14="http://schemas.microsoft.com/office/powerpoint/2010/main" val="486846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530" y="692696"/>
            <a:ext cx="2961564" cy="2340506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19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 Normas UIF</a:t>
              </a:r>
            </a:p>
          </p:txBody>
        </p:sp>
      </p:grpSp>
      <p:sp>
        <p:nvSpPr>
          <p:cNvPr id="2" name="Rectángulo 1"/>
          <p:cNvSpPr/>
          <p:nvPr/>
        </p:nvSpPr>
        <p:spPr>
          <a:xfrm>
            <a:off x="525915" y="1772816"/>
            <a:ext cx="6696744" cy="501675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f) Titularidad del capital social (actualizada); g) Copia del acta del órgano de administración de distribución de cargos, de designación de representantes legales, apoderados y/o autorizados con uso de firma social, certificadas por escribano público o por el propio sujeto obligado; h) Datos identificatorios de las autoridades, del representante legal, apoderados y/o autorizados con uso de firma, que operen en nombre y representación de la entidad; i) Datos identificatorios del oficial de cumplimiento designado, con la correspondiente constancia de inscripción ante la UIF; j) Que la entidad ha elaborado y aprobado un manual de procedimientos para la prevención del lavado de activos y la financiación del terrorismo. La declaración jurada debe ser actualizada ante cada modificación de la información suministrada</a:t>
            </a:r>
          </a:p>
        </p:txBody>
      </p:sp>
    </p:spTree>
    <p:extLst>
      <p:ext uri="{BB962C8B-B14F-4D97-AF65-F5344CB8AC3E}">
        <p14:creationId xmlns:p14="http://schemas.microsoft.com/office/powerpoint/2010/main" val="1881593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530" y="692696"/>
            <a:ext cx="2961564" cy="2340506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20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 Normas UIF</a:t>
              </a:r>
            </a:p>
          </p:txBody>
        </p:sp>
      </p:grpSp>
      <p:sp>
        <p:nvSpPr>
          <p:cNvPr id="2" name="Rectángulo 1"/>
          <p:cNvSpPr/>
          <p:nvPr/>
        </p:nvSpPr>
        <p:spPr>
          <a:xfrm>
            <a:off x="525915" y="1772816"/>
            <a:ext cx="6696744" cy="501675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Resolución 5596/2012: Designación del Oficial de Cumplimiento y Oficial de Cumplimiento Suplente del INAES. Se adjunta al presente informe.</a:t>
            </a:r>
            <a:b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</a:b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Resolución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4909/2013: Modifica el «Manual de Procedimientos para la Prevención del Lavado de Activos y la Financiación del Terrorismo del INAES». El Manual crea circuitos y procedimientos de tratamiento como expediente electrónico de las alertas generadas por operaciones inusuales, respetando las competencias de las áreas.</a:t>
            </a:r>
            <a:b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</a:b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Resolución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4910/2013: Aprueba el «Manual de Supervisión, Fiscalización e Inspección In Situ y Extra Situ del INAES para sujetos obligados por la Resolución UIF 11/2012». El Manual crea los procedimientos de supervisión de acuerdo a lo solicitado por la UIF en su normativa de colaboración.</a:t>
            </a:r>
          </a:p>
        </p:txBody>
      </p:sp>
    </p:spTree>
    <p:extLst>
      <p:ext uri="{BB962C8B-B14F-4D97-AF65-F5344CB8AC3E}">
        <p14:creationId xmlns:p14="http://schemas.microsoft.com/office/powerpoint/2010/main" val="356916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74" y="761256"/>
            <a:ext cx="2961564" cy="2340506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21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 Normas UIF</a:t>
              </a:r>
            </a:p>
          </p:txBody>
        </p:sp>
      </p:grpSp>
      <p:sp>
        <p:nvSpPr>
          <p:cNvPr id="2" name="Rectángulo 1"/>
          <p:cNvSpPr/>
          <p:nvPr/>
        </p:nvSpPr>
        <p:spPr>
          <a:xfrm>
            <a:off x="2448270" y="1567484"/>
            <a:ext cx="6696744" cy="4708981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Resolución Reservada INAES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4911/2013: Aprueba la «Matriz de Riesgos y Alertas de Supervisión ALA/CFT del INAES».</a:t>
            </a:r>
            <a:b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</a:b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Resolución N° 690/14: Establece un último plazo para presentar la documentación exigida por las Resoluciones INAES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5586/12 y 5588/12 bajo apercibimiento de la suspensión de la autorización para funcionar. Plazo 30 días de la publicación.</a:t>
            </a:r>
            <a:b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</a:b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Resolución N° 2592/14: Las cooperativas de servicios públicos que en sus estatutos prevean la prestación del servicio de crédito, incluyan o no en su denominación la palabra “CREDITO” o “CREDITOS”, deben presentar una declaración jurada en forma electrónica al sitio web del INAES y en formato papel, indicando la realización o no de operaciones de créditos</a:t>
            </a:r>
          </a:p>
        </p:txBody>
      </p:sp>
    </p:spTree>
    <p:extLst>
      <p:ext uri="{BB962C8B-B14F-4D97-AF65-F5344CB8AC3E}">
        <p14:creationId xmlns:p14="http://schemas.microsoft.com/office/powerpoint/2010/main" val="316093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836712"/>
            <a:ext cx="2961564" cy="2340506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22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 Normas UIF</a:t>
              </a:r>
            </a:p>
          </p:txBody>
        </p:sp>
      </p:grpSp>
      <p:sp>
        <p:nvSpPr>
          <p:cNvPr id="2" name="Rectángulo 1"/>
          <p:cNvSpPr/>
          <p:nvPr/>
        </p:nvSpPr>
        <p:spPr>
          <a:xfrm>
            <a:off x="771452" y="2765250"/>
            <a:ext cx="6696744" cy="3785652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Resolución N° 5284/14: Las cooperativas que incluyan en su denominación la palabra “CREDITO” o “CREDITOS”, deben presentar la declaración jurada en forma electrónica al sitio web del INAES y en formato papel, indicando la realización o no de operaciones de créditos.</a:t>
            </a:r>
            <a:b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</a:b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Resolución N° 5450/14: Establece definiciones de la operatoria de mutuales que prestan el servicio de ayuda económica y cooperativas que presten el servicio de crédito.</a:t>
            </a:r>
            <a:b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</a:b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Resolución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6741/2014: Actualizaciones del Manual de Procedimientos en Prevención de los Delitos de Lavado de Activos y de Financiación del Terrorismo del INAES.</a:t>
            </a:r>
          </a:p>
        </p:txBody>
      </p:sp>
    </p:spTree>
    <p:extLst>
      <p:ext uri="{BB962C8B-B14F-4D97-AF65-F5344CB8AC3E}">
        <p14:creationId xmlns:p14="http://schemas.microsoft.com/office/powerpoint/2010/main" val="2384632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452" y="4351166"/>
            <a:ext cx="2961564" cy="2340506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23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-428660" y="14285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160688" y="273758"/>
              <a:ext cx="8070435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AR" sz="2800" b="1" dirty="0">
                  <a:latin typeface="Arial Narrow" panose="020B0606020202030204" pitchFamily="34" charset="0"/>
                </a:rPr>
                <a:t> Normas UIF</a:t>
              </a:r>
            </a:p>
          </p:txBody>
        </p:sp>
      </p:grpSp>
      <p:sp>
        <p:nvSpPr>
          <p:cNvPr id="2" name="Rectángulo 1"/>
          <p:cNvSpPr/>
          <p:nvPr/>
        </p:nvSpPr>
        <p:spPr>
          <a:xfrm>
            <a:off x="2411760" y="306231"/>
            <a:ext cx="6696744" cy="440120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>
            <a:spAutoFit/>
          </a:bodyPr>
          <a:lstStyle/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Resoluciones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6742/2014: Actualización del «Manual de Supervisión, Fiscalización e Inspección In Situ y Extra Situ del INAES para sujetos obligados por la Resolución UIF 11/2012».</a:t>
            </a:r>
            <a:b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</a:b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Resolución Reservada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Nº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6743/2014: Actualización de la «Matriz de Riesgos y Alertas de Supervisión ALA/CFT del INAES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Resolución UIF 155/2018 fija al </a:t>
            </a:r>
            <a:r>
              <a:rPr lang="es-MX" sz="2000" b="1" dirty="0" err="1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Inaes</a:t>
            </a: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el deber de colaboración mediante la utilización del enfoque basado en riesgos</a:t>
            </a:r>
          </a:p>
          <a:p>
            <a:pPr marL="449580">
              <a:spcAft>
                <a:spcPts val="0"/>
              </a:spcAft>
            </a:pPr>
            <a:r>
              <a:rPr lang="es-MX" sz="2000" b="1" dirty="0"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Resolución N° 99/2023, Establece los requisitos mínimos para la identificación, evaluación monitoreo, administración y mitigación de los riesgos  de lavado de activos y financiación del terrorismo. </a:t>
            </a:r>
          </a:p>
        </p:txBody>
      </p:sp>
    </p:spTree>
    <p:extLst>
      <p:ext uri="{BB962C8B-B14F-4D97-AF65-F5344CB8AC3E}">
        <p14:creationId xmlns:p14="http://schemas.microsoft.com/office/powerpoint/2010/main" val="83549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390" y="447641"/>
            <a:ext cx="6235278" cy="3221559"/>
          </a:xfrm>
          <a:prstGeom prst="rect">
            <a:avLst/>
          </a:prstGeom>
        </p:spPr>
      </p:pic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24</a:t>
            </a:fld>
            <a:endParaRPr lang="es-ES" sz="1200" b="1" dirty="0">
              <a:latin typeface="+mn-lt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118582" y="88842"/>
            <a:ext cx="9249132" cy="693860"/>
            <a:chOff x="-428660" y="142852"/>
            <a:chExt cx="9249132" cy="693860"/>
          </a:xfrm>
        </p:grpSpPr>
        <p:sp>
          <p:nvSpPr>
            <p:cNvPr id="15" name="3 Rectángulo redondeado"/>
            <p:cNvSpPr/>
            <p:nvPr/>
          </p:nvSpPr>
          <p:spPr>
            <a:xfrm>
              <a:off x="-428660" y="142852"/>
              <a:ext cx="9249132" cy="693860"/>
            </a:xfrm>
            <a:prstGeom prst="roundRect">
              <a:avLst/>
            </a:prstGeom>
            <a:solidFill>
              <a:srgbClr val="92D050"/>
            </a:solidFill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16" name="Rectangle 9"/>
            <p:cNvSpPr txBox="1">
              <a:spLocks noChangeArrowheads="1"/>
            </p:cNvSpPr>
            <p:nvPr/>
          </p:nvSpPr>
          <p:spPr>
            <a:xfrm>
              <a:off x="-29846" y="273758"/>
              <a:ext cx="8626604" cy="49094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/>
            <a:p>
              <a:r>
                <a:rPr lang="es-MX" sz="2800" b="1" dirty="0">
                  <a:latin typeface="Arial Narrow" panose="020B0606020202030204" pitchFamily="34" charset="0"/>
                </a:rPr>
                <a:t>GOBERNABILIDAD, GOBIERNO CORPORATIVO Y RIESGOS</a:t>
              </a:r>
              <a:endParaRPr lang="es-AR" sz="2800" b="1" dirty="0">
                <a:latin typeface="Arial Narrow" panose="020B0606020202030204" pitchFamily="34" charset="0"/>
              </a:endParaRPr>
            </a:p>
          </p:txBody>
        </p:sp>
      </p:grpSp>
      <p:sp>
        <p:nvSpPr>
          <p:cNvPr id="8" name="21 Rectángulo"/>
          <p:cNvSpPr/>
          <p:nvPr/>
        </p:nvSpPr>
        <p:spPr bwMode="auto">
          <a:xfrm>
            <a:off x="517396" y="2708920"/>
            <a:ext cx="6574884" cy="378565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</a:rPr>
              <a:t>Este aspecto se comienza a desarrollar a partir de la sanción de la ley de Prevención de lavado de activos del terrorismo y el narcotráfico, y posteriormente la creación de la UIF.</a:t>
            </a:r>
          </a:p>
          <a:p>
            <a:r>
              <a:rPr lang="es-MX" sz="2000" b="1" dirty="0">
                <a:solidFill>
                  <a:schemeClr val="bg1"/>
                </a:solidFill>
              </a:rPr>
              <a:t>Algunos de los riesgos importantes de prevenir son:</a:t>
            </a:r>
          </a:p>
          <a:p>
            <a:r>
              <a:rPr lang="es-MX" sz="2000" b="1" dirty="0">
                <a:solidFill>
                  <a:schemeClr val="bg1"/>
                </a:solidFill>
              </a:rPr>
              <a:t>Riesgos de Mercado; </a:t>
            </a:r>
          </a:p>
          <a:p>
            <a:r>
              <a:rPr lang="es-MX" sz="2000" b="1" dirty="0">
                <a:solidFill>
                  <a:schemeClr val="bg1"/>
                </a:solidFill>
              </a:rPr>
              <a:t>Riesgo de Proveedores; </a:t>
            </a:r>
          </a:p>
          <a:p>
            <a:r>
              <a:rPr lang="es-MX" sz="2000" b="1" dirty="0">
                <a:solidFill>
                  <a:schemeClr val="bg1"/>
                </a:solidFill>
              </a:rPr>
              <a:t>Riesgo Legal; </a:t>
            </a:r>
          </a:p>
          <a:p>
            <a:r>
              <a:rPr lang="es-MX" sz="2000" b="1" dirty="0">
                <a:solidFill>
                  <a:schemeClr val="bg1"/>
                </a:solidFill>
              </a:rPr>
              <a:t>Riesgo de Crédito; </a:t>
            </a:r>
          </a:p>
          <a:p>
            <a:r>
              <a:rPr lang="es-MX" sz="2000" b="1" dirty="0">
                <a:solidFill>
                  <a:schemeClr val="bg1"/>
                </a:solidFill>
              </a:rPr>
              <a:t>Riesgo de estructura; </a:t>
            </a:r>
          </a:p>
          <a:p>
            <a:r>
              <a:rPr lang="es-MX" sz="2000" b="1" dirty="0">
                <a:solidFill>
                  <a:schemeClr val="bg1"/>
                </a:solidFill>
              </a:rPr>
              <a:t>Riesgo informático.</a:t>
            </a:r>
          </a:p>
          <a:p>
            <a:r>
              <a:rPr lang="es-MX" sz="2000" b="1" dirty="0">
                <a:solidFill>
                  <a:schemeClr val="bg1"/>
                </a:solidFill>
              </a:rPr>
              <a:t>Afectan especialmente a las entidades que prestan el servicio de ayuda económica mutual.</a:t>
            </a:r>
          </a:p>
        </p:txBody>
      </p:sp>
    </p:spTree>
    <p:extLst>
      <p:ext uri="{BB962C8B-B14F-4D97-AF65-F5344CB8AC3E}">
        <p14:creationId xmlns:p14="http://schemas.microsoft.com/office/powerpoint/2010/main" val="2452712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4 Marcador de número de diapositiva"/>
          <p:cNvSpPr txBox="1">
            <a:spLocks/>
          </p:cNvSpPr>
          <p:nvPr/>
        </p:nvSpPr>
        <p:spPr>
          <a:xfrm>
            <a:off x="118582" y="6525344"/>
            <a:ext cx="398814" cy="332656"/>
          </a:xfrm>
          <a:prstGeom prst="rect">
            <a:avLst/>
          </a:prstGeom>
        </p:spPr>
        <p:txBody>
          <a:bodyPr/>
          <a:lstStyle/>
          <a:p>
            <a:pPr algn="r">
              <a:defRPr/>
            </a:pPr>
            <a:fld id="{36E559FE-78AC-4F99-BF93-3503C01DAB20}" type="slidenum">
              <a:rPr lang="es-ES" sz="1200" b="1">
                <a:latin typeface="+mn-lt"/>
              </a:rPr>
              <a:pPr algn="r">
                <a:defRPr/>
              </a:pPr>
              <a:t>25</a:t>
            </a:fld>
            <a:endParaRPr lang="es-ES" sz="1200" b="1" dirty="0">
              <a:latin typeface="+mn-lt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498" y="625043"/>
            <a:ext cx="3770460" cy="2515925"/>
          </a:xfrm>
          <a:prstGeom prst="rect">
            <a:avLst/>
          </a:prstGeom>
        </p:spPr>
      </p:pic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293648" y="116632"/>
            <a:ext cx="7776797" cy="58477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AR"/>
            </a:defPPr>
            <a:lvl1pPr algn="ctr">
              <a:spcBef>
                <a:spcPct val="50000"/>
              </a:spcBef>
              <a:buClr>
                <a:srgbClr val="CC1204"/>
              </a:buClr>
              <a:defRPr b="1">
                <a:solidFill>
                  <a:srgbClr val="FFFFFF"/>
                </a:solidFill>
              </a:defRPr>
            </a:lvl1pPr>
          </a:lstStyle>
          <a:p>
            <a:r>
              <a:rPr lang="es-AR" sz="3200" dirty="0"/>
              <a:t>Sugerencias de lectura</a:t>
            </a:r>
            <a:endParaRPr lang="es-ES" sz="3200" dirty="0"/>
          </a:p>
        </p:txBody>
      </p:sp>
      <p:sp>
        <p:nvSpPr>
          <p:cNvPr id="3" name="21 Rectángulo">
            <a:extLst>
              <a:ext uri="{FF2B5EF4-FFF2-40B4-BE49-F238E27FC236}">
                <a16:creationId xmlns:a16="http://schemas.microsoft.com/office/drawing/2014/main" id="{88FC0360-24D2-743C-2E84-972489B6F81A}"/>
              </a:ext>
            </a:extLst>
          </p:cNvPr>
          <p:cNvSpPr/>
          <p:nvPr/>
        </p:nvSpPr>
        <p:spPr bwMode="auto">
          <a:xfrm>
            <a:off x="517396" y="2708920"/>
            <a:ext cx="6574884" cy="317009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s-MX" sz="2000" b="1" dirty="0">
                <a:solidFill>
                  <a:schemeClr val="bg1"/>
                </a:solidFill>
              </a:rPr>
              <a:t>Sugerencias de lectura: </a:t>
            </a:r>
          </a:p>
          <a:p>
            <a:pPr lvl="1"/>
            <a:endParaRPr lang="es-MX" sz="2000" b="1" dirty="0">
              <a:solidFill>
                <a:schemeClr val="bg1"/>
              </a:solidFill>
            </a:endParaRPr>
          </a:p>
          <a:p>
            <a:pPr lvl="1"/>
            <a:r>
              <a:rPr lang="es-MX" sz="2000" b="1" dirty="0">
                <a:solidFill>
                  <a:schemeClr val="bg1"/>
                </a:solidFill>
              </a:rPr>
              <a:t>Publicaciones de la DGRV</a:t>
            </a:r>
          </a:p>
          <a:p>
            <a:pPr lvl="1"/>
            <a:endParaRPr lang="es-MX" sz="2000" b="1" dirty="0">
              <a:solidFill>
                <a:schemeClr val="bg1"/>
              </a:solidFill>
            </a:endParaRPr>
          </a:p>
          <a:p>
            <a:pPr lvl="1"/>
            <a:r>
              <a:rPr lang="es-MX" sz="2000" b="1" dirty="0">
                <a:solidFill>
                  <a:schemeClr val="bg1"/>
                </a:solidFill>
              </a:rPr>
              <a:t>Raúl Alfonsín: “El problema de la Gobernabilidad en la nueva Globalización”</a:t>
            </a:r>
          </a:p>
          <a:p>
            <a:pPr lvl="1"/>
            <a:endParaRPr lang="es-MX" sz="2000" b="1" dirty="0">
              <a:solidFill>
                <a:schemeClr val="bg1"/>
              </a:solidFill>
            </a:endParaRPr>
          </a:p>
          <a:p>
            <a:pPr lvl="1"/>
            <a:r>
              <a:rPr lang="es-MX" sz="2000" b="1" dirty="0">
                <a:solidFill>
                  <a:schemeClr val="bg1"/>
                </a:solidFill>
              </a:rPr>
              <a:t>Códigos de Buen Gobierno Corporativo</a:t>
            </a:r>
          </a:p>
          <a:p>
            <a:pPr lvl="1"/>
            <a:endParaRPr lang="es-MX" sz="2000" b="1" dirty="0">
              <a:solidFill>
                <a:schemeClr val="bg1"/>
              </a:solidFill>
            </a:endParaRPr>
          </a:p>
          <a:p>
            <a:pPr lvl="1"/>
            <a:r>
              <a:rPr lang="es-MX" sz="2000" b="1" dirty="0">
                <a:solidFill>
                  <a:schemeClr val="bg1"/>
                </a:solidFill>
              </a:rPr>
              <a:t>Recomendaciones de la OCDE </a:t>
            </a:r>
          </a:p>
        </p:txBody>
      </p:sp>
    </p:spTree>
    <p:extLst>
      <p:ext uri="{BB962C8B-B14F-4D97-AF65-F5344CB8AC3E}">
        <p14:creationId xmlns:p14="http://schemas.microsoft.com/office/powerpoint/2010/main" val="385958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58" y="1087284"/>
            <a:ext cx="5530935" cy="5770716"/>
          </a:xfrm>
          <a:prstGeom prst="rect">
            <a:avLst/>
          </a:prstGeom>
        </p:spPr>
      </p:pic>
      <p:sp>
        <p:nvSpPr>
          <p:cNvPr id="589826" name="Text Box 2"/>
          <p:cNvSpPr txBox="1">
            <a:spLocks noChangeArrowheads="1"/>
          </p:cNvSpPr>
          <p:nvPr/>
        </p:nvSpPr>
        <p:spPr bwMode="auto">
          <a:xfrm>
            <a:off x="827088" y="620713"/>
            <a:ext cx="79216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endParaRPr lang="es-ES_tradnl" sz="2000"/>
          </a:p>
        </p:txBody>
      </p:sp>
      <p:sp>
        <p:nvSpPr>
          <p:cNvPr id="8" name="7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BADB8-01D5-4858-A08F-33CE84EC692D}" type="slidenum">
              <a:rPr lang="es-AR" smtClean="0"/>
              <a:pPr/>
              <a:t>26</a:t>
            </a:fld>
            <a:endParaRPr lang="es-AR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000496" y="5500702"/>
            <a:ext cx="4786346" cy="36933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s-AR" b="1" dirty="0">
                <a:solidFill>
                  <a:schemeClr val="bg1"/>
                </a:solidFill>
              </a:rPr>
              <a:t>¡Muchas gracias por tu atención!</a:t>
            </a:r>
          </a:p>
        </p:txBody>
      </p:sp>
    </p:spTree>
    <p:extLst>
      <p:ext uri="{BB962C8B-B14F-4D97-AF65-F5344CB8AC3E}">
        <p14:creationId xmlns:p14="http://schemas.microsoft.com/office/powerpoint/2010/main" val="10811420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13110</TotalTime>
  <Words>2311</Words>
  <Application>Microsoft Office PowerPoint</Application>
  <PresentationFormat>Presentación en pantalla (4:3)</PresentationFormat>
  <Paragraphs>122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Arial</vt:lpstr>
      <vt:lpstr>Arial Narrow</vt:lpstr>
      <vt:lpstr>Calibri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Sony Electronics,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JULY</dc:creator>
  <cp:lastModifiedBy>Alberto Chichilnitzky</cp:lastModifiedBy>
  <cp:revision>1373</cp:revision>
  <cp:lastPrinted>2018-10-20T18:00:43Z</cp:lastPrinted>
  <dcterms:created xsi:type="dcterms:W3CDTF">2011-05-03T20:44:05Z</dcterms:created>
  <dcterms:modified xsi:type="dcterms:W3CDTF">2023-09-16T15:01:50Z</dcterms:modified>
</cp:coreProperties>
</file>