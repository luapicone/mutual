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 id="2147483768" r:id="rId2"/>
  </p:sldMasterIdLst>
  <p:notesMasterIdLst>
    <p:notesMasterId r:id="rId26"/>
  </p:notesMasterIdLst>
  <p:sldIdLst>
    <p:sldId id="263" r:id="rId3"/>
    <p:sldId id="333" r:id="rId4"/>
    <p:sldId id="305" r:id="rId5"/>
    <p:sldId id="334" r:id="rId6"/>
    <p:sldId id="330" r:id="rId7"/>
    <p:sldId id="338" r:id="rId8"/>
    <p:sldId id="315" r:id="rId9"/>
    <p:sldId id="314" r:id="rId10"/>
    <p:sldId id="302" r:id="rId11"/>
    <p:sldId id="329" r:id="rId12"/>
    <p:sldId id="327" r:id="rId13"/>
    <p:sldId id="335" r:id="rId14"/>
    <p:sldId id="350" r:id="rId15"/>
    <p:sldId id="351" r:id="rId16"/>
    <p:sldId id="339" r:id="rId17"/>
    <p:sldId id="268" r:id="rId18"/>
    <p:sldId id="345" r:id="rId19"/>
    <p:sldId id="358" r:id="rId20"/>
    <p:sldId id="341" r:id="rId21"/>
    <p:sldId id="359" r:id="rId22"/>
    <p:sldId id="337" r:id="rId23"/>
    <p:sldId id="340" r:id="rId24"/>
    <p:sldId id="261" r:id="rId25"/>
  </p:sldIdLst>
  <p:sldSz cx="9144000" cy="6858000" type="screen4x3"/>
  <p:notesSz cx="6858000" cy="9144000"/>
  <p:defaultText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60"/>
    <p:restoredTop sz="94714"/>
  </p:normalViewPr>
  <p:slideViewPr>
    <p:cSldViewPr>
      <p:cViewPr varScale="1">
        <p:scale>
          <a:sx n="70" d="100"/>
          <a:sy n="70" d="100"/>
        </p:scale>
        <p:origin x="1598" y="2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kes\Documents\Estad&#237;sticas\Macr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114012788664704E-2"/>
          <c:y val="3.2847039953339201E-2"/>
          <c:w val="0.90005231881415204"/>
          <c:h val="0.76915427238261902"/>
        </c:manualLayout>
      </c:layout>
      <c:barChart>
        <c:barDir val="col"/>
        <c:grouping val="clustered"/>
        <c:varyColors val="0"/>
        <c:ser>
          <c:idx val="2"/>
          <c:order val="1"/>
          <c:tx>
            <c:strRef>
              <c:f>'Proyección macro FMI'!$D$2</c:f>
              <c:strCache>
                <c:ptCount val="1"/>
                <c:pt idx="0">
                  <c:v>Consumo</c:v>
                </c:pt>
              </c:strCache>
            </c:strRef>
          </c:tx>
          <c:spPr>
            <a:solidFill>
              <a:srgbClr val="A91460"/>
            </a:solidFill>
            <a:ln>
              <a:solidFill>
                <a:schemeClr val="bg1">
                  <a:lumMod val="50000"/>
                </a:schemeClr>
              </a:solidFill>
            </a:ln>
            <a:effectLst/>
          </c:spPr>
          <c:invertIfNegative val="0"/>
          <c:cat>
            <c:numRef>
              <c:f>'Proyección macro FMI'!$B$3:$B$8</c:f>
              <c:numCache>
                <c:formatCode>General</c:formatCode>
                <c:ptCount val="6"/>
                <c:pt idx="0">
                  <c:v>2022</c:v>
                </c:pt>
                <c:pt idx="1">
                  <c:v>2023</c:v>
                </c:pt>
                <c:pt idx="2">
                  <c:v>2024</c:v>
                </c:pt>
                <c:pt idx="3">
                  <c:v>2025</c:v>
                </c:pt>
                <c:pt idx="4">
                  <c:v>2026</c:v>
                </c:pt>
                <c:pt idx="5">
                  <c:v>2027</c:v>
                </c:pt>
              </c:numCache>
            </c:numRef>
          </c:cat>
          <c:val>
            <c:numRef>
              <c:f>'Proyección macro FMI'!$D$3:$D$8</c:f>
              <c:numCache>
                <c:formatCode>0.0%</c:formatCode>
                <c:ptCount val="6"/>
                <c:pt idx="0">
                  <c:v>5.7000000000000002E-2</c:v>
                </c:pt>
                <c:pt idx="1">
                  <c:v>2.7E-2</c:v>
                </c:pt>
                <c:pt idx="2">
                  <c:v>2.3E-2</c:v>
                </c:pt>
                <c:pt idx="3">
                  <c:v>1.7999999999999999E-2</c:v>
                </c:pt>
                <c:pt idx="4">
                  <c:v>0.02</c:v>
                </c:pt>
                <c:pt idx="5">
                  <c:v>2.1000000000000001E-2</c:v>
                </c:pt>
              </c:numCache>
            </c:numRef>
          </c:val>
          <c:extLst>
            <c:ext xmlns:c16="http://schemas.microsoft.com/office/drawing/2014/chart" uri="{C3380CC4-5D6E-409C-BE32-E72D297353CC}">
              <c16:uniqueId val="{00000002-9F4A-5143-909A-F3ACA6ED1837}"/>
            </c:ext>
          </c:extLst>
        </c:ser>
        <c:ser>
          <c:idx val="3"/>
          <c:order val="2"/>
          <c:tx>
            <c:strRef>
              <c:f>'Proyección macro FMI'!$E$2</c:f>
              <c:strCache>
                <c:ptCount val="1"/>
                <c:pt idx="0">
                  <c:v>Inversión</c:v>
                </c:pt>
              </c:strCache>
            </c:strRef>
          </c:tx>
          <c:spPr>
            <a:solidFill>
              <a:srgbClr val="F1D80D"/>
            </a:solidFill>
            <a:ln>
              <a:solidFill>
                <a:schemeClr val="bg1">
                  <a:lumMod val="50000"/>
                </a:schemeClr>
              </a:solidFill>
            </a:ln>
            <a:effectLst/>
          </c:spPr>
          <c:invertIfNegative val="0"/>
          <c:cat>
            <c:numRef>
              <c:f>'Proyección macro FMI'!$B$3:$B$8</c:f>
              <c:numCache>
                <c:formatCode>General</c:formatCode>
                <c:ptCount val="6"/>
                <c:pt idx="0">
                  <c:v>2022</c:v>
                </c:pt>
                <c:pt idx="1">
                  <c:v>2023</c:v>
                </c:pt>
                <c:pt idx="2">
                  <c:v>2024</c:v>
                </c:pt>
                <c:pt idx="3">
                  <c:v>2025</c:v>
                </c:pt>
                <c:pt idx="4">
                  <c:v>2026</c:v>
                </c:pt>
                <c:pt idx="5">
                  <c:v>2027</c:v>
                </c:pt>
              </c:numCache>
            </c:numRef>
          </c:cat>
          <c:val>
            <c:numRef>
              <c:f>'Proyección macro FMI'!$E$3:$E$8</c:f>
              <c:numCache>
                <c:formatCode>0.0%</c:formatCode>
                <c:ptCount val="6"/>
                <c:pt idx="0">
                  <c:v>2.8000000000000001E-2</c:v>
                </c:pt>
                <c:pt idx="1">
                  <c:v>3.5999999999999997E-2</c:v>
                </c:pt>
                <c:pt idx="2">
                  <c:v>3.6999999999999998E-2</c:v>
                </c:pt>
                <c:pt idx="3">
                  <c:v>2.5999999999999999E-2</c:v>
                </c:pt>
                <c:pt idx="4">
                  <c:v>2.5000000000000001E-2</c:v>
                </c:pt>
                <c:pt idx="5">
                  <c:v>2.5999999999999999E-2</c:v>
                </c:pt>
              </c:numCache>
            </c:numRef>
          </c:val>
          <c:extLst>
            <c:ext xmlns:c16="http://schemas.microsoft.com/office/drawing/2014/chart" uri="{C3380CC4-5D6E-409C-BE32-E72D297353CC}">
              <c16:uniqueId val="{00000003-9F4A-5143-909A-F3ACA6ED1837}"/>
            </c:ext>
          </c:extLst>
        </c:ser>
        <c:dLbls>
          <c:showLegendKey val="0"/>
          <c:showVal val="0"/>
          <c:showCatName val="0"/>
          <c:showSerName val="0"/>
          <c:showPercent val="0"/>
          <c:showBubbleSize val="0"/>
        </c:dLbls>
        <c:gapWidth val="100"/>
        <c:overlap val="-50"/>
        <c:axId val="12842752"/>
        <c:axId val="12845040"/>
      </c:barChart>
      <c:lineChart>
        <c:grouping val="standard"/>
        <c:varyColors val="0"/>
        <c:ser>
          <c:idx val="0"/>
          <c:order val="0"/>
          <c:tx>
            <c:strRef>
              <c:f>'Proyección macro FMI'!$C$2</c:f>
              <c:strCache>
                <c:ptCount val="1"/>
                <c:pt idx="0">
                  <c:v>PBI</c:v>
                </c:pt>
              </c:strCache>
            </c:strRef>
          </c:tx>
          <c:spPr>
            <a:ln w="38100" cap="rnd">
              <a:solidFill>
                <a:schemeClr val="tx1">
                  <a:lumMod val="50000"/>
                  <a:lumOff val="50000"/>
                </a:schemeClr>
              </a:solidFill>
              <a:round/>
            </a:ln>
            <a:effectLst/>
          </c:spPr>
          <c:marker>
            <c:symbol val="diamond"/>
            <c:size val="10"/>
            <c:spPr>
              <a:solidFill>
                <a:schemeClr val="accent3">
                  <a:lumMod val="20000"/>
                  <a:lumOff val="80000"/>
                </a:schemeClr>
              </a:solidFill>
              <a:ln w="38100">
                <a:solidFill>
                  <a:schemeClr val="tx1">
                    <a:lumMod val="50000"/>
                    <a:lumOff val="50000"/>
                  </a:schemeClr>
                </a:solidFill>
              </a:ln>
              <a:effectLst/>
            </c:spPr>
          </c:marker>
          <c:dLbls>
            <c:dLbl>
              <c:idx val="0"/>
              <c:layout>
                <c:manualLayout>
                  <c:x val="-2.9394885451950398E-3"/>
                  <c:y val="-7.452223618346009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319-6945-8C62-60C147BE1A96}"/>
                </c:ext>
              </c:extLst>
            </c:dLbl>
            <c:dLbl>
              <c:idx val="1"/>
              <c:layout>
                <c:manualLayout>
                  <c:x val="-2.9394885451950398E-3"/>
                  <c:y val="-2.48407453944866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319-6945-8C62-60C147BE1A96}"/>
                </c:ext>
              </c:extLst>
            </c:dLbl>
            <c:dLbl>
              <c:idx val="2"/>
              <c:layout>
                <c:manualLayout>
                  <c:x val="-1.46974427259757E-3"/>
                  <c:y val="-4.968149078897339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319-6945-8C62-60C147BE1A96}"/>
                </c:ext>
              </c:extLst>
            </c:dLbl>
            <c:dLbl>
              <c:idx val="3"/>
              <c:layout>
                <c:manualLayout>
                  <c:x val="-2.9394885451950398E-3"/>
                  <c:y val="-2.73248199339353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319-6945-8C62-60C147BE1A96}"/>
                </c:ext>
              </c:extLst>
            </c:dLbl>
            <c:dLbl>
              <c:idx val="4"/>
              <c:layout>
                <c:manualLayout>
                  <c:x val="-2.9394885451950398E-3"/>
                  <c:y val="-2.73248199339353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319-6945-8C62-60C147BE1A96}"/>
                </c:ext>
              </c:extLst>
            </c:dLbl>
            <c:dLbl>
              <c:idx val="5"/>
              <c:layout>
                <c:manualLayout>
                  <c:x val="-1.9106675543767802E-2"/>
                  <c:y val="-2.73248199339353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319-6945-8C62-60C147BE1A96}"/>
                </c:ext>
              </c:extLst>
            </c:dLbl>
            <c:spPr>
              <a:noFill/>
              <a:ln>
                <a:noFill/>
              </a:ln>
              <a:effectLst/>
            </c:spPr>
            <c:txPr>
              <a:bodyPr/>
              <a:lstStyle/>
              <a:p>
                <a:pPr>
                  <a:defRPr sz="1400" b="1"/>
                </a:pPr>
                <a:endParaRPr lang="es-UY"/>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'Proyección macro FMI'!$B$3:$B$8</c:f>
              <c:numCache>
                <c:formatCode>General</c:formatCode>
                <c:ptCount val="6"/>
                <c:pt idx="0">
                  <c:v>2022</c:v>
                </c:pt>
                <c:pt idx="1">
                  <c:v>2023</c:v>
                </c:pt>
                <c:pt idx="2">
                  <c:v>2024</c:v>
                </c:pt>
                <c:pt idx="3">
                  <c:v>2025</c:v>
                </c:pt>
                <c:pt idx="4">
                  <c:v>2026</c:v>
                </c:pt>
                <c:pt idx="5">
                  <c:v>2027</c:v>
                </c:pt>
              </c:numCache>
            </c:numRef>
          </c:cat>
          <c:val>
            <c:numRef>
              <c:f>'Proyección macro FMI'!$C$3:$C$8</c:f>
              <c:numCache>
                <c:formatCode>0.0%</c:formatCode>
                <c:ptCount val="6"/>
                <c:pt idx="0">
                  <c:v>0.04</c:v>
                </c:pt>
                <c:pt idx="1">
                  <c:v>0.03</c:v>
                </c:pt>
                <c:pt idx="2">
                  <c:v>2.8000000000000001E-2</c:v>
                </c:pt>
                <c:pt idx="3">
                  <c:v>0.02</c:v>
                </c:pt>
                <c:pt idx="4">
                  <c:v>0.02</c:v>
                </c:pt>
                <c:pt idx="5">
                  <c:v>0.02</c:v>
                </c:pt>
              </c:numCache>
            </c:numRef>
          </c:val>
          <c:smooth val="0"/>
          <c:extLst>
            <c:ext xmlns:c16="http://schemas.microsoft.com/office/drawing/2014/chart" uri="{C3380CC4-5D6E-409C-BE32-E72D297353CC}">
              <c16:uniqueId val="{00000000-9F4A-5143-909A-F3ACA6ED1837}"/>
            </c:ext>
          </c:extLst>
        </c:ser>
        <c:dLbls>
          <c:showLegendKey val="0"/>
          <c:showVal val="0"/>
          <c:showCatName val="0"/>
          <c:showSerName val="0"/>
          <c:showPercent val="0"/>
          <c:showBubbleSize val="0"/>
        </c:dLbls>
        <c:marker val="1"/>
        <c:smooth val="0"/>
        <c:axId val="12842752"/>
        <c:axId val="12845040"/>
      </c:lineChart>
      <c:catAx>
        <c:axId val="12842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ontserrat" panose="02000505000000020004" pitchFamily="2" charset="77"/>
                <a:ea typeface="+mn-ea"/>
                <a:cs typeface="+mn-cs"/>
              </a:defRPr>
            </a:pPr>
            <a:endParaRPr lang="es-UY"/>
          </a:p>
        </c:txPr>
        <c:crossAx val="12845040"/>
        <c:crosses val="autoZero"/>
        <c:auto val="1"/>
        <c:lblAlgn val="ctr"/>
        <c:lblOffset val="0"/>
        <c:noMultiLvlLbl val="0"/>
      </c:catAx>
      <c:valAx>
        <c:axId val="12845040"/>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ontserrat" panose="02000505000000020004" pitchFamily="2" charset="77"/>
                <a:ea typeface="+mn-ea"/>
                <a:cs typeface="+mn-cs"/>
              </a:defRPr>
            </a:pPr>
            <a:endParaRPr lang="es-UY"/>
          </a:p>
        </c:txPr>
        <c:crossAx val="12842752"/>
        <c:crosses val="autoZero"/>
        <c:crossBetween val="between"/>
      </c:valAx>
      <c:spPr>
        <a:noFill/>
        <a:ln>
          <a:noFill/>
        </a:ln>
        <a:effectLst/>
      </c:spPr>
    </c:plotArea>
    <c:legend>
      <c:legendPos val="b"/>
      <c:layout>
        <c:manualLayout>
          <c:xMode val="edge"/>
          <c:yMode val="edge"/>
          <c:x val="0.175516841644794"/>
          <c:y val="0.92189705453485005"/>
          <c:w val="0.63156780402449697"/>
          <c:h val="7.8102945465150203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75000"/>
                  <a:lumOff val="25000"/>
                </a:schemeClr>
              </a:solidFill>
              <a:latin typeface="Montserrat" panose="02000505000000020004" pitchFamily="2" charset="77"/>
              <a:ea typeface="+mn-ea"/>
              <a:cs typeface="+mn-cs"/>
            </a:defRPr>
          </a:pPr>
          <a:endParaRPr lang="es-UY"/>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s-UY"/>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8F20D-1269-8B49-B84D-859BBD441FAD}" type="datetimeFigureOut">
              <a:rPr lang="en-US" smtClean="0"/>
              <a:t>4/6/2026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D2D06A-C8B5-B64D-8E8B-0B794D596AB5}" type="slidenum">
              <a:rPr lang="en-US" smtClean="0"/>
              <a:t>‹Nº›</a:t>
            </a:fld>
            <a:endParaRPr lang="en-US"/>
          </a:p>
        </p:txBody>
      </p:sp>
    </p:spTree>
    <p:extLst>
      <p:ext uri="{BB962C8B-B14F-4D97-AF65-F5344CB8AC3E}">
        <p14:creationId xmlns:p14="http://schemas.microsoft.com/office/powerpoint/2010/main" val="6186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6CF7C9-2552-6E46-E89F-5B8CB889822A}"/>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UY"/>
          </a:p>
        </p:txBody>
      </p:sp>
      <p:sp>
        <p:nvSpPr>
          <p:cNvPr id="3" name="Subtítulo 2">
            <a:extLst>
              <a:ext uri="{FF2B5EF4-FFF2-40B4-BE49-F238E27FC236}">
                <a16:creationId xmlns:a16="http://schemas.microsoft.com/office/drawing/2014/main" id="{2A6A2A63-E1CC-51DF-21C8-1D39FC257B1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UY"/>
          </a:p>
        </p:txBody>
      </p:sp>
      <p:sp>
        <p:nvSpPr>
          <p:cNvPr id="4" name="Marcador de fecha 3">
            <a:extLst>
              <a:ext uri="{FF2B5EF4-FFF2-40B4-BE49-F238E27FC236}">
                <a16:creationId xmlns:a16="http://schemas.microsoft.com/office/drawing/2014/main" id="{3D56CFBB-9974-DEC5-4090-90E075589EBE}"/>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Marcador de pie de página 4">
            <a:extLst>
              <a:ext uri="{FF2B5EF4-FFF2-40B4-BE49-F238E27FC236}">
                <a16:creationId xmlns:a16="http://schemas.microsoft.com/office/drawing/2014/main" id="{4A0FF38C-61A1-B825-136C-27C3F6FA8A3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9DE218B-1F84-2948-00CE-67FB11EAF4AC}"/>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2061443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43FB48-47D0-0F24-E7F6-51D8D3A53BDF}"/>
              </a:ext>
            </a:extLst>
          </p:cNvPr>
          <p:cNvSpPr>
            <a:spLocks noGrp="1"/>
          </p:cNvSpPr>
          <p:nvPr>
            <p:ph type="title"/>
          </p:nvPr>
        </p:nvSpPr>
        <p:spPr/>
        <p:txBody>
          <a:bodyPr/>
          <a:lstStyle/>
          <a:p>
            <a:r>
              <a:rPr lang="es-ES"/>
              <a:t>Haga clic para modificar el estilo de título del patrón</a:t>
            </a:r>
            <a:endParaRPr lang="es-UY"/>
          </a:p>
        </p:txBody>
      </p:sp>
      <p:sp>
        <p:nvSpPr>
          <p:cNvPr id="3" name="Marcador de contenido 2">
            <a:extLst>
              <a:ext uri="{FF2B5EF4-FFF2-40B4-BE49-F238E27FC236}">
                <a16:creationId xmlns:a16="http://schemas.microsoft.com/office/drawing/2014/main" id="{0B8FEC3A-F53C-23DA-8D57-8723DE28A39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fecha 3">
            <a:extLst>
              <a:ext uri="{FF2B5EF4-FFF2-40B4-BE49-F238E27FC236}">
                <a16:creationId xmlns:a16="http://schemas.microsoft.com/office/drawing/2014/main" id="{E65BE470-EE2D-98B3-F812-3379BE18B0E2}"/>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Marcador de pie de página 4">
            <a:extLst>
              <a:ext uri="{FF2B5EF4-FFF2-40B4-BE49-F238E27FC236}">
                <a16:creationId xmlns:a16="http://schemas.microsoft.com/office/drawing/2014/main" id="{8B6BCDA2-381E-6758-0856-1A385F08C42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447D344-94DE-808C-000F-70E3EBDA5CE9}"/>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938473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1BEA5A-A117-6171-BB1F-86EBB8E66017}"/>
              </a:ext>
            </a:extLst>
          </p:cNvPr>
          <p:cNvSpPr>
            <a:spLocks noGrp="1"/>
          </p:cNvSpPr>
          <p:nvPr>
            <p:ph type="title"/>
          </p:nvPr>
        </p:nvSpPr>
        <p:spPr>
          <a:xfrm>
            <a:off x="623887" y="1709738"/>
            <a:ext cx="7886700" cy="2852737"/>
          </a:xfrm>
        </p:spPr>
        <p:txBody>
          <a:bodyPr anchor="b"/>
          <a:lstStyle>
            <a:lvl1pPr>
              <a:defRPr sz="4500"/>
            </a:lvl1pPr>
          </a:lstStyle>
          <a:p>
            <a:r>
              <a:rPr lang="es-ES"/>
              <a:t>Haga clic para modificar el estilo de título del patrón</a:t>
            </a:r>
            <a:endParaRPr lang="es-UY"/>
          </a:p>
        </p:txBody>
      </p:sp>
      <p:sp>
        <p:nvSpPr>
          <p:cNvPr id="3" name="Marcador de texto 2">
            <a:extLst>
              <a:ext uri="{FF2B5EF4-FFF2-40B4-BE49-F238E27FC236}">
                <a16:creationId xmlns:a16="http://schemas.microsoft.com/office/drawing/2014/main" id="{7B5C0FF9-C981-FD03-733C-5EA7D5F96E3C}"/>
              </a:ext>
            </a:extLst>
          </p:cNvPr>
          <p:cNvSpPr>
            <a:spLocks noGrp="1"/>
          </p:cNvSpPr>
          <p:nvPr>
            <p:ph type="body" idx="1"/>
          </p:nvPr>
        </p:nvSpPr>
        <p:spPr>
          <a:xfrm>
            <a:off x="623887"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F646A74-7594-E08F-D30C-2FA2FC2EE884}"/>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Marcador de pie de página 4">
            <a:extLst>
              <a:ext uri="{FF2B5EF4-FFF2-40B4-BE49-F238E27FC236}">
                <a16:creationId xmlns:a16="http://schemas.microsoft.com/office/drawing/2014/main" id="{DC8279DF-09CF-3085-DE61-FA7096368CF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D0314F4-B5BA-534F-7A75-541029DFE957}"/>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331348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6D9400-4653-29CD-279F-A2CBD70C607F}"/>
              </a:ext>
            </a:extLst>
          </p:cNvPr>
          <p:cNvSpPr>
            <a:spLocks noGrp="1"/>
          </p:cNvSpPr>
          <p:nvPr>
            <p:ph type="title"/>
          </p:nvPr>
        </p:nvSpPr>
        <p:spPr/>
        <p:txBody>
          <a:bodyPr/>
          <a:lstStyle/>
          <a:p>
            <a:r>
              <a:rPr lang="es-ES"/>
              <a:t>Haga clic para modificar el estilo de título del patrón</a:t>
            </a:r>
            <a:endParaRPr lang="es-UY"/>
          </a:p>
        </p:txBody>
      </p:sp>
      <p:sp>
        <p:nvSpPr>
          <p:cNvPr id="3" name="Marcador de contenido 2">
            <a:extLst>
              <a:ext uri="{FF2B5EF4-FFF2-40B4-BE49-F238E27FC236}">
                <a16:creationId xmlns:a16="http://schemas.microsoft.com/office/drawing/2014/main" id="{E769BDA8-E45F-7508-57F2-BD1520AD9AFF}"/>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contenido 3">
            <a:extLst>
              <a:ext uri="{FF2B5EF4-FFF2-40B4-BE49-F238E27FC236}">
                <a16:creationId xmlns:a16="http://schemas.microsoft.com/office/drawing/2014/main" id="{B6CC77AE-9E41-9AFE-3478-3424C2282036}"/>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5" name="Marcador de fecha 4">
            <a:extLst>
              <a:ext uri="{FF2B5EF4-FFF2-40B4-BE49-F238E27FC236}">
                <a16:creationId xmlns:a16="http://schemas.microsoft.com/office/drawing/2014/main" id="{D1DEBA68-B442-73FF-C06B-D2882C7E1489}"/>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6" name="Marcador de pie de página 5">
            <a:extLst>
              <a:ext uri="{FF2B5EF4-FFF2-40B4-BE49-F238E27FC236}">
                <a16:creationId xmlns:a16="http://schemas.microsoft.com/office/drawing/2014/main" id="{FDDFF62C-B0D5-4F18-F28A-6630C41C406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6A5B007-C1D7-4821-09F8-B147E1864B4F}"/>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3709585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088E7D-0623-16C1-8926-9058407B8BD5}"/>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UY"/>
          </a:p>
        </p:txBody>
      </p:sp>
      <p:sp>
        <p:nvSpPr>
          <p:cNvPr id="3" name="Marcador de texto 2">
            <a:extLst>
              <a:ext uri="{FF2B5EF4-FFF2-40B4-BE49-F238E27FC236}">
                <a16:creationId xmlns:a16="http://schemas.microsoft.com/office/drawing/2014/main" id="{F439B7E6-56BB-513E-5712-F1C00AD3EB8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2FB73B8-94A3-DBC8-7880-6FA47183D193}"/>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5" name="Marcador de texto 4">
            <a:extLst>
              <a:ext uri="{FF2B5EF4-FFF2-40B4-BE49-F238E27FC236}">
                <a16:creationId xmlns:a16="http://schemas.microsoft.com/office/drawing/2014/main" id="{4C812EE0-C5EA-FCF0-608F-A210E016521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907BB2F-86EA-6AF4-D64F-10CE8793E9C6}"/>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7" name="Marcador de fecha 6">
            <a:extLst>
              <a:ext uri="{FF2B5EF4-FFF2-40B4-BE49-F238E27FC236}">
                <a16:creationId xmlns:a16="http://schemas.microsoft.com/office/drawing/2014/main" id="{B7A94A84-286B-6637-F9E8-D606CCBD3B4A}"/>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8" name="Marcador de pie de página 7">
            <a:extLst>
              <a:ext uri="{FF2B5EF4-FFF2-40B4-BE49-F238E27FC236}">
                <a16:creationId xmlns:a16="http://schemas.microsoft.com/office/drawing/2014/main" id="{AD5232E5-9AC4-72BA-8A4A-D0876D4E8D96}"/>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BD61F63A-DB56-4441-3D10-B95BC9CB37A4}"/>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20829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437367-156C-D4B3-3A15-67C75B84F829}"/>
              </a:ext>
            </a:extLst>
          </p:cNvPr>
          <p:cNvSpPr>
            <a:spLocks noGrp="1"/>
          </p:cNvSpPr>
          <p:nvPr>
            <p:ph type="title"/>
          </p:nvPr>
        </p:nvSpPr>
        <p:spPr/>
        <p:txBody>
          <a:bodyPr/>
          <a:lstStyle/>
          <a:p>
            <a:r>
              <a:rPr lang="es-ES"/>
              <a:t>Haga clic para modificar el estilo de título del patrón</a:t>
            </a:r>
            <a:endParaRPr lang="es-UY"/>
          </a:p>
        </p:txBody>
      </p:sp>
      <p:sp>
        <p:nvSpPr>
          <p:cNvPr id="3" name="Marcador de fecha 2">
            <a:extLst>
              <a:ext uri="{FF2B5EF4-FFF2-40B4-BE49-F238E27FC236}">
                <a16:creationId xmlns:a16="http://schemas.microsoft.com/office/drawing/2014/main" id="{BEEFC3DC-A236-9192-1BF1-68FC0F409F93}"/>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4" name="Marcador de pie de página 3">
            <a:extLst>
              <a:ext uri="{FF2B5EF4-FFF2-40B4-BE49-F238E27FC236}">
                <a16:creationId xmlns:a16="http://schemas.microsoft.com/office/drawing/2014/main" id="{47A4FCB6-1906-B73B-D8B2-23E33C2CA0EF}"/>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8634D78-7788-A092-58F7-F56D7BE86774}"/>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3950889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EE59378-FE90-7F8C-D51C-DE39C1F35565}"/>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3" name="Marcador de pie de página 2">
            <a:extLst>
              <a:ext uri="{FF2B5EF4-FFF2-40B4-BE49-F238E27FC236}">
                <a16:creationId xmlns:a16="http://schemas.microsoft.com/office/drawing/2014/main" id="{2FBFFA6D-66A9-B4D9-A793-F65E473B4890}"/>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F07F14E2-3A68-096D-2F3A-0FDE78511B99}"/>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2898792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C96911-C100-3474-359C-5443B1949DF8}"/>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UY"/>
          </a:p>
        </p:txBody>
      </p:sp>
      <p:sp>
        <p:nvSpPr>
          <p:cNvPr id="3" name="Marcador de contenido 2">
            <a:extLst>
              <a:ext uri="{FF2B5EF4-FFF2-40B4-BE49-F238E27FC236}">
                <a16:creationId xmlns:a16="http://schemas.microsoft.com/office/drawing/2014/main" id="{60E0DFB3-E7F0-9E31-73B8-F60D23B7459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texto 3">
            <a:extLst>
              <a:ext uri="{FF2B5EF4-FFF2-40B4-BE49-F238E27FC236}">
                <a16:creationId xmlns:a16="http://schemas.microsoft.com/office/drawing/2014/main" id="{E5CA9F59-F8E0-6318-1FF9-844CF1FBDD5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E074CC6-8ACE-8E0D-873E-B6C42614021E}"/>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6" name="Marcador de pie de página 5">
            <a:extLst>
              <a:ext uri="{FF2B5EF4-FFF2-40B4-BE49-F238E27FC236}">
                <a16:creationId xmlns:a16="http://schemas.microsoft.com/office/drawing/2014/main" id="{6E3DB68A-BFA5-DA49-BB5E-01D5C543712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2933A45-30F6-A5E0-4B7C-919AB70FB5BF}"/>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1374674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C8AB92-9695-FC3E-55A8-40D7315BFA42}"/>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UY"/>
          </a:p>
        </p:txBody>
      </p:sp>
      <p:sp>
        <p:nvSpPr>
          <p:cNvPr id="3" name="Marcador de posición de imagen 2">
            <a:extLst>
              <a:ext uri="{FF2B5EF4-FFF2-40B4-BE49-F238E27FC236}">
                <a16:creationId xmlns:a16="http://schemas.microsoft.com/office/drawing/2014/main" id="{AAB33A8A-ED8A-FE33-CC38-AE236F3F957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UY"/>
          </a:p>
        </p:txBody>
      </p:sp>
      <p:sp>
        <p:nvSpPr>
          <p:cNvPr id="4" name="Marcador de texto 3">
            <a:extLst>
              <a:ext uri="{FF2B5EF4-FFF2-40B4-BE49-F238E27FC236}">
                <a16:creationId xmlns:a16="http://schemas.microsoft.com/office/drawing/2014/main" id="{47667963-880D-1D14-C7BE-8D6341F6EBC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42DD3FA-2072-F908-8AFE-AAD4AED6DF99}"/>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6" name="Marcador de pie de página 5">
            <a:extLst>
              <a:ext uri="{FF2B5EF4-FFF2-40B4-BE49-F238E27FC236}">
                <a16:creationId xmlns:a16="http://schemas.microsoft.com/office/drawing/2014/main" id="{4E5D0A07-669E-AE66-FE19-FA873A1B567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CA6FB5B-EA84-B350-1CB8-24C3ACCFD67A}"/>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1450456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0F69DE-AEEB-F5B8-2C7A-F9BA125CF885}"/>
              </a:ext>
            </a:extLst>
          </p:cNvPr>
          <p:cNvSpPr>
            <a:spLocks noGrp="1"/>
          </p:cNvSpPr>
          <p:nvPr>
            <p:ph type="title"/>
          </p:nvPr>
        </p:nvSpPr>
        <p:spPr/>
        <p:txBody>
          <a:bodyPr/>
          <a:lstStyle/>
          <a:p>
            <a:r>
              <a:rPr lang="es-ES"/>
              <a:t>Haga clic para modificar el estilo de título del patrón</a:t>
            </a:r>
            <a:endParaRPr lang="es-UY"/>
          </a:p>
        </p:txBody>
      </p:sp>
      <p:sp>
        <p:nvSpPr>
          <p:cNvPr id="3" name="Marcador de texto vertical 2">
            <a:extLst>
              <a:ext uri="{FF2B5EF4-FFF2-40B4-BE49-F238E27FC236}">
                <a16:creationId xmlns:a16="http://schemas.microsoft.com/office/drawing/2014/main" id="{09A274EA-562C-85F3-169F-B47A34B8883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fecha 3">
            <a:extLst>
              <a:ext uri="{FF2B5EF4-FFF2-40B4-BE49-F238E27FC236}">
                <a16:creationId xmlns:a16="http://schemas.microsoft.com/office/drawing/2014/main" id="{F5F7A33E-2D29-CD20-AF71-BCDB6CA11849}"/>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Marcador de pie de página 4">
            <a:extLst>
              <a:ext uri="{FF2B5EF4-FFF2-40B4-BE49-F238E27FC236}">
                <a16:creationId xmlns:a16="http://schemas.microsoft.com/office/drawing/2014/main" id="{F50F5622-01D2-DE51-154C-7DBCFF8EF9D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3F2A792-6C6F-7277-5B82-D9B6EC3E5110}"/>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3899204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3CD0799-B207-BC77-C97E-F7F5CF06F53E}"/>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UY"/>
          </a:p>
        </p:txBody>
      </p:sp>
      <p:sp>
        <p:nvSpPr>
          <p:cNvPr id="3" name="Marcador de texto vertical 2">
            <a:extLst>
              <a:ext uri="{FF2B5EF4-FFF2-40B4-BE49-F238E27FC236}">
                <a16:creationId xmlns:a16="http://schemas.microsoft.com/office/drawing/2014/main" id="{3D0B83A0-5A65-CE9D-E4C9-ECC157EAD9CE}"/>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fecha 3">
            <a:extLst>
              <a:ext uri="{FF2B5EF4-FFF2-40B4-BE49-F238E27FC236}">
                <a16:creationId xmlns:a16="http://schemas.microsoft.com/office/drawing/2014/main" id="{6B677AE4-4756-7B08-C879-585BE95D6233}"/>
              </a:ext>
            </a:extLst>
          </p:cNvPr>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Marcador de pie de página 4">
            <a:extLst>
              <a:ext uri="{FF2B5EF4-FFF2-40B4-BE49-F238E27FC236}">
                <a16:creationId xmlns:a16="http://schemas.microsoft.com/office/drawing/2014/main" id="{781E35AE-4565-A7D9-EDAD-165185E15A5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A6C9D53-E098-01AF-EE6D-33C26F76A467}"/>
              </a:ext>
            </a:extLst>
          </p:cNvPr>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1753749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5251534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1471589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214299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3792729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2419397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970445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4406369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14120149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38108014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36744085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BF2BD7F7-7335-41F7-B409-7EC0D19964DF}" type="datetimeFigureOut">
              <a:rPr lang="es-ES" smtClean="0"/>
              <a:t>06/04/2026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D2EEC40-490C-454D-BE9C-6F7EFE4144C2}" type="slidenum">
              <a:rPr lang="es-ES" smtClean="0"/>
              <a:t>‹Nº›</a:t>
            </a:fld>
            <a:endParaRPr lang="es-ES"/>
          </a:p>
        </p:txBody>
      </p:sp>
    </p:spTree>
    <p:extLst>
      <p:ext uri="{BB962C8B-B14F-4D97-AF65-F5344CB8AC3E}">
        <p14:creationId xmlns:p14="http://schemas.microsoft.com/office/powerpoint/2010/main" val="3746461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4FB8BE4-0E19-CA5C-5ED9-D5814D667FC0}"/>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UY"/>
          </a:p>
        </p:txBody>
      </p:sp>
      <p:sp>
        <p:nvSpPr>
          <p:cNvPr id="3" name="Marcador de texto 2">
            <a:extLst>
              <a:ext uri="{FF2B5EF4-FFF2-40B4-BE49-F238E27FC236}">
                <a16:creationId xmlns:a16="http://schemas.microsoft.com/office/drawing/2014/main" id="{C4F8E91B-4934-6540-E96C-03A340FD0CB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fecha 3">
            <a:extLst>
              <a:ext uri="{FF2B5EF4-FFF2-40B4-BE49-F238E27FC236}">
                <a16:creationId xmlns:a16="http://schemas.microsoft.com/office/drawing/2014/main" id="{DAC5A653-34DC-B09B-8FA5-B0B0DAD97F5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BF2BD7F7-7335-41F7-B409-7EC0D19964DF}" type="datetimeFigureOut">
              <a:rPr lang="es-ES" smtClean="0"/>
              <a:t>06/04/2026</a:t>
            </a:fld>
            <a:endParaRPr lang="es-ES"/>
          </a:p>
        </p:txBody>
      </p:sp>
      <p:sp>
        <p:nvSpPr>
          <p:cNvPr id="5" name="Marcador de pie de página 4">
            <a:extLst>
              <a:ext uri="{FF2B5EF4-FFF2-40B4-BE49-F238E27FC236}">
                <a16:creationId xmlns:a16="http://schemas.microsoft.com/office/drawing/2014/main" id="{D0A53191-7734-8D16-482F-18CA5CEE562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3E5A8698-50B3-086E-3E34-89C33F54CCA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BD2EEC40-490C-454D-BE9C-6F7EFE4144C2}" type="slidenum">
              <a:rPr lang="es-ES" smtClean="0"/>
              <a:t>‹Nº›</a:t>
            </a:fld>
            <a:endParaRPr lang="es-ES"/>
          </a:p>
        </p:txBody>
      </p:sp>
    </p:spTree>
    <p:extLst>
      <p:ext uri="{BB962C8B-B14F-4D97-AF65-F5344CB8AC3E}">
        <p14:creationId xmlns:p14="http://schemas.microsoft.com/office/powerpoint/2010/main" val="4289630352"/>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UY"/>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2BD7F7-7335-41F7-B409-7EC0D19964DF}" type="datetimeFigureOut">
              <a:rPr lang="es-ES" smtClean="0"/>
              <a:t>06/04/2026</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EEC40-490C-454D-BE9C-6F7EFE4144C2}" type="slidenum">
              <a:rPr lang="es-ES" smtClean="0"/>
              <a:t>‹Nº›</a:t>
            </a:fld>
            <a:endParaRPr lang="es-ES"/>
          </a:p>
        </p:txBody>
      </p:sp>
    </p:spTree>
    <p:extLst>
      <p:ext uri="{BB962C8B-B14F-4D97-AF65-F5344CB8AC3E}">
        <p14:creationId xmlns:p14="http://schemas.microsoft.com/office/powerpoint/2010/main" val="1931105008"/>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outu.be/DpW0TnB3gJ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251520" y="553608"/>
            <a:ext cx="6048672" cy="1077218"/>
          </a:xfrm>
          <a:prstGeom prst="rect">
            <a:avLst/>
          </a:prstGeom>
          <a:noFill/>
        </p:spPr>
        <p:txBody>
          <a:bodyPr wrap="square" rtlCol="0">
            <a:spAutoFit/>
          </a:bodyPr>
          <a:lstStyle/>
          <a:p>
            <a:r>
              <a:rPr lang="es-ES" sz="3200" b="1" dirty="0">
                <a:solidFill>
                  <a:schemeClr val="accent1"/>
                </a:solidFill>
                <a:latin typeface="Trebuchet MS" pitchFamily="34" charset="0"/>
              </a:rPr>
              <a:t>Situación económica nacional y perspectivas</a:t>
            </a:r>
          </a:p>
        </p:txBody>
      </p:sp>
      <p:sp>
        <p:nvSpPr>
          <p:cNvPr id="7" name="6 CuadroTexto"/>
          <p:cNvSpPr txBox="1"/>
          <p:nvPr/>
        </p:nvSpPr>
        <p:spPr>
          <a:xfrm>
            <a:off x="5724128" y="6554774"/>
            <a:ext cx="3635896" cy="292388"/>
          </a:xfrm>
          <a:prstGeom prst="rect">
            <a:avLst/>
          </a:prstGeom>
          <a:noFill/>
        </p:spPr>
        <p:txBody>
          <a:bodyPr wrap="square" rtlCol="0">
            <a:spAutoFit/>
          </a:bodyPr>
          <a:lstStyle/>
          <a:p>
            <a:pPr algn="ctr"/>
            <a:r>
              <a:rPr lang="es-ES" sz="1300" dirty="0">
                <a:solidFill>
                  <a:schemeClr val="bg1"/>
                </a:solidFill>
                <a:latin typeface="Trebuchet MS" pitchFamily="34" charset="0"/>
              </a:rPr>
              <a:t>Buenos Aires, 7 de abril de 2026</a:t>
            </a:r>
          </a:p>
        </p:txBody>
      </p:sp>
      <p:sp>
        <p:nvSpPr>
          <p:cNvPr id="5" name="4 CuadroTexto"/>
          <p:cNvSpPr txBox="1"/>
          <p:nvPr/>
        </p:nvSpPr>
        <p:spPr>
          <a:xfrm>
            <a:off x="251520" y="2555611"/>
            <a:ext cx="8640960" cy="307777"/>
          </a:xfrm>
          <a:prstGeom prst="rect">
            <a:avLst/>
          </a:prstGeom>
          <a:noFill/>
        </p:spPr>
        <p:txBody>
          <a:bodyPr wrap="square" rtlCol="0">
            <a:spAutoFit/>
          </a:bodyPr>
          <a:lstStyle/>
          <a:p>
            <a:r>
              <a:rPr lang="es-ES" sz="1400" b="1" dirty="0">
                <a:solidFill>
                  <a:schemeClr val="accent1"/>
                </a:solidFill>
                <a:latin typeface="Trebuchet MS" pitchFamily="34" charset="0"/>
              </a:rPr>
              <a:t>Fuentes: Ministerio de Economía, INDEC, Ministerio de Trabajo, BCRA, FMI y </a:t>
            </a:r>
            <a:r>
              <a:rPr lang="es-ES" sz="1400" b="1" dirty="0" err="1">
                <a:solidFill>
                  <a:schemeClr val="accent1"/>
                </a:solidFill>
                <a:latin typeface="Trebuchet MS" pitchFamily="34" charset="0"/>
              </a:rPr>
              <a:t>Rava</a:t>
            </a:r>
            <a:r>
              <a:rPr lang="es-ES" sz="1400" b="1" dirty="0">
                <a:solidFill>
                  <a:schemeClr val="accent1"/>
                </a:solidFill>
                <a:latin typeface="Trebuchet MS" pitchFamily="34" charset="0"/>
              </a:rPr>
              <a:t> Bursátil.</a:t>
            </a:r>
            <a:endParaRPr lang="es-ES" sz="1400" dirty="0">
              <a:solidFill>
                <a:schemeClr val="accent1"/>
              </a:solidFill>
              <a:latin typeface="Trebuchet MS" pitchFamily="34" charset="0"/>
            </a:endParaRPr>
          </a:p>
        </p:txBody>
      </p:sp>
    </p:spTree>
    <p:extLst>
      <p:ext uri="{BB962C8B-B14F-4D97-AF65-F5344CB8AC3E}">
        <p14:creationId xmlns:p14="http://schemas.microsoft.com/office/powerpoint/2010/main" val="34053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12EE4-BACD-5F03-E41E-2E0431AE5F7A}"/>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A22473C2-1198-08EF-0744-0F129EC81FEC}"/>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0DB9FE4A-D3E9-0CF2-A708-FE69E0380B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85129B8A-2EB3-E321-7EFB-EFFDDF1E38B9}"/>
              </a:ext>
            </a:extLst>
          </p:cNvPr>
          <p:cNvSpPr txBox="1"/>
          <p:nvPr/>
        </p:nvSpPr>
        <p:spPr>
          <a:xfrm>
            <a:off x="539552" y="260648"/>
            <a:ext cx="8352928" cy="461665"/>
          </a:xfrm>
          <a:prstGeom prst="rect">
            <a:avLst/>
          </a:prstGeom>
          <a:noFill/>
        </p:spPr>
        <p:txBody>
          <a:bodyPr wrap="square" rtlCol="0">
            <a:spAutoFit/>
          </a:bodyPr>
          <a:lstStyle/>
          <a:p>
            <a:r>
              <a:rPr lang="es-ES" sz="2400" b="1" dirty="0">
                <a:solidFill>
                  <a:schemeClr val="accent1"/>
                </a:solidFill>
                <a:latin typeface="Trebuchet MS" pitchFamily="34" charset="0"/>
              </a:rPr>
              <a:t>Los economistas según Marcelo </a:t>
            </a:r>
            <a:r>
              <a:rPr lang="es-ES" sz="2400" b="1" dirty="0" err="1">
                <a:solidFill>
                  <a:schemeClr val="accent1"/>
                </a:solidFill>
                <a:latin typeface="Trebuchet MS" pitchFamily="34" charset="0"/>
              </a:rPr>
              <a:t>Diamand</a:t>
            </a:r>
            <a:r>
              <a:rPr lang="es-ES" sz="2400" b="1" dirty="0">
                <a:solidFill>
                  <a:schemeClr val="accent1"/>
                </a:solidFill>
                <a:latin typeface="Trebuchet MS" pitchFamily="34" charset="0"/>
              </a:rPr>
              <a:t> (1973)</a:t>
            </a:r>
          </a:p>
        </p:txBody>
      </p:sp>
      <p:sp>
        <p:nvSpPr>
          <p:cNvPr id="2" name="CuadroTexto 1">
            <a:extLst>
              <a:ext uri="{FF2B5EF4-FFF2-40B4-BE49-F238E27FC236}">
                <a16:creationId xmlns:a16="http://schemas.microsoft.com/office/drawing/2014/main" id="{7125131E-F5EC-0013-02EA-F9AC4D8F73C0}"/>
              </a:ext>
            </a:extLst>
          </p:cNvPr>
          <p:cNvSpPr txBox="1"/>
          <p:nvPr/>
        </p:nvSpPr>
        <p:spPr>
          <a:xfrm>
            <a:off x="683568" y="1268760"/>
            <a:ext cx="7704856" cy="5355312"/>
          </a:xfrm>
          <a:prstGeom prst="rect">
            <a:avLst/>
          </a:prstGeom>
          <a:solidFill>
            <a:schemeClr val="bg1"/>
          </a:solidFill>
        </p:spPr>
        <p:txBody>
          <a:bodyPr wrap="square" rtlCol="0">
            <a:spAutoFit/>
          </a:bodyPr>
          <a:lstStyle/>
          <a:p>
            <a:r>
              <a:rPr lang="es-UY"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“Un profesional pasa años de entrenamiento universitario estudiando complejísimas teorías, basadas en complejas estructuras conceptuales y respaldadas por elaborados </a:t>
            </a:r>
            <a:r>
              <a:rPr lang="es-UY" sz="18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instrumentos matemáticos</a:t>
            </a:r>
            <a:r>
              <a:rPr lang="es-UY"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Durante el proceso de aprendizaje confía plenamente en que lo que aprende constituye una </a:t>
            </a:r>
            <a:r>
              <a:rPr lang="es-UY" sz="18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ciencia objetiva</a:t>
            </a:r>
            <a:r>
              <a:rPr lang="es-UY"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No se da cuenta de que las premisas sobre las cuales descansa todo el edificio conceptual que se le enseña constituyen una </a:t>
            </a:r>
            <a:r>
              <a:rPr lang="es-UY" sz="18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idealización de una realidad ya inexistente en el Siglo XX </a:t>
            </a:r>
            <a:r>
              <a:rPr lang="es-UY"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y de que, además, nunca tuvieron </a:t>
            </a:r>
            <a:r>
              <a:rPr lang="es-UY" sz="18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nada que ver con la realidad de los países periféricos</a:t>
            </a:r>
            <a:r>
              <a:rPr lang="es-UY"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 la cual pretenden aplicarse. </a:t>
            </a:r>
          </a:p>
          <a:p>
            <a:endParaRPr lang="es-UY"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r>
              <a:rPr lang="es-UY"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Tampoco logra percibir que estas teorías, presuntamente avalorativas, en realidad </a:t>
            </a:r>
            <a:r>
              <a:rPr lang="es-UY" sz="18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afirman la hegemonía de ciertos sectores y países</a:t>
            </a:r>
            <a:r>
              <a:rPr lang="es-UY"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y constituyen una de las más sutiles herramientas de </a:t>
            </a:r>
            <a:r>
              <a:rPr lang="es-UY" sz="18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dominio ideológico </a:t>
            </a:r>
            <a:r>
              <a:rPr lang="es-UY"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que produjo la humanidad. Cuando –después de años de estudios– al tratar de aplicar sus conocimientos choca con la irrelevancia de todo lo que aprendió y alimenta dudas acerca de su validez y su asepsia científica, ya es demasiado tarde: </a:t>
            </a:r>
            <a:r>
              <a:rPr lang="es-UY" sz="18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la estructura conceptual aprendida está tan incorporada que casi irremediablemente bloquea su comprensión de la realidad</a:t>
            </a:r>
            <a:r>
              <a:rPr lang="es-UY"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35140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719572" y="1207104"/>
            <a:ext cx="8352928" cy="830997"/>
          </a:xfrm>
          <a:prstGeom prst="rect">
            <a:avLst/>
          </a:prstGeom>
          <a:noFill/>
        </p:spPr>
        <p:txBody>
          <a:bodyPr wrap="square" rtlCol="0">
            <a:spAutoFit/>
          </a:bodyPr>
          <a:lstStyle/>
          <a:p>
            <a:r>
              <a:rPr lang="es-ES" sz="2400" b="1" dirty="0">
                <a:solidFill>
                  <a:schemeClr val="accent1"/>
                </a:solidFill>
                <a:latin typeface="Trebuchet MS" pitchFamily="34" charset="0"/>
              </a:rPr>
              <a:t>La definición de Economía y las crisis de sobreproducción</a:t>
            </a:r>
          </a:p>
        </p:txBody>
      </p:sp>
      <p:sp>
        <p:nvSpPr>
          <p:cNvPr id="2" name="CuadroTexto 1">
            <a:extLst>
              <a:ext uri="{FF2B5EF4-FFF2-40B4-BE49-F238E27FC236}">
                <a16:creationId xmlns:a16="http://schemas.microsoft.com/office/drawing/2014/main" id="{2B02AFC6-AE51-67E0-B11D-ADF64295D767}"/>
              </a:ext>
            </a:extLst>
          </p:cNvPr>
          <p:cNvSpPr txBox="1"/>
          <p:nvPr/>
        </p:nvSpPr>
        <p:spPr>
          <a:xfrm>
            <a:off x="719572" y="3066297"/>
            <a:ext cx="7848872" cy="1138773"/>
          </a:xfrm>
          <a:prstGeom prst="rect">
            <a:avLst/>
          </a:prstGeom>
          <a:solidFill>
            <a:schemeClr val="bg1"/>
          </a:solidFill>
        </p:spPr>
        <p:txBody>
          <a:bodyPr wrap="square" rtlCol="0">
            <a:spAutoFit/>
          </a:bodyPr>
          <a:lstStyle/>
          <a:p>
            <a:r>
              <a:rPr lang="es-UY" sz="1700" u="sng"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Definición Neoclásica</a:t>
            </a:r>
            <a:r>
              <a:rPr lang="es-UY" sz="17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La ciencia que estudia la forma en la que los individuos y la sociedad efectúan las elecciones y decisiones para que los recursos disponibles, que siempre </a:t>
            </a:r>
            <a:r>
              <a:rPr lang="es-UY" sz="1700" b="1" u="sng"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son escasos</a:t>
            </a:r>
            <a:r>
              <a:rPr lang="es-UY" sz="17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puedan contribuir de la mejor forma a satisfacer las necesidades individuales y colectivas de la sociedad.</a:t>
            </a:r>
            <a:endParaRPr lang="es-UY" sz="1700"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21E005B7-45B7-F218-E299-E8303A0D8A4D}"/>
              </a:ext>
            </a:extLst>
          </p:cNvPr>
          <p:cNvSpPr txBox="1"/>
          <p:nvPr/>
        </p:nvSpPr>
        <p:spPr>
          <a:xfrm>
            <a:off x="719572" y="4323173"/>
            <a:ext cx="7848872" cy="1400383"/>
          </a:xfrm>
          <a:prstGeom prst="rect">
            <a:avLst/>
          </a:prstGeom>
          <a:solidFill>
            <a:schemeClr val="bg1"/>
          </a:solidFill>
        </p:spPr>
        <p:txBody>
          <a:bodyPr wrap="square" rtlCol="0">
            <a:spAutoFit/>
          </a:bodyPr>
          <a:lstStyle>
            <a:defPPr>
              <a:defRPr lang="es-ES"/>
            </a:defPPr>
            <a:lvl1pPr>
              <a:defRPr sz="17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defRPr>
            </a:lvl1pPr>
          </a:lstStyle>
          <a:p>
            <a:r>
              <a:rPr lang="es-UY" dirty="0"/>
              <a:t>A través de la abstracción sugerida quizás se pueda entrever por qué la mayoría de los economistas graduados en esa escuela aconsejan reducir el gasto en una crisis. Manejan como axioma (base indiscutible de análisis) que los recursos son escasos, trabajan </a:t>
            </a:r>
            <a:r>
              <a:rPr lang="es-UY" b="1" dirty="0"/>
              <a:t>desde una perspectiva individual y aislada de la economía real</a:t>
            </a:r>
            <a:r>
              <a:rPr lang="es-UY" dirty="0"/>
              <a:t>.</a:t>
            </a:r>
          </a:p>
        </p:txBody>
      </p:sp>
      <p:sp>
        <p:nvSpPr>
          <p:cNvPr id="4" name="CuadroTexto 3">
            <a:extLst>
              <a:ext uri="{FF2B5EF4-FFF2-40B4-BE49-F238E27FC236}">
                <a16:creationId xmlns:a16="http://schemas.microsoft.com/office/drawing/2014/main" id="{D7A0165A-3B02-0A0E-9E93-C964C5B9B7EA}"/>
              </a:ext>
            </a:extLst>
          </p:cNvPr>
          <p:cNvSpPr txBox="1"/>
          <p:nvPr/>
        </p:nvSpPr>
        <p:spPr>
          <a:xfrm>
            <a:off x="719572" y="6237424"/>
            <a:ext cx="7848872" cy="353943"/>
          </a:xfrm>
          <a:prstGeom prst="rect">
            <a:avLst/>
          </a:prstGeom>
          <a:solidFill>
            <a:schemeClr val="bg1"/>
          </a:solidFill>
        </p:spPr>
        <p:txBody>
          <a:bodyPr wrap="square" rtlCol="0">
            <a:spAutoFit/>
          </a:bodyPr>
          <a:lstStyle/>
          <a:p>
            <a:pPr algn="ctr"/>
            <a:r>
              <a:rPr lang="es-UY" sz="1700"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Las crisis más recurrentes son de </a:t>
            </a:r>
            <a:r>
              <a:rPr lang="es-UY" sz="1700" b="1"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sobreproducción</a:t>
            </a:r>
          </a:p>
        </p:txBody>
      </p:sp>
    </p:spTree>
    <p:extLst>
      <p:ext uri="{BB962C8B-B14F-4D97-AF65-F5344CB8AC3E}">
        <p14:creationId xmlns:p14="http://schemas.microsoft.com/office/powerpoint/2010/main" val="3884901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CC6FC-5E52-85C9-8B70-2BE632E70B08}"/>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12606AFE-5E84-DDD3-800F-C8C0DACDA9AE}"/>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BDF393F0-14AC-7D89-9EF4-34A9D4242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Imagen 6" descr="14046096_523924341139020_354782815415064416_n.png">
            <a:extLst>
              <a:ext uri="{FF2B5EF4-FFF2-40B4-BE49-F238E27FC236}">
                <a16:creationId xmlns:a16="http://schemas.microsoft.com/office/drawing/2014/main" id="{CD811391-C63E-2968-6490-9107680F06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790" y="861237"/>
            <a:ext cx="7974419" cy="5664107"/>
          </a:xfrm>
          <a:prstGeom prst="rect">
            <a:avLst/>
          </a:prstGeom>
        </p:spPr>
      </p:pic>
      <p:sp>
        <p:nvSpPr>
          <p:cNvPr id="9" name="5 CuadroTexto">
            <a:extLst>
              <a:ext uri="{FF2B5EF4-FFF2-40B4-BE49-F238E27FC236}">
                <a16:creationId xmlns:a16="http://schemas.microsoft.com/office/drawing/2014/main" id="{37F64A3D-4611-118A-F2B6-C782F455D594}"/>
              </a:ext>
            </a:extLst>
          </p:cNvPr>
          <p:cNvSpPr txBox="1"/>
          <p:nvPr/>
        </p:nvSpPr>
        <p:spPr>
          <a:xfrm>
            <a:off x="683568" y="332656"/>
            <a:ext cx="8352928" cy="461665"/>
          </a:xfrm>
          <a:prstGeom prst="rect">
            <a:avLst/>
          </a:prstGeom>
          <a:noFill/>
        </p:spPr>
        <p:txBody>
          <a:bodyPr wrap="square" rtlCol="0">
            <a:spAutoFit/>
          </a:bodyPr>
          <a:lstStyle/>
          <a:p>
            <a:r>
              <a:rPr lang="es-ES" sz="2400" b="1" dirty="0">
                <a:solidFill>
                  <a:schemeClr val="accent1"/>
                </a:solidFill>
                <a:latin typeface="Trebuchet MS" pitchFamily="34" charset="0"/>
              </a:rPr>
              <a:t>Una imagen algo más cercana a la realidad…</a:t>
            </a:r>
          </a:p>
        </p:txBody>
      </p:sp>
    </p:spTree>
    <p:extLst>
      <p:ext uri="{BB962C8B-B14F-4D97-AF65-F5344CB8AC3E}">
        <p14:creationId xmlns:p14="http://schemas.microsoft.com/office/powerpoint/2010/main" val="3993988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395536" y="335558"/>
            <a:ext cx="8496944" cy="1077218"/>
          </a:xfrm>
          <a:prstGeom prst="rect">
            <a:avLst/>
          </a:prstGeom>
          <a:noFill/>
        </p:spPr>
        <p:txBody>
          <a:bodyPr wrap="square" rtlCol="0">
            <a:spAutoFit/>
          </a:bodyPr>
          <a:lstStyle/>
          <a:p>
            <a:r>
              <a:rPr lang="es-ES" sz="2400" b="1" dirty="0">
                <a:solidFill>
                  <a:schemeClr val="accent1"/>
                </a:solidFill>
                <a:latin typeface="Trebuchet MS" pitchFamily="34" charset="0"/>
              </a:rPr>
              <a:t>Grandes dilemas de la economía nacional: </a:t>
            </a:r>
          </a:p>
          <a:p>
            <a:r>
              <a:rPr lang="es-ES" sz="2000" b="1" dirty="0">
                <a:solidFill>
                  <a:schemeClr val="accent1"/>
                </a:solidFill>
                <a:latin typeface="Trebuchet MS" pitchFamily="34" charset="0"/>
              </a:rPr>
              <a:t>1. Estancamiento – El último año de crecimiento significativo fue 2011</a:t>
            </a:r>
          </a:p>
        </p:txBody>
      </p:sp>
      <p:pic>
        <p:nvPicPr>
          <p:cNvPr id="9" name="Imagen 8">
            <a:extLst>
              <a:ext uri="{FF2B5EF4-FFF2-40B4-BE49-F238E27FC236}">
                <a16:creationId xmlns:a16="http://schemas.microsoft.com/office/drawing/2014/main" id="{E845C470-39B3-18F1-84CB-83E14E45F9CE}"/>
              </a:ext>
            </a:extLst>
          </p:cNvPr>
          <p:cNvPicPr>
            <a:picLocks noChangeAspect="1"/>
          </p:cNvPicPr>
          <p:nvPr/>
        </p:nvPicPr>
        <p:blipFill>
          <a:blip r:embed="rId4"/>
          <a:stretch>
            <a:fillRect/>
          </a:stretch>
        </p:blipFill>
        <p:spPr>
          <a:xfrm>
            <a:off x="395536" y="1521499"/>
            <a:ext cx="8352928" cy="5075853"/>
          </a:xfrm>
          <a:prstGeom prst="rect">
            <a:avLst/>
          </a:prstGeom>
        </p:spPr>
      </p:pic>
    </p:spTree>
    <p:extLst>
      <p:ext uri="{BB962C8B-B14F-4D97-AF65-F5344CB8AC3E}">
        <p14:creationId xmlns:p14="http://schemas.microsoft.com/office/powerpoint/2010/main" val="2698194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C13F0-2694-2B10-A15B-D470967A8BC9}"/>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D09AA18D-A6CD-D28A-040A-0003117E55ED}"/>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2F909933-BAA8-F643-375C-7C2CDFC7A9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D53E5F3F-D6DB-2C4F-9EE8-FC51D93BC1FB}"/>
              </a:ext>
            </a:extLst>
          </p:cNvPr>
          <p:cNvSpPr txBox="1"/>
          <p:nvPr/>
        </p:nvSpPr>
        <p:spPr>
          <a:xfrm>
            <a:off x="539552" y="476672"/>
            <a:ext cx="7772400" cy="677108"/>
          </a:xfrm>
          <a:prstGeom prst="rect">
            <a:avLst/>
          </a:prstGeom>
          <a:noFill/>
        </p:spPr>
        <p:txBody>
          <a:bodyPr wrap="square" rtlCol="0">
            <a:spAutoFit/>
          </a:bodyPr>
          <a:lstStyle/>
          <a:p>
            <a:r>
              <a:rPr lang="es-ES" sz="2400" b="1" dirty="0">
                <a:solidFill>
                  <a:schemeClr val="accent1"/>
                </a:solidFill>
                <a:latin typeface="Trebuchet MS" pitchFamily="34" charset="0"/>
              </a:rPr>
              <a:t>Desplome industrial por sector</a:t>
            </a:r>
          </a:p>
          <a:p>
            <a:r>
              <a:rPr lang="es-ES" sz="1400" dirty="0">
                <a:solidFill>
                  <a:schemeClr val="accent1"/>
                </a:solidFill>
                <a:latin typeface="Trebuchet MS" pitchFamily="34" charset="0"/>
              </a:rPr>
              <a:t>(Variación interanual, primeros 16 meses de Milei versus últimos 16 meses de Fernández)</a:t>
            </a:r>
          </a:p>
        </p:txBody>
      </p:sp>
      <p:sp>
        <p:nvSpPr>
          <p:cNvPr id="3" name="CuadroTexto 2">
            <a:extLst>
              <a:ext uri="{FF2B5EF4-FFF2-40B4-BE49-F238E27FC236}">
                <a16:creationId xmlns:a16="http://schemas.microsoft.com/office/drawing/2014/main" id="{35606C06-1C2B-B0A9-8AFF-341E776937EB}"/>
              </a:ext>
            </a:extLst>
          </p:cNvPr>
          <p:cNvSpPr txBox="1"/>
          <p:nvPr/>
        </p:nvSpPr>
        <p:spPr>
          <a:xfrm>
            <a:off x="484383" y="6610561"/>
            <a:ext cx="2304256" cy="276999"/>
          </a:xfrm>
          <a:prstGeom prst="rect">
            <a:avLst/>
          </a:prstGeom>
          <a:noFill/>
        </p:spPr>
        <p:txBody>
          <a:bodyPr wrap="square" rtlCol="0">
            <a:spAutoFit/>
          </a:bodyPr>
          <a:lstStyle/>
          <a:p>
            <a:r>
              <a:rPr lang="es-UY" sz="1200" dirty="0">
                <a:solidFill>
                  <a:schemeClr val="bg1"/>
                </a:solidFill>
              </a:rPr>
              <a:t>    Fuente: INDEC.</a:t>
            </a:r>
          </a:p>
        </p:txBody>
      </p:sp>
      <p:pic>
        <p:nvPicPr>
          <p:cNvPr id="2" name="Imagen 1">
            <a:extLst>
              <a:ext uri="{FF2B5EF4-FFF2-40B4-BE49-F238E27FC236}">
                <a16:creationId xmlns:a16="http://schemas.microsoft.com/office/drawing/2014/main" id="{6142D212-E234-B426-079F-230EF99F6F3E}"/>
              </a:ext>
            </a:extLst>
          </p:cNvPr>
          <p:cNvPicPr>
            <a:picLocks noChangeAspect="1"/>
          </p:cNvPicPr>
          <p:nvPr/>
        </p:nvPicPr>
        <p:blipFill>
          <a:blip r:embed="rId4"/>
          <a:stretch>
            <a:fillRect/>
          </a:stretch>
        </p:blipFill>
        <p:spPr>
          <a:xfrm>
            <a:off x="685800" y="1536519"/>
            <a:ext cx="7772400" cy="5065278"/>
          </a:xfrm>
          <a:prstGeom prst="rect">
            <a:avLst/>
          </a:prstGeom>
        </p:spPr>
      </p:pic>
    </p:spTree>
    <p:extLst>
      <p:ext uri="{BB962C8B-B14F-4D97-AF65-F5344CB8AC3E}">
        <p14:creationId xmlns:p14="http://schemas.microsoft.com/office/powerpoint/2010/main" val="72841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539552" y="476672"/>
            <a:ext cx="8352928" cy="830997"/>
          </a:xfrm>
          <a:prstGeom prst="rect">
            <a:avLst/>
          </a:prstGeom>
          <a:noFill/>
        </p:spPr>
        <p:txBody>
          <a:bodyPr wrap="square" rtlCol="0">
            <a:spAutoFit/>
          </a:bodyPr>
          <a:lstStyle/>
          <a:p>
            <a:r>
              <a:rPr lang="es-ES" sz="2400" b="1" dirty="0">
                <a:solidFill>
                  <a:schemeClr val="accent1"/>
                </a:solidFill>
                <a:latin typeface="Trebuchet MS" pitchFamily="34" charset="0"/>
              </a:rPr>
              <a:t>Grandes dilemas de la economía nacional: </a:t>
            </a:r>
          </a:p>
          <a:p>
            <a:r>
              <a:rPr lang="es-ES" sz="2400" b="1" dirty="0">
                <a:solidFill>
                  <a:schemeClr val="accent1"/>
                </a:solidFill>
                <a:latin typeface="Trebuchet MS" pitchFamily="34" charset="0"/>
              </a:rPr>
              <a:t>2. Inestabilidad – Constante cambio de precios relativos</a:t>
            </a:r>
          </a:p>
        </p:txBody>
      </p:sp>
      <p:pic>
        <p:nvPicPr>
          <p:cNvPr id="7" name="Imagen 6">
            <a:extLst>
              <a:ext uri="{FF2B5EF4-FFF2-40B4-BE49-F238E27FC236}">
                <a16:creationId xmlns:a16="http://schemas.microsoft.com/office/drawing/2014/main" id="{98DCAE3E-202B-67FE-BEBF-9C0811986F4F}"/>
              </a:ext>
            </a:extLst>
          </p:cNvPr>
          <p:cNvPicPr>
            <a:picLocks noChangeAspect="1"/>
          </p:cNvPicPr>
          <p:nvPr/>
        </p:nvPicPr>
        <p:blipFill>
          <a:blip r:embed="rId4"/>
          <a:stretch>
            <a:fillRect/>
          </a:stretch>
        </p:blipFill>
        <p:spPr>
          <a:xfrm>
            <a:off x="467544" y="1514584"/>
            <a:ext cx="8208912" cy="5226784"/>
          </a:xfrm>
          <a:prstGeom prst="rect">
            <a:avLst/>
          </a:prstGeom>
        </p:spPr>
      </p:pic>
    </p:spTree>
    <p:extLst>
      <p:ext uri="{BB962C8B-B14F-4D97-AF65-F5344CB8AC3E}">
        <p14:creationId xmlns:p14="http://schemas.microsoft.com/office/powerpoint/2010/main" val="2476193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539552" y="260648"/>
            <a:ext cx="8352928" cy="830997"/>
          </a:xfrm>
          <a:prstGeom prst="rect">
            <a:avLst/>
          </a:prstGeom>
          <a:noFill/>
        </p:spPr>
        <p:txBody>
          <a:bodyPr wrap="square" rtlCol="0">
            <a:spAutoFit/>
          </a:bodyPr>
          <a:lstStyle/>
          <a:p>
            <a:r>
              <a:rPr lang="es-ES" sz="2400" b="1" dirty="0">
                <a:solidFill>
                  <a:schemeClr val="accent1"/>
                </a:solidFill>
                <a:latin typeface="Trebuchet MS" pitchFamily="34" charset="0"/>
              </a:rPr>
              <a:t>Grandes dilemas de la economía nacional: </a:t>
            </a:r>
          </a:p>
          <a:p>
            <a:r>
              <a:rPr lang="es-ES" sz="2400" b="1" dirty="0">
                <a:solidFill>
                  <a:schemeClr val="accent1"/>
                </a:solidFill>
                <a:latin typeface="Trebuchet MS" pitchFamily="34" charset="0"/>
              </a:rPr>
              <a:t>3. Estancamiento en la generación de empleos privados</a:t>
            </a:r>
          </a:p>
        </p:txBody>
      </p:sp>
      <p:pic>
        <p:nvPicPr>
          <p:cNvPr id="2" name="Imagen 1">
            <a:extLst>
              <a:ext uri="{FF2B5EF4-FFF2-40B4-BE49-F238E27FC236}">
                <a16:creationId xmlns:a16="http://schemas.microsoft.com/office/drawing/2014/main" id="{4BEDC5D4-066B-AB5C-8204-722712B97384}"/>
              </a:ext>
            </a:extLst>
          </p:cNvPr>
          <p:cNvPicPr>
            <a:picLocks noChangeAspect="1"/>
          </p:cNvPicPr>
          <p:nvPr/>
        </p:nvPicPr>
        <p:blipFill>
          <a:blip r:embed="rId4"/>
          <a:stretch>
            <a:fillRect/>
          </a:stretch>
        </p:blipFill>
        <p:spPr>
          <a:xfrm>
            <a:off x="251520" y="1268760"/>
            <a:ext cx="8640960" cy="5432219"/>
          </a:xfrm>
          <a:prstGeom prst="rect">
            <a:avLst/>
          </a:prstGeom>
        </p:spPr>
      </p:pic>
    </p:spTree>
    <p:extLst>
      <p:ext uri="{BB962C8B-B14F-4D97-AF65-F5344CB8AC3E}">
        <p14:creationId xmlns:p14="http://schemas.microsoft.com/office/powerpoint/2010/main" val="3684492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6 CuadroTexto"/>
          <p:cNvSpPr txBox="1"/>
          <p:nvPr/>
        </p:nvSpPr>
        <p:spPr>
          <a:xfrm>
            <a:off x="539552" y="504179"/>
            <a:ext cx="8352928" cy="830997"/>
          </a:xfrm>
          <a:prstGeom prst="rect">
            <a:avLst/>
          </a:prstGeom>
          <a:noFill/>
        </p:spPr>
        <p:txBody>
          <a:bodyPr wrap="square" rtlCol="0">
            <a:spAutoFit/>
          </a:bodyPr>
          <a:lstStyle/>
          <a:p>
            <a:r>
              <a:rPr lang="es-ES" sz="2400" b="1" dirty="0">
                <a:solidFill>
                  <a:schemeClr val="accent1"/>
                </a:solidFill>
                <a:latin typeface="Trebuchet MS" pitchFamily="34" charset="0"/>
              </a:rPr>
              <a:t>Grandes dilemas de la economía nacional: </a:t>
            </a:r>
          </a:p>
          <a:p>
            <a:r>
              <a:rPr lang="es-ES" sz="2400" b="1" dirty="0">
                <a:solidFill>
                  <a:schemeClr val="accent1"/>
                </a:solidFill>
                <a:latin typeface="Trebuchet MS" pitchFamily="34" charset="0"/>
              </a:rPr>
              <a:t>4. Deterioro salarial</a:t>
            </a:r>
            <a:endParaRPr lang="es-ES" sz="1400" dirty="0">
              <a:solidFill>
                <a:schemeClr val="accent1"/>
              </a:solidFill>
              <a:latin typeface="Trebuchet MS" pitchFamily="34" charset="0"/>
            </a:endParaRPr>
          </a:p>
        </p:txBody>
      </p:sp>
      <p:pic>
        <p:nvPicPr>
          <p:cNvPr id="4" name="Imagen 3">
            <a:extLst>
              <a:ext uri="{FF2B5EF4-FFF2-40B4-BE49-F238E27FC236}">
                <a16:creationId xmlns:a16="http://schemas.microsoft.com/office/drawing/2014/main" id="{FD6C4A40-7232-5069-4CF9-DD9220438250}"/>
              </a:ext>
            </a:extLst>
          </p:cNvPr>
          <p:cNvPicPr>
            <a:picLocks noChangeAspect="1"/>
          </p:cNvPicPr>
          <p:nvPr/>
        </p:nvPicPr>
        <p:blipFill>
          <a:blip r:embed="rId4"/>
          <a:stretch>
            <a:fillRect/>
          </a:stretch>
        </p:blipFill>
        <p:spPr>
          <a:xfrm>
            <a:off x="251520" y="1484784"/>
            <a:ext cx="8496944" cy="5072179"/>
          </a:xfrm>
          <a:prstGeom prst="rect">
            <a:avLst/>
          </a:prstGeom>
        </p:spPr>
      </p:pic>
    </p:spTree>
    <p:extLst>
      <p:ext uri="{BB962C8B-B14F-4D97-AF65-F5344CB8AC3E}">
        <p14:creationId xmlns:p14="http://schemas.microsoft.com/office/powerpoint/2010/main" val="3232769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Imagen 2">
            <a:extLst>
              <a:ext uri="{FF2B5EF4-FFF2-40B4-BE49-F238E27FC236}">
                <a16:creationId xmlns:a16="http://schemas.microsoft.com/office/drawing/2014/main" id="{60D00C2D-BDE3-1BE0-24B0-3860108C0E4E}"/>
              </a:ext>
            </a:extLst>
          </p:cNvPr>
          <p:cNvPicPr>
            <a:picLocks noChangeAspect="1"/>
          </p:cNvPicPr>
          <p:nvPr/>
        </p:nvPicPr>
        <p:blipFill>
          <a:blip r:embed="rId4"/>
          <a:stretch>
            <a:fillRect/>
          </a:stretch>
        </p:blipFill>
        <p:spPr>
          <a:xfrm>
            <a:off x="323528" y="1340768"/>
            <a:ext cx="8424936" cy="5324912"/>
          </a:xfrm>
          <a:prstGeom prst="rect">
            <a:avLst/>
          </a:prstGeom>
        </p:spPr>
      </p:pic>
      <p:sp>
        <p:nvSpPr>
          <p:cNvPr id="4" name="6 CuadroTexto">
            <a:extLst>
              <a:ext uri="{FF2B5EF4-FFF2-40B4-BE49-F238E27FC236}">
                <a16:creationId xmlns:a16="http://schemas.microsoft.com/office/drawing/2014/main" id="{122A8FEE-D768-6285-6612-88195F015F82}"/>
              </a:ext>
            </a:extLst>
          </p:cNvPr>
          <p:cNvSpPr txBox="1"/>
          <p:nvPr/>
        </p:nvSpPr>
        <p:spPr>
          <a:xfrm>
            <a:off x="539552" y="350075"/>
            <a:ext cx="8352928" cy="830997"/>
          </a:xfrm>
          <a:prstGeom prst="rect">
            <a:avLst/>
          </a:prstGeom>
          <a:noFill/>
        </p:spPr>
        <p:txBody>
          <a:bodyPr wrap="square" rtlCol="0">
            <a:spAutoFit/>
          </a:bodyPr>
          <a:lstStyle/>
          <a:p>
            <a:r>
              <a:rPr lang="es-ES" sz="2400" b="1" dirty="0">
                <a:solidFill>
                  <a:schemeClr val="accent1"/>
                </a:solidFill>
                <a:latin typeface="Trebuchet MS" pitchFamily="34" charset="0"/>
              </a:rPr>
              <a:t>Grandes dilemas de la economía nacional: </a:t>
            </a:r>
          </a:p>
          <a:p>
            <a:r>
              <a:rPr lang="es-ES" sz="2400" b="1" dirty="0">
                <a:solidFill>
                  <a:schemeClr val="accent1"/>
                </a:solidFill>
                <a:latin typeface="Trebuchet MS" pitchFamily="34" charset="0"/>
              </a:rPr>
              <a:t>4. Restricción externa</a:t>
            </a:r>
            <a:endParaRPr lang="es-ES" sz="1400" dirty="0">
              <a:solidFill>
                <a:schemeClr val="accent1"/>
              </a:solidFill>
              <a:latin typeface="Trebuchet MS" pitchFamily="34" charset="0"/>
            </a:endParaRPr>
          </a:p>
        </p:txBody>
      </p:sp>
    </p:spTree>
    <p:extLst>
      <p:ext uri="{BB962C8B-B14F-4D97-AF65-F5344CB8AC3E}">
        <p14:creationId xmlns:p14="http://schemas.microsoft.com/office/powerpoint/2010/main" val="3095491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539552" y="476672"/>
            <a:ext cx="8352928" cy="677108"/>
          </a:xfrm>
          <a:prstGeom prst="rect">
            <a:avLst/>
          </a:prstGeom>
          <a:noFill/>
        </p:spPr>
        <p:txBody>
          <a:bodyPr wrap="square" rtlCol="0">
            <a:spAutoFit/>
          </a:bodyPr>
          <a:lstStyle/>
          <a:p>
            <a:r>
              <a:rPr lang="es-ES" sz="2400" b="1" dirty="0">
                <a:solidFill>
                  <a:schemeClr val="accent1"/>
                </a:solidFill>
                <a:latin typeface="Trebuchet MS" pitchFamily="34" charset="0"/>
              </a:rPr>
              <a:t>Balanzas fundamentales de la cuenta corriente</a:t>
            </a:r>
          </a:p>
          <a:p>
            <a:r>
              <a:rPr lang="es-ES" sz="1400" b="1" dirty="0">
                <a:solidFill>
                  <a:schemeClr val="accent1"/>
                </a:solidFill>
                <a:latin typeface="Trebuchet MS" pitchFamily="34" charset="0"/>
              </a:rPr>
              <a:t>(En miles de millones de dólares)</a:t>
            </a:r>
          </a:p>
        </p:txBody>
      </p:sp>
      <p:pic>
        <p:nvPicPr>
          <p:cNvPr id="4" name="Imagen 3">
            <a:extLst>
              <a:ext uri="{FF2B5EF4-FFF2-40B4-BE49-F238E27FC236}">
                <a16:creationId xmlns:a16="http://schemas.microsoft.com/office/drawing/2014/main" id="{C1045033-150A-05DB-4D41-E9F5C1D52A04}"/>
              </a:ext>
            </a:extLst>
          </p:cNvPr>
          <p:cNvPicPr>
            <a:picLocks noChangeAspect="1"/>
          </p:cNvPicPr>
          <p:nvPr/>
        </p:nvPicPr>
        <p:blipFill>
          <a:blip r:embed="rId4"/>
          <a:stretch>
            <a:fillRect/>
          </a:stretch>
        </p:blipFill>
        <p:spPr>
          <a:xfrm>
            <a:off x="230742" y="1268760"/>
            <a:ext cx="8621026" cy="5421704"/>
          </a:xfrm>
          <a:prstGeom prst="rect">
            <a:avLst/>
          </a:prstGeom>
        </p:spPr>
      </p:pic>
    </p:spTree>
    <p:extLst>
      <p:ext uri="{BB962C8B-B14F-4D97-AF65-F5344CB8AC3E}">
        <p14:creationId xmlns:p14="http://schemas.microsoft.com/office/powerpoint/2010/main" val="660109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86E7D-0E27-FE57-E237-AC05D625A601}"/>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F416DC0D-B392-DFD6-00D3-14C1F6D64943}"/>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74D093E6-D23A-51A7-3485-466D4BFD0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FA6C2EA7-0CBB-7D1A-18D7-390EB13F2EBC}"/>
              </a:ext>
            </a:extLst>
          </p:cNvPr>
          <p:cNvSpPr txBox="1"/>
          <p:nvPr/>
        </p:nvSpPr>
        <p:spPr>
          <a:xfrm>
            <a:off x="539552" y="476672"/>
            <a:ext cx="8352928" cy="677108"/>
          </a:xfrm>
          <a:prstGeom prst="rect">
            <a:avLst/>
          </a:prstGeom>
          <a:noFill/>
        </p:spPr>
        <p:txBody>
          <a:bodyPr wrap="square" rtlCol="0">
            <a:spAutoFit/>
          </a:bodyPr>
          <a:lstStyle/>
          <a:p>
            <a:r>
              <a:rPr lang="es-ES" sz="2400" b="1" dirty="0">
                <a:solidFill>
                  <a:schemeClr val="accent1"/>
                </a:solidFill>
                <a:latin typeface="Trebuchet MS" pitchFamily="34" charset="0"/>
              </a:rPr>
              <a:t>La gran incógnita de la cuenta corriente</a:t>
            </a:r>
          </a:p>
          <a:p>
            <a:r>
              <a:rPr lang="es-ES" sz="1400" b="1" dirty="0">
                <a:solidFill>
                  <a:schemeClr val="accent1"/>
                </a:solidFill>
                <a:latin typeface="Trebuchet MS" pitchFamily="34" charset="0"/>
              </a:rPr>
              <a:t>(En miles de millones de dólares)</a:t>
            </a:r>
          </a:p>
        </p:txBody>
      </p:sp>
      <p:pic>
        <p:nvPicPr>
          <p:cNvPr id="2" name="Imagen 1">
            <a:extLst>
              <a:ext uri="{FF2B5EF4-FFF2-40B4-BE49-F238E27FC236}">
                <a16:creationId xmlns:a16="http://schemas.microsoft.com/office/drawing/2014/main" id="{3BA3A635-6AF9-5623-A3D5-4BDEBBA90C0D}"/>
              </a:ext>
            </a:extLst>
          </p:cNvPr>
          <p:cNvPicPr>
            <a:picLocks noChangeAspect="1"/>
          </p:cNvPicPr>
          <p:nvPr/>
        </p:nvPicPr>
        <p:blipFill>
          <a:blip r:embed="rId4"/>
          <a:stretch>
            <a:fillRect/>
          </a:stretch>
        </p:blipFill>
        <p:spPr>
          <a:xfrm>
            <a:off x="323528" y="1340768"/>
            <a:ext cx="8496944" cy="5224481"/>
          </a:xfrm>
          <a:prstGeom prst="rect">
            <a:avLst/>
          </a:prstGeom>
        </p:spPr>
      </p:pic>
      <p:sp>
        <p:nvSpPr>
          <p:cNvPr id="3" name="CuadroTexto 2">
            <a:extLst>
              <a:ext uri="{FF2B5EF4-FFF2-40B4-BE49-F238E27FC236}">
                <a16:creationId xmlns:a16="http://schemas.microsoft.com/office/drawing/2014/main" id="{AAF02E00-205D-0A3F-5429-70526B845583}"/>
              </a:ext>
            </a:extLst>
          </p:cNvPr>
          <p:cNvSpPr txBox="1"/>
          <p:nvPr/>
        </p:nvSpPr>
        <p:spPr>
          <a:xfrm>
            <a:off x="1691680" y="5013176"/>
            <a:ext cx="3744416" cy="646331"/>
          </a:xfrm>
          <a:prstGeom prst="rect">
            <a:avLst/>
          </a:prstGeom>
          <a:noFill/>
        </p:spPr>
        <p:txBody>
          <a:bodyPr wrap="square" rtlCol="0">
            <a:spAutoFit/>
          </a:bodyPr>
          <a:lstStyle/>
          <a:p>
            <a:r>
              <a:rPr lang="es-UY" dirty="0"/>
              <a:t>Hay casi USD 40.000 M retenidos desde 2019</a:t>
            </a:r>
          </a:p>
        </p:txBody>
      </p:sp>
    </p:spTree>
    <p:extLst>
      <p:ext uri="{BB962C8B-B14F-4D97-AF65-F5344CB8AC3E}">
        <p14:creationId xmlns:p14="http://schemas.microsoft.com/office/powerpoint/2010/main" val="598891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2876664" y="3244334"/>
            <a:ext cx="3390672"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rgbClr val="FFFFFF"/>
                </a:solidFill>
                <a:effectLst/>
                <a:uLnTx/>
                <a:uFillTx/>
                <a:latin typeface="YouTube Noto"/>
                <a:ea typeface="+mn-ea"/>
                <a:cs typeface="+mn-cs"/>
                <a:hlinkClick r:id="rId2"/>
              </a:rPr>
              <a:t>https://youtu.be/DpW0TnB3gJg</a:t>
            </a:r>
            <a:endParaRPr kumimoji="0" lang="es-ES"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539552" y="476672"/>
            <a:ext cx="835292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4F81BD"/>
                </a:solidFill>
                <a:effectLst/>
                <a:uLnTx/>
                <a:uFillTx/>
                <a:latin typeface="Trebuchet MS" pitchFamily="34" charset="0"/>
                <a:ea typeface="+mn-ea"/>
                <a:cs typeface="+mn-cs"/>
              </a:rPr>
              <a:t>La Ruleta Rusa Cambiaria - Evolución del TCRM</a:t>
            </a:r>
          </a:p>
        </p:txBody>
      </p:sp>
      <p:sp>
        <p:nvSpPr>
          <p:cNvPr id="4" name="CuadroTexto 3">
            <a:extLst>
              <a:ext uri="{FF2B5EF4-FFF2-40B4-BE49-F238E27FC236}">
                <a16:creationId xmlns:a16="http://schemas.microsoft.com/office/drawing/2014/main" id="{2A9B9EE0-7B94-5C89-20BD-539FBC03BC4A}"/>
              </a:ext>
            </a:extLst>
          </p:cNvPr>
          <p:cNvSpPr txBox="1"/>
          <p:nvPr/>
        </p:nvSpPr>
        <p:spPr>
          <a:xfrm>
            <a:off x="431540" y="6220619"/>
            <a:ext cx="828092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UY" sz="1200" b="0" i="0" u="none" strike="noStrike" kern="1200" cap="none" spc="0" normalizeH="0" baseline="0" noProof="0" dirty="0">
                <a:ln>
                  <a:noFill/>
                </a:ln>
                <a:solidFill>
                  <a:prstClr val="white"/>
                </a:solidFill>
                <a:effectLst/>
                <a:uLnTx/>
                <a:uFillTx/>
                <a:latin typeface="Calibri"/>
                <a:ea typeface="+mn-ea"/>
                <a:cs typeface="+mn-cs"/>
              </a:rPr>
              <a:t>Nota: Ponderado por el comercio de manufacturas (promedios móviles 12 meses. Ponderaciones actuales: Brasil: 32%; Estados Unidos: 12%; China: 16%; Zona del euro: 19%) Fuente: BCRA, INDEC, Direcciones de estadística de la Provincia de San Luis y de la Ciudad Aut. de Buenos Aires, Thomson Reuters y REM-BCRA</a:t>
            </a:r>
          </a:p>
        </p:txBody>
      </p:sp>
      <p:pic>
        <p:nvPicPr>
          <p:cNvPr id="9" name="Imagen 8">
            <a:extLst>
              <a:ext uri="{FF2B5EF4-FFF2-40B4-BE49-F238E27FC236}">
                <a16:creationId xmlns:a16="http://schemas.microsoft.com/office/drawing/2014/main" id="{D9DA67FF-63D1-B5A7-17AB-64C805EDF6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528" y="938336"/>
            <a:ext cx="8496944" cy="5228299"/>
          </a:xfrm>
          <a:prstGeom prst="rect">
            <a:avLst/>
          </a:prstGeom>
        </p:spPr>
      </p:pic>
    </p:spTree>
    <p:extLst>
      <p:ext uri="{BB962C8B-B14F-4D97-AF65-F5344CB8AC3E}">
        <p14:creationId xmlns:p14="http://schemas.microsoft.com/office/powerpoint/2010/main" val="2014496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BAB22-2B87-B88B-CA87-7290A88F6ED9}"/>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D67103C0-85D0-B5DD-7125-565231D160E1}"/>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A7362ECD-6CAA-2F71-B7FC-D35CF6B8EC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73A71B4D-A7E9-5EE5-4D2B-74A094CDE063}"/>
              </a:ext>
            </a:extLst>
          </p:cNvPr>
          <p:cNvSpPr txBox="1"/>
          <p:nvPr/>
        </p:nvSpPr>
        <p:spPr>
          <a:xfrm>
            <a:off x="539552" y="476672"/>
            <a:ext cx="8352928" cy="461665"/>
          </a:xfrm>
          <a:prstGeom prst="rect">
            <a:avLst/>
          </a:prstGeom>
          <a:noFill/>
        </p:spPr>
        <p:txBody>
          <a:bodyPr wrap="square" rtlCol="0">
            <a:spAutoFit/>
          </a:bodyPr>
          <a:lstStyle/>
          <a:p>
            <a:r>
              <a:rPr lang="es-ES" sz="2400" b="1" dirty="0">
                <a:solidFill>
                  <a:schemeClr val="accent1"/>
                </a:solidFill>
                <a:latin typeface="Trebuchet MS" pitchFamily="34" charset="0"/>
              </a:rPr>
              <a:t>Pérdida de competitividad</a:t>
            </a:r>
          </a:p>
        </p:txBody>
      </p:sp>
      <p:pic>
        <p:nvPicPr>
          <p:cNvPr id="4" name="Imagen 3">
            <a:extLst>
              <a:ext uri="{FF2B5EF4-FFF2-40B4-BE49-F238E27FC236}">
                <a16:creationId xmlns:a16="http://schemas.microsoft.com/office/drawing/2014/main" id="{FD959C5C-1D57-B846-E044-39EEAC8A0654}"/>
              </a:ext>
            </a:extLst>
          </p:cNvPr>
          <p:cNvPicPr>
            <a:picLocks noChangeAspect="1"/>
          </p:cNvPicPr>
          <p:nvPr/>
        </p:nvPicPr>
        <p:blipFill>
          <a:blip r:embed="rId4"/>
          <a:stretch>
            <a:fillRect/>
          </a:stretch>
        </p:blipFill>
        <p:spPr>
          <a:xfrm>
            <a:off x="323528" y="1124744"/>
            <a:ext cx="8496944" cy="5435893"/>
          </a:xfrm>
          <a:prstGeom prst="rect">
            <a:avLst/>
          </a:prstGeom>
        </p:spPr>
      </p:pic>
    </p:spTree>
    <p:extLst>
      <p:ext uri="{BB962C8B-B14F-4D97-AF65-F5344CB8AC3E}">
        <p14:creationId xmlns:p14="http://schemas.microsoft.com/office/powerpoint/2010/main" val="393718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557AD-00A9-E9B9-B7CC-43D231909A75}"/>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D4A8ADE4-606B-A3B2-23F3-842F686BB3E1}"/>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56DA154E-2D51-0F3D-C634-C3B2DB4122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0DC75A31-D937-AE3C-82CD-158A60B56FC4}"/>
              </a:ext>
            </a:extLst>
          </p:cNvPr>
          <p:cNvSpPr txBox="1"/>
          <p:nvPr/>
        </p:nvSpPr>
        <p:spPr>
          <a:xfrm>
            <a:off x="435888" y="727407"/>
            <a:ext cx="7142699" cy="1692771"/>
          </a:xfrm>
          <a:prstGeom prst="rect">
            <a:avLst/>
          </a:prstGeom>
          <a:noFill/>
        </p:spPr>
        <p:txBody>
          <a:bodyPr wrap="square" rtlCol="0">
            <a:spAutoFit/>
          </a:bodyPr>
          <a:lstStyle/>
          <a:p>
            <a:r>
              <a:rPr lang="es-ES" sz="2800" b="1" dirty="0">
                <a:solidFill>
                  <a:schemeClr val="accent1"/>
                </a:solidFill>
                <a:latin typeface="Trebuchet MS" pitchFamily="34" charset="0"/>
              </a:rPr>
              <a:t>ALGUNOS CONCEPTOS FUNDAMENTALES</a:t>
            </a:r>
          </a:p>
          <a:p>
            <a:endParaRPr lang="es-ES" sz="2800" b="1" dirty="0">
              <a:solidFill>
                <a:schemeClr val="accent1"/>
              </a:solidFill>
              <a:latin typeface="Trebuchet MS" pitchFamily="34" charset="0"/>
            </a:endParaRPr>
          </a:p>
          <a:p>
            <a:pPr marL="514350" indent="-514350">
              <a:buAutoNum type="arabicPeriod"/>
            </a:pPr>
            <a:r>
              <a:rPr lang="es-ES" sz="2400" b="1" dirty="0">
                <a:solidFill>
                  <a:schemeClr val="accent1"/>
                </a:solidFill>
                <a:latin typeface="Trebuchet MS" pitchFamily="34" charset="0"/>
              </a:rPr>
              <a:t>Bienes y servicios transables y no transables</a:t>
            </a:r>
          </a:p>
          <a:p>
            <a:r>
              <a:rPr lang="es-ES" sz="2400" b="1" dirty="0">
                <a:solidFill>
                  <a:schemeClr val="accent1"/>
                </a:solidFill>
                <a:latin typeface="Trebuchet MS" pitchFamily="34" charset="0"/>
              </a:rPr>
              <a:t>3. ¿Qué es la competitividad?</a:t>
            </a:r>
          </a:p>
        </p:txBody>
      </p:sp>
      <p:sp>
        <p:nvSpPr>
          <p:cNvPr id="4" name="CuadroTexto 3">
            <a:extLst>
              <a:ext uri="{FF2B5EF4-FFF2-40B4-BE49-F238E27FC236}">
                <a16:creationId xmlns:a16="http://schemas.microsoft.com/office/drawing/2014/main" id="{AE48FDFE-C657-7DEA-F7AB-9D4E0FD6ECA2}"/>
              </a:ext>
            </a:extLst>
          </p:cNvPr>
          <p:cNvSpPr txBox="1"/>
          <p:nvPr/>
        </p:nvSpPr>
        <p:spPr>
          <a:xfrm>
            <a:off x="719572" y="3504074"/>
            <a:ext cx="7704856" cy="3170099"/>
          </a:xfrm>
          <a:prstGeom prst="rect">
            <a:avLst/>
          </a:prstGeom>
          <a:solidFill>
            <a:schemeClr val="bg1"/>
          </a:solidFill>
        </p:spPr>
        <p:txBody>
          <a:bodyPr wrap="square" rtlCol="0">
            <a:spAutoFit/>
          </a:bodyPr>
          <a:lstStyle/>
          <a:p>
            <a:pPr rtl="0"/>
            <a:r>
              <a:rPr lang="es-UY" sz="2000" b="1" i="0" strike="noStrike" dirty="0">
                <a:solidFill>
                  <a:srgbClr val="121212"/>
                </a:solidFill>
                <a:effectLst/>
                <a:latin typeface="+mj-lt"/>
              </a:rPr>
              <a:t>DETERMINANTES:</a:t>
            </a:r>
          </a:p>
          <a:p>
            <a:pPr rtl="0"/>
            <a:endParaRPr lang="es-UY" sz="2000" b="1" i="0" strike="noStrike" dirty="0">
              <a:solidFill>
                <a:srgbClr val="121212"/>
              </a:solidFill>
              <a:effectLst/>
              <a:latin typeface="+mj-lt"/>
            </a:endParaRPr>
          </a:p>
          <a:p>
            <a:pPr rtl="0"/>
            <a:r>
              <a:rPr lang="es-UY" sz="2000" b="0" i="0" strike="noStrike" dirty="0">
                <a:solidFill>
                  <a:srgbClr val="121212"/>
                </a:solidFill>
                <a:effectLst/>
                <a:latin typeface="+mj-lt"/>
              </a:rPr>
              <a:t>1. </a:t>
            </a:r>
            <a:r>
              <a:rPr lang="es-UY" sz="2000" b="1" u="sng" dirty="0">
                <a:solidFill>
                  <a:srgbClr val="121212"/>
                </a:solidFill>
                <a:latin typeface="+mj-lt"/>
              </a:rPr>
              <a:t>Productividad</a:t>
            </a:r>
            <a:r>
              <a:rPr lang="es-UY" sz="2000" b="0" i="0" u="none" strike="noStrike" dirty="0">
                <a:solidFill>
                  <a:srgbClr val="121212"/>
                </a:solidFill>
                <a:effectLst/>
                <a:latin typeface="+mj-lt"/>
              </a:rPr>
              <a:t>: *Tecnología y escala.</a:t>
            </a:r>
            <a:endParaRPr lang="es-UY" sz="2000" b="0" dirty="0">
              <a:effectLst/>
              <a:latin typeface="+mj-lt"/>
            </a:endParaRPr>
          </a:p>
          <a:p>
            <a:pPr rtl="0"/>
            <a:br>
              <a:rPr lang="es-UY" sz="2000" b="0" dirty="0">
                <a:effectLst/>
                <a:latin typeface="+mj-lt"/>
              </a:rPr>
            </a:br>
            <a:r>
              <a:rPr lang="es-UY" sz="2000" b="0" dirty="0">
                <a:effectLst/>
                <a:latin typeface="+mj-lt"/>
              </a:rPr>
              <a:t>2. </a:t>
            </a:r>
            <a:r>
              <a:rPr lang="es-UY" sz="2000" b="1" u="sng" dirty="0">
                <a:latin typeface="+mj-lt"/>
              </a:rPr>
              <a:t>Precios relativos</a:t>
            </a:r>
            <a:r>
              <a:rPr lang="es-UY" sz="2000" dirty="0">
                <a:solidFill>
                  <a:srgbClr val="121212"/>
                </a:solidFill>
                <a:latin typeface="+mj-lt"/>
              </a:rPr>
              <a:t>: *T</a:t>
            </a:r>
            <a:r>
              <a:rPr lang="es-UY" sz="2000" b="0" i="0" u="none" strike="noStrike" dirty="0">
                <a:solidFill>
                  <a:srgbClr val="121212"/>
                </a:solidFill>
                <a:effectLst/>
                <a:latin typeface="+mj-lt"/>
              </a:rPr>
              <a:t>ipo de cambio real y multilateral.</a:t>
            </a:r>
          </a:p>
          <a:p>
            <a:pPr rtl="0"/>
            <a:endParaRPr lang="es-UY" sz="2000" dirty="0">
              <a:solidFill>
                <a:srgbClr val="121212"/>
              </a:solidFill>
              <a:latin typeface="+mj-lt"/>
            </a:endParaRPr>
          </a:p>
          <a:p>
            <a:pPr rtl="0"/>
            <a:r>
              <a:rPr lang="es-UY" sz="2000" b="0" i="0" u="none" strike="noStrike" dirty="0">
                <a:solidFill>
                  <a:srgbClr val="121212"/>
                </a:solidFill>
                <a:effectLst/>
                <a:latin typeface="+mj-lt"/>
              </a:rPr>
              <a:t>		     *Precios de bienes y servicios estratégicos (energía, costos financieros, mano de obra e impuestos). </a:t>
            </a:r>
          </a:p>
          <a:p>
            <a:pPr rtl="0"/>
            <a:endParaRPr lang="es-UY" sz="2000" dirty="0">
              <a:solidFill>
                <a:srgbClr val="121212"/>
              </a:solidFill>
              <a:latin typeface="+mj-lt"/>
            </a:endParaRPr>
          </a:p>
          <a:p>
            <a:pPr rtl="0"/>
            <a:r>
              <a:rPr lang="es-UY" sz="2000" dirty="0">
                <a:solidFill>
                  <a:srgbClr val="121212"/>
                </a:solidFill>
                <a:effectLst/>
                <a:latin typeface="+mj-lt"/>
              </a:rPr>
              <a:t>3. </a:t>
            </a:r>
            <a:r>
              <a:rPr lang="es-UY" sz="2000" b="1" u="sng" dirty="0">
                <a:solidFill>
                  <a:srgbClr val="121212"/>
                </a:solidFill>
                <a:effectLst/>
                <a:latin typeface="+mj-lt"/>
              </a:rPr>
              <a:t>Regulaciones</a:t>
            </a:r>
            <a:r>
              <a:rPr lang="es-UY" sz="2000" dirty="0">
                <a:solidFill>
                  <a:srgbClr val="121212"/>
                </a:solidFill>
                <a:effectLst/>
                <a:latin typeface="+mj-lt"/>
              </a:rPr>
              <a:t>: *Incentivos y restricciones de la administración pública.</a:t>
            </a:r>
            <a:endParaRPr lang="es-UY" sz="2000" dirty="0">
              <a:effectLst/>
              <a:latin typeface="+mj-lt"/>
            </a:endParaRPr>
          </a:p>
        </p:txBody>
      </p:sp>
    </p:spTree>
    <p:extLst>
      <p:ext uri="{BB962C8B-B14F-4D97-AF65-F5344CB8AC3E}">
        <p14:creationId xmlns:p14="http://schemas.microsoft.com/office/powerpoint/2010/main" val="37708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5 Gráfico">
            <a:extLst>
              <a:ext uri="{FF2B5EF4-FFF2-40B4-BE49-F238E27FC236}">
                <a16:creationId xmlns:a16="http://schemas.microsoft.com/office/drawing/2014/main" id="{FA4F623F-33D8-274B-AB09-0B47EB6DCB2C}"/>
              </a:ext>
            </a:extLst>
          </p:cNvPr>
          <p:cNvGraphicFramePr>
            <a:graphicFrameLocks/>
          </p:cNvGraphicFramePr>
          <p:nvPr>
            <p:extLst>
              <p:ext uri="{D42A27DB-BD31-4B8C-83A1-F6EECF244321}">
                <p14:modId xmlns:p14="http://schemas.microsoft.com/office/powerpoint/2010/main" val="2009086118"/>
              </p:ext>
            </p:extLst>
          </p:nvPr>
        </p:nvGraphicFramePr>
        <p:xfrm>
          <a:off x="251521" y="1340768"/>
          <a:ext cx="8640959" cy="5112568"/>
        </p:xfrm>
        <a:graphic>
          <a:graphicData uri="http://schemas.openxmlformats.org/drawingml/2006/chart">
            <c:chart xmlns:c="http://schemas.openxmlformats.org/drawingml/2006/chart" xmlns:r="http://schemas.openxmlformats.org/officeDocument/2006/relationships" r:id="rId4"/>
          </a:graphicData>
        </a:graphic>
      </p:graphicFrame>
      <p:sp>
        <p:nvSpPr>
          <p:cNvPr id="7" name="6 CuadroTexto"/>
          <p:cNvSpPr txBox="1"/>
          <p:nvPr/>
        </p:nvSpPr>
        <p:spPr>
          <a:xfrm>
            <a:off x="539552" y="332656"/>
            <a:ext cx="8352928" cy="677108"/>
          </a:xfrm>
          <a:prstGeom prst="rect">
            <a:avLst/>
          </a:prstGeom>
          <a:noFill/>
        </p:spPr>
        <p:txBody>
          <a:bodyPr wrap="square" rtlCol="0">
            <a:spAutoFit/>
          </a:bodyPr>
          <a:lstStyle/>
          <a:p>
            <a:r>
              <a:rPr lang="es-ES" sz="2400" b="1" dirty="0">
                <a:solidFill>
                  <a:schemeClr val="accent1"/>
                </a:solidFill>
                <a:latin typeface="Trebuchet MS" pitchFamily="34" charset="0"/>
              </a:rPr>
              <a:t>Proyección 2022/2027 del FMI</a:t>
            </a:r>
          </a:p>
          <a:p>
            <a:r>
              <a:rPr lang="es-ES" sz="1400" dirty="0">
                <a:solidFill>
                  <a:schemeClr val="accent1"/>
                </a:solidFill>
                <a:latin typeface="Trebuchet MS" pitchFamily="34" charset="0"/>
              </a:rPr>
              <a:t>(Tasas interanuales registradas 2005/2020 y proyectadas 2021/2023)</a:t>
            </a:r>
          </a:p>
        </p:txBody>
      </p:sp>
    </p:spTree>
    <p:extLst>
      <p:ext uri="{BB962C8B-B14F-4D97-AF65-F5344CB8AC3E}">
        <p14:creationId xmlns:p14="http://schemas.microsoft.com/office/powerpoint/2010/main" val="1278225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B2B83-630F-9D6F-1441-4A14A9212DA4}"/>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08162B5B-2A37-E693-93D6-9BE02467F316}"/>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B4CDBAE8-6E56-CF77-C712-73FFE54F41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2A83E49D-3B44-6090-78DA-97341C1BE248}"/>
              </a:ext>
            </a:extLst>
          </p:cNvPr>
          <p:cNvSpPr txBox="1"/>
          <p:nvPr/>
        </p:nvSpPr>
        <p:spPr>
          <a:xfrm>
            <a:off x="395536" y="1515704"/>
            <a:ext cx="8352928" cy="677108"/>
          </a:xfrm>
          <a:prstGeom prst="rect">
            <a:avLst/>
          </a:prstGeom>
          <a:noFill/>
        </p:spPr>
        <p:txBody>
          <a:bodyPr wrap="square" rtlCol="0">
            <a:spAutoFit/>
          </a:bodyPr>
          <a:lstStyle/>
          <a:p>
            <a:r>
              <a:rPr lang="es-ES" sz="2400" b="1" dirty="0">
                <a:solidFill>
                  <a:schemeClr val="accent1"/>
                </a:solidFill>
                <a:latin typeface="Trebuchet MS" pitchFamily="34" charset="0"/>
              </a:rPr>
              <a:t>¿Puede esta vez ser diferente?</a:t>
            </a:r>
          </a:p>
          <a:p>
            <a:r>
              <a:rPr lang="es-ES" sz="1400" dirty="0">
                <a:solidFill>
                  <a:schemeClr val="accent1"/>
                </a:solidFill>
                <a:latin typeface="Trebuchet MS" pitchFamily="34" charset="0"/>
              </a:rPr>
              <a:t>(En millones de dólares corrientes)</a:t>
            </a:r>
          </a:p>
        </p:txBody>
      </p:sp>
      <p:sp>
        <p:nvSpPr>
          <p:cNvPr id="17" name="CuadroTexto 16">
            <a:extLst>
              <a:ext uri="{FF2B5EF4-FFF2-40B4-BE49-F238E27FC236}">
                <a16:creationId xmlns:a16="http://schemas.microsoft.com/office/drawing/2014/main" id="{95968F35-D56A-02A3-979F-F39B5AA61A92}"/>
              </a:ext>
            </a:extLst>
          </p:cNvPr>
          <p:cNvSpPr txBox="1"/>
          <p:nvPr/>
        </p:nvSpPr>
        <p:spPr>
          <a:xfrm>
            <a:off x="543835" y="5696196"/>
            <a:ext cx="2304256" cy="276999"/>
          </a:xfrm>
          <a:prstGeom prst="rect">
            <a:avLst/>
          </a:prstGeom>
          <a:noFill/>
        </p:spPr>
        <p:txBody>
          <a:bodyPr wrap="square" rtlCol="0">
            <a:spAutoFit/>
          </a:bodyPr>
          <a:lstStyle/>
          <a:p>
            <a:r>
              <a:rPr lang="es-UY" sz="1200" dirty="0">
                <a:solidFill>
                  <a:schemeClr val="bg1"/>
                </a:solidFill>
              </a:rPr>
              <a:t>Fuente: BCRA.</a:t>
            </a:r>
          </a:p>
        </p:txBody>
      </p:sp>
      <p:pic>
        <p:nvPicPr>
          <p:cNvPr id="7" name="Imagen 6">
            <a:extLst>
              <a:ext uri="{FF2B5EF4-FFF2-40B4-BE49-F238E27FC236}">
                <a16:creationId xmlns:a16="http://schemas.microsoft.com/office/drawing/2014/main" id="{B6004B4F-93C3-EB71-A42D-7EF4AAF80B4C}"/>
              </a:ext>
            </a:extLst>
          </p:cNvPr>
          <p:cNvPicPr>
            <a:picLocks noChangeAspect="1"/>
          </p:cNvPicPr>
          <p:nvPr/>
        </p:nvPicPr>
        <p:blipFill>
          <a:blip r:embed="rId4"/>
          <a:stretch>
            <a:fillRect/>
          </a:stretch>
        </p:blipFill>
        <p:spPr>
          <a:xfrm>
            <a:off x="33091" y="3429000"/>
            <a:ext cx="9077818" cy="2221030"/>
          </a:xfrm>
          <a:prstGeom prst="rect">
            <a:avLst/>
          </a:prstGeom>
          <a:solidFill>
            <a:schemeClr val="bg1"/>
          </a:solidFill>
        </p:spPr>
      </p:pic>
    </p:spTree>
    <p:extLst>
      <p:ext uri="{BB962C8B-B14F-4D97-AF65-F5344CB8AC3E}">
        <p14:creationId xmlns:p14="http://schemas.microsoft.com/office/powerpoint/2010/main" val="3345523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512C5-4D38-3CD7-F417-A0724B9346B0}"/>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8D308358-E6CD-AD4D-8EDF-02F1D63A0572}"/>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43315FEC-D29B-27A9-892A-18A3502435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F9BC2F41-10F2-4D05-3367-49D8BC618D1D}"/>
              </a:ext>
            </a:extLst>
          </p:cNvPr>
          <p:cNvSpPr txBox="1"/>
          <p:nvPr/>
        </p:nvSpPr>
        <p:spPr>
          <a:xfrm>
            <a:off x="539552" y="476672"/>
            <a:ext cx="8352928" cy="677108"/>
          </a:xfrm>
          <a:prstGeom prst="rect">
            <a:avLst/>
          </a:prstGeom>
          <a:noFill/>
        </p:spPr>
        <p:txBody>
          <a:bodyPr wrap="square" rtlCol="0">
            <a:spAutoFit/>
          </a:bodyPr>
          <a:lstStyle/>
          <a:p>
            <a:r>
              <a:rPr lang="es-ES" sz="2400" b="1" dirty="0">
                <a:solidFill>
                  <a:schemeClr val="accent1"/>
                </a:solidFill>
                <a:latin typeface="Trebuchet MS" pitchFamily="34" charset="0"/>
              </a:rPr>
              <a:t>Resultado comercial: Turismo vs Energía</a:t>
            </a:r>
          </a:p>
          <a:p>
            <a:r>
              <a:rPr lang="es-ES" sz="1400" dirty="0">
                <a:solidFill>
                  <a:schemeClr val="accent1"/>
                </a:solidFill>
                <a:latin typeface="Trebuchet MS" pitchFamily="34" charset="0"/>
              </a:rPr>
              <a:t>(En millones de dólares corrientes)</a:t>
            </a:r>
          </a:p>
        </p:txBody>
      </p:sp>
      <p:sp>
        <p:nvSpPr>
          <p:cNvPr id="17" name="CuadroTexto 16">
            <a:extLst>
              <a:ext uri="{FF2B5EF4-FFF2-40B4-BE49-F238E27FC236}">
                <a16:creationId xmlns:a16="http://schemas.microsoft.com/office/drawing/2014/main" id="{C23ADF2A-D875-F157-E791-A6CBB3C049F6}"/>
              </a:ext>
            </a:extLst>
          </p:cNvPr>
          <p:cNvSpPr txBox="1"/>
          <p:nvPr/>
        </p:nvSpPr>
        <p:spPr>
          <a:xfrm>
            <a:off x="539552" y="6504410"/>
            <a:ext cx="2304256" cy="276999"/>
          </a:xfrm>
          <a:prstGeom prst="rect">
            <a:avLst/>
          </a:prstGeom>
          <a:noFill/>
        </p:spPr>
        <p:txBody>
          <a:bodyPr wrap="square" rtlCol="0">
            <a:spAutoFit/>
          </a:bodyPr>
          <a:lstStyle/>
          <a:p>
            <a:r>
              <a:rPr lang="es-UY" sz="1200" dirty="0">
                <a:solidFill>
                  <a:schemeClr val="bg1"/>
                </a:solidFill>
              </a:rPr>
              <a:t>Fuente: BCRA.</a:t>
            </a:r>
          </a:p>
        </p:txBody>
      </p:sp>
      <p:pic>
        <p:nvPicPr>
          <p:cNvPr id="2" name="Imagen 1">
            <a:extLst>
              <a:ext uri="{FF2B5EF4-FFF2-40B4-BE49-F238E27FC236}">
                <a16:creationId xmlns:a16="http://schemas.microsoft.com/office/drawing/2014/main" id="{DE55A3C9-20EF-B3BF-9A14-6501F75EDD61}"/>
              </a:ext>
            </a:extLst>
          </p:cNvPr>
          <p:cNvPicPr>
            <a:picLocks noChangeAspect="1"/>
          </p:cNvPicPr>
          <p:nvPr/>
        </p:nvPicPr>
        <p:blipFill>
          <a:blip r:embed="rId4"/>
          <a:stretch>
            <a:fillRect/>
          </a:stretch>
        </p:blipFill>
        <p:spPr>
          <a:xfrm>
            <a:off x="685800" y="1331171"/>
            <a:ext cx="7772400" cy="5075853"/>
          </a:xfrm>
          <a:prstGeom prst="rect">
            <a:avLst/>
          </a:prstGeom>
        </p:spPr>
      </p:pic>
    </p:spTree>
    <p:extLst>
      <p:ext uri="{BB962C8B-B14F-4D97-AF65-F5344CB8AC3E}">
        <p14:creationId xmlns:p14="http://schemas.microsoft.com/office/powerpoint/2010/main" val="3813287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35654-DA15-C741-57F7-4E82E1E22E96}"/>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C2547825-DBCF-4DD0-D1AE-871DEBBD0108}"/>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59919A32-33DA-274D-D48B-14BBA2B89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090BB9C6-E935-5C86-642D-42A6396F0B5F}"/>
              </a:ext>
            </a:extLst>
          </p:cNvPr>
          <p:cNvSpPr txBox="1"/>
          <p:nvPr/>
        </p:nvSpPr>
        <p:spPr>
          <a:xfrm>
            <a:off x="539552" y="476672"/>
            <a:ext cx="7632848" cy="677108"/>
          </a:xfrm>
          <a:prstGeom prst="rect">
            <a:avLst/>
          </a:prstGeom>
          <a:noFill/>
        </p:spPr>
        <p:txBody>
          <a:bodyPr wrap="square" rtlCol="0">
            <a:spAutoFit/>
          </a:bodyPr>
          <a:lstStyle/>
          <a:p>
            <a:r>
              <a:rPr lang="es-ES" sz="2400" b="1" dirty="0">
                <a:solidFill>
                  <a:schemeClr val="accent1"/>
                </a:solidFill>
                <a:latin typeface="Trebuchet MS" pitchFamily="34" charset="0"/>
              </a:rPr>
              <a:t>Vencimientos de deuda pública</a:t>
            </a:r>
          </a:p>
          <a:p>
            <a:r>
              <a:rPr lang="es-ES" sz="1400" dirty="0">
                <a:solidFill>
                  <a:schemeClr val="accent1"/>
                </a:solidFill>
                <a:latin typeface="Trebuchet MS" pitchFamily="34" charset="0"/>
              </a:rPr>
              <a:t>(En miles de millones de dólares)</a:t>
            </a:r>
          </a:p>
        </p:txBody>
      </p:sp>
      <p:sp>
        <p:nvSpPr>
          <p:cNvPr id="7" name="CuadroTexto 6">
            <a:extLst>
              <a:ext uri="{FF2B5EF4-FFF2-40B4-BE49-F238E27FC236}">
                <a16:creationId xmlns:a16="http://schemas.microsoft.com/office/drawing/2014/main" id="{2EBDA3E9-66C3-F0F3-C236-8F48EF4947AA}"/>
              </a:ext>
            </a:extLst>
          </p:cNvPr>
          <p:cNvSpPr txBox="1"/>
          <p:nvPr/>
        </p:nvSpPr>
        <p:spPr>
          <a:xfrm>
            <a:off x="539552" y="6491562"/>
            <a:ext cx="3799585" cy="276999"/>
          </a:xfrm>
          <a:prstGeom prst="rect">
            <a:avLst/>
          </a:prstGeom>
          <a:noFill/>
        </p:spPr>
        <p:txBody>
          <a:bodyPr wrap="square" rtlCol="0">
            <a:spAutoFit/>
          </a:bodyPr>
          <a:lstStyle/>
          <a:p>
            <a:r>
              <a:rPr lang="es-UY" sz="1200" dirty="0">
                <a:solidFill>
                  <a:schemeClr val="bg1"/>
                </a:solidFill>
              </a:rPr>
              <a:t>   Fuente: Ministerio de Economía de la Nación.</a:t>
            </a:r>
          </a:p>
        </p:txBody>
      </p:sp>
      <p:graphicFrame>
        <p:nvGraphicFramePr>
          <p:cNvPr id="3" name="Tabla 2">
            <a:extLst>
              <a:ext uri="{FF2B5EF4-FFF2-40B4-BE49-F238E27FC236}">
                <a16:creationId xmlns:a16="http://schemas.microsoft.com/office/drawing/2014/main" id="{7B783A7D-B918-A8EC-73DF-E86DDF2D8BCD}"/>
              </a:ext>
            </a:extLst>
          </p:cNvPr>
          <p:cNvGraphicFramePr>
            <a:graphicFrameLocks noGrp="1"/>
          </p:cNvGraphicFramePr>
          <p:nvPr/>
        </p:nvGraphicFramePr>
        <p:xfrm>
          <a:off x="395537" y="1397000"/>
          <a:ext cx="6912767" cy="4192237"/>
        </p:xfrm>
        <a:graphic>
          <a:graphicData uri="http://schemas.openxmlformats.org/drawingml/2006/table">
            <a:tbl>
              <a:tblPr firstRow="1" bandRow="1">
                <a:tableStyleId>{5C22544A-7EE6-4342-B048-85BDC9FD1C3A}</a:tableStyleId>
              </a:tblPr>
              <a:tblGrid>
                <a:gridCol w="2822714">
                  <a:extLst>
                    <a:ext uri="{9D8B030D-6E8A-4147-A177-3AD203B41FA5}">
                      <a16:colId xmlns:a16="http://schemas.microsoft.com/office/drawing/2014/main" val="274928183"/>
                    </a:ext>
                  </a:extLst>
                </a:gridCol>
                <a:gridCol w="1209733">
                  <a:extLst>
                    <a:ext uri="{9D8B030D-6E8A-4147-A177-3AD203B41FA5}">
                      <a16:colId xmlns:a16="http://schemas.microsoft.com/office/drawing/2014/main" val="453123111"/>
                    </a:ext>
                  </a:extLst>
                </a:gridCol>
                <a:gridCol w="936104">
                  <a:extLst>
                    <a:ext uri="{9D8B030D-6E8A-4147-A177-3AD203B41FA5}">
                      <a16:colId xmlns:a16="http://schemas.microsoft.com/office/drawing/2014/main" val="2289285110"/>
                    </a:ext>
                  </a:extLst>
                </a:gridCol>
                <a:gridCol w="864096">
                  <a:extLst>
                    <a:ext uri="{9D8B030D-6E8A-4147-A177-3AD203B41FA5}">
                      <a16:colId xmlns:a16="http://schemas.microsoft.com/office/drawing/2014/main" val="1690489239"/>
                    </a:ext>
                  </a:extLst>
                </a:gridCol>
                <a:gridCol w="1080120">
                  <a:extLst>
                    <a:ext uri="{9D8B030D-6E8A-4147-A177-3AD203B41FA5}">
                      <a16:colId xmlns:a16="http://schemas.microsoft.com/office/drawing/2014/main" val="1082948016"/>
                    </a:ext>
                  </a:extLst>
                </a:gridCol>
              </a:tblGrid>
              <a:tr h="480429">
                <a:tc>
                  <a:txBody>
                    <a:bodyPr/>
                    <a:lstStyle/>
                    <a:p>
                      <a:pPr algn="ctr"/>
                      <a:r>
                        <a:rPr lang="es-UY" dirty="0"/>
                        <a:t>Concepto</a:t>
                      </a:r>
                    </a:p>
                  </a:txBody>
                  <a:tcPr/>
                </a:tc>
                <a:tc>
                  <a:txBody>
                    <a:bodyPr/>
                    <a:lstStyle/>
                    <a:p>
                      <a:pPr algn="ctr"/>
                      <a:r>
                        <a:rPr lang="es-UY" dirty="0"/>
                        <a:t>IV trim 25</a:t>
                      </a:r>
                    </a:p>
                  </a:txBody>
                  <a:tcPr/>
                </a:tc>
                <a:tc>
                  <a:txBody>
                    <a:bodyPr/>
                    <a:lstStyle/>
                    <a:p>
                      <a:pPr algn="ctr"/>
                      <a:r>
                        <a:rPr lang="es-UY" dirty="0"/>
                        <a:t>2026</a:t>
                      </a:r>
                    </a:p>
                  </a:txBody>
                  <a:tcPr/>
                </a:tc>
                <a:tc>
                  <a:txBody>
                    <a:bodyPr/>
                    <a:lstStyle/>
                    <a:p>
                      <a:pPr algn="ctr"/>
                      <a:r>
                        <a:rPr lang="es-UY" dirty="0"/>
                        <a:t>2027</a:t>
                      </a:r>
                    </a:p>
                  </a:txBody>
                  <a:tcPr/>
                </a:tc>
                <a:tc>
                  <a:txBody>
                    <a:bodyPr/>
                    <a:lstStyle/>
                    <a:p>
                      <a:pPr algn="ctr"/>
                      <a:r>
                        <a:rPr lang="es-UY" dirty="0"/>
                        <a:t>Total</a:t>
                      </a:r>
                    </a:p>
                  </a:txBody>
                  <a:tcPr/>
                </a:tc>
                <a:extLst>
                  <a:ext uri="{0D108BD9-81ED-4DB2-BD59-A6C34878D82A}">
                    <a16:rowId xmlns:a16="http://schemas.microsoft.com/office/drawing/2014/main" val="873064964"/>
                  </a:ext>
                </a:extLst>
              </a:tr>
              <a:tr h="829234">
                <a:tc>
                  <a:txBody>
                    <a:bodyPr/>
                    <a:lstStyle/>
                    <a:p>
                      <a:r>
                        <a:rPr lang="es-UY" dirty="0"/>
                        <a:t>Bonos en manos del sector privado</a:t>
                      </a:r>
                    </a:p>
                  </a:txBody>
                  <a:tcPr/>
                </a:tc>
                <a:tc>
                  <a:txBody>
                    <a:bodyPr/>
                    <a:lstStyle/>
                    <a:p>
                      <a:r>
                        <a:rPr lang="es-UY" dirty="0"/>
                        <a:t>0</a:t>
                      </a:r>
                    </a:p>
                    <a:p>
                      <a:endParaRPr lang="es-UY" dirty="0"/>
                    </a:p>
                  </a:txBody>
                  <a:tcPr/>
                </a:tc>
                <a:tc>
                  <a:txBody>
                    <a:bodyPr/>
                    <a:lstStyle/>
                    <a:p>
                      <a:r>
                        <a:rPr lang="es-UY" dirty="0"/>
                        <a:t>7,4</a:t>
                      </a:r>
                    </a:p>
                  </a:txBody>
                  <a:tcPr/>
                </a:tc>
                <a:tc>
                  <a:txBody>
                    <a:bodyPr/>
                    <a:lstStyle/>
                    <a:p>
                      <a:r>
                        <a:rPr lang="es-UY" dirty="0"/>
                        <a:t>8,2</a:t>
                      </a:r>
                    </a:p>
                  </a:txBody>
                  <a:tcPr/>
                </a:tc>
                <a:tc>
                  <a:txBody>
                    <a:bodyPr/>
                    <a:lstStyle/>
                    <a:p>
                      <a:r>
                        <a:rPr lang="es-UY" dirty="0"/>
                        <a:t>15,6</a:t>
                      </a:r>
                    </a:p>
                  </a:txBody>
                  <a:tcPr/>
                </a:tc>
                <a:extLst>
                  <a:ext uri="{0D108BD9-81ED-4DB2-BD59-A6C34878D82A}">
                    <a16:rowId xmlns:a16="http://schemas.microsoft.com/office/drawing/2014/main" val="2426797329"/>
                  </a:ext>
                </a:extLst>
              </a:tr>
              <a:tr h="480429">
                <a:tc>
                  <a:txBody>
                    <a:bodyPr/>
                    <a:lstStyle/>
                    <a:p>
                      <a:r>
                        <a:rPr lang="es-UY" dirty="0"/>
                        <a:t>FMI (neto de desembolsos)</a:t>
                      </a:r>
                    </a:p>
                  </a:txBody>
                  <a:tcPr/>
                </a:tc>
                <a:tc>
                  <a:txBody>
                    <a:bodyPr/>
                    <a:lstStyle/>
                    <a:p>
                      <a:r>
                        <a:rPr lang="es-UY" dirty="0"/>
                        <a:t>0,9</a:t>
                      </a:r>
                    </a:p>
                  </a:txBody>
                  <a:tcPr/>
                </a:tc>
                <a:tc>
                  <a:txBody>
                    <a:bodyPr/>
                    <a:lstStyle/>
                    <a:p>
                      <a:r>
                        <a:rPr lang="es-UY" dirty="0"/>
                        <a:t>2,6</a:t>
                      </a:r>
                    </a:p>
                  </a:txBody>
                  <a:tcPr/>
                </a:tc>
                <a:tc>
                  <a:txBody>
                    <a:bodyPr/>
                    <a:lstStyle/>
                    <a:p>
                      <a:r>
                        <a:rPr lang="es-UY" dirty="0"/>
                        <a:t>6</a:t>
                      </a:r>
                    </a:p>
                  </a:txBody>
                  <a:tcPr/>
                </a:tc>
                <a:tc>
                  <a:txBody>
                    <a:bodyPr/>
                    <a:lstStyle/>
                    <a:p>
                      <a:r>
                        <a:rPr lang="es-UY" dirty="0"/>
                        <a:t>9,5</a:t>
                      </a:r>
                    </a:p>
                  </a:txBody>
                  <a:tcPr/>
                </a:tc>
                <a:extLst>
                  <a:ext uri="{0D108BD9-81ED-4DB2-BD59-A6C34878D82A}">
                    <a16:rowId xmlns:a16="http://schemas.microsoft.com/office/drawing/2014/main" val="357061283"/>
                  </a:ext>
                </a:extLst>
              </a:tr>
              <a:tr h="480429">
                <a:tc>
                  <a:txBody>
                    <a:bodyPr/>
                    <a:lstStyle/>
                    <a:p>
                      <a:r>
                        <a:rPr lang="es-UY" dirty="0"/>
                        <a:t>Club de París.</a:t>
                      </a:r>
                    </a:p>
                  </a:txBody>
                  <a:tcPr/>
                </a:tc>
                <a:tc>
                  <a:txBody>
                    <a:bodyPr/>
                    <a:lstStyle/>
                    <a:p>
                      <a:r>
                        <a:rPr lang="es-UY" dirty="0"/>
                        <a:t>0,2</a:t>
                      </a:r>
                    </a:p>
                  </a:txBody>
                  <a:tcPr/>
                </a:tc>
                <a:tc>
                  <a:txBody>
                    <a:bodyPr/>
                    <a:lstStyle/>
                    <a:p>
                      <a:r>
                        <a:rPr lang="es-UY" dirty="0"/>
                        <a:t>0,3</a:t>
                      </a:r>
                    </a:p>
                  </a:txBody>
                  <a:tcPr/>
                </a:tc>
                <a:tc>
                  <a:txBody>
                    <a:bodyPr/>
                    <a:lstStyle/>
                    <a:p>
                      <a:r>
                        <a:rPr lang="es-UY" dirty="0"/>
                        <a:t>0,3</a:t>
                      </a:r>
                    </a:p>
                  </a:txBody>
                  <a:tcPr/>
                </a:tc>
                <a:tc>
                  <a:txBody>
                    <a:bodyPr/>
                    <a:lstStyle/>
                    <a:p>
                      <a:r>
                        <a:rPr lang="es-UY" dirty="0"/>
                        <a:t>0,8</a:t>
                      </a:r>
                    </a:p>
                  </a:txBody>
                  <a:tcPr/>
                </a:tc>
                <a:extLst>
                  <a:ext uri="{0D108BD9-81ED-4DB2-BD59-A6C34878D82A}">
                    <a16:rowId xmlns:a16="http://schemas.microsoft.com/office/drawing/2014/main" val="1826437333"/>
                  </a:ext>
                </a:extLst>
              </a:tr>
              <a:tr h="480429">
                <a:tc>
                  <a:txBody>
                    <a:bodyPr/>
                    <a:lstStyle/>
                    <a:p>
                      <a:r>
                        <a:rPr lang="es-UY" dirty="0"/>
                        <a:t>Otros OOII</a:t>
                      </a:r>
                    </a:p>
                  </a:txBody>
                  <a:tcPr/>
                </a:tc>
                <a:tc>
                  <a:txBody>
                    <a:bodyPr/>
                    <a:lstStyle/>
                    <a:p>
                      <a:r>
                        <a:rPr lang="es-UY" dirty="0"/>
                        <a:t>1,7</a:t>
                      </a:r>
                    </a:p>
                  </a:txBody>
                  <a:tcPr/>
                </a:tc>
                <a:tc>
                  <a:txBody>
                    <a:bodyPr/>
                    <a:lstStyle/>
                    <a:p>
                      <a:r>
                        <a:rPr lang="es-UY" dirty="0"/>
                        <a:t>4,1</a:t>
                      </a:r>
                    </a:p>
                  </a:txBody>
                  <a:tcPr/>
                </a:tc>
                <a:tc>
                  <a:txBody>
                    <a:bodyPr/>
                    <a:lstStyle/>
                    <a:p>
                      <a:r>
                        <a:rPr lang="es-UY" dirty="0"/>
                        <a:t>4,1</a:t>
                      </a:r>
                    </a:p>
                  </a:txBody>
                  <a:tcPr/>
                </a:tc>
                <a:tc>
                  <a:txBody>
                    <a:bodyPr/>
                    <a:lstStyle/>
                    <a:p>
                      <a:r>
                        <a:rPr lang="es-UY" dirty="0"/>
                        <a:t>9,9</a:t>
                      </a:r>
                    </a:p>
                  </a:txBody>
                  <a:tcPr/>
                </a:tc>
                <a:extLst>
                  <a:ext uri="{0D108BD9-81ED-4DB2-BD59-A6C34878D82A}">
                    <a16:rowId xmlns:a16="http://schemas.microsoft.com/office/drawing/2014/main" val="1743997839"/>
                  </a:ext>
                </a:extLst>
              </a:tr>
              <a:tr h="480429">
                <a:tc>
                  <a:txBody>
                    <a:bodyPr/>
                    <a:lstStyle/>
                    <a:p>
                      <a:r>
                        <a:rPr lang="es-UY" dirty="0"/>
                        <a:t>Bopreales</a:t>
                      </a:r>
                    </a:p>
                  </a:txBody>
                  <a:tcPr/>
                </a:tc>
                <a:tc>
                  <a:txBody>
                    <a:bodyPr/>
                    <a:lstStyle/>
                    <a:p>
                      <a:r>
                        <a:rPr lang="es-UY" dirty="0"/>
                        <a:t>1,1</a:t>
                      </a:r>
                    </a:p>
                  </a:txBody>
                  <a:tcPr/>
                </a:tc>
                <a:tc>
                  <a:txBody>
                    <a:bodyPr/>
                    <a:lstStyle/>
                    <a:p>
                      <a:r>
                        <a:rPr lang="es-UY" dirty="0"/>
                        <a:t>2,2</a:t>
                      </a:r>
                    </a:p>
                  </a:txBody>
                  <a:tcPr/>
                </a:tc>
                <a:tc>
                  <a:txBody>
                    <a:bodyPr/>
                    <a:lstStyle/>
                    <a:p>
                      <a:r>
                        <a:rPr lang="es-UY" dirty="0"/>
                        <a:t>1,5</a:t>
                      </a:r>
                    </a:p>
                  </a:txBody>
                  <a:tcPr/>
                </a:tc>
                <a:tc>
                  <a:txBody>
                    <a:bodyPr/>
                    <a:lstStyle/>
                    <a:p>
                      <a:r>
                        <a:rPr lang="es-UY" dirty="0"/>
                        <a:t>4,8</a:t>
                      </a:r>
                    </a:p>
                  </a:txBody>
                  <a:tcPr/>
                </a:tc>
                <a:extLst>
                  <a:ext uri="{0D108BD9-81ED-4DB2-BD59-A6C34878D82A}">
                    <a16:rowId xmlns:a16="http://schemas.microsoft.com/office/drawing/2014/main" val="2432461986"/>
                  </a:ext>
                </a:extLst>
              </a:tr>
              <a:tr h="480429">
                <a:tc>
                  <a:txBody>
                    <a:bodyPr/>
                    <a:lstStyle/>
                    <a:p>
                      <a:r>
                        <a:rPr lang="es-UY" dirty="0"/>
                        <a:t>REPOS BCRA</a:t>
                      </a:r>
                    </a:p>
                  </a:txBody>
                  <a:tcPr/>
                </a:tc>
                <a:tc>
                  <a:txBody>
                    <a:bodyPr/>
                    <a:lstStyle/>
                    <a:p>
                      <a:r>
                        <a:rPr lang="es-UY" dirty="0"/>
                        <a:t>0,1</a:t>
                      </a:r>
                    </a:p>
                  </a:txBody>
                  <a:tcPr/>
                </a:tc>
                <a:tc>
                  <a:txBody>
                    <a:bodyPr/>
                    <a:lstStyle/>
                    <a:p>
                      <a:r>
                        <a:rPr lang="es-UY" dirty="0"/>
                        <a:t>0,2</a:t>
                      </a:r>
                    </a:p>
                  </a:txBody>
                  <a:tcPr/>
                </a:tc>
                <a:tc>
                  <a:txBody>
                    <a:bodyPr/>
                    <a:lstStyle/>
                    <a:p>
                      <a:r>
                        <a:rPr lang="es-UY" dirty="0"/>
                        <a:t>3,1</a:t>
                      </a:r>
                    </a:p>
                  </a:txBody>
                  <a:tcPr/>
                </a:tc>
                <a:tc>
                  <a:txBody>
                    <a:bodyPr/>
                    <a:lstStyle/>
                    <a:p>
                      <a:r>
                        <a:rPr lang="es-UY" dirty="0"/>
                        <a:t>3,5</a:t>
                      </a:r>
                    </a:p>
                  </a:txBody>
                  <a:tcPr/>
                </a:tc>
                <a:extLst>
                  <a:ext uri="{0D108BD9-81ED-4DB2-BD59-A6C34878D82A}">
                    <a16:rowId xmlns:a16="http://schemas.microsoft.com/office/drawing/2014/main" val="1480787310"/>
                  </a:ext>
                </a:extLst>
              </a:tr>
              <a:tr h="480429">
                <a:tc>
                  <a:txBody>
                    <a:bodyPr/>
                    <a:lstStyle/>
                    <a:p>
                      <a:r>
                        <a:rPr lang="es-UY" b="1" dirty="0"/>
                        <a:t>TOTAL</a:t>
                      </a:r>
                    </a:p>
                  </a:txBody>
                  <a:tcPr/>
                </a:tc>
                <a:tc>
                  <a:txBody>
                    <a:bodyPr/>
                    <a:lstStyle/>
                    <a:p>
                      <a:r>
                        <a:rPr lang="es-UY" b="1" dirty="0"/>
                        <a:t>4</a:t>
                      </a:r>
                    </a:p>
                  </a:txBody>
                  <a:tcPr/>
                </a:tc>
                <a:tc>
                  <a:txBody>
                    <a:bodyPr/>
                    <a:lstStyle/>
                    <a:p>
                      <a:r>
                        <a:rPr lang="es-UY" b="1" dirty="0"/>
                        <a:t>16,9</a:t>
                      </a:r>
                    </a:p>
                  </a:txBody>
                  <a:tcPr/>
                </a:tc>
                <a:tc>
                  <a:txBody>
                    <a:bodyPr/>
                    <a:lstStyle/>
                    <a:p>
                      <a:r>
                        <a:rPr lang="es-UY" b="1" dirty="0"/>
                        <a:t>23,1</a:t>
                      </a:r>
                    </a:p>
                  </a:txBody>
                  <a:tcPr/>
                </a:tc>
                <a:tc>
                  <a:txBody>
                    <a:bodyPr/>
                    <a:lstStyle/>
                    <a:p>
                      <a:r>
                        <a:rPr lang="es-UY" b="1" dirty="0"/>
                        <a:t>44,1</a:t>
                      </a:r>
                    </a:p>
                  </a:txBody>
                  <a:tcPr/>
                </a:tc>
                <a:extLst>
                  <a:ext uri="{0D108BD9-81ED-4DB2-BD59-A6C34878D82A}">
                    <a16:rowId xmlns:a16="http://schemas.microsoft.com/office/drawing/2014/main" val="2760524406"/>
                  </a:ext>
                </a:extLst>
              </a:tr>
            </a:tbl>
          </a:graphicData>
        </a:graphic>
      </p:graphicFrame>
    </p:spTree>
    <p:extLst>
      <p:ext uri="{BB962C8B-B14F-4D97-AF65-F5344CB8AC3E}">
        <p14:creationId xmlns:p14="http://schemas.microsoft.com/office/powerpoint/2010/main" val="1330365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57E51-EA94-B95D-621A-9456DB7A8790}"/>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394D8A44-6DE8-111B-220D-5CDA1EA6E798}"/>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276706F2-D567-A33D-D770-517EE50CB7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7B70014B-A543-61D0-BC48-A641D10E18B2}"/>
              </a:ext>
            </a:extLst>
          </p:cNvPr>
          <p:cNvSpPr txBox="1"/>
          <p:nvPr/>
        </p:nvSpPr>
        <p:spPr>
          <a:xfrm>
            <a:off x="539552" y="476672"/>
            <a:ext cx="7632848" cy="677108"/>
          </a:xfrm>
          <a:prstGeom prst="rect">
            <a:avLst/>
          </a:prstGeom>
          <a:noFill/>
        </p:spPr>
        <p:txBody>
          <a:bodyPr wrap="square" rtlCol="0">
            <a:spAutoFit/>
          </a:bodyPr>
          <a:lstStyle/>
          <a:p>
            <a:r>
              <a:rPr lang="es-ES" sz="2400" b="1" dirty="0">
                <a:solidFill>
                  <a:schemeClr val="accent1"/>
                </a:solidFill>
                <a:latin typeface="Trebuchet MS" pitchFamily="34" charset="0"/>
              </a:rPr>
              <a:t>Límite para refinanciar deuda externa</a:t>
            </a:r>
          </a:p>
          <a:p>
            <a:r>
              <a:rPr lang="es-ES" sz="1400" dirty="0">
                <a:solidFill>
                  <a:schemeClr val="accent1"/>
                </a:solidFill>
                <a:latin typeface="Trebuchet MS" pitchFamily="34" charset="0"/>
              </a:rPr>
              <a:t>(En miles de millones de dólares)</a:t>
            </a:r>
          </a:p>
        </p:txBody>
      </p:sp>
      <p:sp>
        <p:nvSpPr>
          <p:cNvPr id="7" name="CuadroTexto 6">
            <a:extLst>
              <a:ext uri="{FF2B5EF4-FFF2-40B4-BE49-F238E27FC236}">
                <a16:creationId xmlns:a16="http://schemas.microsoft.com/office/drawing/2014/main" id="{6ED0DEDE-39A2-59FC-6B7F-DD92783A5DE1}"/>
              </a:ext>
            </a:extLst>
          </p:cNvPr>
          <p:cNvSpPr txBox="1"/>
          <p:nvPr/>
        </p:nvSpPr>
        <p:spPr>
          <a:xfrm>
            <a:off x="251520" y="6491562"/>
            <a:ext cx="3799585" cy="276999"/>
          </a:xfrm>
          <a:prstGeom prst="rect">
            <a:avLst/>
          </a:prstGeom>
          <a:noFill/>
        </p:spPr>
        <p:txBody>
          <a:bodyPr wrap="square" rtlCol="0">
            <a:spAutoFit/>
          </a:bodyPr>
          <a:lstStyle/>
          <a:p>
            <a:r>
              <a:rPr lang="es-UY" sz="1200" dirty="0">
                <a:solidFill>
                  <a:schemeClr val="bg1"/>
                </a:solidFill>
              </a:rPr>
              <a:t>   Fuente: Rava Bursátil.</a:t>
            </a:r>
          </a:p>
        </p:txBody>
      </p:sp>
      <p:pic>
        <p:nvPicPr>
          <p:cNvPr id="4" name="Imagen 3">
            <a:extLst>
              <a:ext uri="{FF2B5EF4-FFF2-40B4-BE49-F238E27FC236}">
                <a16:creationId xmlns:a16="http://schemas.microsoft.com/office/drawing/2014/main" id="{4EC4F2C8-55B8-A5AE-73A7-E3109BEEFA96}"/>
              </a:ext>
            </a:extLst>
          </p:cNvPr>
          <p:cNvPicPr>
            <a:picLocks noChangeAspect="1"/>
          </p:cNvPicPr>
          <p:nvPr/>
        </p:nvPicPr>
        <p:blipFill>
          <a:blip r:embed="rId4"/>
          <a:stretch>
            <a:fillRect/>
          </a:stretch>
        </p:blipFill>
        <p:spPr>
          <a:xfrm>
            <a:off x="323528" y="1316049"/>
            <a:ext cx="8424936" cy="5065278"/>
          </a:xfrm>
          <a:prstGeom prst="rect">
            <a:avLst/>
          </a:prstGeom>
        </p:spPr>
      </p:pic>
    </p:spTree>
    <p:extLst>
      <p:ext uri="{BB962C8B-B14F-4D97-AF65-F5344CB8AC3E}">
        <p14:creationId xmlns:p14="http://schemas.microsoft.com/office/powerpoint/2010/main" val="500559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A2483-C907-D431-42D6-7089AEBF36EE}"/>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5111A240-E9EE-9B53-0E1C-E16ABFD0D221}"/>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6E9CB1CB-6DDD-47B5-B387-988DA5BFA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232E2FAA-1833-9D4E-B3F7-19E7D14B52ED}"/>
              </a:ext>
            </a:extLst>
          </p:cNvPr>
          <p:cNvSpPr txBox="1"/>
          <p:nvPr/>
        </p:nvSpPr>
        <p:spPr>
          <a:xfrm>
            <a:off x="539552" y="476672"/>
            <a:ext cx="6768752" cy="461665"/>
          </a:xfrm>
          <a:prstGeom prst="rect">
            <a:avLst/>
          </a:prstGeom>
          <a:noFill/>
        </p:spPr>
        <p:txBody>
          <a:bodyPr wrap="square" rtlCol="0">
            <a:spAutoFit/>
          </a:bodyPr>
          <a:lstStyle/>
          <a:p>
            <a:r>
              <a:rPr lang="es-ES" sz="2400" b="1" dirty="0">
                <a:solidFill>
                  <a:schemeClr val="accent1"/>
                </a:solidFill>
                <a:latin typeface="Trebuchet MS" pitchFamily="34" charset="0"/>
              </a:rPr>
              <a:t>Los ganadores del modelo</a:t>
            </a:r>
          </a:p>
        </p:txBody>
      </p:sp>
      <p:sp>
        <p:nvSpPr>
          <p:cNvPr id="4" name="CuadroTexto 3">
            <a:extLst>
              <a:ext uri="{FF2B5EF4-FFF2-40B4-BE49-F238E27FC236}">
                <a16:creationId xmlns:a16="http://schemas.microsoft.com/office/drawing/2014/main" id="{BBD2D5F5-BB14-4B34-048A-0C0CEE745BD6}"/>
              </a:ext>
            </a:extLst>
          </p:cNvPr>
          <p:cNvSpPr txBox="1"/>
          <p:nvPr/>
        </p:nvSpPr>
        <p:spPr>
          <a:xfrm>
            <a:off x="719572" y="2204864"/>
            <a:ext cx="7704856" cy="3416320"/>
          </a:xfrm>
          <a:prstGeom prst="rect">
            <a:avLst/>
          </a:prstGeom>
          <a:solidFill>
            <a:schemeClr val="bg1"/>
          </a:solidFill>
        </p:spPr>
        <p:txBody>
          <a:bodyPr wrap="square" rtlCol="0">
            <a:spAutoFit/>
          </a:bodyPr>
          <a:lstStyle/>
          <a:p>
            <a:pPr rtl="0"/>
            <a:r>
              <a:rPr lang="es-UY" sz="1800" b="1" i="0" u="sng" strike="noStrike" dirty="0">
                <a:solidFill>
                  <a:srgbClr val="121212"/>
                </a:solidFill>
                <a:effectLst/>
                <a:latin typeface="+mj-lt"/>
              </a:rPr>
              <a:t>1. Grandes exportadores</a:t>
            </a:r>
            <a:r>
              <a:rPr lang="es-UY" sz="1800" b="0" i="0" u="none" strike="noStrike" dirty="0">
                <a:solidFill>
                  <a:srgbClr val="121212"/>
                </a:solidFill>
                <a:effectLst/>
                <a:latin typeface="+mj-lt"/>
              </a:rPr>
              <a:t>: sector agropecuario, minero, energético, petroquímico y de algunos insumos fabriles como cuero, aluminio y siderurgia.</a:t>
            </a:r>
            <a:endParaRPr lang="es-UY" b="0" dirty="0">
              <a:effectLst/>
              <a:latin typeface="+mj-lt"/>
            </a:endParaRPr>
          </a:p>
          <a:p>
            <a:pPr rtl="0"/>
            <a:br>
              <a:rPr lang="es-UY" b="0" dirty="0">
                <a:effectLst/>
                <a:latin typeface="+mj-lt"/>
              </a:rPr>
            </a:br>
            <a:r>
              <a:rPr lang="es-UY" b="1" dirty="0">
                <a:effectLst/>
                <a:latin typeface="+mj-lt"/>
              </a:rPr>
              <a:t>2. </a:t>
            </a:r>
            <a:r>
              <a:rPr lang="es-UY" b="1" u="sng" dirty="0">
                <a:effectLst/>
                <a:latin typeface="+mj-lt"/>
              </a:rPr>
              <a:t>R</a:t>
            </a:r>
            <a:r>
              <a:rPr lang="es-UY" sz="1800" b="1" i="0" u="sng" strike="noStrike" dirty="0">
                <a:solidFill>
                  <a:srgbClr val="121212"/>
                </a:solidFill>
                <a:effectLst/>
                <a:latin typeface="+mj-lt"/>
              </a:rPr>
              <a:t>ubros concentrados, con demanda inelástica y capacidad exportadora</a:t>
            </a:r>
            <a:r>
              <a:rPr lang="es-UY" b="1" dirty="0">
                <a:solidFill>
                  <a:srgbClr val="121212"/>
                </a:solidFill>
                <a:latin typeface="+mj-lt"/>
              </a:rPr>
              <a:t>: </a:t>
            </a:r>
            <a:r>
              <a:rPr lang="es-UY" sz="1800" b="0" i="0" u="none" strike="noStrike" dirty="0">
                <a:solidFill>
                  <a:srgbClr val="121212"/>
                </a:solidFill>
                <a:effectLst/>
                <a:latin typeface="+mj-lt"/>
              </a:rPr>
              <a:t>naftas, medicamentos, prepagas de salud y alimentos básicos. </a:t>
            </a:r>
            <a:endParaRPr lang="es-UY" b="0" dirty="0">
              <a:effectLst/>
              <a:latin typeface="+mj-lt"/>
            </a:endParaRPr>
          </a:p>
          <a:p>
            <a:pPr rtl="0"/>
            <a:br>
              <a:rPr lang="es-UY" b="1" dirty="0">
                <a:effectLst/>
                <a:latin typeface="+mj-lt"/>
              </a:rPr>
            </a:br>
            <a:r>
              <a:rPr lang="es-UY" b="1" dirty="0">
                <a:effectLst/>
                <a:latin typeface="+mj-lt"/>
              </a:rPr>
              <a:t>3. </a:t>
            </a:r>
            <a:r>
              <a:rPr lang="es-UY" b="1" u="sng" dirty="0">
                <a:latin typeface="+mj-lt"/>
              </a:rPr>
              <a:t>Sector financiero: </a:t>
            </a:r>
          </a:p>
          <a:p>
            <a:pPr rtl="0"/>
            <a:r>
              <a:rPr lang="es-UY" sz="1800" b="0" i="0" strike="noStrike" dirty="0">
                <a:solidFill>
                  <a:srgbClr val="121212"/>
                </a:solidFill>
                <a:effectLst/>
                <a:latin typeface="+mj-lt"/>
              </a:rPr>
              <a:t>	I. </a:t>
            </a:r>
            <a:r>
              <a:rPr lang="es-UY" dirty="0">
                <a:solidFill>
                  <a:srgbClr val="121212"/>
                </a:solidFill>
                <a:latin typeface="+mj-lt"/>
              </a:rPr>
              <a:t>L</a:t>
            </a:r>
            <a:r>
              <a:rPr lang="es-UY" sz="1800" b="0" i="0" u="none" strike="noStrike" dirty="0">
                <a:solidFill>
                  <a:srgbClr val="121212"/>
                </a:solidFill>
                <a:effectLst/>
                <a:latin typeface="+mj-lt"/>
              </a:rPr>
              <a:t>a mega devaluación, con carteras llenas de bonos soberanos ajustables por CER y dólar linked, hizo volar sus rendimientos. </a:t>
            </a:r>
          </a:p>
          <a:p>
            <a:pPr rtl="0"/>
            <a:r>
              <a:rPr lang="es-UY" dirty="0">
                <a:solidFill>
                  <a:srgbClr val="121212"/>
                </a:solidFill>
                <a:latin typeface="+mj-lt"/>
              </a:rPr>
              <a:t>	II. Sin c</a:t>
            </a:r>
            <a:r>
              <a:rPr lang="es-UY" sz="1800" b="0" i="0" u="none" strike="noStrike" dirty="0">
                <a:solidFill>
                  <a:srgbClr val="121212"/>
                </a:solidFill>
                <a:effectLst/>
                <a:latin typeface="+mj-lt"/>
              </a:rPr>
              <a:t>ondicionamientos. </a:t>
            </a:r>
          </a:p>
          <a:p>
            <a:pPr rtl="0"/>
            <a:r>
              <a:rPr lang="es-UY" dirty="0">
                <a:solidFill>
                  <a:srgbClr val="121212"/>
                </a:solidFill>
                <a:latin typeface="+mj-lt"/>
              </a:rPr>
              <a:t>	III. Tarjetas de crédito.</a:t>
            </a:r>
          </a:p>
          <a:p>
            <a:pPr rtl="0"/>
            <a:endParaRPr lang="es-UY" dirty="0">
              <a:solidFill>
                <a:srgbClr val="121212"/>
              </a:solidFill>
              <a:latin typeface="+mj-lt"/>
            </a:endParaRPr>
          </a:p>
        </p:txBody>
      </p:sp>
    </p:spTree>
    <p:extLst>
      <p:ext uri="{BB962C8B-B14F-4D97-AF65-F5344CB8AC3E}">
        <p14:creationId xmlns:p14="http://schemas.microsoft.com/office/powerpoint/2010/main" val="581402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C90BD-D224-0BFA-76A8-58147392F505}"/>
            </a:ext>
          </a:extLst>
        </p:cNvPr>
        <p:cNvGrpSpPr/>
        <p:nvPr/>
      </p:nvGrpSpPr>
      <p:grpSpPr>
        <a:xfrm>
          <a:off x="0" y="0"/>
          <a:ext cx="0" cy="0"/>
          <a:chOff x="0" y="0"/>
          <a:chExt cx="0" cy="0"/>
        </a:xfrm>
      </p:grpSpPr>
      <p:sp>
        <p:nvSpPr>
          <p:cNvPr id="5" name="4 Rectángulo">
            <a:extLst>
              <a:ext uri="{FF2B5EF4-FFF2-40B4-BE49-F238E27FC236}">
                <a16:creationId xmlns:a16="http://schemas.microsoft.com/office/drawing/2014/main" id="{AD6B7E87-77BE-E9ED-FF25-902A6AEF1205}"/>
              </a:ext>
            </a:extLst>
          </p:cNvPr>
          <p:cNvSpPr/>
          <p:nvPr/>
        </p:nvSpPr>
        <p:spPr>
          <a:xfrm>
            <a:off x="2876664" y="3244334"/>
            <a:ext cx="3390672" cy="369332"/>
          </a:xfrm>
          <a:prstGeom prst="rect">
            <a:avLst/>
          </a:prstGeom>
        </p:spPr>
        <p:txBody>
          <a:bodyPr wrap="none">
            <a:spAutoFit/>
          </a:bodyPr>
          <a:lstStyle/>
          <a:p>
            <a:r>
              <a:rPr lang="es-ES" b="0" i="0" u="none" strike="noStrike" dirty="0">
                <a:solidFill>
                  <a:srgbClr val="FFFFFF"/>
                </a:solidFill>
                <a:effectLst/>
                <a:latin typeface="YouTube Noto"/>
                <a:hlinkClick r:id="rId2"/>
              </a:rPr>
              <a:t>https://youtu.be/DpW0TnB3gJg</a:t>
            </a:r>
            <a:endParaRPr lang="es-ES" dirty="0"/>
          </a:p>
        </p:txBody>
      </p:sp>
      <p:pic>
        <p:nvPicPr>
          <p:cNvPr id="8" name="Picture 3">
            <a:extLst>
              <a:ext uri="{FF2B5EF4-FFF2-40B4-BE49-F238E27FC236}">
                <a16:creationId xmlns:a16="http://schemas.microsoft.com/office/drawing/2014/main" id="{38D435B4-BDB3-BFFD-66C5-591C041BC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solidFill>
            <a:schemeClr val="bg1"/>
          </a:solidFill>
          <a:ln w="38100">
            <a:solidFill>
              <a:schemeClr val="accent1">
                <a:shade val="15000"/>
              </a:schemeClr>
            </a:solidFill>
          </a:ln>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a:extLst>
              <a:ext uri="{FF2B5EF4-FFF2-40B4-BE49-F238E27FC236}">
                <a16:creationId xmlns:a16="http://schemas.microsoft.com/office/drawing/2014/main" id="{220B7923-3A43-9E9C-9D87-2AA6F7221F89}"/>
              </a:ext>
            </a:extLst>
          </p:cNvPr>
          <p:cNvSpPr txBox="1"/>
          <p:nvPr/>
        </p:nvSpPr>
        <p:spPr>
          <a:xfrm>
            <a:off x="539552" y="669220"/>
            <a:ext cx="6768752" cy="461665"/>
          </a:xfrm>
          <a:prstGeom prst="rect">
            <a:avLst/>
          </a:prstGeom>
          <a:noFill/>
        </p:spPr>
        <p:txBody>
          <a:bodyPr wrap="square" rtlCol="0">
            <a:spAutoFit/>
          </a:bodyPr>
          <a:lstStyle/>
          <a:p>
            <a:r>
              <a:rPr lang="es-ES" sz="2400" b="1" dirty="0">
                <a:solidFill>
                  <a:schemeClr val="accent1"/>
                </a:solidFill>
                <a:latin typeface="Trebuchet MS" pitchFamily="34" charset="0"/>
              </a:rPr>
              <a:t>Conclusiones</a:t>
            </a:r>
          </a:p>
        </p:txBody>
      </p:sp>
      <p:sp>
        <p:nvSpPr>
          <p:cNvPr id="4" name="CuadroTexto 3">
            <a:extLst>
              <a:ext uri="{FF2B5EF4-FFF2-40B4-BE49-F238E27FC236}">
                <a16:creationId xmlns:a16="http://schemas.microsoft.com/office/drawing/2014/main" id="{6AA09699-BC3D-1A99-A4D8-F118966F6CC6}"/>
              </a:ext>
            </a:extLst>
          </p:cNvPr>
          <p:cNvSpPr txBox="1"/>
          <p:nvPr/>
        </p:nvSpPr>
        <p:spPr>
          <a:xfrm>
            <a:off x="719572" y="1575016"/>
            <a:ext cx="7704856" cy="4524315"/>
          </a:xfrm>
          <a:prstGeom prst="rect">
            <a:avLst/>
          </a:prstGeom>
          <a:solidFill>
            <a:schemeClr val="bg1"/>
          </a:solidFill>
        </p:spPr>
        <p:txBody>
          <a:bodyPr wrap="square" rtlCol="0">
            <a:spAutoFit/>
          </a:bodyPr>
          <a:lstStyle/>
          <a:p>
            <a:pPr rtl="0"/>
            <a:endParaRPr lang="es-UY" b="1" dirty="0">
              <a:solidFill>
                <a:srgbClr val="121212"/>
              </a:solidFill>
              <a:effectLst/>
              <a:latin typeface="+mj-lt"/>
            </a:endParaRPr>
          </a:p>
          <a:p>
            <a:r>
              <a:rPr lang="es-UY" b="1" i="0" u="none" strike="noStrike" dirty="0">
                <a:solidFill>
                  <a:srgbClr val="121212"/>
                </a:solidFill>
                <a:effectLst/>
                <a:latin typeface="+mj-lt"/>
              </a:rPr>
              <a:t>1. Políticas ortodoxas de ajuste sin gradualidad ni condicionamientos</a:t>
            </a:r>
          </a:p>
          <a:p>
            <a:endParaRPr lang="es-UY" b="1" dirty="0">
              <a:solidFill>
                <a:srgbClr val="121212"/>
              </a:solidFill>
              <a:effectLst/>
              <a:latin typeface="+mj-lt"/>
            </a:endParaRPr>
          </a:p>
          <a:p>
            <a:pPr rtl="0"/>
            <a:r>
              <a:rPr lang="es-UY" b="1" dirty="0">
                <a:solidFill>
                  <a:srgbClr val="121212"/>
                </a:solidFill>
                <a:effectLst/>
                <a:latin typeface="+mj-lt"/>
              </a:rPr>
              <a:t>2. R</a:t>
            </a:r>
            <a:r>
              <a:rPr lang="es-UY" b="1" dirty="0">
                <a:solidFill>
                  <a:srgbClr val="121212"/>
                </a:solidFill>
                <a:latin typeface="+mj-lt"/>
              </a:rPr>
              <a:t>edistribución regresiva del ingreso que primariza el patrón de especialización productiva nacional.</a:t>
            </a:r>
          </a:p>
          <a:p>
            <a:pPr rtl="0"/>
            <a:endParaRPr lang="es-UY" dirty="0">
              <a:solidFill>
                <a:srgbClr val="121212"/>
              </a:solidFill>
              <a:latin typeface="+mj-lt"/>
            </a:endParaRPr>
          </a:p>
          <a:p>
            <a:r>
              <a:rPr lang="es-UY" b="1" i="0" u="none" strike="noStrike" dirty="0">
                <a:solidFill>
                  <a:srgbClr val="121212"/>
                </a:solidFill>
                <a:effectLst/>
                <a:latin typeface="+mj-lt"/>
              </a:rPr>
              <a:t>3. Ganadores: mercados con consumidores cautivos y las actividades transables vinculadas fundamentalmente a la explotación de los recursos naturales</a:t>
            </a:r>
            <a:r>
              <a:rPr lang="es-UY" b="0" i="0" u="none" strike="noStrike" dirty="0">
                <a:solidFill>
                  <a:srgbClr val="121212"/>
                </a:solidFill>
                <a:effectLst/>
                <a:latin typeface="+mj-lt"/>
              </a:rPr>
              <a:t>. Son sectores donde el acceso de nuevos competidores está prácticamente vedado por escala y tiempo de recupero de las inversiones. </a:t>
            </a:r>
          </a:p>
          <a:p>
            <a:endParaRPr lang="es-UY" dirty="0">
              <a:solidFill>
                <a:srgbClr val="121212"/>
              </a:solidFill>
              <a:latin typeface="+mj-lt"/>
            </a:endParaRPr>
          </a:p>
          <a:p>
            <a:r>
              <a:rPr lang="es-UY" b="0" i="0" u="none" strike="noStrike" dirty="0">
                <a:solidFill>
                  <a:srgbClr val="121212"/>
                </a:solidFill>
                <a:effectLst/>
                <a:latin typeface="+mj-lt"/>
              </a:rPr>
              <a:t>4. Para hacer sustentable el modelo y cumplir con su pauta de resultado de balanza comercial tendrán que fomentar fuerte las inversiones y las exportaciones, no sólo hidrocarburos y minería.</a:t>
            </a:r>
          </a:p>
          <a:p>
            <a:endParaRPr lang="es-UY" dirty="0">
              <a:solidFill>
                <a:srgbClr val="121212"/>
              </a:solidFill>
              <a:latin typeface="+mj-lt"/>
            </a:endParaRPr>
          </a:p>
          <a:p>
            <a:r>
              <a:rPr lang="es-UY" b="0" i="0" u="none" strike="noStrike" dirty="0">
                <a:solidFill>
                  <a:srgbClr val="121212"/>
                </a:solidFill>
                <a:effectLst/>
                <a:latin typeface="+mj-lt"/>
              </a:rPr>
              <a:t>5. ¿</a:t>
            </a:r>
            <a:r>
              <a:rPr lang="es-UY" dirty="0">
                <a:solidFill>
                  <a:srgbClr val="121212"/>
                </a:solidFill>
                <a:latin typeface="+mj-lt"/>
              </a:rPr>
              <a:t>Qué capacidad de repago de la deuda?</a:t>
            </a:r>
            <a:endParaRPr lang="es-UY" b="0" i="0" u="none" strike="noStrike" dirty="0">
              <a:solidFill>
                <a:srgbClr val="121212"/>
              </a:solidFill>
              <a:effectLst/>
              <a:latin typeface="+mj-lt"/>
            </a:endParaRPr>
          </a:p>
        </p:txBody>
      </p:sp>
    </p:spTree>
    <p:extLst>
      <p:ext uri="{BB962C8B-B14F-4D97-AF65-F5344CB8AC3E}">
        <p14:creationId xmlns:p14="http://schemas.microsoft.com/office/powerpoint/2010/main" val="737732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24943"/>
            <a:ext cx="9144000" cy="3953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CuadroTexto"/>
          <p:cNvSpPr txBox="1"/>
          <p:nvPr/>
        </p:nvSpPr>
        <p:spPr>
          <a:xfrm>
            <a:off x="251520" y="908720"/>
            <a:ext cx="6048672" cy="1569660"/>
          </a:xfrm>
          <a:prstGeom prst="rect">
            <a:avLst/>
          </a:prstGeom>
          <a:noFill/>
        </p:spPr>
        <p:txBody>
          <a:bodyPr wrap="square" rtlCol="0">
            <a:spAutoFit/>
          </a:bodyPr>
          <a:lstStyle/>
          <a:p>
            <a:r>
              <a:rPr lang="es-ES" sz="3600" b="1" dirty="0">
                <a:solidFill>
                  <a:schemeClr val="accent1"/>
                </a:solidFill>
                <a:latin typeface="Trebuchet MS" pitchFamily="34" charset="0"/>
              </a:rPr>
              <a:t>Muchas gracias</a:t>
            </a:r>
          </a:p>
          <a:p>
            <a:endParaRPr lang="es-ES" sz="3200" b="1" dirty="0">
              <a:solidFill>
                <a:schemeClr val="accent1"/>
              </a:solidFill>
              <a:latin typeface="Trebuchet MS" pitchFamily="34" charset="0"/>
            </a:endParaRPr>
          </a:p>
          <a:p>
            <a:r>
              <a:rPr lang="es-ES" sz="2800" b="1" dirty="0">
                <a:solidFill>
                  <a:schemeClr val="accent1"/>
                </a:solidFill>
                <a:latin typeface="Trebuchet MS" pitchFamily="34" charset="0"/>
              </a:rPr>
              <a:t>Mariano Kestelboim</a:t>
            </a:r>
          </a:p>
        </p:txBody>
      </p:sp>
    </p:spTree>
    <p:extLst>
      <p:ext uri="{BB962C8B-B14F-4D97-AF65-F5344CB8AC3E}">
        <p14:creationId xmlns:p14="http://schemas.microsoft.com/office/powerpoint/2010/main" val="408945390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27936</TotalTime>
  <Words>1158</Words>
  <Application>Microsoft Office PowerPoint</Application>
  <PresentationFormat>Presentación en pantalla (4:3)</PresentationFormat>
  <Paragraphs>141</Paragraphs>
  <Slides>23</Slides>
  <Notes>0</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23</vt:i4>
      </vt:variant>
    </vt:vector>
  </HeadingPairs>
  <TitlesOfParts>
    <vt:vector size="31" baseType="lpstr">
      <vt:lpstr>Aptos</vt:lpstr>
      <vt:lpstr>Aptos Display</vt:lpstr>
      <vt:lpstr>Arial</vt:lpstr>
      <vt:lpstr>Calibri</vt:lpstr>
      <vt:lpstr>Trebuchet MS</vt:lpstr>
      <vt:lpstr>YouTube Noto</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MREC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Mariano Kestelboim Marcos</dc:creator>
  <cp:lastModifiedBy>Alberto Chichilnitzky</cp:lastModifiedBy>
  <cp:revision>53</cp:revision>
  <dcterms:created xsi:type="dcterms:W3CDTF">2022-03-22T19:08:37Z</dcterms:created>
  <dcterms:modified xsi:type="dcterms:W3CDTF">2026-04-06T15:51:13Z</dcterms:modified>
</cp:coreProperties>
</file>