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diagrams/layout9.xml" ContentType="application/vnd.openxmlformats-officedocument.drawingml.diagram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5.xml" ContentType="application/vnd.openxmlformats-officedocument.drawingml.diagramLayout+xml"/>
  <Override PartName="/ppt/diagrams/data6.xml" ContentType="application/vnd.openxmlformats-officedocument.drawingml.diagramData+xml"/>
  <Override PartName="/ppt/diagrams/layout3.xml" ContentType="application/vnd.openxmlformats-officedocument.drawingml.diagramLayout+xml"/>
  <Override PartName="/ppt/diagrams/data4.xml" ContentType="application/vnd.openxmlformats-officedocument.drawingml.diagramData+xml"/>
  <Override PartName="/ppt/diagrams/colors8.xml" ContentType="application/vnd.openxmlformats-officedocument.drawingml.diagramColors+xml"/>
  <Override PartName="/ppt/notesSlides/notesSlide9.xml" ContentType="application/vnd.openxmlformats-officedocument.presentationml.notesSlide+xml"/>
  <Override PartName="/ppt/diagrams/drawing9.xml" ContentType="application/vnd.ms-office.drawingml.diagramDrawing+xml"/>
  <Override PartName="/ppt/diagrams/layout1.xml" ContentType="application/vnd.openxmlformats-officedocument.drawingml.diagramLayout+xml"/>
  <Override PartName="/ppt/diagrams/data2.xml" ContentType="application/vnd.openxmlformats-officedocument.drawingml.diagramData+xml"/>
  <Override PartName="/ppt/diagrams/colors6.xml" ContentType="application/vnd.openxmlformats-officedocument.drawingml.diagramColors+xml"/>
  <Override PartName="/ppt/notesSlides/notesSlide7.xml" ContentType="application/vnd.openxmlformats-officedocument.presentationml.notesSlide+xml"/>
  <Override PartName="/ppt/notesSlides/notesSlide10.xml" ContentType="application/vnd.openxmlformats-officedocument.presentationml.notesSlide+xml"/>
  <Override PartName="/ppt/diagrams/quickStyle9.xml" ContentType="application/vnd.openxmlformats-officedocument.drawingml.diagramStyle+xml"/>
  <Override PartName="/ppt/diagrams/drawing7.xml" ContentType="application/vnd.ms-office.drawingml.diagramDrawing+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colors4.xml" ContentType="application/vnd.openxmlformats-officedocument.drawingml.diagramColors+xml"/>
  <Override PartName="/ppt/notesSlides/notesSlide5.xml" ContentType="application/vnd.openxmlformats-officedocument.presentationml.notesSlide+xml"/>
  <Override PartName="/ppt/diagrams/quickStyle7.xml" ContentType="application/vnd.openxmlformats-officedocument.drawingml.diagramStyle+xml"/>
  <Override PartName="/ppt/diagrams/drawing5.xml" ContentType="application/vnd.ms-office.drawingml.diagramDrawing+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diagrams/colors2.xml" ContentType="application/vnd.openxmlformats-officedocument.drawingml.diagramColors+xml"/>
  <Override PartName="/ppt/notesSlides/notesSlide3.xml" ContentType="application/vnd.openxmlformats-officedocument.presentationml.notesSlide+xml"/>
  <Override PartName="/ppt/diagrams/quickStyle5.xml" ContentType="application/vnd.openxmlformats-officedocument.drawingml.diagramStyle+xml"/>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Override PartName="/ppt/diagrams/layout8.xml" ContentType="application/vnd.openxmlformats-officedocument.drawingml.diagram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diagrams/layout6.xml" ContentType="application/vnd.openxmlformats-officedocument.drawingml.diagramLayout+xml"/>
  <Override PartName="/ppt/diagrams/data9.xml" ContentType="application/vnd.openxmlformats-officedocument.drawingml.diagramData+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diagrams/layout4.xml" ContentType="application/vnd.openxmlformats-officedocument.drawingml.diagramLayout+xml"/>
  <Override PartName="/ppt/diagrams/data7.xml" ContentType="application/vnd.openxmlformats-officedocument.drawingml.diagramData+xml"/>
  <Override PartName="/ppt/diagrams/colors9.xml" ContentType="application/vnd.openxmlformats-officedocument.drawingml.diagramColors+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data5.xml" ContentType="application/vnd.openxmlformats-officedocument.drawingml.diagramData+xml"/>
  <Override PartName="/ppt/diagrams/colors7.xml" ContentType="application/vnd.openxmlformats-officedocument.drawingml.diagramColor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diagrams/drawing8.xml" ContentType="application/vnd.ms-office.drawingml.diagramDrawing+xml"/>
  <Override PartName="/ppt/diagrams/data3.xml" ContentType="application/vnd.openxmlformats-officedocument.drawingml.diagramData+xml"/>
  <Override PartName="/ppt/diagrams/colors5.xml" ContentType="application/vnd.openxmlformats-officedocument.drawingml.diagramColors+xml"/>
  <Override PartName="/ppt/notesSlides/notesSlide6.xml" ContentType="application/vnd.openxmlformats-officedocument.presentationml.notesSlide+xml"/>
  <Override PartName="/ppt/diagrams/quickStyle8.xml" ContentType="application/vnd.openxmlformats-officedocument.drawingml.diagramStyle+xml"/>
  <Override PartName="/ppt/diagrams/drawing6.xml" ContentType="application/vnd.ms-office.drawingml.diagramDrawing+xml"/>
  <Override PartName="/ppt/slides/slide8.xml" ContentType="application/vnd.openxmlformats-officedocument.presentationml.slide+xml"/>
  <Override PartName="/ppt/handoutMasters/handoutMaster1.xml" ContentType="application/vnd.openxmlformats-officedocument.presentationml.handoutMaster+xml"/>
  <Override PartName="/ppt/diagrams/data1.xml" ContentType="application/vnd.openxmlformats-officedocument.drawingml.diagramData+xml"/>
  <Override PartName="/ppt/diagrams/colors3.xml" ContentType="application/vnd.openxmlformats-officedocument.drawingml.diagramColors+xml"/>
  <Override PartName="/ppt/notesSlides/notesSlide4.xml" ContentType="application/vnd.openxmlformats-officedocument.presentationml.notesSlide+xml"/>
  <Override PartName="/ppt/diagrams/quickStyle6.xml" ContentType="application/vnd.openxmlformats-officedocument.drawingml.diagramStyle+xml"/>
  <Override PartName="/docProps/core.xml" ContentType="application/vnd.openxmlformats-package.core-properties+xml"/>
  <Override PartName="/ppt/diagrams/drawing4.xml" ContentType="application/vnd.ms-office.drawingml.diagramDrawing+xml"/>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diagrams/layout7.xml" ContentType="application/vnd.openxmlformats-officedocument.drawingml.diagramLayout+xml"/>
  <Override PartName="/ppt/diagrams/data8.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320" r:id="rId1"/>
  </p:sldMasterIdLst>
  <p:notesMasterIdLst>
    <p:notesMasterId r:id="rId33"/>
  </p:notesMasterIdLst>
  <p:handoutMasterIdLst>
    <p:handoutMasterId r:id="rId34"/>
  </p:handoutMasterIdLst>
  <p:sldIdLst>
    <p:sldId id="365" r:id="rId2"/>
    <p:sldId id="410" r:id="rId3"/>
    <p:sldId id="412" r:id="rId4"/>
    <p:sldId id="414" r:id="rId5"/>
    <p:sldId id="413" r:id="rId6"/>
    <p:sldId id="466" r:id="rId7"/>
    <p:sldId id="467" r:id="rId8"/>
    <p:sldId id="424" r:id="rId9"/>
    <p:sldId id="264" r:id="rId10"/>
    <p:sldId id="452" r:id="rId11"/>
    <p:sldId id="415" r:id="rId12"/>
    <p:sldId id="427" r:id="rId13"/>
    <p:sldId id="277" r:id="rId14"/>
    <p:sldId id="279" r:id="rId15"/>
    <p:sldId id="428" r:id="rId16"/>
    <p:sldId id="408" r:id="rId17"/>
    <p:sldId id="421" r:id="rId18"/>
    <p:sldId id="429" r:id="rId19"/>
    <p:sldId id="468" r:id="rId20"/>
    <p:sldId id="403" r:id="rId21"/>
    <p:sldId id="268" r:id="rId22"/>
    <p:sldId id="280" r:id="rId23"/>
    <p:sldId id="361" r:id="rId24"/>
    <p:sldId id="422" r:id="rId25"/>
    <p:sldId id="454" r:id="rId26"/>
    <p:sldId id="274" r:id="rId27"/>
    <p:sldId id="281" r:id="rId28"/>
    <p:sldId id="417" r:id="rId29"/>
    <p:sldId id="418" r:id="rId30"/>
    <p:sldId id="419" r:id="rId31"/>
    <p:sldId id="353" r:id="rId32"/>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3F9A"/>
    <a:srgbClr val="EB641B"/>
    <a:srgbClr val="31F927"/>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6250" autoAdjust="0"/>
    <p:restoredTop sz="96880" autoAdjust="0"/>
  </p:normalViewPr>
  <p:slideViewPr>
    <p:cSldViewPr>
      <p:cViewPr>
        <p:scale>
          <a:sx n="71" d="100"/>
          <a:sy n="71" d="100"/>
        </p:scale>
        <p:origin x="-1326" y="-66"/>
      </p:cViewPr>
      <p:guideLst>
        <p:guide orient="horz" pos="2160"/>
        <p:guide pos="2880"/>
      </p:guideLst>
    </p:cSldViewPr>
  </p:slideViewPr>
  <p:outlineViewPr>
    <p:cViewPr>
      <p:scale>
        <a:sx n="33" d="100"/>
        <a:sy n="33" d="100"/>
      </p:scale>
      <p:origin x="0" y="88206"/>
    </p:cViewPr>
  </p:outlineViewPr>
  <p:notesTextViewPr>
    <p:cViewPr>
      <p:scale>
        <a:sx n="100" d="100"/>
        <a:sy n="100" d="100"/>
      </p:scale>
      <p:origin x="0" y="0"/>
    </p:cViewPr>
  </p:notesTextViewPr>
  <p:sorterViewPr>
    <p:cViewPr>
      <p:scale>
        <a:sx n="66" d="100"/>
        <a:sy n="66" d="100"/>
      </p:scale>
      <p:origin x="0" y="621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73263E-F082-4E4F-93DF-B891B2D4002D}"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s-ES"/>
        </a:p>
      </dgm:t>
    </dgm:pt>
    <dgm:pt modelId="{4B2A382C-37CC-4FE1-ABE2-94869120D344}">
      <dgm:prSet custT="1"/>
      <dgm:spPr/>
      <dgm:t>
        <a:bodyPr/>
        <a:lstStyle/>
        <a:p>
          <a:r>
            <a:rPr lang="es-AR" sz="2800" b="1" dirty="0" smtClean="0">
              <a:solidFill>
                <a:schemeClr val="tx1"/>
              </a:solidFill>
            </a:rPr>
            <a:t>Naturaleza Jurídica Tributaria</a:t>
          </a:r>
          <a:endParaRPr lang="es-ES" sz="2800" b="1" dirty="0">
            <a:solidFill>
              <a:schemeClr val="tx1"/>
            </a:solidFill>
          </a:endParaRPr>
        </a:p>
      </dgm:t>
    </dgm:pt>
    <dgm:pt modelId="{2B3141B8-857B-493C-94EC-8C6870F2630F}" type="parTrans" cxnId="{D60439B9-D94C-4784-9524-DDFA8ECAA214}">
      <dgm:prSet/>
      <dgm:spPr/>
      <dgm:t>
        <a:bodyPr/>
        <a:lstStyle/>
        <a:p>
          <a:endParaRPr lang="es-ES"/>
        </a:p>
      </dgm:t>
    </dgm:pt>
    <dgm:pt modelId="{E5C9625A-F41F-4711-9596-3CFD4809A7C1}" type="sibTrans" cxnId="{D60439B9-D94C-4784-9524-DDFA8ECAA214}">
      <dgm:prSet/>
      <dgm:spPr/>
      <dgm:t>
        <a:bodyPr/>
        <a:lstStyle/>
        <a:p>
          <a:endParaRPr lang="es-ES"/>
        </a:p>
      </dgm:t>
    </dgm:pt>
    <dgm:pt modelId="{E0A0EBFB-B1B8-4D36-94A0-1AF6EF5154EF}" type="pres">
      <dgm:prSet presAssocID="{6473263E-F082-4E4F-93DF-B891B2D4002D}" presName="diagram" presStyleCnt="0">
        <dgm:presLayoutVars>
          <dgm:chMax val="1"/>
          <dgm:dir/>
          <dgm:animLvl val="ctr"/>
          <dgm:resizeHandles val="exact"/>
        </dgm:presLayoutVars>
      </dgm:prSet>
      <dgm:spPr/>
      <dgm:t>
        <a:bodyPr/>
        <a:lstStyle/>
        <a:p>
          <a:endParaRPr lang="es-ES"/>
        </a:p>
      </dgm:t>
    </dgm:pt>
    <dgm:pt modelId="{FEE4F584-0D4C-4610-81E0-C6B2751EF64E}" type="pres">
      <dgm:prSet presAssocID="{6473263E-F082-4E4F-93DF-B891B2D4002D}" presName="matrix" presStyleCnt="0"/>
      <dgm:spPr/>
    </dgm:pt>
    <dgm:pt modelId="{92FA0F6E-55BE-4327-B8F1-B72F8C053B63}" type="pres">
      <dgm:prSet presAssocID="{6473263E-F082-4E4F-93DF-B891B2D4002D}" presName="tile1" presStyleLbl="node1" presStyleIdx="0" presStyleCnt="4" custLinFactNeighborY="776"/>
      <dgm:spPr>
        <a:solidFill>
          <a:srgbClr val="FF0000"/>
        </a:solidFill>
      </dgm:spPr>
    </dgm:pt>
    <dgm:pt modelId="{99A00462-208B-4FAA-8179-371C3DCBF907}" type="pres">
      <dgm:prSet presAssocID="{6473263E-F082-4E4F-93DF-B891B2D4002D}" presName="tile1text" presStyleLbl="node1" presStyleIdx="0" presStyleCnt="4">
        <dgm:presLayoutVars>
          <dgm:chMax val="0"/>
          <dgm:chPref val="0"/>
          <dgm:bulletEnabled val="1"/>
        </dgm:presLayoutVars>
      </dgm:prSet>
      <dgm:spPr/>
    </dgm:pt>
    <dgm:pt modelId="{91833EB7-3A95-464D-944B-93B2BFDE76C9}" type="pres">
      <dgm:prSet presAssocID="{6473263E-F082-4E4F-93DF-B891B2D4002D}" presName="tile2" presStyleLbl="node1" presStyleIdx="1" presStyleCnt="4"/>
      <dgm:spPr>
        <a:solidFill>
          <a:schemeClr val="tx2">
            <a:lumMod val="40000"/>
            <a:lumOff val="60000"/>
          </a:schemeClr>
        </a:solidFill>
      </dgm:spPr>
      <dgm:t>
        <a:bodyPr/>
        <a:lstStyle/>
        <a:p>
          <a:endParaRPr lang="es-ES"/>
        </a:p>
      </dgm:t>
    </dgm:pt>
    <dgm:pt modelId="{0721C984-46FB-430F-B27B-3C78C30F8EDA}" type="pres">
      <dgm:prSet presAssocID="{6473263E-F082-4E4F-93DF-B891B2D4002D}" presName="tile2text" presStyleLbl="node1" presStyleIdx="1" presStyleCnt="4">
        <dgm:presLayoutVars>
          <dgm:chMax val="0"/>
          <dgm:chPref val="0"/>
          <dgm:bulletEnabled val="1"/>
        </dgm:presLayoutVars>
      </dgm:prSet>
      <dgm:spPr/>
    </dgm:pt>
    <dgm:pt modelId="{6F8A7751-1579-4230-ADD8-1BEB21F59008}" type="pres">
      <dgm:prSet presAssocID="{6473263E-F082-4E4F-93DF-B891B2D4002D}" presName="tile3" presStyleLbl="node1" presStyleIdx="2" presStyleCnt="4" custLinFactNeighborY="2767"/>
      <dgm:spPr>
        <a:solidFill>
          <a:srgbClr val="FFFF00"/>
        </a:solidFill>
      </dgm:spPr>
    </dgm:pt>
    <dgm:pt modelId="{74A91BE6-46E0-48EC-B091-B47263124796}" type="pres">
      <dgm:prSet presAssocID="{6473263E-F082-4E4F-93DF-B891B2D4002D}" presName="tile3text" presStyleLbl="node1" presStyleIdx="2" presStyleCnt="4">
        <dgm:presLayoutVars>
          <dgm:chMax val="0"/>
          <dgm:chPref val="0"/>
          <dgm:bulletEnabled val="1"/>
        </dgm:presLayoutVars>
      </dgm:prSet>
      <dgm:spPr/>
    </dgm:pt>
    <dgm:pt modelId="{D48B32D6-0683-4956-8BE9-621625E154BA}" type="pres">
      <dgm:prSet presAssocID="{6473263E-F082-4E4F-93DF-B891B2D4002D}" presName="tile4" presStyleLbl="node1" presStyleIdx="3" presStyleCnt="4" custScaleX="103191" custLinFactNeighborX="-2362" custLinFactNeighborY="0"/>
      <dgm:spPr>
        <a:solidFill>
          <a:srgbClr val="00B050"/>
        </a:solidFill>
      </dgm:spPr>
    </dgm:pt>
    <dgm:pt modelId="{D32ED4D4-26DD-4862-BA68-18EE5E961075}" type="pres">
      <dgm:prSet presAssocID="{6473263E-F082-4E4F-93DF-B891B2D4002D}" presName="tile4text" presStyleLbl="node1" presStyleIdx="3" presStyleCnt="4">
        <dgm:presLayoutVars>
          <dgm:chMax val="0"/>
          <dgm:chPref val="0"/>
          <dgm:bulletEnabled val="1"/>
        </dgm:presLayoutVars>
      </dgm:prSet>
      <dgm:spPr/>
    </dgm:pt>
    <dgm:pt modelId="{FCA1C2F2-6639-4EE8-A019-B63C70C42D33}" type="pres">
      <dgm:prSet presAssocID="{6473263E-F082-4E4F-93DF-B891B2D4002D}" presName="centerTile" presStyleLbl="fgShp" presStyleIdx="0" presStyleCnt="1" custScaleX="178947">
        <dgm:presLayoutVars>
          <dgm:chMax val="0"/>
          <dgm:chPref val="0"/>
        </dgm:presLayoutVars>
      </dgm:prSet>
      <dgm:spPr/>
      <dgm:t>
        <a:bodyPr/>
        <a:lstStyle/>
        <a:p>
          <a:endParaRPr lang="es-ES"/>
        </a:p>
      </dgm:t>
    </dgm:pt>
  </dgm:ptLst>
  <dgm:cxnLst>
    <dgm:cxn modelId="{D60439B9-D94C-4784-9524-DDFA8ECAA214}" srcId="{6473263E-F082-4E4F-93DF-B891B2D4002D}" destId="{4B2A382C-37CC-4FE1-ABE2-94869120D344}" srcOrd="0" destOrd="0" parTransId="{2B3141B8-857B-493C-94EC-8C6870F2630F}" sibTransId="{E5C9625A-F41F-4711-9596-3CFD4809A7C1}"/>
    <dgm:cxn modelId="{F5CAEE54-1B78-476A-A2F9-48834C0E8EBF}" type="presOf" srcId="{4B2A382C-37CC-4FE1-ABE2-94869120D344}" destId="{FCA1C2F2-6639-4EE8-A019-B63C70C42D33}" srcOrd="0" destOrd="0" presId="urn:microsoft.com/office/officeart/2005/8/layout/matrix1"/>
    <dgm:cxn modelId="{1A02F7A8-6333-4807-A402-35250B6A703D}" type="presOf" srcId="{6473263E-F082-4E4F-93DF-B891B2D4002D}" destId="{E0A0EBFB-B1B8-4D36-94A0-1AF6EF5154EF}" srcOrd="0" destOrd="0" presId="urn:microsoft.com/office/officeart/2005/8/layout/matrix1"/>
    <dgm:cxn modelId="{8D60F8CC-15CB-4F3F-A4BD-F7C3DCEDEAA7}" type="presParOf" srcId="{E0A0EBFB-B1B8-4D36-94A0-1AF6EF5154EF}" destId="{FEE4F584-0D4C-4610-81E0-C6B2751EF64E}" srcOrd="0" destOrd="0" presId="urn:microsoft.com/office/officeart/2005/8/layout/matrix1"/>
    <dgm:cxn modelId="{0B927A75-7A3E-43C3-84AB-DF6CF1ED8F09}" type="presParOf" srcId="{FEE4F584-0D4C-4610-81E0-C6B2751EF64E}" destId="{92FA0F6E-55BE-4327-B8F1-B72F8C053B63}" srcOrd="0" destOrd="0" presId="urn:microsoft.com/office/officeart/2005/8/layout/matrix1"/>
    <dgm:cxn modelId="{65D5BF94-F21C-4D29-951E-E02DD00699EB}" type="presParOf" srcId="{FEE4F584-0D4C-4610-81E0-C6B2751EF64E}" destId="{99A00462-208B-4FAA-8179-371C3DCBF907}" srcOrd="1" destOrd="0" presId="urn:microsoft.com/office/officeart/2005/8/layout/matrix1"/>
    <dgm:cxn modelId="{C75D449C-2AC5-4E0A-B611-ACF44280F645}" type="presParOf" srcId="{FEE4F584-0D4C-4610-81E0-C6B2751EF64E}" destId="{91833EB7-3A95-464D-944B-93B2BFDE76C9}" srcOrd="2" destOrd="0" presId="urn:microsoft.com/office/officeart/2005/8/layout/matrix1"/>
    <dgm:cxn modelId="{FB4B9BD4-174D-4B99-BCD0-409F08568183}" type="presParOf" srcId="{FEE4F584-0D4C-4610-81E0-C6B2751EF64E}" destId="{0721C984-46FB-430F-B27B-3C78C30F8EDA}" srcOrd="3" destOrd="0" presId="urn:microsoft.com/office/officeart/2005/8/layout/matrix1"/>
    <dgm:cxn modelId="{7968D2B1-163A-4F1C-B080-21E5D8DBA7C5}" type="presParOf" srcId="{FEE4F584-0D4C-4610-81E0-C6B2751EF64E}" destId="{6F8A7751-1579-4230-ADD8-1BEB21F59008}" srcOrd="4" destOrd="0" presId="urn:microsoft.com/office/officeart/2005/8/layout/matrix1"/>
    <dgm:cxn modelId="{2A6E7A6B-103F-45E1-BAC3-2AEAA3D20E68}" type="presParOf" srcId="{FEE4F584-0D4C-4610-81E0-C6B2751EF64E}" destId="{74A91BE6-46E0-48EC-B091-B47263124796}" srcOrd="5" destOrd="0" presId="urn:microsoft.com/office/officeart/2005/8/layout/matrix1"/>
    <dgm:cxn modelId="{50F367B3-FD1F-4B10-84A8-D0EDE2FF576B}" type="presParOf" srcId="{FEE4F584-0D4C-4610-81E0-C6B2751EF64E}" destId="{D48B32D6-0683-4956-8BE9-621625E154BA}" srcOrd="6" destOrd="0" presId="urn:microsoft.com/office/officeart/2005/8/layout/matrix1"/>
    <dgm:cxn modelId="{6F995E99-F666-4764-931B-2FEF58E53AE0}" type="presParOf" srcId="{FEE4F584-0D4C-4610-81E0-C6B2751EF64E}" destId="{D32ED4D4-26DD-4862-BA68-18EE5E961075}" srcOrd="7" destOrd="0" presId="urn:microsoft.com/office/officeart/2005/8/layout/matrix1"/>
    <dgm:cxn modelId="{90E430F3-948D-4C30-A7EE-B4E4F0A61904}" type="presParOf" srcId="{E0A0EBFB-B1B8-4D36-94A0-1AF6EF5154EF}" destId="{FCA1C2F2-6639-4EE8-A019-B63C70C42D33}" srcOrd="1" destOrd="0" presId="urn:microsoft.com/office/officeart/2005/8/layout/matrix1"/>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3F42BDD-3B3A-4E25-97B5-4304DEA56AE4}" type="doc">
      <dgm:prSet loTypeId="urn:microsoft.com/office/officeart/2005/8/layout/cycle4#2" loCatId="matrix" qsTypeId="urn:microsoft.com/office/officeart/2005/8/quickstyle/simple1" qsCatId="simple" csTypeId="urn:microsoft.com/office/officeart/2005/8/colors/accent1_2" csCatId="accent1" phldr="1"/>
      <dgm:spPr/>
      <dgm:t>
        <a:bodyPr/>
        <a:lstStyle/>
        <a:p>
          <a:endParaRPr lang="es-ES"/>
        </a:p>
      </dgm:t>
    </dgm:pt>
    <dgm:pt modelId="{F2968ECF-EAF0-4C15-86CF-D4A59C7AB3A9}">
      <dgm:prSet phldrT="[Texto]" custT="1"/>
      <dgm:spPr>
        <a:solidFill>
          <a:srgbClr val="FF0000"/>
        </a:solidFill>
      </dgm:spPr>
      <dgm:t>
        <a:bodyPr/>
        <a:lstStyle/>
        <a:p>
          <a:r>
            <a:rPr lang="es-ES" sz="1800" dirty="0" smtClean="0"/>
            <a:t>Ley 20321 Mutualidades</a:t>
          </a:r>
        </a:p>
      </dgm:t>
    </dgm:pt>
    <dgm:pt modelId="{313BC800-9EF3-4654-BD51-65FA2DD154DE}" type="parTrans" cxnId="{280B4B8F-B3E3-4ED9-AC4C-17EE20852B98}">
      <dgm:prSet/>
      <dgm:spPr/>
      <dgm:t>
        <a:bodyPr/>
        <a:lstStyle/>
        <a:p>
          <a:endParaRPr lang="es-ES"/>
        </a:p>
      </dgm:t>
    </dgm:pt>
    <dgm:pt modelId="{F656D08C-F8B6-412B-932E-B190F613C74E}" type="sibTrans" cxnId="{280B4B8F-B3E3-4ED9-AC4C-17EE20852B98}">
      <dgm:prSet/>
      <dgm:spPr/>
      <dgm:t>
        <a:bodyPr/>
        <a:lstStyle/>
        <a:p>
          <a:endParaRPr lang="es-ES"/>
        </a:p>
      </dgm:t>
    </dgm:pt>
    <dgm:pt modelId="{28115555-189E-4E85-BD67-A01B6391C05A}">
      <dgm:prSet phldrT="[Texto]" custT="1"/>
      <dgm:spPr>
        <a:solidFill>
          <a:srgbClr val="FF0000"/>
        </a:solidFill>
      </dgm:spPr>
      <dgm:t>
        <a:bodyPr/>
        <a:lstStyle/>
        <a:p>
          <a:r>
            <a:rPr lang="es-ES" sz="1800" dirty="0" smtClean="0"/>
            <a:t>Ley 11.683 </a:t>
          </a:r>
        </a:p>
        <a:p>
          <a:r>
            <a:rPr lang="es-ES" sz="1800" dirty="0" smtClean="0"/>
            <a:t> Ley 27.430</a:t>
          </a:r>
          <a:endParaRPr lang="es-ES" sz="1800" dirty="0"/>
        </a:p>
      </dgm:t>
    </dgm:pt>
    <dgm:pt modelId="{1296C2DF-19F7-4500-B6A1-BBA5B0B2153B}" type="parTrans" cxnId="{3DD09ABC-5A7D-4086-A35E-FE62CDD9B1EE}">
      <dgm:prSet/>
      <dgm:spPr/>
      <dgm:t>
        <a:bodyPr/>
        <a:lstStyle/>
        <a:p>
          <a:endParaRPr lang="es-ES"/>
        </a:p>
      </dgm:t>
    </dgm:pt>
    <dgm:pt modelId="{2F58FBF2-F682-4DD0-8788-17A8E0E1BACF}" type="sibTrans" cxnId="{3DD09ABC-5A7D-4086-A35E-FE62CDD9B1EE}">
      <dgm:prSet/>
      <dgm:spPr/>
      <dgm:t>
        <a:bodyPr/>
        <a:lstStyle/>
        <a:p>
          <a:endParaRPr lang="es-ES"/>
        </a:p>
      </dgm:t>
    </dgm:pt>
    <dgm:pt modelId="{B596EF70-3C1D-4B3C-89D2-6D3829A2BBD8}">
      <dgm:prSet phldrT="[Texto]" custT="1"/>
      <dgm:spPr>
        <a:solidFill>
          <a:srgbClr val="31F927"/>
        </a:solidFill>
      </dgm:spPr>
      <dgm:t>
        <a:bodyPr/>
        <a:lstStyle/>
        <a:p>
          <a:pPr algn="ctr"/>
          <a:r>
            <a:rPr lang="es-ES" sz="1700" dirty="0" smtClean="0"/>
            <a:t>Procedimiento Nacional</a:t>
          </a:r>
          <a:endParaRPr lang="es-ES" sz="1700" dirty="0"/>
        </a:p>
      </dgm:t>
    </dgm:pt>
    <dgm:pt modelId="{3C12854B-643D-422E-9656-1AC9026C6AF4}" type="parTrans" cxnId="{513BA71F-7A33-4912-9C46-F77A7FC51C12}">
      <dgm:prSet/>
      <dgm:spPr/>
      <dgm:t>
        <a:bodyPr/>
        <a:lstStyle/>
        <a:p>
          <a:endParaRPr lang="es-ES"/>
        </a:p>
      </dgm:t>
    </dgm:pt>
    <dgm:pt modelId="{1B755B7F-213F-48D0-B667-0318433ADD47}" type="sibTrans" cxnId="{513BA71F-7A33-4912-9C46-F77A7FC51C12}">
      <dgm:prSet/>
      <dgm:spPr/>
      <dgm:t>
        <a:bodyPr/>
        <a:lstStyle/>
        <a:p>
          <a:endParaRPr lang="es-ES"/>
        </a:p>
      </dgm:t>
    </dgm:pt>
    <dgm:pt modelId="{9C35AEB1-C8B4-4E37-8729-F8DD92EBCD50}">
      <dgm:prSet phldrT="[Texto]" custT="1"/>
      <dgm:spPr>
        <a:solidFill>
          <a:srgbClr val="FF0000"/>
        </a:solidFill>
      </dgm:spPr>
      <dgm:t>
        <a:bodyPr/>
        <a:lstStyle/>
        <a:p>
          <a:endParaRPr lang="es-ES" sz="1800" dirty="0" smtClean="0"/>
        </a:p>
        <a:p>
          <a:r>
            <a:rPr lang="es-ES" sz="1800" dirty="0" smtClean="0"/>
            <a:t>Ordenanzas Municipales</a:t>
          </a:r>
          <a:endParaRPr lang="es-ES" sz="1800" dirty="0"/>
        </a:p>
      </dgm:t>
    </dgm:pt>
    <dgm:pt modelId="{3F0E3769-D96E-4BA8-9697-19A9359E02CE}" type="parTrans" cxnId="{00F0EDF0-C84E-467D-8198-0A5E7F9CCC1A}">
      <dgm:prSet/>
      <dgm:spPr/>
      <dgm:t>
        <a:bodyPr/>
        <a:lstStyle/>
        <a:p>
          <a:endParaRPr lang="es-ES"/>
        </a:p>
      </dgm:t>
    </dgm:pt>
    <dgm:pt modelId="{B87E6155-3EE6-4EBF-80D9-FC2F61F75E92}" type="sibTrans" cxnId="{00F0EDF0-C84E-467D-8198-0A5E7F9CCC1A}">
      <dgm:prSet/>
      <dgm:spPr/>
      <dgm:t>
        <a:bodyPr/>
        <a:lstStyle/>
        <a:p>
          <a:endParaRPr lang="es-ES"/>
        </a:p>
      </dgm:t>
    </dgm:pt>
    <dgm:pt modelId="{242BF7D0-99C8-42B1-A832-7985E0958603}">
      <dgm:prSet phldrT="[Texto]" custT="1"/>
      <dgm:spPr>
        <a:solidFill>
          <a:srgbClr val="FF0000"/>
        </a:solidFill>
      </dgm:spPr>
      <dgm:t>
        <a:bodyPr/>
        <a:lstStyle/>
        <a:p>
          <a:endParaRPr lang="es-ES" sz="1800" dirty="0" smtClean="0"/>
        </a:p>
        <a:p>
          <a:r>
            <a:rPr lang="es-ES" sz="1800" dirty="0" smtClean="0"/>
            <a:t>Códigos Fiscales</a:t>
          </a:r>
        </a:p>
        <a:p>
          <a:r>
            <a:rPr lang="es-ES" sz="1700" dirty="0" smtClean="0"/>
            <a:t>Ley 23.548 Coparticipación Federal </a:t>
          </a:r>
          <a:endParaRPr lang="es-ES" sz="1700" dirty="0"/>
        </a:p>
      </dgm:t>
    </dgm:pt>
    <dgm:pt modelId="{74AED825-62AA-48A9-9A74-6572AECC9C1B}" type="parTrans" cxnId="{64B9F54E-6AAE-4A20-81A5-F05B965AA7AA}">
      <dgm:prSet/>
      <dgm:spPr/>
      <dgm:t>
        <a:bodyPr/>
        <a:lstStyle/>
        <a:p>
          <a:endParaRPr lang="es-ES"/>
        </a:p>
      </dgm:t>
    </dgm:pt>
    <dgm:pt modelId="{BE4E51CA-CD44-4216-BBF6-CABDDAE9FBE7}" type="sibTrans" cxnId="{64B9F54E-6AAE-4A20-81A5-F05B965AA7AA}">
      <dgm:prSet/>
      <dgm:spPr/>
      <dgm:t>
        <a:bodyPr/>
        <a:lstStyle/>
        <a:p>
          <a:endParaRPr lang="es-ES"/>
        </a:p>
      </dgm:t>
    </dgm:pt>
    <dgm:pt modelId="{6FC22908-B1A2-49D2-BA09-13871E0A8787}">
      <dgm:prSet phldrT="[Texto]" custT="1"/>
      <dgm:spPr>
        <a:solidFill>
          <a:srgbClr val="31F927"/>
        </a:solidFill>
      </dgm:spPr>
      <dgm:t>
        <a:bodyPr/>
        <a:lstStyle/>
        <a:p>
          <a:pPr algn="ctr"/>
          <a:r>
            <a:rPr lang="es-ES" sz="1700" dirty="0" smtClean="0"/>
            <a:t>Responsabilidad Solidaria Fiscal</a:t>
          </a:r>
          <a:endParaRPr lang="es-ES" sz="1700" dirty="0"/>
        </a:p>
      </dgm:t>
    </dgm:pt>
    <dgm:pt modelId="{2FF74620-41A0-449F-A02E-D30DDBDAA32C}" type="parTrans" cxnId="{E8D3F1C3-FBD9-4E6D-979A-50BE0670ABA3}">
      <dgm:prSet/>
      <dgm:spPr/>
      <dgm:t>
        <a:bodyPr/>
        <a:lstStyle/>
        <a:p>
          <a:endParaRPr lang="es-ES"/>
        </a:p>
      </dgm:t>
    </dgm:pt>
    <dgm:pt modelId="{ACC6EF26-390E-40F0-AE58-6EA98557E132}" type="sibTrans" cxnId="{E8D3F1C3-FBD9-4E6D-979A-50BE0670ABA3}">
      <dgm:prSet/>
      <dgm:spPr/>
      <dgm:t>
        <a:bodyPr/>
        <a:lstStyle/>
        <a:p>
          <a:endParaRPr lang="es-ES"/>
        </a:p>
      </dgm:t>
    </dgm:pt>
    <dgm:pt modelId="{A97D5E30-EBAC-428C-922C-C0272F70DD3A}">
      <dgm:prSet phldrT="[Texto]" custT="1"/>
      <dgm:spPr>
        <a:solidFill>
          <a:srgbClr val="31F927"/>
        </a:solidFill>
      </dgm:spPr>
      <dgm:t>
        <a:bodyPr/>
        <a:lstStyle/>
        <a:p>
          <a:pPr algn="ctr"/>
          <a:r>
            <a:rPr lang="es-ES" sz="1700" dirty="0" smtClean="0"/>
            <a:t>Responsabilidad Penal Tributaria</a:t>
          </a:r>
          <a:endParaRPr lang="es-ES" sz="1700" dirty="0"/>
        </a:p>
      </dgm:t>
    </dgm:pt>
    <dgm:pt modelId="{FF8E8892-6488-4D72-907B-7872DF4A2DD7}" type="parTrans" cxnId="{0F26470C-559D-4AB1-B04D-ACCC0ED2A190}">
      <dgm:prSet/>
      <dgm:spPr/>
      <dgm:t>
        <a:bodyPr/>
        <a:lstStyle/>
        <a:p>
          <a:endParaRPr lang="es-ES"/>
        </a:p>
      </dgm:t>
    </dgm:pt>
    <dgm:pt modelId="{2AFD45F7-C7C9-4442-9B46-440499B16DF7}" type="sibTrans" cxnId="{0F26470C-559D-4AB1-B04D-ACCC0ED2A190}">
      <dgm:prSet/>
      <dgm:spPr/>
      <dgm:t>
        <a:bodyPr/>
        <a:lstStyle/>
        <a:p>
          <a:endParaRPr lang="es-ES"/>
        </a:p>
      </dgm:t>
    </dgm:pt>
    <dgm:pt modelId="{3C7D181F-DE3F-45E6-8AAD-A991EB4CCFE2}">
      <dgm:prSet phldrT="[Texto]" custT="1"/>
      <dgm:spPr>
        <a:solidFill>
          <a:schemeClr val="accent4">
            <a:lumMod val="40000"/>
            <a:lumOff val="60000"/>
            <a:alpha val="90000"/>
          </a:schemeClr>
        </a:solidFill>
      </dgm:spPr>
      <dgm:t>
        <a:bodyPr/>
        <a:lstStyle/>
        <a:p>
          <a:pPr algn="ctr"/>
          <a:r>
            <a:rPr lang="es-ES" sz="1800" dirty="0" smtClean="0"/>
            <a:t> Procedimiento Municipal</a:t>
          </a:r>
          <a:endParaRPr lang="es-ES" sz="1800" dirty="0"/>
        </a:p>
      </dgm:t>
    </dgm:pt>
    <dgm:pt modelId="{4B3CE2AA-C4B7-4543-82EF-293A3A85000C}" type="parTrans" cxnId="{D82C0CCB-9382-49CF-8846-0540353751B1}">
      <dgm:prSet/>
      <dgm:spPr/>
      <dgm:t>
        <a:bodyPr/>
        <a:lstStyle/>
        <a:p>
          <a:endParaRPr lang="es-ES"/>
        </a:p>
      </dgm:t>
    </dgm:pt>
    <dgm:pt modelId="{5CDB2FE5-D78B-4D25-AEB1-2BB84299BFF5}" type="sibTrans" cxnId="{D82C0CCB-9382-49CF-8846-0540353751B1}">
      <dgm:prSet/>
      <dgm:spPr/>
      <dgm:t>
        <a:bodyPr/>
        <a:lstStyle/>
        <a:p>
          <a:endParaRPr lang="es-ES"/>
        </a:p>
      </dgm:t>
    </dgm:pt>
    <dgm:pt modelId="{3B23A574-5A90-49A3-95DB-80BBCFCF9FDC}">
      <dgm:prSet phldrT="[Texto]" custT="1"/>
      <dgm:spPr>
        <a:solidFill>
          <a:schemeClr val="accent1">
            <a:lumMod val="40000"/>
            <a:lumOff val="60000"/>
            <a:alpha val="90000"/>
          </a:schemeClr>
        </a:solidFill>
      </dgm:spPr>
      <dgm:t>
        <a:bodyPr/>
        <a:lstStyle/>
        <a:p>
          <a:pPr algn="l"/>
          <a:r>
            <a:rPr lang="es-ES" sz="1800" dirty="0" smtClean="0"/>
            <a:t>Procedimiento Provincial</a:t>
          </a:r>
          <a:endParaRPr lang="es-ES" sz="1800" dirty="0"/>
        </a:p>
      </dgm:t>
    </dgm:pt>
    <dgm:pt modelId="{50C849AC-4247-49BC-A481-BA8431BABB20}" type="parTrans" cxnId="{8DB95699-609B-4EE7-BA3B-646A5A45A204}">
      <dgm:prSet/>
      <dgm:spPr/>
      <dgm:t>
        <a:bodyPr/>
        <a:lstStyle/>
        <a:p>
          <a:endParaRPr lang="es-ES"/>
        </a:p>
      </dgm:t>
    </dgm:pt>
    <dgm:pt modelId="{879278F6-5517-48A4-B215-56F5C21AEA47}" type="sibTrans" cxnId="{8DB95699-609B-4EE7-BA3B-646A5A45A204}">
      <dgm:prSet/>
      <dgm:spPr/>
      <dgm:t>
        <a:bodyPr/>
        <a:lstStyle/>
        <a:p>
          <a:endParaRPr lang="es-ES"/>
        </a:p>
      </dgm:t>
    </dgm:pt>
    <dgm:pt modelId="{6111537D-09B6-4AA2-9CF6-E817414612C8}">
      <dgm:prSet phldrT="[Texto]" custT="1"/>
      <dgm:spPr>
        <a:solidFill>
          <a:schemeClr val="accent4">
            <a:lumMod val="40000"/>
            <a:lumOff val="60000"/>
            <a:alpha val="90000"/>
          </a:schemeClr>
        </a:solidFill>
      </dgm:spPr>
      <dgm:t>
        <a:bodyPr/>
        <a:lstStyle/>
        <a:p>
          <a:pPr algn="l"/>
          <a:endParaRPr lang="es-ES" sz="1800" dirty="0"/>
        </a:p>
      </dgm:t>
    </dgm:pt>
    <dgm:pt modelId="{FBCA3ABB-48A7-4E96-8EEC-4A75C0F39524}" type="parTrans" cxnId="{F39D84F1-B1F8-4AA4-953C-B4AA4F94E793}">
      <dgm:prSet/>
      <dgm:spPr/>
      <dgm:t>
        <a:bodyPr/>
        <a:lstStyle/>
        <a:p>
          <a:endParaRPr lang="es-ES"/>
        </a:p>
      </dgm:t>
    </dgm:pt>
    <dgm:pt modelId="{4EAEA05B-F178-433B-AE5A-E221554CB98C}" type="sibTrans" cxnId="{F39D84F1-B1F8-4AA4-953C-B4AA4F94E793}">
      <dgm:prSet/>
      <dgm:spPr/>
      <dgm:t>
        <a:bodyPr/>
        <a:lstStyle/>
        <a:p>
          <a:endParaRPr lang="es-ES"/>
        </a:p>
      </dgm:t>
    </dgm:pt>
    <dgm:pt modelId="{EC95E1F8-BDA6-4032-87D8-B20BFD87479D}">
      <dgm:prSet phldrT="[Texto]" custT="1"/>
      <dgm:spPr>
        <a:solidFill>
          <a:srgbClr val="FFFF00">
            <a:alpha val="90000"/>
          </a:srgbClr>
        </a:solidFill>
      </dgm:spPr>
      <dgm:t>
        <a:bodyPr/>
        <a:lstStyle/>
        <a:p>
          <a:pPr algn="ctr"/>
          <a:r>
            <a:rPr lang="es-ES" sz="1700" dirty="0" smtClean="0"/>
            <a:t>Art. 29. Exenta por sus bienes y sus actos</a:t>
          </a:r>
          <a:endParaRPr lang="es-ES" sz="1700" dirty="0"/>
        </a:p>
      </dgm:t>
    </dgm:pt>
    <dgm:pt modelId="{072C63AD-F6CD-49AA-825F-F54373DF0DA6}" type="parTrans" cxnId="{4A8B3523-414F-48E6-A6E7-8B1E82A47142}">
      <dgm:prSet/>
      <dgm:spPr/>
      <dgm:t>
        <a:bodyPr/>
        <a:lstStyle/>
        <a:p>
          <a:endParaRPr lang="es-ES"/>
        </a:p>
      </dgm:t>
    </dgm:pt>
    <dgm:pt modelId="{0C903A26-92C1-4718-B7CF-545B72903BD4}" type="sibTrans" cxnId="{4A8B3523-414F-48E6-A6E7-8B1E82A47142}">
      <dgm:prSet/>
      <dgm:spPr/>
      <dgm:t>
        <a:bodyPr/>
        <a:lstStyle/>
        <a:p>
          <a:endParaRPr lang="es-ES"/>
        </a:p>
      </dgm:t>
    </dgm:pt>
    <dgm:pt modelId="{16D0EBC2-64DF-48BB-B4F1-A6E44EC39372}">
      <dgm:prSet phldrT="[Texto]" custT="1"/>
      <dgm:spPr>
        <a:solidFill>
          <a:schemeClr val="accent1">
            <a:lumMod val="40000"/>
            <a:lumOff val="60000"/>
            <a:alpha val="90000"/>
          </a:schemeClr>
        </a:solidFill>
      </dgm:spPr>
      <dgm:t>
        <a:bodyPr/>
        <a:lstStyle/>
        <a:p>
          <a:pPr algn="l"/>
          <a:r>
            <a:rPr lang="es-ES" sz="1800" dirty="0" smtClean="0"/>
            <a:t>Impuestos Provinciales</a:t>
          </a:r>
          <a:endParaRPr lang="es-ES" sz="1800" dirty="0"/>
        </a:p>
      </dgm:t>
    </dgm:pt>
    <dgm:pt modelId="{81F39F09-D52A-4DD9-8C9D-6B6639346AC0}" type="parTrans" cxnId="{744C5708-E4D8-4FD2-A090-576F1B025F39}">
      <dgm:prSet/>
      <dgm:spPr/>
      <dgm:t>
        <a:bodyPr/>
        <a:lstStyle/>
        <a:p>
          <a:endParaRPr lang="es-ES"/>
        </a:p>
      </dgm:t>
    </dgm:pt>
    <dgm:pt modelId="{75EC37D9-1673-47F1-8A6E-B69CAA12E1FA}" type="sibTrans" cxnId="{744C5708-E4D8-4FD2-A090-576F1B025F39}">
      <dgm:prSet/>
      <dgm:spPr/>
      <dgm:t>
        <a:bodyPr/>
        <a:lstStyle/>
        <a:p>
          <a:endParaRPr lang="es-ES"/>
        </a:p>
      </dgm:t>
    </dgm:pt>
    <dgm:pt modelId="{82141BDD-BFF0-4DE3-AEB5-B198CF62A036}">
      <dgm:prSet phldrT="[Texto]" custT="1"/>
      <dgm:spPr>
        <a:solidFill>
          <a:schemeClr val="accent4">
            <a:lumMod val="40000"/>
            <a:lumOff val="60000"/>
            <a:alpha val="90000"/>
          </a:schemeClr>
        </a:solidFill>
      </dgm:spPr>
      <dgm:t>
        <a:bodyPr/>
        <a:lstStyle/>
        <a:p>
          <a:pPr algn="ctr"/>
          <a:r>
            <a:rPr lang="es-ES" sz="1800" dirty="0" smtClean="0"/>
            <a:t>Tasas de Servicios</a:t>
          </a:r>
          <a:endParaRPr lang="es-ES" sz="1800" dirty="0"/>
        </a:p>
      </dgm:t>
    </dgm:pt>
    <dgm:pt modelId="{EE129AB7-AC53-4FDD-A804-8885A977274F}" type="parTrans" cxnId="{468A5E75-28A5-4E13-B447-08CC80D9CBC9}">
      <dgm:prSet/>
      <dgm:spPr/>
      <dgm:t>
        <a:bodyPr/>
        <a:lstStyle/>
        <a:p>
          <a:endParaRPr lang="es-ES"/>
        </a:p>
      </dgm:t>
    </dgm:pt>
    <dgm:pt modelId="{515BA920-4D5A-43F3-B835-53AB83C0027F}" type="sibTrans" cxnId="{468A5E75-28A5-4E13-B447-08CC80D9CBC9}">
      <dgm:prSet/>
      <dgm:spPr/>
      <dgm:t>
        <a:bodyPr/>
        <a:lstStyle/>
        <a:p>
          <a:endParaRPr lang="es-ES"/>
        </a:p>
      </dgm:t>
    </dgm:pt>
    <dgm:pt modelId="{3E2A670B-1C72-4994-ABA5-BE7AA2CC3FA9}">
      <dgm:prSet phldrT="[Texto]" custT="1"/>
      <dgm:spPr>
        <a:solidFill>
          <a:schemeClr val="accent1">
            <a:lumMod val="40000"/>
            <a:lumOff val="60000"/>
            <a:alpha val="90000"/>
          </a:schemeClr>
        </a:solidFill>
      </dgm:spPr>
      <dgm:t>
        <a:bodyPr/>
        <a:lstStyle/>
        <a:p>
          <a:pPr algn="l"/>
          <a:r>
            <a:rPr lang="es-ES" sz="1800" dirty="0" smtClean="0"/>
            <a:t>Constituciones Provinciales</a:t>
          </a:r>
          <a:endParaRPr lang="es-ES" sz="1800" dirty="0"/>
        </a:p>
      </dgm:t>
    </dgm:pt>
    <dgm:pt modelId="{3DD5B6B7-C7FE-4F3E-9C84-8A98AC72A92B}" type="parTrans" cxnId="{FC8ECBCD-4ACC-4B4B-8000-EC22D3C32636}">
      <dgm:prSet/>
      <dgm:spPr/>
      <dgm:t>
        <a:bodyPr/>
        <a:lstStyle/>
        <a:p>
          <a:endParaRPr lang="es-ES"/>
        </a:p>
      </dgm:t>
    </dgm:pt>
    <dgm:pt modelId="{71F18FD4-C9CF-4E6A-80E3-7AB58A93DE18}" type="sibTrans" cxnId="{FC8ECBCD-4ACC-4B4B-8000-EC22D3C32636}">
      <dgm:prSet/>
      <dgm:spPr/>
      <dgm:t>
        <a:bodyPr/>
        <a:lstStyle/>
        <a:p>
          <a:endParaRPr lang="es-ES"/>
        </a:p>
      </dgm:t>
    </dgm:pt>
    <dgm:pt modelId="{02033C40-8B35-4429-B5D2-04BE55B3F6DB}" type="pres">
      <dgm:prSet presAssocID="{43F42BDD-3B3A-4E25-97B5-4304DEA56AE4}" presName="cycleMatrixDiagram" presStyleCnt="0">
        <dgm:presLayoutVars>
          <dgm:chMax val="1"/>
          <dgm:dir/>
          <dgm:animLvl val="lvl"/>
          <dgm:resizeHandles val="exact"/>
        </dgm:presLayoutVars>
      </dgm:prSet>
      <dgm:spPr/>
      <dgm:t>
        <a:bodyPr/>
        <a:lstStyle/>
        <a:p>
          <a:endParaRPr lang="es-ES"/>
        </a:p>
      </dgm:t>
    </dgm:pt>
    <dgm:pt modelId="{E4D19529-EAA8-4920-86D4-088BDC11BDBD}" type="pres">
      <dgm:prSet presAssocID="{43F42BDD-3B3A-4E25-97B5-4304DEA56AE4}" presName="children" presStyleCnt="0"/>
      <dgm:spPr/>
    </dgm:pt>
    <dgm:pt modelId="{EDF579C9-A623-476C-AA05-AA7B1D968DA3}" type="pres">
      <dgm:prSet presAssocID="{43F42BDD-3B3A-4E25-97B5-4304DEA56AE4}" presName="child1group" presStyleCnt="0"/>
      <dgm:spPr/>
    </dgm:pt>
    <dgm:pt modelId="{199E52C4-0C62-426B-B248-C63869D52559}" type="pres">
      <dgm:prSet presAssocID="{43F42BDD-3B3A-4E25-97B5-4304DEA56AE4}" presName="child1" presStyleLbl="bgAcc1" presStyleIdx="0" presStyleCnt="4" custScaleX="175983" custLinFactNeighborX="-15167"/>
      <dgm:spPr/>
      <dgm:t>
        <a:bodyPr/>
        <a:lstStyle/>
        <a:p>
          <a:endParaRPr lang="es-ES"/>
        </a:p>
      </dgm:t>
    </dgm:pt>
    <dgm:pt modelId="{352EF719-A772-4239-8BAD-784651F0421D}" type="pres">
      <dgm:prSet presAssocID="{43F42BDD-3B3A-4E25-97B5-4304DEA56AE4}" presName="child1Text" presStyleLbl="bgAcc1" presStyleIdx="0" presStyleCnt="4">
        <dgm:presLayoutVars>
          <dgm:bulletEnabled val="1"/>
        </dgm:presLayoutVars>
      </dgm:prSet>
      <dgm:spPr/>
      <dgm:t>
        <a:bodyPr/>
        <a:lstStyle/>
        <a:p>
          <a:endParaRPr lang="es-ES"/>
        </a:p>
      </dgm:t>
    </dgm:pt>
    <dgm:pt modelId="{03EAA362-76C0-41A2-90C8-2A7FAFC0FD2C}" type="pres">
      <dgm:prSet presAssocID="{43F42BDD-3B3A-4E25-97B5-4304DEA56AE4}" presName="child2group" presStyleCnt="0"/>
      <dgm:spPr/>
    </dgm:pt>
    <dgm:pt modelId="{481235B6-24DE-454D-9860-A6C333FD6039}" type="pres">
      <dgm:prSet presAssocID="{43F42BDD-3B3A-4E25-97B5-4304DEA56AE4}" presName="child2" presStyleLbl="bgAcc1" presStyleIdx="1" presStyleCnt="4" custScaleX="172748" custLinFactNeighborX="27838"/>
      <dgm:spPr/>
      <dgm:t>
        <a:bodyPr/>
        <a:lstStyle/>
        <a:p>
          <a:endParaRPr lang="es-ES"/>
        </a:p>
      </dgm:t>
    </dgm:pt>
    <dgm:pt modelId="{F2F3186E-CBA2-4135-8F3E-4B5D817DBAC4}" type="pres">
      <dgm:prSet presAssocID="{43F42BDD-3B3A-4E25-97B5-4304DEA56AE4}" presName="child2Text" presStyleLbl="bgAcc1" presStyleIdx="1" presStyleCnt="4">
        <dgm:presLayoutVars>
          <dgm:bulletEnabled val="1"/>
        </dgm:presLayoutVars>
      </dgm:prSet>
      <dgm:spPr/>
      <dgm:t>
        <a:bodyPr/>
        <a:lstStyle/>
        <a:p>
          <a:endParaRPr lang="es-ES"/>
        </a:p>
      </dgm:t>
    </dgm:pt>
    <dgm:pt modelId="{571EAFA7-6C9E-4E5C-A4A7-AF674E888E9A}" type="pres">
      <dgm:prSet presAssocID="{43F42BDD-3B3A-4E25-97B5-4304DEA56AE4}" presName="child3group" presStyleCnt="0"/>
      <dgm:spPr/>
    </dgm:pt>
    <dgm:pt modelId="{CD274624-CCDA-4F62-82B0-DB1320C56D27}" type="pres">
      <dgm:prSet presAssocID="{43F42BDD-3B3A-4E25-97B5-4304DEA56AE4}" presName="child3" presStyleLbl="bgAcc1" presStyleIdx="2" presStyleCnt="4" custScaleX="173151" custLinFactNeighborX="18147" custLinFactNeighborY="4449"/>
      <dgm:spPr/>
      <dgm:t>
        <a:bodyPr/>
        <a:lstStyle/>
        <a:p>
          <a:endParaRPr lang="es-ES"/>
        </a:p>
      </dgm:t>
    </dgm:pt>
    <dgm:pt modelId="{D101A951-3B46-4916-8D8E-962AB9E52ECD}" type="pres">
      <dgm:prSet presAssocID="{43F42BDD-3B3A-4E25-97B5-4304DEA56AE4}" presName="child3Text" presStyleLbl="bgAcc1" presStyleIdx="2" presStyleCnt="4">
        <dgm:presLayoutVars>
          <dgm:bulletEnabled val="1"/>
        </dgm:presLayoutVars>
      </dgm:prSet>
      <dgm:spPr/>
      <dgm:t>
        <a:bodyPr/>
        <a:lstStyle/>
        <a:p>
          <a:endParaRPr lang="es-ES"/>
        </a:p>
      </dgm:t>
    </dgm:pt>
    <dgm:pt modelId="{CD0CC432-9A04-40E7-AFA5-B4B5DE2A4CF4}" type="pres">
      <dgm:prSet presAssocID="{43F42BDD-3B3A-4E25-97B5-4304DEA56AE4}" presName="child4group" presStyleCnt="0"/>
      <dgm:spPr/>
    </dgm:pt>
    <dgm:pt modelId="{9D32E807-1FFE-4D32-8045-317FDC5004C1}" type="pres">
      <dgm:prSet presAssocID="{43F42BDD-3B3A-4E25-97B5-4304DEA56AE4}" presName="child4" presStyleLbl="bgAcc1" presStyleIdx="3" presStyleCnt="4" custScaleX="165424" custScaleY="95459" custLinFactNeighborX="-12836" custLinFactNeighborY="6672"/>
      <dgm:spPr/>
      <dgm:t>
        <a:bodyPr/>
        <a:lstStyle/>
        <a:p>
          <a:endParaRPr lang="es-ES"/>
        </a:p>
      </dgm:t>
    </dgm:pt>
    <dgm:pt modelId="{1700C688-7360-4B6F-8EA9-9E4D7C24926B}" type="pres">
      <dgm:prSet presAssocID="{43F42BDD-3B3A-4E25-97B5-4304DEA56AE4}" presName="child4Text" presStyleLbl="bgAcc1" presStyleIdx="3" presStyleCnt="4">
        <dgm:presLayoutVars>
          <dgm:bulletEnabled val="1"/>
        </dgm:presLayoutVars>
      </dgm:prSet>
      <dgm:spPr/>
      <dgm:t>
        <a:bodyPr/>
        <a:lstStyle/>
        <a:p>
          <a:endParaRPr lang="es-ES"/>
        </a:p>
      </dgm:t>
    </dgm:pt>
    <dgm:pt modelId="{D8EF04BD-B7B1-4BF1-B406-21BCC0F98176}" type="pres">
      <dgm:prSet presAssocID="{43F42BDD-3B3A-4E25-97B5-4304DEA56AE4}" presName="childPlaceholder" presStyleCnt="0"/>
      <dgm:spPr/>
    </dgm:pt>
    <dgm:pt modelId="{8CE6D099-38DA-400D-9963-5BDA0A91DDE0}" type="pres">
      <dgm:prSet presAssocID="{43F42BDD-3B3A-4E25-97B5-4304DEA56AE4}" presName="circle" presStyleCnt="0"/>
      <dgm:spPr/>
    </dgm:pt>
    <dgm:pt modelId="{B014C5D2-7B97-43CD-ABF9-48F94FA24614}" type="pres">
      <dgm:prSet presAssocID="{43F42BDD-3B3A-4E25-97B5-4304DEA56AE4}" presName="quadrant1" presStyleLbl="node1" presStyleIdx="0" presStyleCnt="4" custScaleX="106531" custLinFactNeighborX="-3130" custLinFactNeighborY="-7337">
        <dgm:presLayoutVars>
          <dgm:chMax val="1"/>
          <dgm:bulletEnabled val="1"/>
        </dgm:presLayoutVars>
      </dgm:prSet>
      <dgm:spPr/>
      <dgm:t>
        <a:bodyPr/>
        <a:lstStyle/>
        <a:p>
          <a:endParaRPr lang="es-ES"/>
        </a:p>
      </dgm:t>
    </dgm:pt>
    <dgm:pt modelId="{526A20F5-AD8D-4987-A23D-07FB6D540A6C}" type="pres">
      <dgm:prSet presAssocID="{43F42BDD-3B3A-4E25-97B5-4304DEA56AE4}" presName="quadrant2" presStyleLbl="node1" presStyleIdx="1" presStyleCnt="4" custScaleX="102190" custLinFactNeighborY="-7337">
        <dgm:presLayoutVars>
          <dgm:chMax val="1"/>
          <dgm:bulletEnabled val="1"/>
        </dgm:presLayoutVars>
      </dgm:prSet>
      <dgm:spPr/>
      <dgm:t>
        <a:bodyPr/>
        <a:lstStyle/>
        <a:p>
          <a:endParaRPr lang="es-ES"/>
        </a:p>
      </dgm:t>
    </dgm:pt>
    <dgm:pt modelId="{10CF11F5-35EE-4835-9BEC-79D33BD85EB9}" type="pres">
      <dgm:prSet presAssocID="{43F42BDD-3B3A-4E25-97B5-4304DEA56AE4}" presName="quadrant3" presStyleLbl="node1" presStyleIdx="2" presStyleCnt="4" custScaleX="103292" custLinFactNeighborY="-644">
        <dgm:presLayoutVars>
          <dgm:chMax val="1"/>
          <dgm:bulletEnabled val="1"/>
        </dgm:presLayoutVars>
      </dgm:prSet>
      <dgm:spPr/>
      <dgm:t>
        <a:bodyPr/>
        <a:lstStyle/>
        <a:p>
          <a:endParaRPr lang="es-ES"/>
        </a:p>
      </dgm:t>
    </dgm:pt>
    <dgm:pt modelId="{1B5B4E8E-16AB-490A-889F-F8B5FA6AB5AF}" type="pres">
      <dgm:prSet presAssocID="{43F42BDD-3B3A-4E25-97B5-4304DEA56AE4}" presName="quadrant4" presStyleLbl="node1" presStyleIdx="3" presStyleCnt="4" custScaleX="110665" custLinFactNeighborX="-3754" custLinFactNeighborY="-644">
        <dgm:presLayoutVars>
          <dgm:chMax val="1"/>
          <dgm:bulletEnabled val="1"/>
        </dgm:presLayoutVars>
      </dgm:prSet>
      <dgm:spPr/>
      <dgm:t>
        <a:bodyPr/>
        <a:lstStyle/>
        <a:p>
          <a:endParaRPr lang="es-ES"/>
        </a:p>
      </dgm:t>
    </dgm:pt>
    <dgm:pt modelId="{6781271E-AFC0-4A14-A8D1-2443EC8FA747}" type="pres">
      <dgm:prSet presAssocID="{43F42BDD-3B3A-4E25-97B5-4304DEA56AE4}" presName="quadrantPlaceholder" presStyleCnt="0"/>
      <dgm:spPr/>
    </dgm:pt>
    <dgm:pt modelId="{242859C8-8263-45FF-8457-D4B334CD937B}" type="pres">
      <dgm:prSet presAssocID="{43F42BDD-3B3A-4E25-97B5-4304DEA56AE4}" presName="center1" presStyleLbl="fgShp" presStyleIdx="0" presStyleCnt="2" custLinFactNeighborX="-13282"/>
      <dgm:spPr/>
    </dgm:pt>
    <dgm:pt modelId="{0936BB6B-D5E8-4D3A-B1CD-9A5883871006}" type="pres">
      <dgm:prSet presAssocID="{43F42BDD-3B3A-4E25-97B5-4304DEA56AE4}" presName="center2" presStyleLbl="fgShp" presStyleIdx="1" presStyleCnt="2" custLinFactNeighborX="-13282"/>
      <dgm:spPr/>
    </dgm:pt>
  </dgm:ptLst>
  <dgm:cxnLst>
    <dgm:cxn modelId="{8DB95699-609B-4EE7-BA3B-646A5A45A204}" srcId="{242BF7D0-99C8-42B1-A832-7985E0958603}" destId="{3B23A574-5A90-49A3-95DB-80BBCFCF9FDC}" srcOrd="1" destOrd="0" parTransId="{50C849AC-4247-49BC-A481-BA8431BABB20}" sibTransId="{879278F6-5517-48A4-B215-56F5C21AEA47}"/>
    <dgm:cxn modelId="{280B4B8F-B3E3-4ED9-AC4C-17EE20852B98}" srcId="{43F42BDD-3B3A-4E25-97B5-4304DEA56AE4}" destId="{F2968ECF-EAF0-4C15-86CF-D4A59C7AB3A9}" srcOrd="0" destOrd="0" parTransId="{313BC800-9EF3-4654-BD51-65FA2DD154DE}" sibTransId="{F656D08C-F8B6-412B-932E-B190F613C74E}"/>
    <dgm:cxn modelId="{D973F81E-A206-4BE9-840F-8A5ED6EB80BA}" type="presOf" srcId="{82141BDD-BFF0-4DE3-AEB5-B198CF62A036}" destId="{CD274624-CCDA-4F62-82B0-DB1320C56D27}" srcOrd="0" destOrd="0" presId="urn:microsoft.com/office/officeart/2005/8/layout/cycle4#2"/>
    <dgm:cxn modelId="{3DD09ABC-5A7D-4086-A35E-FE62CDD9B1EE}" srcId="{43F42BDD-3B3A-4E25-97B5-4304DEA56AE4}" destId="{28115555-189E-4E85-BD67-A01B6391C05A}" srcOrd="1" destOrd="0" parTransId="{1296C2DF-19F7-4500-B6A1-BBA5B0B2153B}" sibTransId="{2F58FBF2-F682-4DD0-8788-17A8E0E1BACF}"/>
    <dgm:cxn modelId="{5C27544F-A996-4CCA-BA71-D4C26DCBBF6E}" type="presOf" srcId="{28115555-189E-4E85-BD67-A01B6391C05A}" destId="{526A20F5-AD8D-4987-A23D-07FB6D540A6C}" srcOrd="0" destOrd="0" presId="urn:microsoft.com/office/officeart/2005/8/layout/cycle4#2"/>
    <dgm:cxn modelId="{CBC58280-9EB8-4227-97A0-222202D0E840}" type="presOf" srcId="{6111537D-09B6-4AA2-9CF6-E817414612C8}" destId="{D101A951-3B46-4916-8D8E-962AB9E52ECD}" srcOrd="1" destOrd="1" presId="urn:microsoft.com/office/officeart/2005/8/layout/cycle4#2"/>
    <dgm:cxn modelId="{02D327E6-9B3D-4049-8352-3389EC400529}" type="presOf" srcId="{6FC22908-B1A2-49D2-BA09-13871E0A8787}" destId="{F2F3186E-CBA2-4135-8F3E-4B5D817DBAC4}" srcOrd="1" destOrd="1" presId="urn:microsoft.com/office/officeart/2005/8/layout/cycle4#2"/>
    <dgm:cxn modelId="{4C4CBCF5-ED83-4591-9C06-808E69981682}" type="presOf" srcId="{3C7D181F-DE3F-45E6-8AAD-A991EB4CCFE2}" destId="{CD274624-CCDA-4F62-82B0-DB1320C56D27}" srcOrd="0" destOrd="2" presId="urn:microsoft.com/office/officeart/2005/8/layout/cycle4#2"/>
    <dgm:cxn modelId="{7DA7273E-DCE4-4A83-9342-4F0DAD95DA13}" type="presOf" srcId="{3B23A574-5A90-49A3-95DB-80BBCFCF9FDC}" destId="{9D32E807-1FFE-4D32-8045-317FDC5004C1}" srcOrd="0" destOrd="1" presId="urn:microsoft.com/office/officeart/2005/8/layout/cycle4#2"/>
    <dgm:cxn modelId="{1C2641E1-6447-48B0-8ED1-CA971C887B7F}" type="presOf" srcId="{3C7D181F-DE3F-45E6-8AAD-A991EB4CCFE2}" destId="{D101A951-3B46-4916-8D8E-962AB9E52ECD}" srcOrd="1" destOrd="2" presId="urn:microsoft.com/office/officeart/2005/8/layout/cycle4#2"/>
    <dgm:cxn modelId="{F39D84F1-B1F8-4AA4-953C-B4AA4F94E793}" srcId="{9C35AEB1-C8B4-4E37-8729-F8DD92EBCD50}" destId="{6111537D-09B6-4AA2-9CF6-E817414612C8}" srcOrd="1" destOrd="0" parTransId="{FBCA3ABB-48A7-4E96-8EEC-4A75C0F39524}" sibTransId="{4EAEA05B-F178-433B-AE5A-E221554CB98C}"/>
    <dgm:cxn modelId="{0F26470C-559D-4AB1-B04D-ACCC0ED2A190}" srcId="{28115555-189E-4E85-BD67-A01B6391C05A}" destId="{A97D5E30-EBAC-428C-922C-C0272F70DD3A}" srcOrd="2" destOrd="0" parTransId="{FF8E8892-6488-4D72-907B-7872DF4A2DD7}" sibTransId="{2AFD45F7-C7C9-4442-9B46-440499B16DF7}"/>
    <dgm:cxn modelId="{D82C0CCB-9382-49CF-8846-0540353751B1}" srcId="{9C35AEB1-C8B4-4E37-8729-F8DD92EBCD50}" destId="{3C7D181F-DE3F-45E6-8AAD-A991EB4CCFE2}" srcOrd="2" destOrd="0" parTransId="{4B3CE2AA-C4B7-4543-82EF-293A3A85000C}" sibTransId="{5CDB2FE5-D78B-4D25-AEB1-2BB84299BFF5}"/>
    <dgm:cxn modelId="{4A8B3523-414F-48E6-A6E7-8B1E82A47142}" srcId="{F2968ECF-EAF0-4C15-86CF-D4A59C7AB3A9}" destId="{EC95E1F8-BDA6-4032-87D8-B20BFD87479D}" srcOrd="0" destOrd="0" parTransId="{072C63AD-F6CD-49AA-825F-F54373DF0DA6}" sibTransId="{0C903A26-92C1-4718-B7CF-545B72903BD4}"/>
    <dgm:cxn modelId="{1C53B20D-5C8C-4BED-A016-7AC96B3F7EA7}" type="presOf" srcId="{F2968ECF-EAF0-4C15-86CF-D4A59C7AB3A9}" destId="{B014C5D2-7B97-43CD-ABF9-48F94FA24614}" srcOrd="0" destOrd="0" presId="urn:microsoft.com/office/officeart/2005/8/layout/cycle4#2"/>
    <dgm:cxn modelId="{468A5E75-28A5-4E13-B447-08CC80D9CBC9}" srcId="{9C35AEB1-C8B4-4E37-8729-F8DD92EBCD50}" destId="{82141BDD-BFF0-4DE3-AEB5-B198CF62A036}" srcOrd="0" destOrd="0" parTransId="{EE129AB7-AC53-4FDD-A804-8885A977274F}" sibTransId="{515BA920-4D5A-43F3-B835-53AB83C0027F}"/>
    <dgm:cxn modelId="{877FDC9D-19BA-404A-B26D-8EC76A7CA19A}" type="presOf" srcId="{16D0EBC2-64DF-48BB-B4F1-A6E44EC39372}" destId="{1700C688-7360-4B6F-8EA9-9E4D7C24926B}" srcOrd="1" destOrd="0" presId="urn:microsoft.com/office/officeart/2005/8/layout/cycle4#2"/>
    <dgm:cxn modelId="{C8F63F78-7C86-482C-98F7-ED8D226C5F9D}" type="presOf" srcId="{43F42BDD-3B3A-4E25-97B5-4304DEA56AE4}" destId="{02033C40-8B35-4429-B5D2-04BE55B3F6DB}" srcOrd="0" destOrd="0" presId="urn:microsoft.com/office/officeart/2005/8/layout/cycle4#2"/>
    <dgm:cxn modelId="{10A9D6C8-EB31-42AF-A449-151599D13FEB}" type="presOf" srcId="{EC95E1F8-BDA6-4032-87D8-B20BFD87479D}" destId="{199E52C4-0C62-426B-B248-C63869D52559}" srcOrd="0" destOrd="0" presId="urn:microsoft.com/office/officeart/2005/8/layout/cycle4#2"/>
    <dgm:cxn modelId="{1CDD1527-B95C-4AE1-9345-BB12113E0EDD}" type="presOf" srcId="{A97D5E30-EBAC-428C-922C-C0272F70DD3A}" destId="{F2F3186E-CBA2-4135-8F3E-4B5D817DBAC4}" srcOrd="1" destOrd="2" presId="urn:microsoft.com/office/officeart/2005/8/layout/cycle4#2"/>
    <dgm:cxn modelId="{E8D3F1C3-FBD9-4E6D-979A-50BE0670ABA3}" srcId="{28115555-189E-4E85-BD67-A01B6391C05A}" destId="{6FC22908-B1A2-49D2-BA09-13871E0A8787}" srcOrd="1" destOrd="0" parTransId="{2FF74620-41A0-449F-A02E-D30DDBDAA32C}" sibTransId="{ACC6EF26-390E-40F0-AE58-6EA98557E132}"/>
    <dgm:cxn modelId="{7AD31D50-8C29-4839-BD09-853CA30845AA}" type="presOf" srcId="{A97D5E30-EBAC-428C-922C-C0272F70DD3A}" destId="{481235B6-24DE-454D-9860-A6C333FD6039}" srcOrd="0" destOrd="2" presId="urn:microsoft.com/office/officeart/2005/8/layout/cycle4#2"/>
    <dgm:cxn modelId="{64B9F54E-6AAE-4A20-81A5-F05B965AA7AA}" srcId="{43F42BDD-3B3A-4E25-97B5-4304DEA56AE4}" destId="{242BF7D0-99C8-42B1-A832-7985E0958603}" srcOrd="3" destOrd="0" parTransId="{74AED825-62AA-48A9-9A74-6572AECC9C1B}" sibTransId="{BE4E51CA-CD44-4216-BBF6-CABDDAE9FBE7}"/>
    <dgm:cxn modelId="{1149E4B1-6378-4E10-A76D-498D89588469}" type="presOf" srcId="{B596EF70-3C1D-4B3C-89D2-6D3829A2BBD8}" destId="{F2F3186E-CBA2-4135-8F3E-4B5D817DBAC4}" srcOrd="1" destOrd="0" presId="urn:microsoft.com/office/officeart/2005/8/layout/cycle4#2"/>
    <dgm:cxn modelId="{FC8ECBCD-4ACC-4B4B-8000-EC22D3C32636}" srcId="{242BF7D0-99C8-42B1-A832-7985E0958603}" destId="{3E2A670B-1C72-4994-ABA5-BE7AA2CC3FA9}" srcOrd="2" destOrd="0" parTransId="{3DD5B6B7-C7FE-4F3E-9C84-8A98AC72A92B}" sibTransId="{71F18FD4-C9CF-4E6A-80E3-7AB58A93DE18}"/>
    <dgm:cxn modelId="{FAFBA117-8448-49D3-9453-EDC293F7F209}" type="presOf" srcId="{82141BDD-BFF0-4DE3-AEB5-B198CF62A036}" destId="{D101A951-3B46-4916-8D8E-962AB9E52ECD}" srcOrd="1" destOrd="0" presId="urn:microsoft.com/office/officeart/2005/8/layout/cycle4#2"/>
    <dgm:cxn modelId="{0CDE4E81-0C75-47AE-AF59-3E3D0F777106}" type="presOf" srcId="{3B23A574-5A90-49A3-95DB-80BBCFCF9FDC}" destId="{1700C688-7360-4B6F-8EA9-9E4D7C24926B}" srcOrd="1" destOrd="1" presId="urn:microsoft.com/office/officeart/2005/8/layout/cycle4#2"/>
    <dgm:cxn modelId="{C1BCB7E0-9B00-4442-8AE4-2A9230B8A773}" type="presOf" srcId="{EC95E1F8-BDA6-4032-87D8-B20BFD87479D}" destId="{352EF719-A772-4239-8BAD-784651F0421D}" srcOrd="1" destOrd="0" presId="urn:microsoft.com/office/officeart/2005/8/layout/cycle4#2"/>
    <dgm:cxn modelId="{00F0EDF0-C84E-467D-8198-0A5E7F9CCC1A}" srcId="{43F42BDD-3B3A-4E25-97B5-4304DEA56AE4}" destId="{9C35AEB1-C8B4-4E37-8729-F8DD92EBCD50}" srcOrd="2" destOrd="0" parTransId="{3F0E3769-D96E-4BA8-9697-19A9359E02CE}" sibTransId="{B87E6155-3EE6-4EBF-80D9-FC2F61F75E92}"/>
    <dgm:cxn modelId="{744C5708-E4D8-4FD2-A090-576F1B025F39}" srcId="{242BF7D0-99C8-42B1-A832-7985E0958603}" destId="{16D0EBC2-64DF-48BB-B4F1-A6E44EC39372}" srcOrd="0" destOrd="0" parTransId="{81F39F09-D52A-4DD9-8C9D-6B6639346AC0}" sibTransId="{75EC37D9-1673-47F1-8A6E-B69CAA12E1FA}"/>
    <dgm:cxn modelId="{111EA0B1-1D21-4D38-AC94-657BEB1660F7}" type="presOf" srcId="{6FC22908-B1A2-49D2-BA09-13871E0A8787}" destId="{481235B6-24DE-454D-9860-A6C333FD6039}" srcOrd="0" destOrd="1" presId="urn:microsoft.com/office/officeart/2005/8/layout/cycle4#2"/>
    <dgm:cxn modelId="{513BA71F-7A33-4912-9C46-F77A7FC51C12}" srcId="{28115555-189E-4E85-BD67-A01B6391C05A}" destId="{B596EF70-3C1D-4B3C-89D2-6D3829A2BBD8}" srcOrd="0" destOrd="0" parTransId="{3C12854B-643D-422E-9656-1AC9026C6AF4}" sibTransId="{1B755B7F-213F-48D0-B667-0318433ADD47}"/>
    <dgm:cxn modelId="{32D3F08B-65CF-4920-8BBA-1B184823B962}" type="presOf" srcId="{3E2A670B-1C72-4994-ABA5-BE7AA2CC3FA9}" destId="{1700C688-7360-4B6F-8EA9-9E4D7C24926B}" srcOrd="1" destOrd="2" presId="urn:microsoft.com/office/officeart/2005/8/layout/cycle4#2"/>
    <dgm:cxn modelId="{247C4D52-969F-4CAB-B76D-195CDC0002FC}" type="presOf" srcId="{242BF7D0-99C8-42B1-A832-7985E0958603}" destId="{1B5B4E8E-16AB-490A-889F-F8B5FA6AB5AF}" srcOrd="0" destOrd="0" presId="urn:microsoft.com/office/officeart/2005/8/layout/cycle4#2"/>
    <dgm:cxn modelId="{E1EEC677-967E-4672-8427-12A4405A9AB9}" type="presOf" srcId="{6111537D-09B6-4AA2-9CF6-E817414612C8}" destId="{CD274624-CCDA-4F62-82B0-DB1320C56D27}" srcOrd="0" destOrd="1" presId="urn:microsoft.com/office/officeart/2005/8/layout/cycle4#2"/>
    <dgm:cxn modelId="{D390C404-EE83-4307-9B50-4EA8C82A6766}" type="presOf" srcId="{9C35AEB1-C8B4-4E37-8729-F8DD92EBCD50}" destId="{10CF11F5-35EE-4835-9BEC-79D33BD85EB9}" srcOrd="0" destOrd="0" presId="urn:microsoft.com/office/officeart/2005/8/layout/cycle4#2"/>
    <dgm:cxn modelId="{6A88497E-16F7-4F24-8D70-AC3D37797F58}" type="presOf" srcId="{3E2A670B-1C72-4994-ABA5-BE7AA2CC3FA9}" destId="{9D32E807-1FFE-4D32-8045-317FDC5004C1}" srcOrd="0" destOrd="2" presId="urn:microsoft.com/office/officeart/2005/8/layout/cycle4#2"/>
    <dgm:cxn modelId="{12287E4D-0E8C-41CB-9A5B-15DECBC35498}" type="presOf" srcId="{B596EF70-3C1D-4B3C-89D2-6D3829A2BBD8}" destId="{481235B6-24DE-454D-9860-A6C333FD6039}" srcOrd="0" destOrd="0" presId="urn:microsoft.com/office/officeart/2005/8/layout/cycle4#2"/>
    <dgm:cxn modelId="{04D86B90-E7EE-4DE4-9436-C5EB99294B19}" type="presOf" srcId="{16D0EBC2-64DF-48BB-B4F1-A6E44EC39372}" destId="{9D32E807-1FFE-4D32-8045-317FDC5004C1}" srcOrd="0" destOrd="0" presId="urn:microsoft.com/office/officeart/2005/8/layout/cycle4#2"/>
    <dgm:cxn modelId="{3C90CC96-1415-4E9F-927C-986CD74A3567}" type="presParOf" srcId="{02033C40-8B35-4429-B5D2-04BE55B3F6DB}" destId="{E4D19529-EAA8-4920-86D4-088BDC11BDBD}" srcOrd="0" destOrd="0" presId="urn:microsoft.com/office/officeart/2005/8/layout/cycle4#2"/>
    <dgm:cxn modelId="{9A96A20A-4755-401A-BE40-4ADECB4BE4CB}" type="presParOf" srcId="{E4D19529-EAA8-4920-86D4-088BDC11BDBD}" destId="{EDF579C9-A623-476C-AA05-AA7B1D968DA3}" srcOrd="0" destOrd="0" presId="urn:microsoft.com/office/officeart/2005/8/layout/cycle4#2"/>
    <dgm:cxn modelId="{FD0EB148-CE8B-461A-8478-66F7DA7E66BC}" type="presParOf" srcId="{EDF579C9-A623-476C-AA05-AA7B1D968DA3}" destId="{199E52C4-0C62-426B-B248-C63869D52559}" srcOrd="0" destOrd="0" presId="urn:microsoft.com/office/officeart/2005/8/layout/cycle4#2"/>
    <dgm:cxn modelId="{B5583CBD-25B2-48BB-8987-69D6E56E3D6A}" type="presParOf" srcId="{EDF579C9-A623-476C-AA05-AA7B1D968DA3}" destId="{352EF719-A772-4239-8BAD-784651F0421D}" srcOrd="1" destOrd="0" presId="urn:microsoft.com/office/officeart/2005/8/layout/cycle4#2"/>
    <dgm:cxn modelId="{D3529243-D45D-476D-A643-7096ED4B9A6C}" type="presParOf" srcId="{E4D19529-EAA8-4920-86D4-088BDC11BDBD}" destId="{03EAA362-76C0-41A2-90C8-2A7FAFC0FD2C}" srcOrd="1" destOrd="0" presId="urn:microsoft.com/office/officeart/2005/8/layout/cycle4#2"/>
    <dgm:cxn modelId="{77D60E3B-9B53-40CB-9BC4-F98AEDB92948}" type="presParOf" srcId="{03EAA362-76C0-41A2-90C8-2A7FAFC0FD2C}" destId="{481235B6-24DE-454D-9860-A6C333FD6039}" srcOrd="0" destOrd="0" presId="urn:microsoft.com/office/officeart/2005/8/layout/cycle4#2"/>
    <dgm:cxn modelId="{A8DC6E0D-E6D9-40E1-BFBA-D7E9C63F23F4}" type="presParOf" srcId="{03EAA362-76C0-41A2-90C8-2A7FAFC0FD2C}" destId="{F2F3186E-CBA2-4135-8F3E-4B5D817DBAC4}" srcOrd="1" destOrd="0" presId="urn:microsoft.com/office/officeart/2005/8/layout/cycle4#2"/>
    <dgm:cxn modelId="{1BAD1529-F0C9-4245-8791-DBECB2B62773}" type="presParOf" srcId="{E4D19529-EAA8-4920-86D4-088BDC11BDBD}" destId="{571EAFA7-6C9E-4E5C-A4A7-AF674E888E9A}" srcOrd="2" destOrd="0" presId="urn:microsoft.com/office/officeart/2005/8/layout/cycle4#2"/>
    <dgm:cxn modelId="{BA9B4FE3-A8FF-4A25-9975-7A3CAE0E0647}" type="presParOf" srcId="{571EAFA7-6C9E-4E5C-A4A7-AF674E888E9A}" destId="{CD274624-CCDA-4F62-82B0-DB1320C56D27}" srcOrd="0" destOrd="0" presId="urn:microsoft.com/office/officeart/2005/8/layout/cycle4#2"/>
    <dgm:cxn modelId="{00F3277C-030E-4AED-B4E7-B20E10BE4133}" type="presParOf" srcId="{571EAFA7-6C9E-4E5C-A4A7-AF674E888E9A}" destId="{D101A951-3B46-4916-8D8E-962AB9E52ECD}" srcOrd="1" destOrd="0" presId="urn:microsoft.com/office/officeart/2005/8/layout/cycle4#2"/>
    <dgm:cxn modelId="{F811D2D4-3A06-4C55-90A3-0EDB20029D11}" type="presParOf" srcId="{E4D19529-EAA8-4920-86D4-088BDC11BDBD}" destId="{CD0CC432-9A04-40E7-AFA5-B4B5DE2A4CF4}" srcOrd="3" destOrd="0" presId="urn:microsoft.com/office/officeart/2005/8/layout/cycle4#2"/>
    <dgm:cxn modelId="{5D8AF544-F3DB-4ACF-B692-1C08E838BFE8}" type="presParOf" srcId="{CD0CC432-9A04-40E7-AFA5-B4B5DE2A4CF4}" destId="{9D32E807-1FFE-4D32-8045-317FDC5004C1}" srcOrd="0" destOrd="0" presId="urn:microsoft.com/office/officeart/2005/8/layout/cycle4#2"/>
    <dgm:cxn modelId="{4F7F5041-9063-4944-82CF-557CE3DA4357}" type="presParOf" srcId="{CD0CC432-9A04-40E7-AFA5-B4B5DE2A4CF4}" destId="{1700C688-7360-4B6F-8EA9-9E4D7C24926B}" srcOrd="1" destOrd="0" presId="urn:microsoft.com/office/officeart/2005/8/layout/cycle4#2"/>
    <dgm:cxn modelId="{0F06BEA6-5D34-4BBC-A7D4-DC85C74E6BAF}" type="presParOf" srcId="{E4D19529-EAA8-4920-86D4-088BDC11BDBD}" destId="{D8EF04BD-B7B1-4BF1-B406-21BCC0F98176}" srcOrd="4" destOrd="0" presId="urn:microsoft.com/office/officeart/2005/8/layout/cycle4#2"/>
    <dgm:cxn modelId="{99C30B11-29EC-4C53-9F82-412E1889CA48}" type="presParOf" srcId="{02033C40-8B35-4429-B5D2-04BE55B3F6DB}" destId="{8CE6D099-38DA-400D-9963-5BDA0A91DDE0}" srcOrd="1" destOrd="0" presId="urn:microsoft.com/office/officeart/2005/8/layout/cycle4#2"/>
    <dgm:cxn modelId="{57F42441-CB1C-4C28-9002-1C1A64139374}" type="presParOf" srcId="{8CE6D099-38DA-400D-9963-5BDA0A91DDE0}" destId="{B014C5D2-7B97-43CD-ABF9-48F94FA24614}" srcOrd="0" destOrd="0" presId="urn:microsoft.com/office/officeart/2005/8/layout/cycle4#2"/>
    <dgm:cxn modelId="{EC375B33-6A2D-45A7-B10C-4E2AF229AA8E}" type="presParOf" srcId="{8CE6D099-38DA-400D-9963-5BDA0A91DDE0}" destId="{526A20F5-AD8D-4987-A23D-07FB6D540A6C}" srcOrd="1" destOrd="0" presId="urn:microsoft.com/office/officeart/2005/8/layout/cycle4#2"/>
    <dgm:cxn modelId="{E69071EA-0839-4C40-9BCC-9C6A9F6C647C}" type="presParOf" srcId="{8CE6D099-38DA-400D-9963-5BDA0A91DDE0}" destId="{10CF11F5-35EE-4835-9BEC-79D33BD85EB9}" srcOrd="2" destOrd="0" presId="urn:microsoft.com/office/officeart/2005/8/layout/cycle4#2"/>
    <dgm:cxn modelId="{888C34DC-6615-4C9E-80A4-E429DFC51560}" type="presParOf" srcId="{8CE6D099-38DA-400D-9963-5BDA0A91DDE0}" destId="{1B5B4E8E-16AB-490A-889F-F8B5FA6AB5AF}" srcOrd="3" destOrd="0" presId="urn:microsoft.com/office/officeart/2005/8/layout/cycle4#2"/>
    <dgm:cxn modelId="{15AC5990-24F2-4D35-8D73-38D8A21948C3}" type="presParOf" srcId="{8CE6D099-38DA-400D-9963-5BDA0A91DDE0}" destId="{6781271E-AFC0-4A14-A8D1-2443EC8FA747}" srcOrd="4" destOrd="0" presId="urn:microsoft.com/office/officeart/2005/8/layout/cycle4#2"/>
    <dgm:cxn modelId="{A40DDDC9-9BF6-45A0-9BF8-C3587E140EF1}" type="presParOf" srcId="{02033C40-8B35-4429-B5D2-04BE55B3F6DB}" destId="{242859C8-8263-45FF-8457-D4B334CD937B}" srcOrd="2" destOrd="0" presId="urn:microsoft.com/office/officeart/2005/8/layout/cycle4#2"/>
    <dgm:cxn modelId="{EA07D3B5-B6F3-434B-8B43-7C7A1386DA74}" type="presParOf" srcId="{02033C40-8B35-4429-B5D2-04BE55B3F6DB}" destId="{0936BB6B-D5E8-4D3A-B1CD-9A5883871006}" srcOrd="3" destOrd="0" presId="urn:microsoft.com/office/officeart/2005/8/layout/cycle4#2"/>
  </dgm:cxnLst>
  <dgm:bg/>
  <dgm:whole/>
  <dgm:extLst>
    <a:ext uri="http://schemas.microsoft.com/office/drawing/2008/diagram">
      <dsp:dataModelExt xmlns=""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290E78F-C9A7-4E8A-BA6D-288B6076172F}" type="doc">
      <dgm:prSet loTypeId="urn:microsoft.com/office/officeart/2005/8/layout/venn3" loCatId="relationship" qsTypeId="urn:microsoft.com/office/officeart/2005/8/quickstyle/simple1" qsCatId="simple" csTypeId="urn:microsoft.com/office/officeart/2005/8/colors/accent1_2" csCatId="accent1" phldr="1"/>
      <dgm:spPr/>
      <dgm:t>
        <a:bodyPr/>
        <a:lstStyle/>
        <a:p>
          <a:endParaRPr lang="es-ES"/>
        </a:p>
      </dgm:t>
    </dgm:pt>
    <dgm:pt modelId="{476E2265-9F7A-459A-8C24-0BE4424F9957}">
      <dgm:prSet phldrT="[Texto]" custT="1"/>
      <dgm:spPr/>
      <dgm:t>
        <a:bodyPr/>
        <a:lstStyle/>
        <a:p>
          <a:r>
            <a:rPr lang="es-AR" sz="1000" b="1" dirty="0" err="1" smtClean="0">
              <a:solidFill>
                <a:schemeClr val="tx1"/>
              </a:solidFill>
            </a:rPr>
            <a:t>Iva</a:t>
          </a:r>
          <a:endParaRPr lang="es-AR" sz="1000" b="1" dirty="0" smtClean="0">
            <a:solidFill>
              <a:schemeClr val="tx1"/>
            </a:solidFill>
          </a:endParaRPr>
        </a:p>
      </dgm:t>
    </dgm:pt>
    <dgm:pt modelId="{9B4B48CE-3DA1-421B-B746-2C889F669F8F}" type="parTrans" cxnId="{63109AE1-BF1F-4910-AB72-8C3306AB5D62}">
      <dgm:prSet/>
      <dgm:spPr/>
      <dgm:t>
        <a:bodyPr/>
        <a:lstStyle/>
        <a:p>
          <a:endParaRPr lang="es-ES"/>
        </a:p>
      </dgm:t>
    </dgm:pt>
    <dgm:pt modelId="{10877FC9-AB82-4DD7-8574-F496126D3A12}" type="sibTrans" cxnId="{63109AE1-BF1F-4910-AB72-8C3306AB5D62}">
      <dgm:prSet/>
      <dgm:spPr/>
      <dgm:t>
        <a:bodyPr/>
        <a:lstStyle/>
        <a:p>
          <a:endParaRPr lang="es-ES"/>
        </a:p>
      </dgm:t>
    </dgm:pt>
    <dgm:pt modelId="{20CC7C02-2370-4D56-A078-4FD004F3DD52}">
      <dgm:prSet phldrT="[Texto]" custT="1"/>
      <dgm:spPr/>
      <dgm:t>
        <a:bodyPr/>
        <a:lstStyle/>
        <a:p>
          <a:r>
            <a:rPr lang="es-AR" sz="1000" b="1" dirty="0" smtClean="0">
              <a:solidFill>
                <a:schemeClr val="tx1"/>
              </a:solidFill>
            </a:rPr>
            <a:t>Ganancias</a:t>
          </a:r>
          <a:endParaRPr lang="es-ES" sz="1000" b="1" dirty="0">
            <a:solidFill>
              <a:schemeClr val="tx1"/>
            </a:solidFill>
          </a:endParaRPr>
        </a:p>
      </dgm:t>
    </dgm:pt>
    <dgm:pt modelId="{3CDE8104-33BF-4B87-9343-E62402A2A0FB}" type="parTrans" cxnId="{2DBDE937-13E4-4932-9463-5F6A55953A65}">
      <dgm:prSet/>
      <dgm:spPr/>
      <dgm:t>
        <a:bodyPr/>
        <a:lstStyle/>
        <a:p>
          <a:endParaRPr lang="es-ES"/>
        </a:p>
      </dgm:t>
    </dgm:pt>
    <dgm:pt modelId="{6AFF9BAE-8399-467E-B401-4848750AD771}" type="sibTrans" cxnId="{2DBDE937-13E4-4932-9463-5F6A55953A65}">
      <dgm:prSet/>
      <dgm:spPr/>
      <dgm:t>
        <a:bodyPr/>
        <a:lstStyle/>
        <a:p>
          <a:endParaRPr lang="es-ES"/>
        </a:p>
      </dgm:t>
    </dgm:pt>
    <dgm:pt modelId="{72AD736E-6E7E-49B2-871A-428852D1CAC7}">
      <dgm:prSet phldrT="[Texto]" custT="1"/>
      <dgm:spPr/>
      <dgm:t>
        <a:bodyPr/>
        <a:lstStyle/>
        <a:p>
          <a:r>
            <a:rPr lang="es-AR" sz="1000" b="1" dirty="0" err="1" smtClean="0">
              <a:solidFill>
                <a:schemeClr val="tx1"/>
              </a:solidFill>
            </a:rPr>
            <a:t>IDyC</a:t>
          </a:r>
          <a:endParaRPr lang="es-ES" sz="1000" b="1" dirty="0">
            <a:solidFill>
              <a:schemeClr val="tx1"/>
            </a:solidFill>
          </a:endParaRPr>
        </a:p>
      </dgm:t>
    </dgm:pt>
    <dgm:pt modelId="{B0AC1C1F-700D-456A-B5CC-7046891901DC}" type="parTrans" cxnId="{EEF4C36F-85E3-47D3-8548-A159ED846D9C}">
      <dgm:prSet/>
      <dgm:spPr/>
      <dgm:t>
        <a:bodyPr/>
        <a:lstStyle/>
        <a:p>
          <a:endParaRPr lang="es-ES"/>
        </a:p>
      </dgm:t>
    </dgm:pt>
    <dgm:pt modelId="{3AE7F510-2323-47A3-9510-B830C2D1298E}" type="sibTrans" cxnId="{EEF4C36F-85E3-47D3-8548-A159ED846D9C}">
      <dgm:prSet/>
      <dgm:spPr/>
      <dgm:t>
        <a:bodyPr/>
        <a:lstStyle/>
        <a:p>
          <a:endParaRPr lang="es-ES"/>
        </a:p>
      </dgm:t>
    </dgm:pt>
    <dgm:pt modelId="{48449BAE-83F3-4F99-A2A5-3D164DB9E5CE}" type="pres">
      <dgm:prSet presAssocID="{E290E78F-C9A7-4E8A-BA6D-288B6076172F}" presName="Name0" presStyleCnt="0">
        <dgm:presLayoutVars>
          <dgm:dir/>
          <dgm:resizeHandles val="exact"/>
        </dgm:presLayoutVars>
      </dgm:prSet>
      <dgm:spPr/>
      <dgm:t>
        <a:bodyPr/>
        <a:lstStyle/>
        <a:p>
          <a:endParaRPr lang="es-ES"/>
        </a:p>
      </dgm:t>
    </dgm:pt>
    <dgm:pt modelId="{D15D6935-5ECB-40B0-B8FF-98C24F04FE44}" type="pres">
      <dgm:prSet presAssocID="{476E2265-9F7A-459A-8C24-0BE4424F9957}" presName="Name5" presStyleLbl="vennNode1" presStyleIdx="0" presStyleCnt="3">
        <dgm:presLayoutVars>
          <dgm:bulletEnabled val="1"/>
        </dgm:presLayoutVars>
      </dgm:prSet>
      <dgm:spPr/>
      <dgm:t>
        <a:bodyPr/>
        <a:lstStyle/>
        <a:p>
          <a:endParaRPr lang="es-ES"/>
        </a:p>
      </dgm:t>
    </dgm:pt>
    <dgm:pt modelId="{9086D471-79CD-4432-98EE-1293520B5224}" type="pres">
      <dgm:prSet presAssocID="{10877FC9-AB82-4DD7-8574-F496126D3A12}" presName="space" presStyleCnt="0"/>
      <dgm:spPr/>
    </dgm:pt>
    <dgm:pt modelId="{75AD13FB-53B3-488B-BA82-D47ECB768E8E}" type="pres">
      <dgm:prSet presAssocID="{20CC7C02-2370-4D56-A078-4FD004F3DD52}" presName="Name5" presStyleLbl="vennNode1" presStyleIdx="1" presStyleCnt="3">
        <dgm:presLayoutVars>
          <dgm:bulletEnabled val="1"/>
        </dgm:presLayoutVars>
      </dgm:prSet>
      <dgm:spPr/>
      <dgm:t>
        <a:bodyPr/>
        <a:lstStyle/>
        <a:p>
          <a:endParaRPr lang="es-ES"/>
        </a:p>
      </dgm:t>
    </dgm:pt>
    <dgm:pt modelId="{EFA9F8D6-5266-4DD6-AF35-272394847616}" type="pres">
      <dgm:prSet presAssocID="{6AFF9BAE-8399-467E-B401-4848750AD771}" presName="space" presStyleCnt="0"/>
      <dgm:spPr/>
    </dgm:pt>
    <dgm:pt modelId="{8E85D9CB-0695-4CD6-878C-E238FBDC87F6}" type="pres">
      <dgm:prSet presAssocID="{72AD736E-6E7E-49B2-871A-428852D1CAC7}" presName="Name5" presStyleLbl="vennNode1" presStyleIdx="2" presStyleCnt="3">
        <dgm:presLayoutVars>
          <dgm:bulletEnabled val="1"/>
        </dgm:presLayoutVars>
      </dgm:prSet>
      <dgm:spPr/>
      <dgm:t>
        <a:bodyPr/>
        <a:lstStyle/>
        <a:p>
          <a:endParaRPr lang="es-ES"/>
        </a:p>
      </dgm:t>
    </dgm:pt>
  </dgm:ptLst>
  <dgm:cxnLst>
    <dgm:cxn modelId="{CCBF9142-D02B-4CB4-A01F-5FBD6B314134}" type="presOf" srcId="{E290E78F-C9A7-4E8A-BA6D-288B6076172F}" destId="{48449BAE-83F3-4F99-A2A5-3D164DB9E5CE}" srcOrd="0" destOrd="0" presId="urn:microsoft.com/office/officeart/2005/8/layout/venn3"/>
    <dgm:cxn modelId="{EEF4C36F-85E3-47D3-8548-A159ED846D9C}" srcId="{E290E78F-C9A7-4E8A-BA6D-288B6076172F}" destId="{72AD736E-6E7E-49B2-871A-428852D1CAC7}" srcOrd="2" destOrd="0" parTransId="{B0AC1C1F-700D-456A-B5CC-7046891901DC}" sibTransId="{3AE7F510-2323-47A3-9510-B830C2D1298E}"/>
    <dgm:cxn modelId="{9CCB4E7D-E939-40E4-8E73-4E59531E5938}" type="presOf" srcId="{476E2265-9F7A-459A-8C24-0BE4424F9957}" destId="{D15D6935-5ECB-40B0-B8FF-98C24F04FE44}" srcOrd="0" destOrd="0" presId="urn:microsoft.com/office/officeart/2005/8/layout/venn3"/>
    <dgm:cxn modelId="{DF40790F-931E-47F8-A233-B53BE661AF42}" type="presOf" srcId="{72AD736E-6E7E-49B2-871A-428852D1CAC7}" destId="{8E85D9CB-0695-4CD6-878C-E238FBDC87F6}" srcOrd="0" destOrd="0" presId="urn:microsoft.com/office/officeart/2005/8/layout/venn3"/>
    <dgm:cxn modelId="{63109AE1-BF1F-4910-AB72-8C3306AB5D62}" srcId="{E290E78F-C9A7-4E8A-BA6D-288B6076172F}" destId="{476E2265-9F7A-459A-8C24-0BE4424F9957}" srcOrd="0" destOrd="0" parTransId="{9B4B48CE-3DA1-421B-B746-2C889F669F8F}" sibTransId="{10877FC9-AB82-4DD7-8574-F496126D3A12}"/>
    <dgm:cxn modelId="{2DBDE937-13E4-4932-9463-5F6A55953A65}" srcId="{E290E78F-C9A7-4E8A-BA6D-288B6076172F}" destId="{20CC7C02-2370-4D56-A078-4FD004F3DD52}" srcOrd="1" destOrd="0" parTransId="{3CDE8104-33BF-4B87-9343-E62402A2A0FB}" sibTransId="{6AFF9BAE-8399-467E-B401-4848750AD771}"/>
    <dgm:cxn modelId="{F4AA5D98-0003-4833-A1AE-80BC71A7D351}" type="presOf" srcId="{20CC7C02-2370-4D56-A078-4FD004F3DD52}" destId="{75AD13FB-53B3-488B-BA82-D47ECB768E8E}" srcOrd="0" destOrd="0" presId="urn:microsoft.com/office/officeart/2005/8/layout/venn3"/>
    <dgm:cxn modelId="{76DD28A3-03FE-44B8-A8DB-3342AC447D02}" type="presParOf" srcId="{48449BAE-83F3-4F99-A2A5-3D164DB9E5CE}" destId="{D15D6935-5ECB-40B0-B8FF-98C24F04FE44}" srcOrd="0" destOrd="0" presId="urn:microsoft.com/office/officeart/2005/8/layout/venn3"/>
    <dgm:cxn modelId="{01632FD6-1BCF-4D99-978B-4A4B3F4DC330}" type="presParOf" srcId="{48449BAE-83F3-4F99-A2A5-3D164DB9E5CE}" destId="{9086D471-79CD-4432-98EE-1293520B5224}" srcOrd="1" destOrd="0" presId="urn:microsoft.com/office/officeart/2005/8/layout/venn3"/>
    <dgm:cxn modelId="{4F3B3A58-BE48-41B8-B899-5BCAAAF83717}" type="presParOf" srcId="{48449BAE-83F3-4F99-A2A5-3D164DB9E5CE}" destId="{75AD13FB-53B3-488B-BA82-D47ECB768E8E}" srcOrd="2" destOrd="0" presId="urn:microsoft.com/office/officeart/2005/8/layout/venn3"/>
    <dgm:cxn modelId="{593906C0-FA89-4A29-B446-FF416266D07A}" type="presParOf" srcId="{48449BAE-83F3-4F99-A2A5-3D164DB9E5CE}" destId="{EFA9F8D6-5266-4DD6-AF35-272394847616}" srcOrd="3" destOrd="0" presId="urn:microsoft.com/office/officeart/2005/8/layout/venn3"/>
    <dgm:cxn modelId="{317905D5-83AC-4F77-971C-F7FB930072D7}" type="presParOf" srcId="{48449BAE-83F3-4F99-A2A5-3D164DB9E5CE}" destId="{8E85D9CB-0695-4CD6-878C-E238FBDC87F6}" srcOrd="4" destOrd="0" presId="urn:microsoft.com/office/officeart/2005/8/layout/venn3"/>
  </dgm:cxnLst>
  <dgm:bg/>
  <dgm:whole/>
  <dgm:extLst>
    <a:ext uri="http://schemas.microsoft.com/office/drawing/2008/diagram">
      <dsp:dataModelExt xmlns="" xmlns:dsp="http://schemas.microsoft.com/office/drawing/2008/diagram" relId="rId13"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290E78F-C9A7-4E8A-BA6D-288B6076172F}" type="doc">
      <dgm:prSet loTypeId="urn:microsoft.com/office/officeart/2005/8/layout/venn3" loCatId="relationship" qsTypeId="urn:microsoft.com/office/officeart/2005/8/quickstyle/simple1" qsCatId="simple" csTypeId="urn:microsoft.com/office/officeart/2005/8/colors/accent1_2" csCatId="accent1" phldr="1"/>
      <dgm:spPr/>
      <dgm:t>
        <a:bodyPr/>
        <a:lstStyle/>
        <a:p>
          <a:endParaRPr lang="es-ES"/>
        </a:p>
      </dgm:t>
    </dgm:pt>
    <dgm:pt modelId="{20CC7C02-2370-4D56-A078-4FD004F3DD52}">
      <dgm:prSet phldrT="[Texto]" custT="1"/>
      <dgm:spPr/>
      <dgm:t>
        <a:bodyPr/>
        <a:lstStyle/>
        <a:p>
          <a:r>
            <a:rPr lang="es-AR" sz="1000" b="1" dirty="0" smtClean="0">
              <a:solidFill>
                <a:schemeClr val="tx1"/>
              </a:solidFill>
            </a:rPr>
            <a:t>I. Brutos</a:t>
          </a:r>
          <a:endParaRPr lang="es-ES" sz="1000" b="1" dirty="0">
            <a:solidFill>
              <a:schemeClr val="tx1"/>
            </a:solidFill>
          </a:endParaRPr>
        </a:p>
      </dgm:t>
    </dgm:pt>
    <dgm:pt modelId="{3CDE8104-33BF-4B87-9343-E62402A2A0FB}" type="parTrans" cxnId="{2DBDE937-13E4-4932-9463-5F6A55953A65}">
      <dgm:prSet/>
      <dgm:spPr/>
      <dgm:t>
        <a:bodyPr/>
        <a:lstStyle/>
        <a:p>
          <a:endParaRPr lang="es-ES"/>
        </a:p>
      </dgm:t>
    </dgm:pt>
    <dgm:pt modelId="{6AFF9BAE-8399-467E-B401-4848750AD771}" type="sibTrans" cxnId="{2DBDE937-13E4-4932-9463-5F6A55953A65}">
      <dgm:prSet/>
      <dgm:spPr/>
      <dgm:t>
        <a:bodyPr/>
        <a:lstStyle/>
        <a:p>
          <a:endParaRPr lang="es-ES"/>
        </a:p>
      </dgm:t>
    </dgm:pt>
    <dgm:pt modelId="{72AD736E-6E7E-49B2-871A-428852D1CAC7}">
      <dgm:prSet phldrT="[Texto]" custT="1"/>
      <dgm:spPr/>
      <dgm:t>
        <a:bodyPr/>
        <a:lstStyle/>
        <a:p>
          <a:r>
            <a:rPr lang="es-AR" sz="1000" b="1" dirty="0" smtClean="0">
              <a:solidFill>
                <a:schemeClr val="tx1"/>
              </a:solidFill>
            </a:rPr>
            <a:t>Sellos</a:t>
          </a:r>
          <a:endParaRPr lang="es-ES" sz="1000" b="1" dirty="0">
            <a:solidFill>
              <a:schemeClr val="tx1"/>
            </a:solidFill>
          </a:endParaRPr>
        </a:p>
      </dgm:t>
    </dgm:pt>
    <dgm:pt modelId="{B0AC1C1F-700D-456A-B5CC-7046891901DC}" type="parTrans" cxnId="{EEF4C36F-85E3-47D3-8548-A159ED846D9C}">
      <dgm:prSet/>
      <dgm:spPr/>
      <dgm:t>
        <a:bodyPr/>
        <a:lstStyle/>
        <a:p>
          <a:endParaRPr lang="es-ES"/>
        </a:p>
      </dgm:t>
    </dgm:pt>
    <dgm:pt modelId="{3AE7F510-2323-47A3-9510-B830C2D1298E}" type="sibTrans" cxnId="{EEF4C36F-85E3-47D3-8548-A159ED846D9C}">
      <dgm:prSet/>
      <dgm:spPr/>
      <dgm:t>
        <a:bodyPr/>
        <a:lstStyle/>
        <a:p>
          <a:endParaRPr lang="es-ES"/>
        </a:p>
      </dgm:t>
    </dgm:pt>
    <dgm:pt modelId="{12E12160-EC08-401D-9DC9-96FF7F97E24B}">
      <dgm:prSet phldrT="[Texto]" custT="1"/>
      <dgm:spPr/>
      <dgm:t>
        <a:bodyPr/>
        <a:lstStyle/>
        <a:p>
          <a:r>
            <a:rPr lang="es-AR" sz="1000" b="1" dirty="0" err="1" smtClean="0">
              <a:solidFill>
                <a:schemeClr val="tx1"/>
              </a:solidFill>
            </a:rPr>
            <a:t>Inmob</a:t>
          </a:r>
          <a:r>
            <a:rPr lang="es-AR" sz="1000" b="1" dirty="0" smtClean="0">
              <a:solidFill>
                <a:schemeClr val="tx1"/>
              </a:solidFill>
            </a:rPr>
            <a:t>.</a:t>
          </a:r>
          <a:endParaRPr lang="es-ES" sz="1000" b="1" dirty="0">
            <a:solidFill>
              <a:schemeClr val="tx1"/>
            </a:solidFill>
          </a:endParaRPr>
        </a:p>
      </dgm:t>
    </dgm:pt>
    <dgm:pt modelId="{614E4FE3-50BD-43D2-B651-FD0D4419B626}" type="parTrans" cxnId="{96726B0D-365F-4751-9AEF-241A89D731EE}">
      <dgm:prSet/>
      <dgm:spPr/>
      <dgm:t>
        <a:bodyPr/>
        <a:lstStyle/>
        <a:p>
          <a:endParaRPr lang="es-ES"/>
        </a:p>
      </dgm:t>
    </dgm:pt>
    <dgm:pt modelId="{0D65BCF0-76B4-405B-8EA5-46AB4EDA0157}" type="sibTrans" cxnId="{96726B0D-365F-4751-9AEF-241A89D731EE}">
      <dgm:prSet/>
      <dgm:spPr/>
      <dgm:t>
        <a:bodyPr/>
        <a:lstStyle/>
        <a:p>
          <a:endParaRPr lang="es-ES"/>
        </a:p>
      </dgm:t>
    </dgm:pt>
    <dgm:pt modelId="{48449BAE-83F3-4F99-A2A5-3D164DB9E5CE}" type="pres">
      <dgm:prSet presAssocID="{E290E78F-C9A7-4E8A-BA6D-288B6076172F}" presName="Name0" presStyleCnt="0">
        <dgm:presLayoutVars>
          <dgm:dir/>
          <dgm:resizeHandles val="exact"/>
        </dgm:presLayoutVars>
      </dgm:prSet>
      <dgm:spPr/>
      <dgm:t>
        <a:bodyPr/>
        <a:lstStyle/>
        <a:p>
          <a:endParaRPr lang="es-ES"/>
        </a:p>
      </dgm:t>
    </dgm:pt>
    <dgm:pt modelId="{75AD13FB-53B3-488B-BA82-D47ECB768E8E}" type="pres">
      <dgm:prSet presAssocID="{20CC7C02-2370-4D56-A078-4FD004F3DD52}" presName="Name5" presStyleLbl="vennNode1" presStyleIdx="0" presStyleCnt="3">
        <dgm:presLayoutVars>
          <dgm:bulletEnabled val="1"/>
        </dgm:presLayoutVars>
      </dgm:prSet>
      <dgm:spPr/>
      <dgm:t>
        <a:bodyPr/>
        <a:lstStyle/>
        <a:p>
          <a:endParaRPr lang="es-ES"/>
        </a:p>
      </dgm:t>
    </dgm:pt>
    <dgm:pt modelId="{EFA9F8D6-5266-4DD6-AF35-272394847616}" type="pres">
      <dgm:prSet presAssocID="{6AFF9BAE-8399-467E-B401-4848750AD771}" presName="space" presStyleCnt="0"/>
      <dgm:spPr/>
    </dgm:pt>
    <dgm:pt modelId="{8E85D9CB-0695-4CD6-878C-E238FBDC87F6}" type="pres">
      <dgm:prSet presAssocID="{72AD736E-6E7E-49B2-871A-428852D1CAC7}" presName="Name5" presStyleLbl="vennNode1" presStyleIdx="1" presStyleCnt="3">
        <dgm:presLayoutVars>
          <dgm:bulletEnabled val="1"/>
        </dgm:presLayoutVars>
      </dgm:prSet>
      <dgm:spPr/>
      <dgm:t>
        <a:bodyPr/>
        <a:lstStyle/>
        <a:p>
          <a:endParaRPr lang="es-ES"/>
        </a:p>
      </dgm:t>
    </dgm:pt>
    <dgm:pt modelId="{3838EF7E-1A47-4AFC-88EC-BA95EC2D8536}" type="pres">
      <dgm:prSet presAssocID="{3AE7F510-2323-47A3-9510-B830C2D1298E}" presName="space" presStyleCnt="0"/>
      <dgm:spPr/>
    </dgm:pt>
    <dgm:pt modelId="{89048939-5E4D-40AE-9E57-BA20E5586CEA}" type="pres">
      <dgm:prSet presAssocID="{12E12160-EC08-401D-9DC9-96FF7F97E24B}" presName="Name5" presStyleLbl="vennNode1" presStyleIdx="2" presStyleCnt="3">
        <dgm:presLayoutVars>
          <dgm:bulletEnabled val="1"/>
        </dgm:presLayoutVars>
      </dgm:prSet>
      <dgm:spPr/>
      <dgm:t>
        <a:bodyPr/>
        <a:lstStyle/>
        <a:p>
          <a:endParaRPr lang="es-ES"/>
        </a:p>
      </dgm:t>
    </dgm:pt>
  </dgm:ptLst>
  <dgm:cxnLst>
    <dgm:cxn modelId="{B32288CD-9E05-40CF-BABC-C86F53EA90EE}" type="presOf" srcId="{20CC7C02-2370-4D56-A078-4FD004F3DD52}" destId="{75AD13FB-53B3-488B-BA82-D47ECB768E8E}" srcOrd="0" destOrd="0" presId="urn:microsoft.com/office/officeart/2005/8/layout/venn3"/>
    <dgm:cxn modelId="{EEF4C36F-85E3-47D3-8548-A159ED846D9C}" srcId="{E290E78F-C9A7-4E8A-BA6D-288B6076172F}" destId="{72AD736E-6E7E-49B2-871A-428852D1CAC7}" srcOrd="1" destOrd="0" parTransId="{B0AC1C1F-700D-456A-B5CC-7046891901DC}" sibTransId="{3AE7F510-2323-47A3-9510-B830C2D1298E}"/>
    <dgm:cxn modelId="{96726B0D-365F-4751-9AEF-241A89D731EE}" srcId="{E290E78F-C9A7-4E8A-BA6D-288B6076172F}" destId="{12E12160-EC08-401D-9DC9-96FF7F97E24B}" srcOrd="2" destOrd="0" parTransId="{614E4FE3-50BD-43D2-B651-FD0D4419B626}" sibTransId="{0D65BCF0-76B4-405B-8EA5-46AB4EDA0157}"/>
    <dgm:cxn modelId="{19E05199-FB78-46CB-877B-6C139376724B}" type="presOf" srcId="{12E12160-EC08-401D-9DC9-96FF7F97E24B}" destId="{89048939-5E4D-40AE-9E57-BA20E5586CEA}" srcOrd="0" destOrd="0" presId="urn:microsoft.com/office/officeart/2005/8/layout/venn3"/>
    <dgm:cxn modelId="{17CB7488-AE03-4302-AC7D-8DB0440AEC22}" type="presOf" srcId="{E290E78F-C9A7-4E8A-BA6D-288B6076172F}" destId="{48449BAE-83F3-4F99-A2A5-3D164DB9E5CE}" srcOrd="0" destOrd="0" presId="urn:microsoft.com/office/officeart/2005/8/layout/venn3"/>
    <dgm:cxn modelId="{2DBDE937-13E4-4932-9463-5F6A55953A65}" srcId="{E290E78F-C9A7-4E8A-BA6D-288B6076172F}" destId="{20CC7C02-2370-4D56-A078-4FD004F3DD52}" srcOrd="0" destOrd="0" parTransId="{3CDE8104-33BF-4B87-9343-E62402A2A0FB}" sibTransId="{6AFF9BAE-8399-467E-B401-4848750AD771}"/>
    <dgm:cxn modelId="{23FAD62E-7BA4-4A79-82FD-36B213F05631}" type="presOf" srcId="{72AD736E-6E7E-49B2-871A-428852D1CAC7}" destId="{8E85D9CB-0695-4CD6-878C-E238FBDC87F6}" srcOrd="0" destOrd="0" presId="urn:microsoft.com/office/officeart/2005/8/layout/venn3"/>
    <dgm:cxn modelId="{9D049669-48E4-479F-8B92-1AB6528302CE}" type="presParOf" srcId="{48449BAE-83F3-4F99-A2A5-3D164DB9E5CE}" destId="{75AD13FB-53B3-488B-BA82-D47ECB768E8E}" srcOrd="0" destOrd="0" presId="urn:microsoft.com/office/officeart/2005/8/layout/venn3"/>
    <dgm:cxn modelId="{0E139945-2640-4A04-90A9-5F0F70F03E8B}" type="presParOf" srcId="{48449BAE-83F3-4F99-A2A5-3D164DB9E5CE}" destId="{EFA9F8D6-5266-4DD6-AF35-272394847616}" srcOrd="1" destOrd="0" presId="urn:microsoft.com/office/officeart/2005/8/layout/venn3"/>
    <dgm:cxn modelId="{D93DE7EB-F814-4162-A279-E8D7CA0455F8}" type="presParOf" srcId="{48449BAE-83F3-4F99-A2A5-3D164DB9E5CE}" destId="{8E85D9CB-0695-4CD6-878C-E238FBDC87F6}" srcOrd="2" destOrd="0" presId="urn:microsoft.com/office/officeart/2005/8/layout/venn3"/>
    <dgm:cxn modelId="{19933D49-EA7C-4DE3-A89B-E1CD72BD0FC6}" type="presParOf" srcId="{48449BAE-83F3-4F99-A2A5-3D164DB9E5CE}" destId="{3838EF7E-1A47-4AFC-88EC-BA95EC2D8536}" srcOrd="3" destOrd="0" presId="urn:microsoft.com/office/officeart/2005/8/layout/venn3"/>
    <dgm:cxn modelId="{85C0AA9D-0D14-477B-8AC3-1408E827503D}" type="presParOf" srcId="{48449BAE-83F3-4F99-A2A5-3D164DB9E5CE}" destId="{89048939-5E4D-40AE-9E57-BA20E5586CEA}" srcOrd="4" destOrd="0" presId="urn:microsoft.com/office/officeart/2005/8/layout/venn3"/>
  </dgm:cxnLst>
  <dgm:bg/>
  <dgm:whole/>
  <dgm:extLst>
    <a:ext uri="http://schemas.microsoft.com/office/drawing/2008/diagram">
      <dsp:dataModelExt xmlns="" xmlns:dsp="http://schemas.microsoft.com/office/drawing/2008/diagram" relId="rId1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66E9CAD-33A9-499E-A344-E75AA85DDE29}"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s-ES"/>
        </a:p>
      </dgm:t>
    </dgm:pt>
    <dgm:pt modelId="{F56CC3D4-50DA-41C3-895E-8DF52C6D382D}">
      <dgm:prSet phldrT="[Texto]" custT="1"/>
      <dgm:spPr>
        <a:solidFill>
          <a:srgbClr val="FF0000"/>
        </a:solidFill>
      </dgm:spPr>
      <dgm:t>
        <a:bodyPr/>
        <a:lstStyle/>
        <a:p>
          <a:r>
            <a:rPr lang="es-ES" sz="4000" b="1" dirty="0" smtClean="0">
              <a:solidFill>
                <a:schemeClr val="bg1"/>
              </a:solidFill>
            </a:rPr>
            <a:t>Pilar fundamental: ??? </a:t>
          </a:r>
        </a:p>
        <a:p>
          <a:endParaRPr lang="es-ES" sz="1500" dirty="0"/>
        </a:p>
      </dgm:t>
    </dgm:pt>
    <dgm:pt modelId="{2AC9A696-0FBE-4108-8260-FCD3114786BC}" type="parTrans" cxnId="{B38EFC1D-4D7D-4C3F-8EED-49009C570140}">
      <dgm:prSet/>
      <dgm:spPr/>
      <dgm:t>
        <a:bodyPr/>
        <a:lstStyle/>
        <a:p>
          <a:endParaRPr lang="es-ES"/>
        </a:p>
      </dgm:t>
    </dgm:pt>
    <dgm:pt modelId="{6624FDD1-348C-4FAF-B359-67E13FDEF177}" type="sibTrans" cxnId="{B38EFC1D-4D7D-4C3F-8EED-49009C570140}">
      <dgm:prSet/>
      <dgm:spPr/>
      <dgm:t>
        <a:bodyPr/>
        <a:lstStyle/>
        <a:p>
          <a:endParaRPr lang="es-ES"/>
        </a:p>
      </dgm:t>
    </dgm:pt>
    <dgm:pt modelId="{CDB8131C-6347-4E78-9394-CA3DAB5DC19A}">
      <dgm:prSet phldrT="[Texto]"/>
      <dgm:spPr>
        <a:solidFill>
          <a:schemeClr val="bg2">
            <a:lumMod val="90000"/>
          </a:schemeClr>
        </a:solidFill>
      </dgm:spPr>
      <dgm:t>
        <a:bodyPr/>
        <a:lstStyle/>
        <a:p>
          <a:pPr algn="ctr"/>
          <a:r>
            <a:rPr lang="es-ES" b="1" u="sng" dirty="0" smtClean="0">
              <a:solidFill>
                <a:schemeClr val="tx1"/>
              </a:solidFill>
            </a:rPr>
            <a:t>Naturaleza</a:t>
          </a:r>
          <a:endParaRPr lang="es-ES" b="1" u="sng" dirty="0">
            <a:solidFill>
              <a:schemeClr val="tx1"/>
            </a:solidFill>
          </a:endParaRPr>
        </a:p>
      </dgm:t>
    </dgm:pt>
    <dgm:pt modelId="{26DCD620-397A-46F6-8521-9445B506553C}" type="parTrans" cxnId="{82ECAD88-8362-4E4B-AE87-042CF2DB0656}">
      <dgm:prSet/>
      <dgm:spPr/>
      <dgm:t>
        <a:bodyPr/>
        <a:lstStyle/>
        <a:p>
          <a:endParaRPr lang="es-ES"/>
        </a:p>
      </dgm:t>
    </dgm:pt>
    <dgm:pt modelId="{397BF8DA-2E25-46CC-8F3E-C29AE7B36F8F}" type="sibTrans" cxnId="{82ECAD88-8362-4E4B-AE87-042CF2DB0656}">
      <dgm:prSet/>
      <dgm:spPr/>
      <dgm:t>
        <a:bodyPr/>
        <a:lstStyle/>
        <a:p>
          <a:endParaRPr lang="es-ES"/>
        </a:p>
      </dgm:t>
    </dgm:pt>
    <dgm:pt modelId="{4350ECE1-2C7B-40D7-B045-40CB9911C966}">
      <dgm:prSet phldrT="[Texto]"/>
      <dgm:spPr>
        <a:solidFill>
          <a:schemeClr val="accent4">
            <a:lumMod val="40000"/>
            <a:lumOff val="60000"/>
          </a:schemeClr>
        </a:solidFill>
      </dgm:spPr>
      <dgm:t>
        <a:bodyPr/>
        <a:lstStyle/>
        <a:p>
          <a:pPr algn="ctr"/>
          <a:r>
            <a:rPr lang="es-ES" b="1" u="sng" dirty="0" smtClean="0">
              <a:solidFill>
                <a:schemeClr val="tx1"/>
              </a:solidFill>
            </a:rPr>
            <a:t>Legislación</a:t>
          </a:r>
          <a:endParaRPr lang="es-ES" b="1" u="sng" dirty="0">
            <a:solidFill>
              <a:schemeClr val="tx1"/>
            </a:solidFill>
          </a:endParaRPr>
        </a:p>
      </dgm:t>
    </dgm:pt>
    <dgm:pt modelId="{DF30A6D1-2E84-4FF6-9AED-012667A1B527}" type="parTrans" cxnId="{DB1EBAA5-E0E2-4150-8C1C-FE9400D82B70}">
      <dgm:prSet/>
      <dgm:spPr/>
      <dgm:t>
        <a:bodyPr/>
        <a:lstStyle/>
        <a:p>
          <a:endParaRPr lang="es-ES"/>
        </a:p>
      </dgm:t>
    </dgm:pt>
    <dgm:pt modelId="{FCA4E1A5-3AB2-43EA-888E-EBC29F3B84A5}" type="sibTrans" cxnId="{DB1EBAA5-E0E2-4150-8C1C-FE9400D82B70}">
      <dgm:prSet/>
      <dgm:spPr/>
      <dgm:t>
        <a:bodyPr/>
        <a:lstStyle/>
        <a:p>
          <a:endParaRPr lang="es-ES"/>
        </a:p>
      </dgm:t>
    </dgm:pt>
    <dgm:pt modelId="{A9245BEB-41DF-47D9-B363-A4F12DF91C6E}">
      <dgm:prSet phldrT="[Texto]"/>
      <dgm:spPr>
        <a:solidFill>
          <a:schemeClr val="accent6">
            <a:lumMod val="40000"/>
            <a:lumOff val="60000"/>
          </a:schemeClr>
        </a:solidFill>
      </dgm:spPr>
      <dgm:t>
        <a:bodyPr/>
        <a:lstStyle/>
        <a:p>
          <a:pPr algn="ctr"/>
          <a:r>
            <a:rPr lang="es-ES" b="1" u="sng" dirty="0" smtClean="0">
              <a:solidFill>
                <a:schemeClr val="tx1"/>
              </a:solidFill>
            </a:rPr>
            <a:t>Jurisprudencia</a:t>
          </a:r>
          <a:endParaRPr lang="es-ES" b="1" u="sng" dirty="0">
            <a:solidFill>
              <a:schemeClr val="tx1"/>
            </a:solidFill>
          </a:endParaRPr>
        </a:p>
      </dgm:t>
    </dgm:pt>
    <dgm:pt modelId="{31C946DB-BD11-4910-8AEC-00938E085B59}" type="parTrans" cxnId="{5831B4AC-F78A-4AA2-9409-C5D2AB9A152C}">
      <dgm:prSet/>
      <dgm:spPr/>
      <dgm:t>
        <a:bodyPr/>
        <a:lstStyle/>
        <a:p>
          <a:endParaRPr lang="es-ES"/>
        </a:p>
      </dgm:t>
    </dgm:pt>
    <dgm:pt modelId="{AEA9A573-10BD-463C-8A75-85198F07A12E}" type="sibTrans" cxnId="{5831B4AC-F78A-4AA2-9409-C5D2AB9A152C}">
      <dgm:prSet/>
      <dgm:spPr/>
      <dgm:t>
        <a:bodyPr/>
        <a:lstStyle/>
        <a:p>
          <a:endParaRPr lang="es-ES"/>
        </a:p>
      </dgm:t>
    </dgm:pt>
    <dgm:pt modelId="{A02F7E37-6BB9-4071-A186-978E9F272587}">
      <dgm:prSet phldrT="[Texto]"/>
      <dgm:spPr>
        <a:solidFill>
          <a:schemeClr val="bg2">
            <a:lumMod val="90000"/>
          </a:schemeClr>
        </a:solidFill>
      </dgm:spPr>
      <dgm:t>
        <a:bodyPr/>
        <a:lstStyle/>
        <a:p>
          <a:pPr algn="ctr"/>
          <a:r>
            <a:rPr lang="es-ES" dirty="0" smtClean="0">
              <a:solidFill>
                <a:srgbClr val="002060"/>
              </a:solidFill>
            </a:rPr>
            <a:t>Actos Mutuales</a:t>
          </a:r>
          <a:endParaRPr lang="es-ES" dirty="0">
            <a:solidFill>
              <a:srgbClr val="002060"/>
            </a:solidFill>
          </a:endParaRPr>
        </a:p>
      </dgm:t>
    </dgm:pt>
    <dgm:pt modelId="{C8C3F5E5-F9AC-43E5-A9FE-962867A80448}" type="parTrans" cxnId="{68A0CAD0-4C74-4A91-A520-426886B8DA45}">
      <dgm:prSet/>
      <dgm:spPr/>
      <dgm:t>
        <a:bodyPr/>
        <a:lstStyle/>
        <a:p>
          <a:endParaRPr lang="es-ES"/>
        </a:p>
      </dgm:t>
    </dgm:pt>
    <dgm:pt modelId="{789B97A5-E208-4FB8-B5F3-432D82FD0CD6}" type="sibTrans" cxnId="{68A0CAD0-4C74-4A91-A520-426886B8DA45}">
      <dgm:prSet/>
      <dgm:spPr/>
      <dgm:t>
        <a:bodyPr/>
        <a:lstStyle/>
        <a:p>
          <a:endParaRPr lang="es-ES"/>
        </a:p>
      </dgm:t>
    </dgm:pt>
    <dgm:pt modelId="{BF8BFCE4-1907-418A-A67B-9F894598DAC7}">
      <dgm:prSet phldrT="[Texto]"/>
      <dgm:spPr>
        <a:solidFill>
          <a:schemeClr val="bg2">
            <a:lumMod val="90000"/>
          </a:schemeClr>
        </a:solidFill>
      </dgm:spPr>
      <dgm:t>
        <a:bodyPr/>
        <a:lstStyle/>
        <a:p>
          <a:pPr algn="ctr"/>
          <a:r>
            <a:rPr lang="es-ES" dirty="0" smtClean="0">
              <a:solidFill>
                <a:srgbClr val="002060"/>
              </a:solidFill>
            </a:rPr>
            <a:t>Derecho comparado</a:t>
          </a:r>
          <a:endParaRPr lang="es-ES" dirty="0">
            <a:solidFill>
              <a:srgbClr val="002060"/>
            </a:solidFill>
          </a:endParaRPr>
        </a:p>
      </dgm:t>
    </dgm:pt>
    <dgm:pt modelId="{C4B67A9A-81E2-421F-BCA4-3C8D7AD19246}" type="parTrans" cxnId="{ACBB5BFF-4C2F-4B4F-9721-88312A3363DB}">
      <dgm:prSet/>
      <dgm:spPr/>
      <dgm:t>
        <a:bodyPr/>
        <a:lstStyle/>
        <a:p>
          <a:endParaRPr lang="es-ES"/>
        </a:p>
      </dgm:t>
    </dgm:pt>
    <dgm:pt modelId="{8CD6B506-6C8E-4E15-9F7D-D01BBE30D980}" type="sibTrans" cxnId="{ACBB5BFF-4C2F-4B4F-9721-88312A3363DB}">
      <dgm:prSet/>
      <dgm:spPr/>
      <dgm:t>
        <a:bodyPr/>
        <a:lstStyle/>
        <a:p>
          <a:endParaRPr lang="es-ES"/>
        </a:p>
      </dgm:t>
    </dgm:pt>
    <dgm:pt modelId="{D28EF5BA-292B-4CE0-B8AF-7C5DB28551E7}">
      <dgm:prSet phldrT="[Texto]"/>
      <dgm:spPr>
        <a:solidFill>
          <a:schemeClr val="accent4">
            <a:lumMod val="40000"/>
            <a:lumOff val="60000"/>
          </a:schemeClr>
        </a:solidFill>
      </dgm:spPr>
      <dgm:t>
        <a:bodyPr/>
        <a:lstStyle/>
        <a:p>
          <a:pPr algn="ctr"/>
          <a:r>
            <a:rPr lang="es-ES" dirty="0" smtClean="0">
              <a:solidFill>
                <a:srgbClr val="002060"/>
              </a:solidFill>
            </a:rPr>
            <a:t>Art. 29 Ley 20321</a:t>
          </a:r>
          <a:endParaRPr lang="es-ES" dirty="0">
            <a:solidFill>
              <a:srgbClr val="002060"/>
            </a:solidFill>
          </a:endParaRPr>
        </a:p>
      </dgm:t>
    </dgm:pt>
    <dgm:pt modelId="{49379AB9-4243-4008-B976-3405A6FB8527}" type="parTrans" cxnId="{C9DE1ED3-EF62-4D5E-8325-197FB86D1D05}">
      <dgm:prSet/>
      <dgm:spPr/>
      <dgm:t>
        <a:bodyPr/>
        <a:lstStyle/>
        <a:p>
          <a:endParaRPr lang="es-ES"/>
        </a:p>
      </dgm:t>
    </dgm:pt>
    <dgm:pt modelId="{866BA5EF-957C-4EA6-B144-A910AF3E7C58}" type="sibTrans" cxnId="{C9DE1ED3-EF62-4D5E-8325-197FB86D1D05}">
      <dgm:prSet/>
      <dgm:spPr/>
      <dgm:t>
        <a:bodyPr/>
        <a:lstStyle/>
        <a:p>
          <a:endParaRPr lang="es-ES"/>
        </a:p>
      </dgm:t>
    </dgm:pt>
    <dgm:pt modelId="{7081BE62-0D87-46DE-9D13-3D95B00DACD3}">
      <dgm:prSet phldrT="[Texto]"/>
      <dgm:spPr>
        <a:solidFill>
          <a:schemeClr val="accent4">
            <a:lumMod val="40000"/>
            <a:lumOff val="60000"/>
          </a:schemeClr>
        </a:solidFill>
      </dgm:spPr>
      <dgm:t>
        <a:bodyPr/>
        <a:lstStyle/>
        <a:p>
          <a:pPr algn="l"/>
          <a:endParaRPr lang="es-ES" dirty="0"/>
        </a:p>
      </dgm:t>
    </dgm:pt>
    <dgm:pt modelId="{22AA69D8-D7E6-464F-98A5-21A86E5B9C5A}" type="parTrans" cxnId="{9530E189-DE51-4A9E-9367-4F9B3C74C2D5}">
      <dgm:prSet/>
      <dgm:spPr/>
      <dgm:t>
        <a:bodyPr/>
        <a:lstStyle/>
        <a:p>
          <a:endParaRPr lang="es-ES"/>
        </a:p>
      </dgm:t>
    </dgm:pt>
    <dgm:pt modelId="{CD40E088-6BD6-4984-806C-EF3130EF738E}" type="sibTrans" cxnId="{9530E189-DE51-4A9E-9367-4F9B3C74C2D5}">
      <dgm:prSet/>
      <dgm:spPr/>
      <dgm:t>
        <a:bodyPr/>
        <a:lstStyle/>
        <a:p>
          <a:endParaRPr lang="es-ES"/>
        </a:p>
      </dgm:t>
    </dgm:pt>
    <dgm:pt modelId="{8FEED833-62C2-485C-A413-39983423FF43}">
      <dgm:prSet phldrT="[Texto]"/>
      <dgm:spPr>
        <a:solidFill>
          <a:schemeClr val="accent4">
            <a:lumMod val="40000"/>
            <a:lumOff val="60000"/>
          </a:schemeClr>
        </a:solidFill>
      </dgm:spPr>
      <dgm:t>
        <a:bodyPr/>
        <a:lstStyle/>
        <a:p>
          <a:pPr algn="ctr"/>
          <a:r>
            <a:rPr lang="es-ES" dirty="0" smtClean="0">
              <a:solidFill>
                <a:srgbClr val="002060"/>
              </a:solidFill>
            </a:rPr>
            <a:t>Exenciones de Impuestos</a:t>
          </a:r>
          <a:endParaRPr lang="es-ES" dirty="0">
            <a:solidFill>
              <a:srgbClr val="002060"/>
            </a:solidFill>
          </a:endParaRPr>
        </a:p>
      </dgm:t>
    </dgm:pt>
    <dgm:pt modelId="{567C895B-F312-4C86-ABE0-47E48C4F2FFA}" type="parTrans" cxnId="{E97C23D4-CCA3-4522-B579-966F2DEACDAA}">
      <dgm:prSet/>
      <dgm:spPr/>
      <dgm:t>
        <a:bodyPr/>
        <a:lstStyle/>
        <a:p>
          <a:endParaRPr lang="es-ES"/>
        </a:p>
      </dgm:t>
    </dgm:pt>
    <dgm:pt modelId="{E3076E69-88EC-4FD7-9676-0111587E39EC}" type="sibTrans" cxnId="{E97C23D4-CCA3-4522-B579-966F2DEACDAA}">
      <dgm:prSet/>
      <dgm:spPr/>
      <dgm:t>
        <a:bodyPr/>
        <a:lstStyle/>
        <a:p>
          <a:endParaRPr lang="es-ES"/>
        </a:p>
      </dgm:t>
    </dgm:pt>
    <dgm:pt modelId="{A43AAD05-8AC8-4813-8405-27C229922FF6}">
      <dgm:prSet phldrT="[Texto]"/>
      <dgm:spPr>
        <a:solidFill>
          <a:schemeClr val="accent6">
            <a:lumMod val="40000"/>
            <a:lumOff val="60000"/>
          </a:schemeClr>
        </a:solidFill>
      </dgm:spPr>
      <dgm:t>
        <a:bodyPr/>
        <a:lstStyle/>
        <a:p>
          <a:pPr algn="ctr"/>
          <a:r>
            <a:rPr lang="es-ES" dirty="0" smtClean="0">
              <a:solidFill>
                <a:srgbClr val="002060"/>
              </a:solidFill>
            </a:rPr>
            <a:t>Fallos CSJN y otros Tribunales</a:t>
          </a:r>
          <a:endParaRPr lang="es-ES" dirty="0">
            <a:solidFill>
              <a:srgbClr val="002060"/>
            </a:solidFill>
          </a:endParaRPr>
        </a:p>
      </dgm:t>
    </dgm:pt>
    <dgm:pt modelId="{C62BCA05-DC02-4A1E-A4A3-795992717D07}" type="parTrans" cxnId="{5C39C1E5-5CB9-4844-81EA-BD4C402A94BD}">
      <dgm:prSet/>
      <dgm:spPr/>
      <dgm:t>
        <a:bodyPr/>
        <a:lstStyle/>
        <a:p>
          <a:endParaRPr lang="es-ES"/>
        </a:p>
      </dgm:t>
    </dgm:pt>
    <dgm:pt modelId="{C70A66B3-A11F-4BDE-9267-53648E94024C}" type="sibTrans" cxnId="{5C39C1E5-5CB9-4844-81EA-BD4C402A94BD}">
      <dgm:prSet/>
      <dgm:spPr/>
      <dgm:t>
        <a:bodyPr/>
        <a:lstStyle/>
        <a:p>
          <a:endParaRPr lang="es-ES"/>
        </a:p>
      </dgm:t>
    </dgm:pt>
    <dgm:pt modelId="{60DC1AF9-F396-4A85-B778-43E6CC22E8AA}">
      <dgm:prSet phldrT="[Texto]"/>
      <dgm:spPr>
        <a:solidFill>
          <a:schemeClr val="accent6">
            <a:lumMod val="40000"/>
            <a:lumOff val="60000"/>
          </a:schemeClr>
        </a:solidFill>
      </dgm:spPr>
      <dgm:t>
        <a:bodyPr/>
        <a:lstStyle/>
        <a:p>
          <a:pPr algn="ctr"/>
          <a:r>
            <a:rPr lang="es-ES" dirty="0" smtClean="0">
              <a:solidFill>
                <a:srgbClr val="002060"/>
              </a:solidFill>
            </a:rPr>
            <a:t>Fallos Cooperativas</a:t>
          </a:r>
          <a:endParaRPr lang="es-ES" dirty="0">
            <a:solidFill>
              <a:srgbClr val="002060"/>
            </a:solidFill>
          </a:endParaRPr>
        </a:p>
      </dgm:t>
    </dgm:pt>
    <dgm:pt modelId="{6362DF36-524D-4756-9F40-5807AF55D704}" type="parTrans" cxnId="{1055BE0D-FCBA-4B34-B7DD-E66733EDD4EA}">
      <dgm:prSet/>
      <dgm:spPr/>
      <dgm:t>
        <a:bodyPr/>
        <a:lstStyle/>
        <a:p>
          <a:endParaRPr lang="es-ES"/>
        </a:p>
      </dgm:t>
    </dgm:pt>
    <dgm:pt modelId="{B3A44742-CC0A-429F-B93B-BD261D8EF53E}" type="sibTrans" cxnId="{1055BE0D-FCBA-4B34-B7DD-E66733EDD4EA}">
      <dgm:prSet/>
      <dgm:spPr/>
      <dgm:t>
        <a:bodyPr/>
        <a:lstStyle/>
        <a:p>
          <a:endParaRPr lang="es-ES"/>
        </a:p>
      </dgm:t>
    </dgm:pt>
    <dgm:pt modelId="{D36A7C16-5C28-43E8-B5D9-25B91FDB2F28}">
      <dgm:prSet phldrT="[Texto]"/>
      <dgm:spPr>
        <a:solidFill>
          <a:schemeClr val="accent6">
            <a:lumMod val="40000"/>
            <a:lumOff val="60000"/>
          </a:schemeClr>
        </a:solidFill>
      </dgm:spPr>
      <dgm:t>
        <a:bodyPr/>
        <a:lstStyle/>
        <a:p>
          <a:pPr algn="ctr"/>
          <a:r>
            <a:rPr lang="es-ES" dirty="0" smtClean="0">
              <a:solidFill>
                <a:srgbClr val="002060"/>
              </a:solidFill>
            </a:rPr>
            <a:t>Fallos Asociaciones Civiles</a:t>
          </a:r>
          <a:endParaRPr lang="es-ES" dirty="0">
            <a:solidFill>
              <a:srgbClr val="002060"/>
            </a:solidFill>
          </a:endParaRPr>
        </a:p>
      </dgm:t>
    </dgm:pt>
    <dgm:pt modelId="{5510112B-8A4B-417B-A27E-E2E078B4374C}" type="parTrans" cxnId="{A61B2003-750E-4867-898C-483AF3384B35}">
      <dgm:prSet/>
      <dgm:spPr/>
      <dgm:t>
        <a:bodyPr/>
        <a:lstStyle/>
        <a:p>
          <a:endParaRPr lang="es-ES"/>
        </a:p>
      </dgm:t>
    </dgm:pt>
    <dgm:pt modelId="{9A33D723-843C-49AE-B7D1-4D86CFC6165C}" type="sibTrans" cxnId="{A61B2003-750E-4867-898C-483AF3384B35}">
      <dgm:prSet/>
      <dgm:spPr/>
      <dgm:t>
        <a:bodyPr/>
        <a:lstStyle/>
        <a:p>
          <a:endParaRPr lang="es-ES"/>
        </a:p>
      </dgm:t>
    </dgm:pt>
    <dgm:pt modelId="{C96AEB9F-04D4-4572-AE28-1FEF51482443}">
      <dgm:prSet phldrT="[Texto]"/>
      <dgm:spPr>
        <a:solidFill>
          <a:schemeClr val="bg2">
            <a:lumMod val="90000"/>
          </a:schemeClr>
        </a:solidFill>
      </dgm:spPr>
      <dgm:t>
        <a:bodyPr/>
        <a:lstStyle/>
        <a:p>
          <a:pPr algn="ctr"/>
          <a:r>
            <a:rPr lang="es-ES" dirty="0" smtClean="0">
              <a:solidFill>
                <a:srgbClr val="002060"/>
              </a:solidFill>
            </a:rPr>
            <a:t>Rango Constitucional</a:t>
          </a:r>
          <a:endParaRPr lang="es-ES" dirty="0">
            <a:solidFill>
              <a:srgbClr val="002060"/>
            </a:solidFill>
          </a:endParaRPr>
        </a:p>
      </dgm:t>
    </dgm:pt>
    <dgm:pt modelId="{4ADD7C71-EFF9-4976-8C16-11D064FC46AD}" type="parTrans" cxnId="{351E3EED-3608-48BB-BF3E-277B7CDEB14E}">
      <dgm:prSet/>
      <dgm:spPr/>
      <dgm:t>
        <a:bodyPr/>
        <a:lstStyle/>
        <a:p>
          <a:endParaRPr lang="es-ES"/>
        </a:p>
      </dgm:t>
    </dgm:pt>
    <dgm:pt modelId="{3C4BBE25-3F7A-46B1-B7EA-05F36A022EAA}" type="sibTrans" cxnId="{351E3EED-3608-48BB-BF3E-277B7CDEB14E}">
      <dgm:prSet/>
      <dgm:spPr/>
      <dgm:t>
        <a:bodyPr/>
        <a:lstStyle/>
        <a:p>
          <a:endParaRPr lang="es-ES"/>
        </a:p>
      </dgm:t>
    </dgm:pt>
    <dgm:pt modelId="{86F59FB7-B494-46EF-8AFC-C19CEF045625}" type="pres">
      <dgm:prSet presAssocID="{D66E9CAD-33A9-499E-A344-E75AA85DDE29}" presName="composite" presStyleCnt="0">
        <dgm:presLayoutVars>
          <dgm:chMax val="1"/>
          <dgm:dir/>
          <dgm:resizeHandles val="exact"/>
        </dgm:presLayoutVars>
      </dgm:prSet>
      <dgm:spPr/>
      <dgm:t>
        <a:bodyPr/>
        <a:lstStyle/>
        <a:p>
          <a:endParaRPr lang="es-AR"/>
        </a:p>
      </dgm:t>
    </dgm:pt>
    <dgm:pt modelId="{02A51699-244D-427A-BE02-4FDA4D22DB7A}" type="pres">
      <dgm:prSet presAssocID="{F56CC3D4-50DA-41C3-895E-8DF52C6D382D}" presName="roof" presStyleLbl="dkBgShp" presStyleIdx="0" presStyleCnt="2" custLinFactNeighborX="-11415" custLinFactNeighborY="-1583"/>
      <dgm:spPr/>
      <dgm:t>
        <a:bodyPr/>
        <a:lstStyle/>
        <a:p>
          <a:endParaRPr lang="es-ES"/>
        </a:p>
      </dgm:t>
    </dgm:pt>
    <dgm:pt modelId="{5F471CFD-F896-48EF-81C2-247A1A603D8B}" type="pres">
      <dgm:prSet presAssocID="{F56CC3D4-50DA-41C3-895E-8DF52C6D382D}" presName="pillars" presStyleCnt="0"/>
      <dgm:spPr/>
    </dgm:pt>
    <dgm:pt modelId="{3898918E-DD03-46A5-BE97-1CAC89E61025}" type="pres">
      <dgm:prSet presAssocID="{F56CC3D4-50DA-41C3-895E-8DF52C6D382D}" presName="pillar1" presStyleLbl="node1" presStyleIdx="0" presStyleCnt="3">
        <dgm:presLayoutVars>
          <dgm:bulletEnabled val="1"/>
        </dgm:presLayoutVars>
      </dgm:prSet>
      <dgm:spPr/>
      <dgm:t>
        <a:bodyPr/>
        <a:lstStyle/>
        <a:p>
          <a:endParaRPr lang="es-ES"/>
        </a:p>
      </dgm:t>
    </dgm:pt>
    <dgm:pt modelId="{92753581-6CAE-4CC8-B139-7DA07E6CADA8}" type="pres">
      <dgm:prSet presAssocID="{4350ECE1-2C7B-40D7-B045-40CB9911C966}" presName="pillarX" presStyleLbl="node1" presStyleIdx="1" presStyleCnt="3">
        <dgm:presLayoutVars>
          <dgm:bulletEnabled val="1"/>
        </dgm:presLayoutVars>
      </dgm:prSet>
      <dgm:spPr/>
      <dgm:t>
        <a:bodyPr/>
        <a:lstStyle/>
        <a:p>
          <a:endParaRPr lang="es-ES"/>
        </a:p>
      </dgm:t>
    </dgm:pt>
    <dgm:pt modelId="{D51B7421-CF2D-4116-BCFD-B4AF7A2E3AEE}" type="pres">
      <dgm:prSet presAssocID="{A9245BEB-41DF-47D9-B363-A4F12DF91C6E}" presName="pillarX" presStyleLbl="node1" presStyleIdx="2" presStyleCnt="3">
        <dgm:presLayoutVars>
          <dgm:bulletEnabled val="1"/>
        </dgm:presLayoutVars>
      </dgm:prSet>
      <dgm:spPr/>
      <dgm:t>
        <a:bodyPr/>
        <a:lstStyle/>
        <a:p>
          <a:endParaRPr lang="es-ES"/>
        </a:p>
      </dgm:t>
    </dgm:pt>
    <dgm:pt modelId="{2B5BF053-C468-4556-876E-C7DBE2898B08}" type="pres">
      <dgm:prSet presAssocID="{F56CC3D4-50DA-41C3-895E-8DF52C6D382D}" presName="base" presStyleLbl="dkBgShp" presStyleIdx="1" presStyleCnt="2"/>
      <dgm:spPr/>
    </dgm:pt>
  </dgm:ptLst>
  <dgm:cxnLst>
    <dgm:cxn modelId="{DB1EBAA5-E0E2-4150-8C1C-FE9400D82B70}" srcId="{F56CC3D4-50DA-41C3-895E-8DF52C6D382D}" destId="{4350ECE1-2C7B-40D7-B045-40CB9911C966}" srcOrd="1" destOrd="0" parTransId="{DF30A6D1-2E84-4FF6-9AED-012667A1B527}" sibTransId="{FCA4E1A5-3AB2-43EA-888E-EBC29F3B84A5}"/>
    <dgm:cxn modelId="{43284499-29F1-49E2-A185-714BA87682FB}" type="presOf" srcId="{7081BE62-0D87-46DE-9D13-3D95B00DACD3}" destId="{92753581-6CAE-4CC8-B139-7DA07E6CADA8}" srcOrd="0" destOrd="3" presId="urn:microsoft.com/office/officeart/2005/8/layout/hList3"/>
    <dgm:cxn modelId="{0A2CB9EA-E678-4086-B633-73517EEEED69}" type="presOf" srcId="{A43AAD05-8AC8-4813-8405-27C229922FF6}" destId="{D51B7421-CF2D-4116-BCFD-B4AF7A2E3AEE}" srcOrd="0" destOrd="1" presId="urn:microsoft.com/office/officeart/2005/8/layout/hList3"/>
    <dgm:cxn modelId="{E97C23D4-CCA3-4522-B579-966F2DEACDAA}" srcId="{4350ECE1-2C7B-40D7-B045-40CB9911C966}" destId="{8FEED833-62C2-485C-A413-39983423FF43}" srcOrd="1" destOrd="0" parTransId="{567C895B-F312-4C86-ABE0-47E48C4F2FFA}" sibTransId="{E3076E69-88EC-4FD7-9676-0111587E39EC}"/>
    <dgm:cxn modelId="{7D9BFBA8-2E84-4146-8504-1D8D51985AB6}" type="presOf" srcId="{F56CC3D4-50DA-41C3-895E-8DF52C6D382D}" destId="{02A51699-244D-427A-BE02-4FDA4D22DB7A}" srcOrd="0" destOrd="0" presId="urn:microsoft.com/office/officeart/2005/8/layout/hList3"/>
    <dgm:cxn modelId="{68A0CAD0-4C74-4A91-A520-426886B8DA45}" srcId="{CDB8131C-6347-4E78-9394-CA3DAB5DC19A}" destId="{A02F7E37-6BB9-4071-A186-978E9F272587}" srcOrd="0" destOrd="0" parTransId="{C8C3F5E5-F9AC-43E5-A9FE-962867A80448}" sibTransId="{789B97A5-E208-4FB8-B5F3-432D82FD0CD6}"/>
    <dgm:cxn modelId="{57A682E8-82DF-4EF0-A084-A172BA38B0B7}" type="presOf" srcId="{A9245BEB-41DF-47D9-B363-A4F12DF91C6E}" destId="{D51B7421-CF2D-4116-BCFD-B4AF7A2E3AEE}" srcOrd="0" destOrd="0" presId="urn:microsoft.com/office/officeart/2005/8/layout/hList3"/>
    <dgm:cxn modelId="{1055BE0D-FCBA-4B34-B7DD-E66733EDD4EA}" srcId="{A9245BEB-41DF-47D9-B363-A4F12DF91C6E}" destId="{60DC1AF9-F396-4A85-B778-43E6CC22E8AA}" srcOrd="1" destOrd="0" parTransId="{6362DF36-524D-4756-9F40-5807AF55D704}" sibTransId="{B3A44742-CC0A-429F-B93B-BD261D8EF53E}"/>
    <dgm:cxn modelId="{13F9A6A5-E846-4ADB-87C2-EB97438F7804}" type="presOf" srcId="{BF8BFCE4-1907-418A-A67B-9F894598DAC7}" destId="{3898918E-DD03-46A5-BE97-1CAC89E61025}" srcOrd="0" destOrd="3" presId="urn:microsoft.com/office/officeart/2005/8/layout/hList3"/>
    <dgm:cxn modelId="{B38EFC1D-4D7D-4C3F-8EED-49009C570140}" srcId="{D66E9CAD-33A9-499E-A344-E75AA85DDE29}" destId="{F56CC3D4-50DA-41C3-895E-8DF52C6D382D}" srcOrd="0" destOrd="0" parTransId="{2AC9A696-0FBE-4108-8260-FCD3114786BC}" sibTransId="{6624FDD1-348C-4FAF-B359-67E13FDEF177}"/>
    <dgm:cxn modelId="{C9DE1ED3-EF62-4D5E-8325-197FB86D1D05}" srcId="{4350ECE1-2C7B-40D7-B045-40CB9911C966}" destId="{D28EF5BA-292B-4CE0-B8AF-7C5DB28551E7}" srcOrd="0" destOrd="0" parTransId="{49379AB9-4243-4008-B976-3405A6FB8527}" sibTransId="{866BA5EF-957C-4EA6-B144-A910AF3E7C58}"/>
    <dgm:cxn modelId="{86DE52E6-B266-496E-913B-42F109F775AA}" type="presOf" srcId="{D66E9CAD-33A9-499E-A344-E75AA85DDE29}" destId="{86F59FB7-B494-46EF-8AFC-C19CEF045625}" srcOrd="0" destOrd="0" presId="urn:microsoft.com/office/officeart/2005/8/layout/hList3"/>
    <dgm:cxn modelId="{9530E189-DE51-4A9E-9367-4F9B3C74C2D5}" srcId="{4350ECE1-2C7B-40D7-B045-40CB9911C966}" destId="{7081BE62-0D87-46DE-9D13-3D95B00DACD3}" srcOrd="2" destOrd="0" parTransId="{22AA69D8-D7E6-464F-98A5-21A86E5B9C5A}" sibTransId="{CD40E088-6BD6-4984-806C-EF3130EF738E}"/>
    <dgm:cxn modelId="{F0A3C1FC-C35E-4A20-8D71-FDABCDC8F62D}" type="presOf" srcId="{CDB8131C-6347-4E78-9394-CA3DAB5DC19A}" destId="{3898918E-DD03-46A5-BE97-1CAC89E61025}" srcOrd="0" destOrd="0" presId="urn:microsoft.com/office/officeart/2005/8/layout/hList3"/>
    <dgm:cxn modelId="{4C85003B-2CE6-4C3F-94C5-21D928EFFF36}" type="presOf" srcId="{8FEED833-62C2-485C-A413-39983423FF43}" destId="{92753581-6CAE-4CC8-B139-7DA07E6CADA8}" srcOrd="0" destOrd="2" presId="urn:microsoft.com/office/officeart/2005/8/layout/hList3"/>
    <dgm:cxn modelId="{A61B2003-750E-4867-898C-483AF3384B35}" srcId="{A9245BEB-41DF-47D9-B363-A4F12DF91C6E}" destId="{D36A7C16-5C28-43E8-B5D9-25B91FDB2F28}" srcOrd="2" destOrd="0" parTransId="{5510112B-8A4B-417B-A27E-E2E078B4374C}" sibTransId="{9A33D723-843C-49AE-B7D1-4D86CFC6165C}"/>
    <dgm:cxn modelId="{5C39C1E5-5CB9-4844-81EA-BD4C402A94BD}" srcId="{A9245BEB-41DF-47D9-B363-A4F12DF91C6E}" destId="{A43AAD05-8AC8-4813-8405-27C229922FF6}" srcOrd="0" destOrd="0" parTransId="{C62BCA05-DC02-4A1E-A4A3-795992717D07}" sibTransId="{C70A66B3-A11F-4BDE-9267-53648E94024C}"/>
    <dgm:cxn modelId="{ACBB5BFF-4C2F-4B4F-9721-88312A3363DB}" srcId="{CDB8131C-6347-4E78-9394-CA3DAB5DC19A}" destId="{BF8BFCE4-1907-418A-A67B-9F894598DAC7}" srcOrd="2" destOrd="0" parTransId="{C4B67A9A-81E2-421F-BCA4-3C8D7AD19246}" sibTransId="{8CD6B506-6C8E-4E15-9F7D-D01BBE30D980}"/>
    <dgm:cxn modelId="{953A2A23-9C04-4A39-9A1D-5A1A971C59CA}" type="presOf" srcId="{D28EF5BA-292B-4CE0-B8AF-7C5DB28551E7}" destId="{92753581-6CAE-4CC8-B139-7DA07E6CADA8}" srcOrd="0" destOrd="1" presId="urn:microsoft.com/office/officeart/2005/8/layout/hList3"/>
    <dgm:cxn modelId="{00022976-1A6A-4891-A2E3-5FEF909F890A}" type="presOf" srcId="{4350ECE1-2C7B-40D7-B045-40CB9911C966}" destId="{92753581-6CAE-4CC8-B139-7DA07E6CADA8}" srcOrd="0" destOrd="0" presId="urn:microsoft.com/office/officeart/2005/8/layout/hList3"/>
    <dgm:cxn modelId="{351E3EED-3608-48BB-BF3E-277B7CDEB14E}" srcId="{CDB8131C-6347-4E78-9394-CA3DAB5DC19A}" destId="{C96AEB9F-04D4-4572-AE28-1FEF51482443}" srcOrd="1" destOrd="0" parTransId="{4ADD7C71-EFF9-4976-8C16-11D064FC46AD}" sibTransId="{3C4BBE25-3F7A-46B1-B7EA-05F36A022EAA}"/>
    <dgm:cxn modelId="{4BE53835-A91B-4FBE-B61E-090058E89110}" type="presOf" srcId="{A02F7E37-6BB9-4071-A186-978E9F272587}" destId="{3898918E-DD03-46A5-BE97-1CAC89E61025}" srcOrd="0" destOrd="1" presId="urn:microsoft.com/office/officeart/2005/8/layout/hList3"/>
    <dgm:cxn modelId="{D6171D57-D516-4628-9119-22985F8A24F3}" type="presOf" srcId="{60DC1AF9-F396-4A85-B778-43E6CC22E8AA}" destId="{D51B7421-CF2D-4116-BCFD-B4AF7A2E3AEE}" srcOrd="0" destOrd="2" presId="urn:microsoft.com/office/officeart/2005/8/layout/hList3"/>
    <dgm:cxn modelId="{E1447542-941B-4D68-81E7-E9FD098FC156}" type="presOf" srcId="{D36A7C16-5C28-43E8-B5D9-25B91FDB2F28}" destId="{D51B7421-CF2D-4116-BCFD-B4AF7A2E3AEE}" srcOrd="0" destOrd="3" presId="urn:microsoft.com/office/officeart/2005/8/layout/hList3"/>
    <dgm:cxn modelId="{82ECAD88-8362-4E4B-AE87-042CF2DB0656}" srcId="{F56CC3D4-50DA-41C3-895E-8DF52C6D382D}" destId="{CDB8131C-6347-4E78-9394-CA3DAB5DC19A}" srcOrd="0" destOrd="0" parTransId="{26DCD620-397A-46F6-8521-9445B506553C}" sibTransId="{397BF8DA-2E25-46CC-8F3E-C29AE7B36F8F}"/>
    <dgm:cxn modelId="{C7D1EFD3-9E0D-4BEE-83F9-DF1E050371BB}" type="presOf" srcId="{C96AEB9F-04D4-4572-AE28-1FEF51482443}" destId="{3898918E-DD03-46A5-BE97-1CAC89E61025}" srcOrd="0" destOrd="2" presId="urn:microsoft.com/office/officeart/2005/8/layout/hList3"/>
    <dgm:cxn modelId="{5831B4AC-F78A-4AA2-9409-C5D2AB9A152C}" srcId="{F56CC3D4-50DA-41C3-895E-8DF52C6D382D}" destId="{A9245BEB-41DF-47D9-B363-A4F12DF91C6E}" srcOrd="2" destOrd="0" parTransId="{31C946DB-BD11-4910-8AEC-00938E085B59}" sibTransId="{AEA9A573-10BD-463C-8A75-85198F07A12E}"/>
    <dgm:cxn modelId="{77EF92A5-B199-4844-81F3-494431167880}" type="presParOf" srcId="{86F59FB7-B494-46EF-8AFC-C19CEF045625}" destId="{02A51699-244D-427A-BE02-4FDA4D22DB7A}" srcOrd="0" destOrd="0" presId="urn:microsoft.com/office/officeart/2005/8/layout/hList3"/>
    <dgm:cxn modelId="{D4105D95-9239-4F1A-82A9-29D5CBA2A8E0}" type="presParOf" srcId="{86F59FB7-B494-46EF-8AFC-C19CEF045625}" destId="{5F471CFD-F896-48EF-81C2-247A1A603D8B}" srcOrd="1" destOrd="0" presId="urn:microsoft.com/office/officeart/2005/8/layout/hList3"/>
    <dgm:cxn modelId="{729048B1-033B-440C-8227-B9944DEAF7F4}" type="presParOf" srcId="{5F471CFD-F896-48EF-81C2-247A1A603D8B}" destId="{3898918E-DD03-46A5-BE97-1CAC89E61025}" srcOrd="0" destOrd="0" presId="urn:microsoft.com/office/officeart/2005/8/layout/hList3"/>
    <dgm:cxn modelId="{403041EC-0741-49F5-B6CD-1A1D6D5ED10F}" type="presParOf" srcId="{5F471CFD-F896-48EF-81C2-247A1A603D8B}" destId="{92753581-6CAE-4CC8-B139-7DA07E6CADA8}" srcOrd="1" destOrd="0" presId="urn:microsoft.com/office/officeart/2005/8/layout/hList3"/>
    <dgm:cxn modelId="{C7322340-9822-4214-885E-AE547A3D0CC1}" type="presParOf" srcId="{5F471CFD-F896-48EF-81C2-247A1A603D8B}" destId="{D51B7421-CF2D-4116-BCFD-B4AF7A2E3AEE}" srcOrd="2" destOrd="0" presId="urn:microsoft.com/office/officeart/2005/8/layout/hList3"/>
    <dgm:cxn modelId="{97D2FBE4-57FC-403B-A090-34FF87EB49D5}" type="presParOf" srcId="{86F59FB7-B494-46EF-8AFC-C19CEF045625}" destId="{2B5BF053-C468-4556-876E-C7DBE2898B08}" srcOrd="2" destOrd="0" presId="urn:microsoft.com/office/officeart/2005/8/layout/hList3"/>
  </dgm:cxnLst>
  <dgm:bg/>
  <dgm:whole/>
  <dgm:extLst>
    <a:ext uri="http://schemas.microsoft.com/office/drawing/2008/diagram">
      <dsp:dataModelExt xmlns=""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16CAE04-CECF-424C-9213-4EA757B70D5D}"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s-ES"/>
        </a:p>
      </dgm:t>
    </dgm:pt>
    <dgm:pt modelId="{B68B411F-7086-4E48-B656-D66502B7540F}">
      <dgm:prSet phldrT="[Texto]"/>
      <dgm:spPr>
        <a:solidFill>
          <a:schemeClr val="tx2">
            <a:lumMod val="75000"/>
          </a:schemeClr>
        </a:solidFill>
      </dgm:spPr>
      <dgm:t>
        <a:bodyPr/>
        <a:lstStyle/>
        <a:p>
          <a:r>
            <a:rPr lang="es-ES" dirty="0" smtClean="0"/>
            <a:t>Sin fines de lucro</a:t>
          </a:r>
          <a:endParaRPr lang="es-ES" dirty="0"/>
        </a:p>
      </dgm:t>
    </dgm:pt>
    <dgm:pt modelId="{FDFB29F7-E472-468A-8D24-DD38B7CFCF48}" type="parTrans" cxnId="{6081EC67-B79D-4A0E-BBA6-4B84A8BDB267}">
      <dgm:prSet/>
      <dgm:spPr/>
      <dgm:t>
        <a:bodyPr/>
        <a:lstStyle/>
        <a:p>
          <a:endParaRPr lang="es-ES"/>
        </a:p>
      </dgm:t>
    </dgm:pt>
    <dgm:pt modelId="{FF2BF7CF-CD0A-49E5-BFFE-17D330750703}" type="sibTrans" cxnId="{6081EC67-B79D-4A0E-BBA6-4B84A8BDB267}">
      <dgm:prSet/>
      <dgm:spPr/>
      <dgm:t>
        <a:bodyPr/>
        <a:lstStyle/>
        <a:p>
          <a:endParaRPr lang="es-ES"/>
        </a:p>
      </dgm:t>
    </dgm:pt>
    <dgm:pt modelId="{7E7EF8CE-ABFD-4881-8C5D-FDAFCF0153FA}">
      <dgm:prSet phldrT="[Texto]"/>
      <dgm:spPr>
        <a:solidFill>
          <a:srgbClr val="EB641B"/>
        </a:solidFill>
      </dgm:spPr>
      <dgm:t>
        <a:bodyPr/>
        <a:lstStyle/>
        <a:p>
          <a:r>
            <a:rPr lang="es-ES" dirty="0" smtClean="0"/>
            <a:t>No distribución excedentes</a:t>
          </a:r>
          <a:endParaRPr lang="es-ES" dirty="0"/>
        </a:p>
      </dgm:t>
    </dgm:pt>
    <dgm:pt modelId="{300C2191-E182-4D77-8B17-F8544890217E}" type="parTrans" cxnId="{83BEB505-F513-496B-BCF9-C514E4C93B7B}">
      <dgm:prSet/>
      <dgm:spPr/>
      <dgm:t>
        <a:bodyPr/>
        <a:lstStyle/>
        <a:p>
          <a:endParaRPr lang="es-ES"/>
        </a:p>
      </dgm:t>
    </dgm:pt>
    <dgm:pt modelId="{C767A026-B1AF-4C77-BF07-DAF0BF80F5F5}" type="sibTrans" cxnId="{83BEB505-F513-496B-BCF9-C514E4C93B7B}">
      <dgm:prSet/>
      <dgm:spPr/>
      <dgm:t>
        <a:bodyPr/>
        <a:lstStyle/>
        <a:p>
          <a:endParaRPr lang="es-ES"/>
        </a:p>
      </dgm:t>
    </dgm:pt>
    <dgm:pt modelId="{E5A30F11-EE24-4F6D-9B0C-922DC14E1A22}">
      <dgm:prSet phldrT="[Texto]"/>
      <dgm:spPr>
        <a:solidFill>
          <a:srgbClr val="EB641B"/>
        </a:solidFill>
      </dgm:spPr>
      <dgm:t>
        <a:bodyPr/>
        <a:lstStyle/>
        <a:p>
          <a:r>
            <a:rPr lang="es-ES" dirty="0" smtClean="0"/>
            <a:t>Adhesión voluntaria</a:t>
          </a:r>
          <a:endParaRPr lang="es-ES" dirty="0"/>
        </a:p>
      </dgm:t>
    </dgm:pt>
    <dgm:pt modelId="{C3D64E23-A2AD-48A4-B1F3-0CCB5D6B2737}" type="parTrans" cxnId="{DD877325-3325-4C4D-A7E0-5AC10E401EA4}">
      <dgm:prSet/>
      <dgm:spPr/>
      <dgm:t>
        <a:bodyPr/>
        <a:lstStyle/>
        <a:p>
          <a:endParaRPr lang="es-ES"/>
        </a:p>
      </dgm:t>
    </dgm:pt>
    <dgm:pt modelId="{7D5696D1-DA82-4D31-9272-EDE0CCD8DA23}" type="sibTrans" cxnId="{DD877325-3325-4C4D-A7E0-5AC10E401EA4}">
      <dgm:prSet/>
      <dgm:spPr/>
      <dgm:t>
        <a:bodyPr/>
        <a:lstStyle/>
        <a:p>
          <a:endParaRPr lang="es-ES"/>
        </a:p>
      </dgm:t>
    </dgm:pt>
    <dgm:pt modelId="{0F8EB1A7-5E23-4A67-8576-9F199ECA02F8}">
      <dgm:prSet phldrT="[Texto]"/>
      <dgm:spPr>
        <a:solidFill>
          <a:srgbClr val="002060"/>
        </a:solidFill>
      </dgm:spPr>
      <dgm:t>
        <a:bodyPr/>
        <a:lstStyle/>
        <a:p>
          <a:r>
            <a:rPr lang="es-ES" dirty="0" smtClean="0"/>
            <a:t>Solidaridad</a:t>
          </a:r>
          <a:endParaRPr lang="es-ES" dirty="0"/>
        </a:p>
      </dgm:t>
    </dgm:pt>
    <dgm:pt modelId="{312EE565-56E8-43E4-A18B-E78EAA5482FF}" type="parTrans" cxnId="{AA01E58D-2FC0-4161-8F9D-1F9752DF5A91}">
      <dgm:prSet/>
      <dgm:spPr/>
      <dgm:t>
        <a:bodyPr/>
        <a:lstStyle/>
        <a:p>
          <a:endParaRPr lang="es-ES"/>
        </a:p>
      </dgm:t>
    </dgm:pt>
    <dgm:pt modelId="{C17461B0-303D-46C0-AC65-0138A98C1B66}" type="sibTrans" cxnId="{AA01E58D-2FC0-4161-8F9D-1F9752DF5A91}">
      <dgm:prSet/>
      <dgm:spPr/>
      <dgm:t>
        <a:bodyPr/>
        <a:lstStyle/>
        <a:p>
          <a:endParaRPr lang="es-ES"/>
        </a:p>
      </dgm:t>
    </dgm:pt>
    <dgm:pt modelId="{7E380A0F-F269-4103-80E0-AC0DD0F59DB2}">
      <dgm:prSet phldrT="[Texto]"/>
      <dgm:spPr>
        <a:solidFill>
          <a:srgbClr val="EB641B"/>
        </a:solidFill>
      </dgm:spPr>
      <dgm:t>
        <a:bodyPr/>
        <a:lstStyle/>
        <a:p>
          <a:r>
            <a:rPr lang="es-ES" dirty="0" smtClean="0"/>
            <a:t>No reintegro por liquidación</a:t>
          </a:r>
          <a:endParaRPr lang="es-ES" dirty="0"/>
        </a:p>
      </dgm:t>
    </dgm:pt>
    <dgm:pt modelId="{47B6B48A-34B8-4372-A39A-660D5612F7CE}" type="parTrans" cxnId="{07319CEC-1334-439E-8FF3-9CF9D77B2468}">
      <dgm:prSet/>
      <dgm:spPr/>
      <dgm:t>
        <a:bodyPr/>
        <a:lstStyle/>
        <a:p>
          <a:endParaRPr lang="es-ES"/>
        </a:p>
      </dgm:t>
    </dgm:pt>
    <dgm:pt modelId="{84B4A278-1914-41CB-8B40-0B34948916B5}" type="sibTrans" cxnId="{07319CEC-1334-439E-8FF3-9CF9D77B2468}">
      <dgm:prSet/>
      <dgm:spPr/>
      <dgm:t>
        <a:bodyPr/>
        <a:lstStyle/>
        <a:p>
          <a:endParaRPr lang="es-ES"/>
        </a:p>
      </dgm:t>
    </dgm:pt>
    <dgm:pt modelId="{FAD202A1-41D6-4EF2-A94A-060C88EB4EF3}">
      <dgm:prSet/>
      <dgm:spPr>
        <a:solidFill>
          <a:srgbClr val="002060"/>
        </a:solidFill>
      </dgm:spPr>
      <dgm:t>
        <a:bodyPr/>
        <a:lstStyle/>
        <a:p>
          <a:r>
            <a:rPr lang="es-ES" dirty="0" smtClean="0"/>
            <a:t>Ayuda recíproca mutua</a:t>
          </a:r>
          <a:endParaRPr lang="es-ES" dirty="0"/>
        </a:p>
      </dgm:t>
    </dgm:pt>
    <dgm:pt modelId="{75875059-D8B0-43C6-94FA-FFFA4044B312}" type="parTrans" cxnId="{6009F7B2-EEC8-460D-93CB-5E895615D19A}">
      <dgm:prSet/>
      <dgm:spPr/>
      <dgm:t>
        <a:bodyPr/>
        <a:lstStyle/>
        <a:p>
          <a:endParaRPr lang="es-ES"/>
        </a:p>
      </dgm:t>
    </dgm:pt>
    <dgm:pt modelId="{C6319549-F0ED-4E27-8D58-2D9497B43938}" type="sibTrans" cxnId="{6009F7B2-EEC8-460D-93CB-5E895615D19A}">
      <dgm:prSet/>
      <dgm:spPr/>
      <dgm:t>
        <a:bodyPr/>
        <a:lstStyle/>
        <a:p>
          <a:endParaRPr lang="es-ES"/>
        </a:p>
      </dgm:t>
    </dgm:pt>
    <dgm:pt modelId="{C387FC2A-33C7-4A1C-92E0-39DF57C580F9}">
      <dgm:prSet/>
      <dgm:spPr>
        <a:solidFill>
          <a:srgbClr val="EB641B"/>
        </a:solidFill>
      </dgm:spPr>
      <dgm:t>
        <a:bodyPr/>
        <a:lstStyle/>
        <a:p>
          <a:r>
            <a:rPr lang="es-ES" dirty="0" smtClean="0"/>
            <a:t>Bienestar material y espiritual</a:t>
          </a:r>
          <a:endParaRPr lang="es-ES" dirty="0"/>
        </a:p>
      </dgm:t>
    </dgm:pt>
    <dgm:pt modelId="{D08D4C34-084E-4444-A172-F5EA1B310F59}" type="parTrans" cxnId="{1D48BBE6-9EB9-45FD-92D8-0CB82625FD8F}">
      <dgm:prSet/>
      <dgm:spPr/>
      <dgm:t>
        <a:bodyPr/>
        <a:lstStyle/>
        <a:p>
          <a:endParaRPr lang="es-ES"/>
        </a:p>
      </dgm:t>
    </dgm:pt>
    <dgm:pt modelId="{670B4CC9-E4C5-47EA-83DB-B317560D2C4A}" type="sibTrans" cxnId="{1D48BBE6-9EB9-45FD-92D8-0CB82625FD8F}">
      <dgm:prSet/>
      <dgm:spPr/>
      <dgm:t>
        <a:bodyPr/>
        <a:lstStyle/>
        <a:p>
          <a:endParaRPr lang="es-ES"/>
        </a:p>
      </dgm:t>
    </dgm:pt>
    <dgm:pt modelId="{EA542AA4-C2E3-4383-BBFF-C2F75F73A29F}" type="pres">
      <dgm:prSet presAssocID="{B16CAE04-CECF-424C-9213-4EA757B70D5D}" presName="cycle" presStyleCnt="0">
        <dgm:presLayoutVars>
          <dgm:dir/>
          <dgm:resizeHandles val="exact"/>
        </dgm:presLayoutVars>
      </dgm:prSet>
      <dgm:spPr/>
      <dgm:t>
        <a:bodyPr/>
        <a:lstStyle/>
        <a:p>
          <a:endParaRPr lang="es-ES"/>
        </a:p>
      </dgm:t>
    </dgm:pt>
    <dgm:pt modelId="{AB86424D-F1A7-4AA0-B76B-F3DC3AF5B44B}" type="pres">
      <dgm:prSet presAssocID="{B68B411F-7086-4E48-B656-D66502B7540F}" presName="node" presStyleLbl="node1" presStyleIdx="0" presStyleCnt="7">
        <dgm:presLayoutVars>
          <dgm:bulletEnabled val="1"/>
        </dgm:presLayoutVars>
      </dgm:prSet>
      <dgm:spPr/>
      <dgm:t>
        <a:bodyPr/>
        <a:lstStyle/>
        <a:p>
          <a:endParaRPr lang="es-ES"/>
        </a:p>
      </dgm:t>
    </dgm:pt>
    <dgm:pt modelId="{75921608-7BD2-4195-A544-F4B641FC1488}" type="pres">
      <dgm:prSet presAssocID="{B68B411F-7086-4E48-B656-D66502B7540F}" presName="spNode" presStyleCnt="0"/>
      <dgm:spPr/>
    </dgm:pt>
    <dgm:pt modelId="{95839C5A-E82B-451C-B4ED-19ECB530FFD6}" type="pres">
      <dgm:prSet presAssocID="{FF2BF7CF-CD0A-49E5-BFFE-17D330750703}" presName="sibTrans" presStyleLbl="sibTrans1D1" presStyleIdx="0" presStyleCnt="7"/>
      <dgm:spPr/>
      <dgm:t>
        <a:bodyPr/>
        <a:lstStyle/>
        <a:p>
          <a:endParaRPr lang="es-ES"/>
        </a:p>
      </dgm:t>
    </dgm:pt>
    <dgm:pt modelId="{F950322D-72BE-4498-9AD8-A6BA67EEB3D2}" type="pres">
      <dgm:prSet presAssocID="{7E7EF8CE-ABFD-4881-8C5D-FDAFCF0153FA}" presName="node" presStyleLbl="node1" presStyleIdx="1" presStyleCnt="7">
        <dgm:presLayoutVars>
          <dgm:bulletEnabled val="1"/>
        </dgm:presLayoutVars>
      </dgm:prSet>
      <dgm:spPr/>
      <dgm:t>
        <a:bodyPr/>
        <a:lstStyle/>
        <a:p>
          <a:endParaRPr lang="es-ES"/>
        </a:p>
      </dgm:t>
    </dgm:pt>
    <dgm:pt modelId="{186B9D7D-E2D4-4890-8DA6-FA746501E6AE}" type="pres">
      <dgm:prSet presAssocID="{7E7EF8CE-ABFD-4881-8C5D-FDAFCF0153FA}" presName="spNode" presStyleCnt="0"/>
      <dgm:spPr/>
    </dgm:pt>
    <dgm:pt modelId="{5C7C7333-AA35-4955-AF00-0F400DDF052A}" type="pres">
      <dgm:prSet presAssocID="{C767A026-B1AF-4C77-BF07-DAF0BF80F5F5}" presName="sibTrans" presStyleLbl="sibTrans1D1" presStyleIdx="1" presStyleCnt="7"/>
      <dgm:spPr/>
      <dgm:t>
        <a:bodyPr/>
        <a:lstStyle/>
        <a:p>
          <a:endParaRPr lang="es-ES"/>
        </a:p>
      </dgm:t>
    </dgm:pt>
    <dgm:pt modelId="{2B440A67-7F7B-4977-9F81-14A89737BED1}" type="pres">
      <dgm:prSet presAssocID="{E5A30F11-EE24-4F6D-9B0C-922DC14E1A22}" presName="node" presStyleLbl="node1" presStyleIdx="2" presStyleCnt="7">
        <dgm:presLayoutVars>
          <dgm:bulletEnabled val="1"/>
        </dgm:presLayoutVars>
      </dgm:prSet>
      <dgm:spPr/>
      <dgm:t>
        <a:bodyPr/>
        <a:lstStyle/>
        <a:p>
          <a:endParaRPr lang="es-ES"/>
        </a:p>
      </dgm:t>
    </dgm:pt>
    <dgm:pt modelId="{92B39441-D0AB-442E-9CC6-1F0E3247436F}" type="pres">
      <dgm:prSet presAssocID="{E5A30F11-EE24-4F6D-9B0C-922DC14E1A22}" presName="spNode" presStyleCnt="0"/>
      <dgm:spPr/>
    </dgm:pt>
    <dgm:pt modelId="{9AE9BDE7-0E41-4B70-9D6D-E1A23F623D85}" type="pres">
      <dgm:prSet presAssocID="{7D5696D1-DA82-4D31-9272-EDE0CCD8DA23}" presName="sibTrans" presStyleLbl="sibTrans1D1" presStyleIdx="2" presStyleCnt="7"/>
      <dgm:spPr/>
      <dgm:t>
        <a:bodyPr/>
        <a:lstStyle/>
        <a:p>
          <a:endParaRPr lang="es-ES"/>
        </a:p>
      </dgm:t>
    </dgm:pt>
    <dgm:pt modelId="{97C446B4-8F83-43A2-986B-EF94AE991620}" type="pres">
      <dgm:prSet presAssocID="{FAD202A1-41D6-4EF2-A94A-060C88EB4EF3}" presName="node" presStyleLbl="node1" presStyleIdx="3" presStyleCnt="7">
        <dgm:presLayoutVars>
          <dgm:bulletEnabled val="1"/>
        </dgm:presLayoutVars>
      </dgm:prSet>
      <dgm:spPr/>
      <dgm:t>
        <a:bodyPr/>
        <a:lstStyle/>
        <a:p>
          <a:endParaRPr lang="es-ES"/>
        </a:p>
      </dgm:t>
    </dgm:pt>
    <dgm:pt modelId="{6C46C4F1-543A-4D5A-9D86-74CA0B927C7A}" type="pres">
      <dgm:prSet presAssocID="{FAD202A1-41D6-4EF2-A94A-060C88EB4EF3}" presName="spNode" presStyleCnt="0"/>
      <dgm:spPr/>
    </dgm:pt>
    <dgm:pt modelId="{F87A87C0-2B85-414E-80C8-E1141CC4C3F2}" type="pres">
      <dgm:prSet presAssocID="{C6319549-F0ED-4E27-8D58-2D9497B43938}" presName="sibTrans" presStyleLbl="sibTrans1D1" presStyleIdx="3" presStyleCnt="7"/>
      <dgm:spPr/>
      <dgm:t>
        <a:bodyPr/>
        <a:lstStyle/>
        <a:p>
          <a:endParaRPr lang="es-ES"/>
        </a:p>
      </dgm:t>
    </dgm:pt>
    <dgm:pt modelId="{AB1A2815-C0A9-46EB-ADCB-605BE9F43976}" type="pres">
      <dgm:prSet presAssocID="{0F8EB1A7-5E23-4A67-8576-9F199ECA02F8}" presName="node" presStyleLbl="node1" presStyleIdx="4" presStyleCnt="7">
        <dgm:presLayoutVars>
          <dgm:bulletEnabled val="1"/>
        </dgm:presLayoutVars>
      </dgm:prSet>
      <dgm:spPr/>
      <dgm:t>
        <a:bodyPr/>
        <a:lstStyle/>
        <a:p>
          <a:endParaRPr lang="es-ES"/>
        </a:p>
      </dgm:t>
    </dgm:pt>
    <dgm:pt modelId="{256CE289-A35D-43AC-A6C2-19D3973E419A}" type="pres">
      <dgm:prSet presAssocID="{0F8EB1A7-5E23-4A67-8576-9F199ECA02F8}" presName="spNode" presStyleCnt="0"/>
      <dgm:spPr/>
    </dgm:pt>
    <dgm:pt modelId="{0F4D75C2-CECC-4464-AB00-62514F361816}" type="pres">
      <dgm:prSet presAssocID="{C17461B0-303D-46C0-AC65-0138A98C1B66}" presName="sibTrans" presStyleLbl="sibTrans1D1" presStyleIdx="4" presStyleCnt="7"/>
      <dgm:spPr/>
      <dgm:t>
        <a:bodyPr/>
        <a:lstStyle/>
        <a:p>
          <a:endParaRPr lang="es-ES"/>
        </a:p>
      </dgm:t>
    </dgm:pt>
    <dgm:pt modelId="{F333FF6F-F2A4-4C37-964C-4CCDFFE91087}" type="pres">
      <dgm:prSet presAssocID="{C387FC2A-33C7-4A1C-92E0-39DF57C580F9}" presName="node" presStyleLbl="node1" presStyleIdx="5" presStyleCnt="7">
        <dgm:presLayoutVars>
          <dgm:bulletEnabled val="1"/>
        </dgm:presLayoutVars>
      </dgm:prSet>
      <dgm:spPr/>
      <dgm:t>
        <a:bodyPr/>
        <a:lstStyle/>
        <a:p>
          <a:endParaRPr lang="es-ES"/>
        </a:p>
      </dgm:t>
    </dgm:pt>
    <dgm:pt modelId="{10827600-49F6-4D25-BE60-F6C76169CFCD}" type="pres">
      <dgm:prSet presAssocID="{C387FC2A-33C7-4A1C-92E0-39DF57C580F9}" presName="spNode" presStyleCnt="0"/>
      <dgm:spPr/>
    </dgm:pt>
    <dgm:pt modelId="{4112A9C0-700A-4EA0-BC57-04EED4E41E9F}" type="pres">
      <dgm:prSet presAssocID="{670B4CC9-E4C5-47EA-83DB-B317560D2C4A}" presName="sibTrans" presStyleLbl="sibTrans1D1" presStyleIdx="5" presStyleCnt="7"/>
      <dgm:spPr/>
      <dgm:t>
        <a:bodyPr/>
        <a:lstStyle/>
        <a:p>
          <a:endParaRPr lang="es-ES"/>
        </a:p>
      </dgm:t>
    </dgm:pt>
    <dgm:pt modelId="{3E135FD5-CA01-4D9D-AFAE-AAD436515695}" type="pres">
      <dgm:prSet presAssocID="{7E380A0F-F269-4103-80E0-AC0DD0F59DB2}" presName="node" presStyleLbl="node1" presStyleIdx="6" presStyleCnt="7">
        <dgm:presLayoutVars>
          <dgm:bulletEnabled val="1"/>
        </dgm:presLayoutVars>
      </dgm:prSet>
      <dgm:spPr/>
      <dgm:t>
        <a:bodyPr/>
        <a:lstStyle/>
        <a:p>
          <a:endParaRPr lang="es-ES"/>
        </a:p>
      </dgm:t>
    </dgm:pt>
    <dgm:pt modelId="{125C5065-2E0B-451B-BB73-1E83D0E08C9C}" type="pres">
      <dgm:prSet presAssocID="{7E380A0F-F269-4103-80E0-AC0DD0F59DB2}" presName="spNode" presStyleCnt="0"/>
      <dgm:spPr/>
    </dgm:pt>
    <dgm:pt modelId="{DA8DBC2C-A086-4EBD-9330-6F6D4F35D112}" type="pres">
      <dgm:prSet presAssocID="{84B4A278-1914-41CB-8B40-0B34948916B5}" presName="sibTrans" presStyleLbl="sibTrans1D1" presStyleIdx="6" presStyleCnt="7"/>
      <dgm:spPr/>
      <dgm:t>
        <a:bodyPr/>
        <a:lstStyle/>
        <a:p>
          <a:endParaRPr lang="es-ES"/>
        </a:p>
      </dgm:t>
    </dgm:pt>
  </dgm:ptLst>
  <dgm:cxnLst>
    <dgm:cxn modelId="{2D85D46A-A00A-4184-8800-3863353B89A4}" type="presOf" srcId="{7E7EF8CE-ABFD-4881-8C5D-FDAFCF0153FA}" destId="{F950322D-72BE-4498-9AD8-A6BA67EEB3D2}" srcOrd="0" destOrd="0" presId="urn:microsoft.com/office/officeart/2005/8/layout/cycle6"/>
    <dgm:cxn modelId="{7A3FDD9F-FDDD-451E-8ABD-E8E54EDEC137}" type="presOf" srcId="{FAD202A1-41D6-4EF2-A94A-060C88EB4EF3}" destId="{97C446B4-8F83-43A2-986B-EF94AE991620}" srcOrd="0" destOrd="0" presId="urn:microsoft.com/office/officeart/2005/8/layout/cycle6"/>
    <dgm:cxn modelId="{5931EAE1-0A84-4691-BB67-46F58A61439B}" type="presOf" srcId="{FF2BF7CF-CD0A-49E5-BFFE-17D330750703}" destId="{95839C5A-E82B-451C-B4ED-19ECB530FFD6}" srcOrd="0" destOrd="0" presId="urn:microsoft.com/office/officeart/2005/8/layout/cycle6"/>
    <dgm:cxn modelId="{D79205F3-23E1-425E-A185-B072CC970F35}" type="presOf" srcId="{7E380A0F-F269-4103-80E0-AC0DD0F59DB2}" destId="{3E135FD5-CA01-4D9D-AFAE-AAD436515695}" srcOrd="0" destOrd="0" presId="urn:microsoft.com/office/officeart/2005/8/layout/cycle6"/>
    <dgm:cxn modelId="{4E891C25-A865-483C-8609-7A7375F63D72}" type="presOf" srcId="{C387FC2A-33C7-4A1C-92E0-39DF57C580F9}" destId="{F333FF6F-F2A4-4C37-964C-4CCDFFE91087}" srcOrd="0" destOrd="0" presId="urn:microsoft.com/office/officeart/2005/8/layout/cycle6"/>
    <dgm:cxn modelId="{07319CEC-1334-439E-8FF3-9CF9D77B2468}" srcId="{B16CAE04-CECF-424C-9213-4EA757B70D5D}" destId="{7E380A0F-F269-4103-80E0-AC0DD0F59DB2}" srcOrd="6" destOrd="0" parTransId="{47B6B48A-34B8-4372-A39A-660D5612F7CE}" sibTransId="{84B4A278-1914-41CB-8B40-0B34948916B5}"/>
    <dgm:cxn modelId="{6081EC67-B79D-4A0E-BBA6-4B84A8BDB267}" srcId="{B16CAE04-CECF-424C-9213-4EA757B70D5D}" destId="{B68B411F-7086-4E48-B656-D66502B7540F}" srcOrd="0" destOrd="0" parTransId="{FDFB29F7-E472-468A-8D24-DD38B7CFCF48}" sibTransId="{FF2BF7CF-CD0A-49E5-BFFE-17D330750703}"/>
    <dgm:cxn modelId="{A3C14DB2-4622-43B6-AB98-9C7154D6B6A3}" type="presOf" srcId="{E5A30F11-EE24-4F6D-9B0C-922DC14E1A22}" destId="{2B440A67-7F7B-4977-9F81-14A89737BED1}" srcOrd="0" destOrd="0" presId="urn:microsoft.com/office/officeart/2005/8/layout/cycle6"/>
    <dgm:cxn modelId="{83BEB505-F513-496B-BCF9-C514E4C93B7B}" srcId="{B16CAE04-CECF-424C-9213-4EA757B70D5D}" destId="{7E7EF8CE-ABFD-4881-8C5D-FDAFCF0153FA}" srcOrd="1" destOrd="0" parTransId="{300C2191-E182-4D77-8B17-F8544890217E}" sibTransId="{C767A026-B1AF-4C77-BF07-DAF0BF80F5F5}"/>
    <dgm:cxn modelId="{F97095A2-92B8-4FAA-ACA2-E376A8BB8F26}" type="presOf" srcId="{0F8EB1A7-5E23-4A67-8576-9F199ECA02F8}" destId="{AB1A2815-C0A9-46EB-ADCB-605BE9F43976}" srcOrd="0" destOrd="0" presId="urn:microsoft.com/office/officeart/2005/8/layout/cycle6"/>
    <dgm:cxn modelId="{7829BBE0-7DD9-4565-AC1B-1936EABA44D3}" type="presOf" srcId="{C6319549-F0ED-4E27-8D58-2D9497B43938}" destId="{F87A87C0-2B85-414E-80C8-E1141CC4C3F2}" srcOrd="0" destOrd="0" presId="urn:microsoft.com/office/officeart/2005/8/layout/cycle6"/>
    <dgm:cxn modelId="{72EB25B7-3967-440A-A510-5589420404FA}" type="presOf" srcId="{B16CAE04-CECF-424C-9213-4EA757B70D5D}" destId="{EA542AA4-C2E3-4383-BBFF-C2F75F73A29F}" srcOrd="0" destOrd="0" presId="urn:microsoft.com/office/officeart/2005/8/layout/cycle6"/>
    <dgm:cxn modelId="{8E83F0A4-852D-4E00-8D6F-422C7E3F7FB3}" type="presOf" srcId="{C17461B0-303D-46C0-AC65-0138A98C1B66}" destId="{0F4D75C2-CECC-4464-AB00-62514F361816}" srcOrd="0" destOrd="0" presId="urn:microsoft.com/office/officeart/2005/8/layout/cycle6"/>
    <dgm:cxn modelId="{3B01DCBF-44C1-484B-B059-F858882FCCAF}" type="presOf" srcId="{84B4A278-1914-41CB-8B40-0B34948916B5}" destId="{DA8DBC2C-A086-4EBD-9330-6F6D4F35D112}" srcOrd="0" destOrd="0" presId="urn:microsoft.com/office/officeart/2005/8/layout/cycle6"/>
    <dgm:cxn modelId="{1D48BBE6-9EB9-45FD-92D8-0CB82625FD8F}" srcId="{B16CAE04-CECF-424C-9213-4EA757B70D5D}" destId="{C387FC2A-33C7-4A1C-92E0-39DF57C580F9}" srcOrd="5" destOrd="0" parTransId="{D08D4C34-084E-4444-A172-F5EA1B310F59}" sibTransId="{670B4CC9-E4C5-47EA-83DB-B317560D2C4A}"/>
    <dgm:cxn modelId="{AA01E58D-2FC0-4161-8F9D-1F9752DF5A91}" srcId="{B16CAE04-CECF-424C-9213-4EA757B70D5D}" destId="{0F8EB1A7-5E23-4A67-8576-9F199ECA02F8}" srcOrd="4" destOrd="0" parTransId="{312EE565-56E8-43E4-A18B-E78EAA5482FF}" sibTransId="{C17461B0-303D-46C0-AC65-0138A98C1B66}"/>
    <dgm:cxn modelId="{742BF24D-A762-4F10-A76F-924C1F24A20D}" type="presOf" srcId="{7D5696D1-DA82-4D31-9272-EDE0CCD8DA23}" destId="{9AE9BDE7-0E41-4B70-9D6D-E1A23F623D85}" srcOrd="0" destOrd="0" presId="urn:microsoft.com/office/officeart/2005/8/layout/cycle6"/>
    <dgm:cxn modelId="{6009F7B2-EEC8-460D-93CB-5E895615D19A}" srcId="{B16CAE04-CECF-424C-9213-4EA757B70D5D}" destId="{FAD202A1-41D6-4EF2-A94A-060C88EB4EF3}" srcOrd="3" destOrd="0" parTransId="{75875059-D8B0-43C6-94FA-FFFA4044B312}" sibTransId="{C6319549-F0ED-4E27-8D58-2D9497B43938}"/>
    <dgm:cxn modelId="{654CC620-1FEE-4051-90D7-F005A8B0CD63}" type="presOf" srcId="{C767A026-B1AF-4C77-BF07-DAF0BF80F5F5}" destId="{5C7C7333-AA35-4955-AF00-0F400DDF052A}" srcOrd="0" destOrd="0" presId="urn:microsoft.com/office/officeart/2005/8/layout/cycle6"/>
    <dgm:cxn modelId="{F5BA4D8F-6E4C-4F35-BFD3-3FFD0681B093}" type="presOf" srcId="{670B4CC9-E4C5-47EA-83DB-B317560D2C4A}" destId="{4112A9C0-700A-4EA0-BC57-04EED4E41E9F}" srcOrd="0" destOrd="0" presId="urn:microsoft.com/office/officeart/2005/8/layout/cycle6"/>
    <dgm:cxn modelId="{C466D39A-C09B-42F9-85A6-7D91BEB1C682}" type="presOf" srcId="{B68B411F-7086-4E48-B656-D66502B7540F}" destId="{AB86424D-F1A7-4AA0-B76B-F3DC3AF5B44B}" srcOrd="0" destOrd="0" presId="urn:microsoft.com/office/officeart/2005/8/layout/cycle6"/>
    <dgm:cxn modelId="{DD877325-3325-4C4D-A7E0-5AC10E401EA4}" srcId="{B16CAE04-CECF-424C-9213-4EA757B70D5D}" destId="{E5A30F11-EE24-4F6D-9B0C-922DC14E1A22}" srcOrd="2" destOrd="0" parTransId="{C3D64E23-A2AD-48A4-B1F3-0CCB5D6B2737}" sibTransId="{7D5696D1-DA82-4D31-9272-EDE0CCD8DA23}"/>
    <dgm:cxn modelId="{71B5CCD0-4825-4827-9C62-EFFD53BA65B8}" type="presParOf" srcId="{EA542AA4-C2E3-4383-BBFF-C2F75F73A29F}" destId="{AB86424D-F1A7-4AA0-B76B-F3DC3AF5B44B}" srcOrd="0" destOrd="0" presId="urn:microsoft.com/office/officeart/2005/8/layout/cycle6"/>
    <dgm:cxn modelId="{63D216DA-8064-4D1A-8F32-7E09CEADB9B1}" type="presParOf" srcId="{EA542AA4-C2E3-4383-BBFF-C2F75F73A29F}" destId="{75921608-7BD2-4195-A544-F4B641FC1488}" srcOrd="1" destOrd="0" presId="urn:microsoft.com/office/officeart/2005/8/layout/cycle6"/>
    <dgm:cxn modelId="{9306B269-BC9F-4A4E-BB3E-5E9F2D519C02}" type="presParOf" srcId="{EA542AA4-C2E3-4383-BBFF-C2F75F73A29F}" destId="{95839C5A-E82B-451C-B4ED-19ECB530FFD6}" srcOrd="2" destOrd="0" presId="urn:microsoft.com/office/officeart/2005/8/layout/cycle6"/>
    <dgm:cxn modelId="{91D95E50-1E54-409A-A7A5-F1E8F42D0916}" type="presParOf" srcId="{EA542AA4-C2E3-4383-BBFF-C2F75F73A29F}" destId="{F950322D-72BE-4498-9AD8-A6BA67EEB3D2}" srcOrd="3" destOrd="0" presId="urn:microsoft.com/office/officeart/2005/8/layout/cycle6"/>
    <dgm:cxn modelId="{81D2EC6C-8675-4F50-95AF-B944D28CBADE}" type="presParOf" srcId="{EA542AA4-C2E3-4383-BBFF-C2F75F73A29F}" destId="{186B9D7D-E2D4-4890-8DA6-FA746501E6AE}" srcOrd="4" destOrd="0" presId="urn:microsoft.com/office/officeart/2005/8/layout/cycle6"/>
    <dgm:cxn modelId="{C61E791F-644D-4B60-922C-38302C1DD8FB}" type="presParOf" srcId="{EA542AA4-C2E3-4383-BBFF-C2F75F73A29F}" destId="{5C7C7333-AA35-4955-AF00-0F400DDF052A}" srcOrd="5" destOrd="0" presId="urn:microsoft.com/office/officeart/2005/8/layout/cycle6"/>
    <dgm:cxn modelId="{31919E51-5A3C-4859-A8FA-A9E024DE0096}" type="presParOf" srcId="{EA542AA4-C2E3-4383-BBFF-C2F75F73A29F}" destId="{2B440A67-7F7B-4977-9F81-14A89737BED1}" srcOrd="6" destOrd="0" presId="urn:microsoft.com/office/officeart/2005/8/layout/cycle6"/>
    <dgm:cxn modelId="{B98952B4-B7E0-4EB2-8ACB-49884B0B7750}" type="presParOf" srcId="{EA542AA4-C2E3-4383-BBFF-C2F75F73A29F}" destId="{92B39441-D0AB-442E-9CC6-1F0E3247436F}" srcOrd="7" destOrd="0" presId="urn:microsoft.com/office/officeart/2005/8/layout/cycle6"/>
    <dgm:cxn modelId="{8A9A7490-9F57-42C5-AEC3-C1FAB6B2F1C5}" type="presParOf" srcId="{EA542AA4-C2E3-4383-BBFF-C2F75F73A29F}" destId="{9AE9BDE7-0E41-4B70-9D6D-E1A23F623D85}" srcOrd="8" destOrd="0" presId="urn:microsoft.com/office/officeart/2005/8/layout/cycle6"/>
    <dgm:cxn modelId="{D0DED02F-9996-46F8-9D5E-9DC220DE7D2A}" type="presParOf" srcId="{EA542AA4-C2E3-4383-BBFF-C2F75F73A29F}" destId="{97C446B4-8F83-43A2-986B-EF94AE991620}" srcOrd="9" destOrd="0" presId="urn:microsoft.com/office/officeart/2005/8/layout/cycle6"/>
    <dgm:cxn modelId="{C1C057F3-BF0C-4855-BE4F-5A2D2187412D}" type="presParOf" srcId="{EA542AA4-C2E3-4383-BBFF-C2F75F73A29F}" destId="{6C46C4F1-543A-4D5A-9D86-74CA0B927C7A}" srcOrd="10" destOrd="0" presId="urn:microsoft.com/office/officeart/2005/8/layout/cycle6"/>
    <dgm:cxn modelId="{C8EB5224-8853-4CDF-B808-9CABE1C5B0E2}" type="presParOf" srcId="{EA542AA4-C2E3-4383-BBFF-C2F75F73A29F}" destId="{F87A87C0-2B85-414E-80C8-E1141CC4C3F2}" srcOrd="11" destOrd="0" presId="urn:microsoft.com/office/officeart/2005/8/layout/cycle6"/>
    <dgm:cxn modelId="{31817BB4-29C6-4BDD-99E6-02687808F415}" type="presParOf" srcId="{EA542AA4-C2E3-4383-BBFF-C2F75F73A29F}" destId="{AB1A2815-C0A9-46EB-ADCB-605BE9F43976}" srcOrd="12" destOrd="0" presId="urn:microsoft.com/office/officeart/2005/8/layout/cycle6"/>
    <dgm:cxn modelId="{18CB8702-8CD7-4142-8227-CC9DE0109D9A}" type="presParOf" srcId="{EA542AA4-C2E3-4383-BBFF-C2F75F73A29F}" destId="{256CE289-A35D-43AC-A6C2-19D3973E419A}" srcOrd="13" destOrd="0" presId="urn:microsoft.com/office/officeart/2005/8/layout/cycle6"/>
    <dgm:cxn modelId="{C058C0DE-EB32-4A61-90D9-943D029C4AC1}" type="presParOf" srcId="{EA542AA4-C2E3-4383-BBFF-C2F75F73A29F}" destId="{0F4D75C2-CECC-4464-AB00-62514F361816}" srcOrd="14" destOrd="0" presId="urn:microsoft.com/office/officeart/2005/8/layout/cycle6"/>
    <dgm:cxn modelId="{38AA8260-ECF2-4A2E-B9BC-A8B7092EF0BD}" type="presParOf" srcId="{EA542AA4-C2E3-4383-BBFF-C2F75F73A29F}" destId="{F333FF6F-F2A4-4C37-964C-4CCDFFE91087}" srcOrd="15" destOrd="0" presId="urn:microsoft.com/office/officeart/2005/8/layout/cycle6"/>
    <dgm:cxn modelId="{A5566CE9-853A-4576-8C95-6776C6303E54}" type="presParOf" srcId="{EA542AA4-C2E3-4383-BBFF-C2F75F73A29F}" destId="{10827600-49F6-4D25-BE60-F6C76169CFCD}" srcOrd="16" destOrd="0" presId="urn:microsoft.com/office/officeart/2005/8/layout/cycle6"/>
    <dgm:cxn modelId="{C66DADD3-6D23-4516-A461-32C773E020EA}" type="presParOf" srcId="{EA542AA4-C2E3-4383-BBFF-C2F75F73A29F}" destId="{4112A9C0-700A-4EA0-BC57-04EED4E41E9F}" srcOrd="17" destOrd="0" presId="urn:microsoft.com/office/officeart/2005/8/layout/cycle6"/>
    <dgm:cxn modelId="{3CEF06A1-9CB6-4B54-BEA6-0B7CA0D1DF9D}" type="presParOf" srcId="{EA542AA4-C2E3-4383-BBFF-C2F75F73A29F}" destId="{3E135FD5-CA01-4D9D-AFAE-AAD436515695}" srcOrd="18" destOrd="0" presId="urn:microsoft.com/office/officeart/2005/8/layout/cycle6"/>
    <dgm:cxn modelId="{E7678C23-BEF8-4A8A-8B58-63B65CBB7486}" type="presParOf" srcId="{EA542AA4-C2E3-4383-BBFF-C2F75F73A29F}" destId="{125C5065-2E0B-451B-BB73-1E83D0E08C9C}" srcOrd="19" destOrd="0" presId="urn:microsoft.com/office/officeart/2005/8/layout/cycle6"/>
    <dgm:cxn modelId="{57403E74-D278-4D09-ADB0-01B8D56BA775}" type="presParOf" srcId="{EA542AA4-C2E3-4383-BBFF-C2F75F73A29F}" destId="{DA8DBC2C-A086-4EBD-9330-6F6D4F35D112}" srcOrd="20" destOrd="0" presId="urn:microsoft.com/office/officeart/2005/8/layout/cycle6"/>
  </dgm:cxnLst>
  <dgm:bg>
    <a:noFill/>
    <a:effectLst>
      <a:outerShdw blurRad="50800" dist="38100" dir="8100000" algn="tr" rotWithShape="0">
        <a:schemeClr val="bg1">
          <a:alpha val="40000"/>
        </a:schemeClr>
      </a:outerShdw>
    </a:effectLst>
  </dgm:bg>
  <dgm:whole>
    <a:ln w="9525" cap="flat" cmpd="sng" algn="ctr">
      <a:noFill/>
      <a:prstDash val="solid"/>
      <a:round/>
      <a:headEnd type="none" w="med" len="med"/>
      <a:tailEnd type="none" w="med" len="med"/>
    </a:ln>
  </dgm:whole>
  <dgm:extLst>
    <a:ext uri="http://schemas.microsoft.com/office/drawing/2008/diagram">
      <dsp:dataModelExt xmlns=""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A144071-A8A8-495B-A285-59FB7B275E9B}" type="doc">
      <dgm:prSet loTypeId="urn:microsoft.com/office/officeart/2005/8/layout/process4" loCatId="list" qsTypeId="urn:microsoft.com/office/officeart/2005/8/quickstyle/simple1" qsCatId="simple" csTypeId="urn:microsoft.com/office/officeart/2005/8/colors/accent1_2" csCatId="accent1" phldr="1"/>
      <dgm:spPr/>
      <dgm:t>
        <a:bodyPr/>
        <a:lstStyle/>
        <a:p>
          <a:endParaRPr lang="es-ES"/>
        </a:p>
      </dgm:t>
    </dgm:pt>
    <dgm:pt modelId="{33BFC156-D846-4842-ACA7-289F624F14DA}">
      <dgm:prSet phldrT="[Texto]"/>
      <dgm:spPr/>
      <dgm:t>
        <a:bodyPr/>
        <a:lstStyle/>
        <a:p>
          <a:r>
            <a:rPr lang="es-ES" b="1" dirty="0" smtClean="0"/>
            <a:t>LEY MUTUALIDADES N° 20.321</a:t>
          </a:r>
          <a:endParaRPr lang="es-ES" b="1" dirty="0"/>
        </a:p>
      </dgm:t>
    </dgm:pt>
    <dgm:pt modelId="{B5EEE471-D006-4406-9945-FC1425EFC86B}" type="parTrans" cxnId="{DE864F69-9427-4FE5-9843-47F1CB3BBD80}">
      <dgm:prSet/>
      <dgm:spPr/>
      <dgm:t>
        <a:bodyPr/>
        <a:lstStyle/>
        <a:p>
          <a:endParaRPr lang="es-ES"/>
        </a:p>
      </dgm:t>
    </dgm:pt>
    <dgm:pt modelId="{8CA2C820-F413-43AE-B5F1-06F3CB1B0239}" type="sibTrans" cxnId="{DE864F69-9427-4FE5-9843-47F1CB3BBD80}">
      <dgm:prSet/>
      <dgm:spPr/>
      <dgm:t>
        <a:bodyPr/>
        <a:lstStyle/>
        <a:p>
          <a:endParaRPr lang="es-ES"/>
        </a:p>
      </dgm:t>
    </dgm:pt>
    <dgm:pt modelId="{C7023150-F083-4A1A-97D3-79BD17E1E14E}">
      <dgm:prSet phldrT="[Texto]"/>
      <dgm:spPr/>
      <dgm:t>
        <a:bodyPr/>
        <a:lstStyle/>
        <a:p>
          <a:r>
            <a:rPr lang="es-ES" b="1" dirty="0" smtClean="0"/>
            <a:t>Instrumento idóneo para desarrollar y consolidar a las Mutuales</a:t>
          </a:r>
          <a:endParaRPr lang="es-ES" b="1" dirty="0"/>
        </a:p>
      </dgm:t>
    </dgm:pt>
    <dgm:pt modelId="{D28BA5B0-5200-4BCA-AB4F-68AC4A2D7BD7}" type="parTrans" cxnId="{0C9811C4-4C36-4F58-ABD4-9B3B2AC49DE1}">
      <dgm:prSet/>
      <dgm:spPr/>
      <dgm:t>
        <a:bodyPr/>
        <a:lstStyle/>
        <a:p>
          <a:endParaRPr lang="es-ES"/>
        </a:p>
      </dgm:t>
    </dgm:pt>
    <dgm:pt modelId="{80957EDA-1758-49C9-BD0B-A1BC3F3BC177}" type="sibTrans" cxnId="{0C9811C4-4C36-4F58-ABD4-9B3B2AC49DE1}">
      <dgm:prSet/>
      <dgm:spPr/>
      <dgm:t>
        <a:bodyPr/>
        <a:lstStyle/>
        <a:p>
          <a:endParaRPr lang="es-ES"/>
        </a:p>
      </dgm:t>
    </dgm:pt>
    <dgm:pt modelId="{C7378179-7038-42EC-9CE5-D6606129FAA4}">
      <dgm:prSet phldrT="[Texto]"/>
      <dgm:spPr/>
      <dgm:t>
        <a:bodyPr/>
        <a:lstStyle/>
        <a:p>
          <a:r>
            <a:rPr lang="es-ES" b="1" dirty="0" smtClean="0"/>
            <a:t>Significación Social</a:t>
          </a:r>
        </a:p>
        <a:p>
          <a:r>
            <a:rPr lang="es-ES" b="1" dirty="0" smtClean="0"/>
            <a:t>Impulso y desarrollo del país</a:t>
          </a:r>
        </a:p>
        <a:p>
          <a:r>
            <a:rPr lang="es-ES" b="1" dirty="0" smtClean="0"/>
            <a:t>Resuelve problemas del Estado</a:t>
          </a:r>
        </a:p>
      </dgm:t>
    </dgm:pt>
    <dgm:pt modelId="{C298D925-A3A6-49D5-BA7C-0646182275A8}" type="parTrans" cxnId="{671432BA-D8F7-4EBC-9EE4-2BA6D7430351}">
      <dgm:prSet/>
      <dgm:spPr/>
      <dgm:t>
        <a:bodyPr/>
        <a:lstStyle/>
        <a:p>
          <a:endParaRPr lang="es-ES"/>
        </a:p>
      </dgm:t>
    </dgm:pt>
    <dgm:pt modelId="{DEC80D25-83C0-4485-A8F3-426ED6841F39}" type="sibTrans" cxnId="{671432BA-D8F7-4EBC-9EE4-2BA6D7430351}">
      <dgm:prSet/>
      <dgm:spPr/>
      <dgm:t>
        <a:bodyPr/>
        <a:lstStyle/>
        <a:p>
          <a:endParaRPr lang="es-ES"/>
        </a:p>
      </dgm:t>
    </dgm:pt>
    <dgm:pt modelId="{A0E96B8C-F539-4E86-992D-092D0E2F2435}">
      <dgm:prSet phldrT="[Texto]"/>
      <dgm:spPr/>
      <dgm:t>
        <a:bodyPr/>
        <a:lstStyle/>
        <a:p>
          <a:r>
            <a:rPr lang="es-ES" b="1" dirty="0" smtClean="0"/>
            <a:t>EXPOSICIÓN DE MOTIVOS</a:t>
          </a:r>
          <a:endParaRPr lang="es-ES" b="1" dirty="0"/>
        </a:p>
      </dgm:t>
    </dgm:pt>
    <dgm:pt modelId="{A1920A99-4610-4986-93DE-7F658AAFD393}" type="parTrans" cxnId="{8210DC3C-F017-408F-839A-CE6644FD5B65}">
      <dgm:prSet/>
      <dgm:spPr/>
      <dgm:t>
        <a:bodyPr/>
        <a:lstStyle/>
        <a:p>
          <a:endParaRPr lang="es-ES"/>
        </a:p>
      </dgm:t>
    </dgm:pt>
    <dgm:pt modelId="{8F8C49BE-8ACF-46D7-8B9E-4186B8A342F5}" type="sibTrans" cxnId="{8210DC3C-F017-408F-839A-CE6644FD5B65}">
      <dgm:prSet/>
      <dgm:spPr/>
      <dgm:t>
        <a:bodyPr/>
        <a:lstStyle/>
        <a:p>
          <a:endParaRPr lang="es-ES"/>
        </a:p>
      </dgm:t>
    </dgm:pt>
    <dgm:pt modelId="{BEA70952-CB79-485A-AAA2-EA37099C6D9C}">
      <dgm:prSet phldrT="[Texto]"/>
      <dgm:spPr/>
      <dgm:t>
        <a:bodyPr/>
        <a:lstStyle/>
        <a:p>
          <a:r>
            <a:rPr lang="es-ES" b="1" dirty="0" smtClean="0"/>
            <a:t>Eficiencia Operativa – Menor Costo Social</a:t>
          </a:r>
          <a:endParaRPr lang="es-ES" b="1" dirty="0"/>
        </a:p>
      </dgm:t>
    </dgm:pt>
    <dgm:pt modelId="{3535F1D8-C15C-4DCA-B737-4E74E781877A}" type="parTrans" cxnId="{2F440BA8-89FC-4B03-9EB1-E14911C9F393}">
      <dgm:prSet/>
      <dgm:spPr/>
      <dgm:t>
        <a:bodyPr/>
        <a:lstStyle/>
        <a:p>
          <a:endParaRPr lang="es-ES"/>
        </a:p>
      </dgm:t>
    </dgm:pt>
    <dgm:pt modelId="{D14884DA-2EE9-49DB-A2AA-A40CB56F58BA}" type="sibTrans" cxnId="{2F440BA8-89FC-4B03-9EB1-E14911C9F393}">
      <dgm:prSet/>
      <dgm:spPr/>
      <dgm:t>
        <a:bodyPr/>
        <a:lstStyle/>
        <a:p>
          <a:endParaRPr lang="es-ES"/>
        </a:p>
      </dgm:t>
    </dgm:pt>
    <dgm:pt modelId="{B444C39A-F3EE-4E30-BEDA-46342541A906}">
      <dgm:prSet phldrT="[Texto]"/>
      <dgm:spPr/>
      <dgm:t>
        <a:bodyPr/>
        <a:lstStyle/>
        <a:p>
          <a:r>
            <a:rPr lang="es-ES" b="1" dirty="0" smtClean="0"/>
            <a:t>Fomentarlas eximiéndolas de cargas impositivas</a:t>
          </a:r>
          <a:endParaRPr lang="es-ES" b="1" dirty="0"/>
        </a:p>
      </dgm:t>
    </dgm:pt>
    <dgm:pt modelId="{B190F3F3-31A7-477D-833A-6A02C65F4BFD}" type="parTrans" cxnId="{11C9679C-91F6-4CEC-8F7E-C78E773B93C9}">
      <dgm:prSet/>
      <dgm:spPr/>
      <dgm:t>
        <a:bodyPr/>
        <a:lstStyle/>
        <a:p>
          <a:endParaRPr lang="es-ES"/>
        </a:p>
      </dgm:t>
    </dgm:pt>
    <dgm:pt modelId="{BD410A75-08B1-4C67-88F6-AB0A7B09CA39}" type="sibTrans" cxnId="{11C9679C-91F6-4CEC-8F7E-C78E773B93C9}">
      <dgm:prSet/>
      <dgm:spPr/>
      <dgm:t>
        <a:bodyPr/>
        <a:lstStyle/>
        <a:p>
          <a:endParaRPr lang="es-ES"/>
        </a:p>
      </dgm:t>
    </dgm:pt>
    <dgm:pt modelId="{5D34C9E6-485D-496A-8EF7-AFD20ED8A05F}">
      <dgm:prSet phldrT="[Texto]"/>
      <dgm:spPr/>
      <dgm:t>
        <a:bodyPr/>
        <a:lstStyle/>
        <a:p>
          <a:r>
            <a:rPr lang="es-ES" b="1" dirty="0" smtClean="0"/>
            <a:t>RÉGIMEN DE PROMOCIÓN ECONÓMICA, NACIONAL Y SECTORIAL</a:t>
          </a:r>
          <a:endParaRPr lang="es-ES" b="1" dirty="0"/>
        </a:p>
      </dgm:t>
    </dgm:pt>
    <dgm:pt modelId="{13F14D87-C22C-4841-B442-6145EF1BC280}" type="parTrans" cxnId="{F42208E7-B788-43F7-BB4A-57D25444CE3F}">
      <dgm:prSet/>
      <dgm:spPr/>
      <dgm:t>
        <a:bodyPr/>
        <a:lstStyle/>
        <a:p>
          <a:endParaRPr lang="es-ES"/>
        </a:p>
      </dgm:t>
    </dgm:pt>
    <dgm:pt modelId="{B030C70A-477E-4455-8249-9EFEBEB8351F}" type="sibTrans" cxnId="{F42208E7-B788-43F7-BB4A-57D25444CE3F}">
      <dgm:prSet/>
      <dgm:spPr/>
      <dgm:t>
        <a:bodyPr/>
        <a:lstStyle/>
        <a:p>
          <a:endParaRPr lang="es-ES"/>
        </a:p>
      </dgm:t>
    </dgm:pt>
    <dgm:pt modelId="{46C9BF5D-61C4-4A81-B1ED-B98CAFD612EA}">
      <dgm:prSet phldrT="[Texto]"/>
      <dgm:spPr/>
      <dgm:t>
        <a:bodyPr/>
        <a:lstStyle/>
        <a:p>
          <a:r>
            <a:rPr lang="es-ES" b="1" dirty="0" smtClean="0"/>
            <a:t>Art. 29. Exenta de todo impuesto, tasa y contribución de mejoras  por sus bienes y actos</a:t>
          </a:r>
          <a:endParaRPr lang="es-ES" b="1" dirty="0"/>
        </a:p>
      </dgm:t>
    </dgm:pt>
    <dgm:pt modelId="{F3A01FEF-60E7-4479-B78B-65B5C5950073}" type="parTrans" cxnId="{68813F16-44EF-40C5-9DB3-87A24C0F2B0A}">
      <dgm:prSet/>
      <dgm:spPr/>
      <dgm:t>
        <a:bodyPr/>
        <a:lstStyle/>
        <a:p>
          <a:endParaRPr lang="es-ES"/>
        </a:p>
      </dgm:t>
    </dgm:pt>
    <dgm:pt modelId="{427AF451-E928-4827-AF0C-BE7351C094B0}" type="sibTrans" cxnId="{68813F16-44EF-40C5-9DB3-87A24C0F2B0A}">
      <dgm:prSet/>
      <dgm:spPr/>
      <dgm:t>
        <a:bodyPr/>
        <a:lstStyle/>
        <a:p>
          <a:endParaRPr lang="es-ES"/>
        </a:p>
      </dgm:t>
    </dgm:pt>
    <dgm:pt modelId="{EF2729F7-3626-457D-BCAE-037847131EB1}">
      <dgm:prSet phldrT="[Texto]"/>
      <dgm:spPr/>
      <dgm:t>
        <a:bodyPr/>
        <a:lstStyle/>
        <a:p>
          <a:r>
            <a:rPr lang="es-ES" b="1" dirty="0" smtClean="0"/>
            <a:t>Liberación derechos aduaneros</a:t>
          </a:r>
        </a:p>
        <a:p>
          <a:r>
            <a:rPr lang="es-ES" b="1" dirty="0" smtClean="0"/>
            <a:t>Gestión adhesiones provinciales</a:t>
          </a:r>
          <a:endParaRPr lang="es-ES" b="1" dirty="0"/>
        </a:p>
      </dgm:t>
    </dgm:pt>
    <dgm:pt modelId="{C50036DC-0DD0-4A58-8994-6EF185D8D74E}" type="parTrans" cxnId="{ABEDD4DE-417B-4EBD-B2FD-B0C2EEB07DC7}">
      <dgm:prSet/>
      <dgm:spPr/>
      <dgm:t>
        <a:bodyPr/>
        <a:lstStyle/>
        <a:p>
          <a:endParaRPr lang="es-ES"/>
        </a:p>
      </dgm:t>
    </dgm:pt>
    <dgm:pt modelId="{D840F9B7-1509-4BA2-8B7F-93345DC1775B}" type="sibTrans" cxnId="{ABEDD4DE-417B-4EBD-B2FD-B0C2EEB07DC7}">
      <dgm:prSet/>
      <dgm:spPr/>
      <dgm:t>
        <a:bodyPr/>
        <a:lstStyle/>
        <a:p>
          <a:endParaRPr lang="es-ES"/>
        </a:p>
      </dgm:t>
    </dgm:pt>
    <dgm:pt modelId="{47289D48-0A84-4E38-BB3C-9E2852FE8D1D}" type="pres">
      <dgm:prSet presAssocID="{5A144071-A8A8-495B-A285-59FB7B275E9B}" presName="Name0" presStyleCnt="0">
        <dgm:presLayoutVars>
          <dgm:dir/>
          <dgm:animLvl val="lvl"/>
          <dgm:resizeHandles val="exact"/>
        </dgm:presLayoutVars>
      </dgm:prSet>
      <dgm:spPr/>
      <dgm:t>
        <a:bodyPr/>
        <a:lstStyle/>
        <a:p>
          <a:endParaRPr lang="es-ES"/>
        </a:p>
      </dgm:t>
    </dgm:pt>
    <dgm:pt modelId="{396AD8EE-ED3F-4287-BCA2-DA452C77C4F7}" type="pres">
      <dgm:prSet presAssocID="{5D34C9E6-485D-496A-8EF7-AFD20ED8A05F}" presName="boxAndChildren" presStyleCnt="0"/>
      <dgm:spPr/>
    </dgm:pt>
    <dgm:pt modelId="{0A3C0285-7C07-4224-B3F5-B6CE221A6084}" type="pres">
      <dgm:prSet presAssocID="{5D34C9E6-485D-496A-8EF7-AFD20ED8A05F}" presName="parentTextBox" presStyleLbl="node1" presStyleIdx="0" presStyleCnt="3"/>
      <dgm:spPr/>
      <dgm:t>
        <a:bodyPr/>
        <a:lstStyle/>
        <a:p>
          <a:endParaRPr lang="es-ES"/>
        </a:p>
      </dgm:t>
    </dgm:pt>
    <dgm:pt modelId="{C8896157-F216-4FF5-9D82-D012F1A26B44}" type="pres">
      <dgm:prSet presAssocID="{5D34C9E6-485D-496A-8EF7-AFD20ED8A05F}" presName="entireBox" presStyleLbl="node1" presStyleIdx="0" presStyleCnt="3"/>
      <dgm:spPr/>
      <dgm:t>
        <a:bodyPr/>
        <a:lstStyle/>
        <a:p>
          <a:endParaRPr lang="es-ES"/>
        </a:p>
      </dgm:t>
    </dgm:pt>
    <dgm:pt modelId="{AC310920-42DD-4A2F-BFF3-1916F8DA6C5C}" type="pres">
      <dgm:prSet presAssocID="{5D34C9E6-485D-496A-8EF7-AFD20ED8A05F}" presName="descendantBox" presStyleCnt="0"/>
      <dgm:spPr/>
    </dgm:pt>
    <dgm:pt modelId="{0D8D6647-2B82-4D39-A17A-0C9CC5718DC0}" type="pres">
      <dgm:prSet presAssocID="{46C9BF5D-61C4-4A81-B1ED-B98CAFD612EA}" presName="childTextBox" presStyleLbl="fgAccFollowNode1" presStyleIdx="0" presStyleCnt="6">
        <dgm:presLayoutVars>
          <dgm:bulletEnabled val="1"/>
        </dgm:presLayoutVars>
      </dgm:prSet>
      <dgm:spPr/>
      <dgm:t>
        <a:bodyPr/>
        <a:lstStyle/>
        <a:p>
          <a:endParaRPr lang="es-ES"/>
        </a:p>
      </dgm:t>
    </dgm:pt>
    <dgm:pt modelId="{60AA8617-DF4D-4F12-B08F-FD2CD34E6C65}" type="pres">
      <dgm:prSet presAssocID="{EF2729F7-3626-457D-BCAE-037847131EB1}" presName="childTextBox" presStyleLbl="fgAccFollowNode1" presStyleIdx="1" presStyleCnt="6">
        <dgm:presLayoutVars>
          <dgm:bulletEnabled val="1"/>
        </dgm:presLayoutVars>
      </dgm:prSet>
      <dgm:spPr/>
      <dgm:t>
        <a:bodyPr/>
        <a:lstStyle/>
        <a:p>
          <a:endParaRPr lang="es-ES"/>
        </a:p>
      </dgm:t>
    </dgm:pt>
    <dgm:pt modelId="{AC8148FB-B270-4E5C-B561-A5056355EFD7}" type="pres">
      <dgm:prSet presAssocID="{8F8C49BE-8ACF-46D7-8B9E-4186B8A342F5}" presName="sp" presStyleCnt="0"/>
      <dgm:spPr/>
    </dgm:pt>
    <dgm:pt modelId="{17B2A2F0-67AD-4621-9D51-6B1D0414299F}" type="pres">
      <dgm:prSet presAssocID="{A0E96B8C-F539-4E86-992D-092D0E2F2435}" presName="arrowAndChildren" presStyleCnt="0"/>
      <dgm:spPr/>
    </dgm:pt>
    <dgm:pt modelId="{7B3738FC-6434-4C13-8538-97376D4FDD19}" type="pres">
      <dgm:prSet presAssocID="{A0E96B8C-F539-4E86-992D-092D0E2F2435}" presName="parentTextArrow" presStyleLbl="node1" presStyleIdx="0" presStyleCnt="3"/>
      <dgm:spPr/>
      <dgm:t>
        <a:bodyPr/>
        <a:lstStyle/>
        <a:p>
          <a:endParaRPr lang="es-ES"/>
        </a:p>
      </dgm:t>
    </dgm:pt>
    <dgm:pt modelId="{4AEC5EE0-1417-4AB8-ACAC-E96E97773E99}" type="pres">
      <dgm:prSet presAssocID="{A0E96B8C-F539-4E86-992D-092D0E2F2435}" presName="arrow" presStyleLbl="node1" presStyleIdx="1" presStyleCnt="3"/>
      <dgm:spPr/>
      <dgm:t>
        <a:bodyPr/>
        <a:lstStyle/>
        <a:p>
          <a:endParaRPr lang="es-ES"/>
        </a:p>
      </dgm:t>
    </dgm:pt>
    <dgm:pt modelId="{55C041CF-3D73-4C24-A245-243A6FBFB008}" type="pres">
      <dgm:prSet presAssocID="{A0E96B8C-F539-4E86-992D-092D0E2F2435}" presName="descendantArrow" presStyleCnt="0"/>
      <dgm:spPr/>
    </dgm:pt>
    <dgm:pt modelId="{4363D365-243A-42A1-AD44-A06AFA324F45}" type="pres">
      <dgm:prSet presAssocID="{BEA70952-CB79-485A-AAA2-EA37099C6D9C}" presName="childTextArrow" presStyleLbl="fgAccFollowNode1" presStyleIdx="2" presStyleCnt="6">
        <dgm:presLayoutVars>
          <dgm:bulletEnabled val="1"/>
        </dgm:presLayoutVars>
      </dgm:prSet>
      <dgm:spPr/>
      <dgm:t>
        <a:bodyPr/>
        <a:lstStyle/>
        <a:p>
          <a:endParaRPr lang="es-ES"/>
        </a:p>
      </dgm:t>
    </dgm:pt>
    <dgm:pt modelId="{55F5E61D-474B-40C0-8F6B-8E806346F9CF}" type="pres">
      <dgm:prSet presAssocID="{B444C39A-F3EE-4E30-BEDA-46342541A906}" presName="childTextArrow" presStyleLbl="fgAccFollowNode1" presStyleIdx="3" presStyleCnt="6">
        <dgm:presLayoutVars>
          <dgm:bulletEnabled val="1"/>
        </dgm:presLayoutVars>
      </dgm:prSet>
      <dgm:spPr/>
      <dgm:t>
        <a:bodyPr/>
        <a:lstStyle/>
        <a:p>
          <a:endParaRPr lang="es-ES"/>
        </a:p>
      </dgm:t>
    </dgm:pt>
    <dgm:pt modelId="{5972357A-2F2A-425C-9972-3365E9F7BB05}" type="pres">
      <dgm:prSet presAssocID="{8CA2C820-F413-43AE-B5F1-06F3CB1B0239}" presName="sp" presStyleCnt="0"/>
      <dgm:spPr/>
    </dgm:pt>
    <dgm:pt modelId="{45E8BB98-A6BF-4335-AC49-0A2ADB974C65}" type="pres">
      <dgm:prSet presAssocID="{33BFC156-D846-4842-ACA7-289F624F14DA}" presName="arrowAndChildren" presStyleCnt="0"/>
      <dgm:spPr/>
    </dgm:pt>
    <dgm:pt modelId="{539D8C99-10F1-42B1-8BC2-CA9BC4C9F229}" type="pres">
      <dgm:prSet presAssocID="{33BFC156-D846-4842-ACA7-289F624F14DA}" presName="parentTextArrow" presStyleLbl="node1" presStyleIdx="1" presStyleCnt="3"/>
      <dgm:spPr/>
      <dgm:t>
        <a:bodyPr/>
        <a:lstStyle/>
        <a:p>
          <a:endParaRPr lang="es-ES"/>
        </a:p>
      </dgm:t>
    </dgm:pt>
    <dgm:pt modelId="{F458718A-6310-4F5A-91CC-49B1ED081BAF}" type="pres">
      <dgm:prSet presAssocID="{33BFC156-D846-4842-ACA7-289F624F14DA}" presName="arrow" presStyleLbl="node1" presStyleIdx="2" presStyleCnt="3"/>
      <dgm:spPr/>
      <dgm:t>
        <a:bodyPr/>
        <a:lstStyle/>
        <a:p>
          <a:endParaRPr lang="es-ES"/>
        </a:p>
      </dgm:t>
    </dgm:pt>
    <dgm:pt modelId="{26E86F4B-17B9-4EA6-8599-B0C2A00FFE67}" type="pres">
      <dgm:prSet presAssocID="{33BFC156-D846-4842-ACA7-289F624F14DA}" presName="descendantArrow" presStyleCnt="0"/>
      <dgm:spPr/>
    </dgm:pt>
    <dgm:pt modelId="{F3367253-2065-42F7-A425-B5D0057CB56A}" type="pres">
      <dgm:prSet presAssocID="{C7023150-F083-4A1A-97D3-79BD17E1E14E}" presName="childTextArrow" presStyleLbl="fgAccFollowNode1" presStyleIdx="4" presStyleCnt="6" custScaleY="135968">
        <dgm:presLayoutVars>
          <dgm:bulletEnabled val="1"/>
        </dgm:presLayoutVars>
      </dgm:prSet>
      <dgm:spPr/>
      <dgm:t>
        <a:bodyPr/>
        <a:lstStyle/>
        <a:p>
          <a:endParaRPr lang="es-ES"/>
        </a:p>
      </dgm:t>
    </dgm:pt>
    <dgm:pt modelId="{B466C606-5C4F-4358-8F89-147A9AA3CA4C}" type="pres">
      <dgm:prSet presAssocID="{C7378179-7038-42EC-9CE5-D6606129FAA4}" presName="childTextArrow" presStyleLbl="fgAccFollowNode1" presStyleIdx="5" presStyleCnt="6" custScaleX="96436" custScaleY="136752" custLinFactNeighborX="55" custLinFactNeighborY="-392">
        <dgm:presLayoutVars>
          <dgm:bulletEnabled val="1"/>
        </dgm:presLayoutVars>
      </dgm:prSet>
      <dgm:spPr/>
      <dgm:t>
        <a:bodyPr/>
        <a:lstStyle/>
        <a:p>
          <a:endParaRPr lang="es-ES"/>
        </a:p>
      </dgm:t>
    </dgm:pt>
  </dgm:ptLst>
  <dgm:cxnLst>
    <dgm:cxn modelId="{68813F16-44EF-40C5-9DB3-87A24C0F2B0A}" srcId="{5D34C9E6-485D-496A-8EF7-AFD20ED8A05F}" destId="{46C9BF5D-61C4-4A81-B1ED-B98CAFD612EA}" srcOrd="0" destOrd="0" parTransId="{F3A01FEF-60E7-4479-B78B-65B5C5950073}" sibTransId="{427AF451-E928-4827-AF0C-BE7351C094B0}"/>
    <dgm:cxn modelId="{34CCA812-96AD-4A0E-8B30-FA463FF34BF6}" type="presOf" srcId="{5D34C9E6-485D-496A-8EF7-AFD20ED8A05F}" destId="{C8896157-F216-4FF5-9D82-D012F1A26B44}" srcOrd="1" destOrd="0" presId="urn:microsoft.com/office/officeart/2005/8/layout/process4"/>
    <dgm:cxn modelId="{8210DC3C-F017-408F-839A-CE6644FD5B65}" srcId="{5A144071-A8A8-495B-A285-59FB7B275E9B}" destId="{A0E96B8C-F539-4E86-992D-092D0E2F2435}" srcOrd="1" destOrd="0" parTransId="{A1920A99-4610-4986-93DE-7F658AAFD393}" sibTransId="{8F8C49BE-8ACF-46D7-8B9E-4186B8A342F5}"/>
    <dgm:cxn modelId="{FF58E353-FB3D-4BE6-964B-5429595F147A}" type="presOf" srcId="{EF2729F7-3626-457D-BCAE-037847131EB1}" destId="{60AA8617-DF4D-4F12-B08F-FD2CD34E6C65}" srcOrd="0" destOrd="0" presId="urn:microsoft.com/office/officeart/2005/8/layout/process4"/>
    <dgm:cxn modelId="{69161AB5-B636-45B9-AF02-EBFABFB22B5D}" type="presOf" srcId="{5D34C9E6-485D-496A-8EF7-AFD20ED8A05F}" destId="{0A3C0285-7C07-4224-B3F5-B6CE221A6084}" srcOrd="0" destOrd="0" presId="urn:microsoft.com/office/officeart/2005/8/layout/process4"/>
    <dgm:cxn modelId="{241B9A2B-3B1B-4538-B6D5-4B8F0F773274}" type="presOf" srcId="{5A144071-A8A8-495B-A285-59FB7B275E9B}" destId="{47289D48-0A84-4E38-BB3C-9E2852FE8D1D}" srcOrd="0" destOrd="0" presId="urn:microsoft.com/office/officeart/2005/8/layout/process4"/>
    <dgm:cxn modelId="{B3FFDE06-13FD-4E76-9B03-08E92633090E}" type="presOf" srcId="{B444C39A-F3EE-4E30-BEDA-46342541A906}" destId="{55F5E61D-474B-40C0-8F6B-8E806346F9CF}" srcOrd="0" destOrd="0" presId="urn:microsoft.com/office/officeart/2005/8/layout/process4"/>
    <dgm:cxn modelId="{11C9679C-91F6-4CEC-8F7E-C78E773B93C9}" srcId="{A0E96B8C-F539-4E86-992D-092D0E2F2435}" destId="{B444C39A-F3EE-4E30-BEDA-46342541A906}" srcOrd="1" destOrd="0" parTransId="{B190F3F3-31A7-477D-833A-6A02C65F4BFD}" sibTransId="{BD410A75-08B1-4C67-88F6-AB0A7B09CA39}"/>
    <dgm:cxn modelId="{E54E386A-2119-429F-8B23-79A1701146CC}" type="presOf" srcId="{C7378179-7038-42EC-9CE5-D6606129FAA4}" destId="{B466C606-5C4F-4358-8F89-147A9AA3CA4C}" srcOrd="0" destOrd="0" presId="urn:microsoft.com/office/officeart/2005/8/layout/process4"/>
    <dgm:cxn modelId="{E8A69920-F347-4775-BC61-79694976C38F}" type="presOf" srcId="{33BFC156-D846-4842-ACA7-289F624F14DA}" destId="{539D8C99-10F1-42B1-8BC2-CA9BC4C9F229}" srcOrd="0" destOrd="0" presId="urn:microsoft.com/office/officeart/2005/8/layout/process4"/>
    <dgm:cxn modelId="{2F440BA8-89FC-4B03-9EB1-E14911C9F393}" srcId="{A0E96B8C-F539-4E86-992D-092D0E2F2435}" destId="{BEA70952-CB79-485A-AAA2-EA37099C6D9C}" srcOrd="0" destOrd="0" parTransId="{3535F1D8-C15C-4DCA-B737-4E74E781877A}" sibTransId="{D14884DA-2EE9-49DB-A2AA-A40CB56F58BA}"/>
    <dgm:cxn modelId="{04726B3A-1259-416F-B3E5-34A9250B1A60}" type="presOf" srcId="{A0E96B8C-F539-4E86-992D-092D0E2F2435}" destId="{4AEC5EE0-1417-4AB8-ACAC-E96E97773E99}" srcOrd="1" destOrd="0" presId="urn:microsoft.com/office/officeart/2005/8/layout/process4"/>
    <dgm:cxn modelId="{B9D7252B-F619-45F5-954A-DDB8B2C63C31}" type="presOf" srcId="{33BFC156-D846-4842-ACA7-289F624F14DA}" destId="{F458718A-6310-4F5A-91CC-49B1ED081BAF}" srcOrd="1" destOrd="0" presId="urn:microsoft.com/office/officeart/2005/8/layout/process4"/>
    <dgm:cxn modelId="{D066D46F-53D4-4FA5-A6FE-C8285C101C18}" type="presOf" srcId="{46C9BF5D-61C4-4A81-B1ED-B98CAFD612EA}" destId="{0D8D6647-2B82-4D39-A17A-0C9CC5718DC0}" srcOrd="0" destOrd="0" presId="urn:microsoft.com/office/officeart/2005/8/layout/process4"/>
    <dgm:cxn modelId="{0C9811C4-4C36-4F58-ABD4-9B3B2AC49DE1}" srcId="{33BFC156-D846-4842-ACA7-289F624F14DA}" destId="{C7023150-F083-4A1A-97D3-79BD17E1E14E}" srcOrd="0" destOrd="0" parTransId="{D28BA5B0-5200-4BCA-AB4F-68AC4A2D7BD7}" sibTransId="{80957EDA-1758-49C9-BD0B-A1BC3F3BC177}"/>
    <dgm:cxn modelId="{DE864F69-9427-4FE5-9843-47F1CB3BBD80}" srcId="{5A144071-A8A8-495B-A285-59FB7B275E9B}" destId="{33BFC156-D846-4842-ACA7-289F624F14DA}" srcOrd="0" destOrd="0" parTransId="{B5EEE471-D006-4406-9945-FC1425EFC86B}" sibTransId="{8CA2C820-F413-43AE-B5F1-06F3CB1B0239}"/>
    <dgm:cxn modelId="{44883851-836D-4313-80E3-1D77EB2084B1}" type="presOf" srcId="{BEA70952-CB79-485A-AAA2-EA37099C6D9C}" destId="{4363D365-243A-42A1-AD44-A06AFA324F45}" srcOrd="0" destOrd="0" presId="urn:microsoft.com/office/officeart/2005/8/layout/process4"/>
    <dgm:cxn modelId="{671432BA-D8F7-4EBC-9EE4-2BA6D7430351}" srcId="{33BFC156-D846-4842-ACA7-289F624F14DA}" destId="{C7378179-7038-42EC-9CE5-D6606129FAA4}" srcOrd="1" destOrd="0" parTransId="{C298D925-A3A6-49D5-BA7C-0646182275A8}" sibTransId="{DEC80D25-83C0-4485-A8F3-426ED6841F39}"/>
    <dgm:cxn modelId="{ABEDD4DE-417B-4EBD-B2FD-B0C2EEB07DC7}" srcId="{5D34C9E6-485D-496A-8EF7-AFD20ED8A05F}" destId="{EF2729F7-3626-457D-BCAE-037847131EB1}" srcOrd="1" destOrd="0" parTransId="{C50036DC-0DD0-4A58-8994-6EF185D8D74E}" sibTransId="{D840F9B7-1509-4BA2-8B7F-93345DC1775B}"/>
    <dgm:cxn modelId="{C67E4C8F-A414-4E84-913C-C6280271AD6C}" type="presOf" srcId="{C7023150-F083-4A1A-97D3-79BD17E1E14E}" destId="{F3367253-2065-42F7-A425-B5D0057CB56A}" srcOrd="0" destOrd="0" presId="urn:microsoft.com/office/officeart/2005/8/layout/process4"/>
    <dgm:cxn modelId="{F42208E7-B788-43F7-BB4A-57D25444CE3F}" srcId="{5A144071-A8A8-495B-A285-59FB7B275E9B}" destId="{5D34C9E6-485D-496A-8EF7-AFD20ED8A05F}" srcOrd="2" destOrd="0" parTransId="{13F14D87-C22C-4841-B442-6145EF1BC280}" sibTransId="{B030C70A-477E-4455-8249-9EFEBEB8351F}"/>
    <dgm:cxn modelId="{B2F1E0CF-6466-418B-A012-D636EEE6FAD2}" type="presOf" srcId="{A0E96B8C-F539-4E86-992D-092D0E2F2435}" destId="{7B3738FC-6434-4C13-8538-97376D4FDD19}" srcOrd="0" destOrd="0" presId="urn:microsoft.com/office/officeart/2005/8/layout/process4"/>
    <dgm:cxn modelId="{E3231EF7-D364-4EA9-9557-61E7DBEE6432}" type="presParOf" srcId="{47289D48-0A84-4E38-BB3C-9E2852FE8D1D}" destId="{396AD8EE-ED3F-4287-BCA2-DA452C77C4F7}" srcOrd="0" destOrd="0" presId="urn:microsoft.com/office/officeart/2005/8/layout/process4"/>
    <dgm:cxn modelId="{FC2DA18D-D58C-4C0B-BA99-FAA5A853D116}" type="presParOf" srcId="{396AD8EE-ED3F-4287-BCA2-DA452C77C4F7}" destId="{0A3C0285-7C07-4224-B3F5-B6CE221A6084}" srcOrd="0" destOrd="0" presId="urn:microsoft.com/office/officeart/2005/8/layout/process4"/>
    <dgm:cxn modelId="{80414CD5-2C7C-4DD1-A2E7-75B4A987EA9C}" type="presParOf" srcId="{396AD8EE-ED3F-4287-BCA2-DA452C77C4F7}" destId="{C8896157-F216-4FF5-9D82-D012F1A26B44}" srcOrd="1" destOrd="0" presId="urn:microsoft.com/office/officeart/2005/8/layout/process4"/>
    <dgm:cxn modelId="{8FC7DE52-91CF-44B1-89CD-A9428715A91D}" type="presParOf" srcId="{396AD8EE-ED3F-4287-BCA2-DA452C77C4F7}" destId="{AC310920-42DD-4A2F-BFF3-1916F8DA6C5C}" srcOrd="2" destOrd="0" presId="urn:microsoft.com/office/officeart/2005/8/layout/process4"/>
    <dgm:cxn modelId="{371E9B13-F89A-49F9-83AD-5EFEA884E8F7}" type="presParOf" srcId="{AC310920-42DD-4A2F-BFF3-1916F8DA6C5C}" destId="{0D8D6647-2B82-4D39-A17A-0C9CC5718DC0}" srcOrd="0" destOrd="0" presId="urn:microsoft.com/office/officeart/2005/8/layout/process4"/>
    <dgm:cxn modelId="{7C627173-2633-4D96-991D-B297C31A7395}" type="presParOf" srcId="{AC310920-42DD-4A2F-BFF3-1916F8DA6C5C}" destId="{60AA8617-DF4D-4F12-B08F-FD2CD34E6C65}" srcOrd="1" destOrd="0" presId="urn:microsoft.com/office/officeart/2005/8/layout/process4"/>
    <dgm:cxn modelId="{3FB67D6F-9E6C-4253-80B0-03FD32FB4DFA}" type="presParOf" srcId="{47289D48-0A84-4E38-BB3C-9E2852FE8D1D}" destId="{AC8148FB-B270-4E5C-B561-A5056355EFD7}" srcOrd="1" destOrd="0" presId="urn:microsoft.com/office/officeart/2005/8/layout/process4"/>
    <dgm:cxn modelId="{29C13768-B72B-4652-BFA1-4545A5762FCD}" type="presParOf" srcId="{47289D48-0A84-4E38-BB3C-9E2852FE8D1D}" destId="{17B2A2F0-67AD-4621-9D51-6B1D0414299F}" srcOrd="2" destOrd="0" presId="urn:microsoft.com/office/officeart/2005/8/layout/process4"/>
    <dgm:cxn modelId="{0902FD6F-EF55-4C0F-84B6-629A12BF9BD7}" type="presParOf" srcId="{17B2A2F0-67AD-4621-9D51-6B1D0414299F}" destId="{7B3738FC-6434-4C13-8538-97376D4FDD19}" srcOrd="0" destOrd="0" presId="urn:microsoft.com/office/officeart/2005/8/layout/process4"/>
    <dgm:cxn modelId="{33691E27-6C5B-4707-8330-EB3A3D1DD7DE}" type="presParOf" srcId="{17B2A2F0-67AD-4621-9D51-6B1D0414299F}" destId="{4AEC5EE0-1417-4AB8-ACAC-E96E97773E99}" srcOrd="1" destOrd="0" presId="urn:microsoft.com/office/officeart/2005/8/layout/process4"/>
    <dgm:cxn modelId="{743DC81C-1607-4959-B7A1-A809A0BB2463}" type="presParOf" srcId="{17B2A2F0-67AD-4621-9D51-6B1D0414299F}" destId="{55C041CF-3D73-4C24-A245-243A6FBFB008}" srcOrd="2" destOrd="0" presId="urn:microsoft.com/office/officeart/2005/8/layout/process4"/>
    <dgm:cxn modelId="{E6725B7A-CF98-4673-94CD-AF032F536D95}" type="presParOf" srcId="{55C041CF-3D73-4C24-A245-243A6FBFB008}" destId="{4363D365-243A-42A1-AD44-A06AFA324F45}" srcOrd="0" destOrd="0" presId="urn:microsoft.com/office/officeart/2005/8/layout/process4"/>
    <dgm:cxn modelId="{41DA1F24-2B72-43BA-A211-C8075DD3FE23}" type="presParOf" srcId="{55C041CF-3D73-4C24-A245-243A6FBFB008}" destId="{55F5E61D-474B-40C0-8F6B-8E806346F9CF}" srcOrd="1" destOrd="0" presId="urn:microsoft.com/office/officeart/2005/8/layout/process4"/>
    <dgm:cxn modelId="{37EF8F10-EDCE-469D-8429-5C6B0FF1ED86}" type="presParOf" srcId="{47289D48-0A84-4E38-BB3C-9E2852FE8D1D}" destId="{5972357A-2F2A-425C-9972-3365E9F7BB05}" srcOrd="3" destOrd="0" presId="urn:microsoft.com/office/officeart/2005/8/layout/process4"/>
    <dgm:cxn modelId="{FB47B30D-1D8F-43AF-9295-C828FEBC2B15}" type="presParOf" srcId="{47289D48-0A84-4E38-BB3C-9E2852FE8D1D}" destId="{45E8BB98-A6BF-4335-AC49-0A2ADB974C65}" srcOrd="4" destOrd="0" presId="urn:microsoft.com/office/officeart/2005/8/layout/process4"/>
    <dgm:cxn modelId="{A93B7F25-35C7-47B1-8F3A-415869072831}" type="presParOf" srcId="{45E8BB98-A6BF-4335-AC49-0A2ADB974C65}" destId="{539D8C99-10F1-42B1-8BC2-CA9BC4C9F229}" srcOrd="0" destOrd="0" presId="urn:microsoft.com/office/officeart/2005/8/layout/process4"/>
    <dgm:cxn modelId="{4B9E17F1-EB46-4CFD-AD8B-4BCB3A07D1D0}" type="presParOf" srcId="{45E8BB98-A6BF-4335-AC49-0A2ADB974C65}" destId="{F458718A-6310-4F5A-91CC-49B1ED081BAF}" srcOrd="1" destOrd="0" presId="urn:microsoft.com/office/officeart/2005/8/layout/process4"/>
    <dgm:cxn modelId="{2761F3A6-EF1B-47E2-AAF0-88A46362E93C}" type="presParOf" srcId="{45E8BB98-A6BF-4335-AC49-0A2ADB974C65}" destId="{26E86F4B-17B9-4EA6-8599-B0C2A00FFE67}" srcOrd="2" destOrd="0" presId="urn:microsoft.com/office/officeart/2005/8/layout/process4"/>
    <dgm:cxn modelId="{78B7A038-A4FE-4B88-8175-54FB3DD3E12E}" type="presParOf" srcId="{26E86F4B-17B9-4EA6-8599-B0C2A00FFE67}" destId="{F3367253-2065-42F7-A425-B5D0057CB56A}" srcOrd="0" destOrd="0" presId="urn:microsoft.com/office/officeart/2005/8/layout/process4"/>
    <dgm:cxn modelId="{D3D14316-12F1-4E73-BF9A-210E108FEB99}" type="presParOf" srcId="{26E86F4B-17B9-4EA6-8599-B0C2A00FFE67}" destId="{B466C606-5C4F-4358-8F89-147A9AA3CA4C}" srcOrd="1" destOrd="0" presId="urn:microsoft.com/office/officeart/2005/8/layout/process4"/>
  </dgm:cxnLst>
  <dgm:bg/>
  <dgm:whole/>
  <dgm:extLst>
    <a:ext uri="http://schemas.microsoft.com/office/drawing/2008/diagram">
      <dsp:dataModelExt xmlns=""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AC0F924-C1D2-48D8-A804-85C5CB3539CA}" type="doc">
      <dgm:prSet loTypeId="urn:microsoft.com/office/officeart/2005/8/layout/hProcess7" loCatId="list" qsTypeId="urn:microsoft.com/office/officeart/2005/8/quickstyle/simple1" qsCatId="simple" csTypeId="urn:microsoft.com/office/officeart/2005/8/colors/accent1_2" csCatId="accent1" phldr="1"/>
      <dgm:spPr/>
      <dgm:t>
        <a:bodyPr/>
        <a:lstStyle/>
        <a:p>
          <a:endParaRPr lang="es-ES"/>
        </a:p>
      </dgm:t>
    </dgm:pt>
    <dgm:pt modelId="{302856FA-17BF-4F59-A312-EF0B2442C0D5}">
      <dgm:prSet phldrT="[Texto]" custT="1"/>
      <dgm:spPr>
        <a:solidFill>
          <a:srgbClr val="FFFF00"/>
        </a:solidFill>
      </dgm:spPr>
      <dgm:t>
        <a:bodyPr/>
        <a:lstStyle/>
        <a:p>
          <a:pPr algn="ctr"/>
          <a:r>
            <a:rPr lang="es-ES" sz="1800" b="1" u="sng" dirty="0" smtClean="0">
              <a:solidFill>
                <a:schemeClr val="tx1"/>
              </a:solidFill>
            </a:rPr>
            <a:t>MUTUALES</a:t>
          </a:r>
          <a:endParaRPr lang="es-ES" sz="1800" b="1" u="sng" dirty="0">
            <a:solidFill>
              <a:schemeClr val="tx1"/>
            </a:solidFill>
          </a:endParaRPr>
        </a:p>
      </dgm:t>
    </dgm:pt>
    <dgm:pt modelId="{0AD24F19-C405-4BEA-BA42-38E62F4A53C6}" type="parTrans" cxnId="{DAB45DF3-4F73-4059-9C1C-1256E8DD9657}">
      <dgm:prSet/>
      <dgm:spPr/>
      <dgm:t>
        <a:bodyPr/>
        <a:lstStyle/>
        <a:p>
          <a:endParaRPr lang="es-ES"/>
        </a:p>
      </dgm:t>
    </dgm:pt>
    <dgm:pt modelId="{301ED108-1AE5-44A9-80BB-EDDF81C22288}" type="sibTrans" cxnId="{DAB45DF3-4F73-4059-9C1C-1256E8DD9657}">
      <dgm:prSet/>
      <dgm:spPr/>
      <dgm:t>
        <a:bodyPr/>
        <a:lstStyle/>
        <a:p>
          <a:endParaRPr lang="es-ES"/>
        </a:p>
      </dgm:t>
    </dgm:pt>
    <dgm:pt modelId="{D9BA055B-2180-4F5E-A680-C75C7CF7E97A}">
      <dgm:prSet phldrT="[Texto]" custT="1"/>
      <dgm:spPr>
        <a:solidFill>
          <a:srgbClr val="FFFF00"/>
        </a:solidFill>
      </dgm:spPr>
      <dgm:t>
        <a:bodyPr/>
        <a:lstStyle/>
        <a:p>
          <a:pPr algn="l"/>
          <a:r>
            <a:rPr lang="es-ES" sz="1500" dirty="0" smtClean="0">
              <a:solidFill>
                <a:schemeClr val="tx1"/>
              </a:solidFill>
            </a:rPr>
            <a:t> </a:t>
          </a:r>
          <a:r>
            <a:rPr lang="es-ES" sz="1500" b="1" dirty="0" smtClean="0">
              <a:solidFill>
                <a:schemeClr val="tx1"/>
              </a:solidFill>
            </a:rPr>
            <a:t>“</a:t>
          </a:r>
          <a:r>
            <a:rPr lang="es-ES" sz="1500" b="1" dirty="0" err="1" smtClean="0">
              <a:solidFill>
                <a:schemeClr val="tx1"/>
              </a:solidFill>
            </a:rPr>
            <a:t>Asoc</a:t>
          </a:r>
          <a:r>
            <a:rPr lang="es-ES" sz="1500" b="1" dirty="0" smtClean="0">
              <a:solidFill>
                <a:schemeClr val="tx1"/>
              </a:solidFill>
            </a:rPr>
            <a:t>. </a:t>
          </a:r>
          <a:r>
            <a:rPr lang="es-ES" sz="1500" b="1" dirty="0" err="1" smtClean="0">
              <a:solidFill>
                <a:schemeClr val="tx1"/>
              </a:solidFill>
            </a:rPr>
            <a:t>Mut</a:t>
          </a:r>
          <a:r>
            <a:rPr lang="es-ES" sz="1500" b="1" dirty="0" smtClean="0">
              <a:solidFill>
                <a:schemeClr val="tx1"/>
              </a:solidFill>
            </a:rPr>
            <a:t>. </a:t>
          </a:r>
          <a:r>
            <a:rPr lang="es-ES" sz="1500" b="1" dirty="0" err="1" smtClean="0">
              <a:solidFill>
                <a:schemeClr val="tx1"/>
              </a:solidFill>
            </a:rPr>
            <a:t>Sancor</a:t>
          </a:r>
          <a:r>
            <a:rPr lang="es-ES" sz="1500" b="1" dirty="0" smtClean="0">
              <a:solidFill>
                <a:schemeClr val="tx1"/>
              </a:solidFill>
            </a:rPr>
            <a:t> C/ AFIP DGI”. </a:t>
          </a:r>
          <a:r>
            <a:rPr lang="es-ES" sz="1500" dirty="0" smtClean="0">
              <a:solidFill>
                <a:schemeClr val="tx1"/>
              </a:solidFill>
            </a:rPr>
            <a:t>CSJN. (14/04/2015).</a:t>
          </a:r>
          <a:endParaRPr lang="es-ES" sz="1500" dirty="0">
            <a:solidFill>
              <a:schemeClr val="tx1"/>
            </a:solidFill>
          </a:endParaRPr>
        </a:p>
      </dgm:t>
    </dgm:pt>
    <dgm:pt modelId="{25E4B4DE-9BF6-49BA-ABDF-AFBF125B1671}" type="parTrans" cxnId="{E41503A3-4D67-4E08-9230-150870D3DC09}">
      <dgm:prSet/>
      <dgm:spPr/>
      <dgm:t>
        <a:bodyPr/>
        <a:lstStyle/>
        <a:p>
          <a:endParaRPr lang="es-ES"/>
        </a:p>
      </dgm:t>
    </dgm:pt>
    <dgm:pt modelId="{EADA6B9E-6802-44B2-ACC4-7AF128802E28}" type="sibTrans" cxnId="{E41503A3-4D67-4E08-9230-150870D3DC09}">
      <dgm:prSet/>
      <dgm:spPr/>
      <dgm:t>
        <a:bodyPr/>
        <a:lstStyle/>
        <a:p>
          <a:endParaRPr lang="es-ES"/>
        </a:p>
      </dgm:t>
    </dgm:pt>
    <dgm:pt modelId="{D4600558-2CD8-4B81-966F-239DF34D3E6A}">
      <dgm:prSet phldrT="[Texto]" custT="1"/>
      <dgm:spPr>
        <a:solidFill>
          <a:srgbClr val="FF0000"/>
        </a:solidFill>
      </dgm:spPr>
      <dgm:t>
        <a:bodyPr/>
        <a:lstStyle/>
        <a:p>
          <a:pPr algn="ctr"/>
          <a:r>
            <a:rPr lang="es-ES" sz="1700" b="1" u="sng" dirty="0" smtClean="0">
              <a:solidFill>
                <a:schemeClr val="bg1"/>
              </a:solidFill>
            </a:rPr>
            <a:t>OTROS ENTES</a:t>
          </a:r>
          <a:endParaRPr lang="es-ES" sz="1700" b="1" u="sng" dirty="0">
            <a:solidFill>
              <a:schemeClr val="bg1"/>
            </a:solidFill>
          </a:endParaRPr>
        </a:p>
      </dgm:t>
    </dgm:pt>
    <dgm:pt modelId="{E13B4D81-6186-4DD6-BCEC-9C83FD53D8AD}" type="parTrans" cxnId="{48B92734-F18F-4002-9CF2-1C77C11324AA}">
      <dgm:prSet/>
      <dgm:spPr/>
      <dgm:t>
        <a:bodyPr/>
        <a:lstStyle/>
        <a:p>
          <a:endParaRPr lang="es-ES"/>
        </a:p>
      </dgm:t>
    </dgm:pt>
    <dgm:pt modelId="{C0985BA2-D51C-40A2-96F1-8659998F785E}" type="sibTrans" cxnId="{48B92734-F18F-4002-9CF2-1C77C11324AA}">
      <dgm:prSet/>
      <dgm:spPr/>
      <dgm:t>
        <a:bodyPr/>
        <a:lstStyle/>
        <a:p>
          <a:endParaRPr lang="es-ES"/>
        </a:p>
      </dgm:t>
    </dgm:pt>
    <dgm:pt modelId="{BBC7FF0C-3364-44AA-810B-9582A7499096}">
      <dgm:prSet phldrT="[Texto]" custT="1"/>
      <dgm:spPr>
        <a:solidFill>
          <a:srgbClr val="FF0000"/>
        </a:solidFill>
      </dgm:spPr>
      <dgm:t>
        <a:bodyPr/>
        <a:lstStyle/>
        <a:p>
          <a:pPr algn="l"/>
          <a:r>
            <a:rPr lang="es-ES" sz="1400" b="1" dirty="0" smtClean="0">
              <a:solidFill>
                <a:schemeClr val="bg1"/>
              </a:solidFill>
            </a:rPr>
            <a:t>“</a:t>
          </a:r>
          <a:r>
            <a:rPr lang="es-ES" sz="1400" b="1" dirty="0" err="1" smtClean="0">
              <a:solidFill>
                <a:schemeClr val="bg1"/>
              </a:solidFill>
            </a:rPr>
            <a:t>Coop</a:t>
          </a:r>
          <a:r>
            <a:rPr lang="es-ES" sz="1400" b="1" dirty="0" smtClean="0">
              <a:solidFill>
                <a:schemeClr val="bg1"/>
              </a:solidFill>
            </a:rPr>
            <a:t>. Farm. de Prov. y Consumo Alberdi C/ Chaco. Amparo”. </a:t>
          </a:r>
          <a:r>
            <a:rPr lang="es-ES" sz="1400" dirty="0" smtClean="0">
              <a:solidFill>
                <a:schemeClr val="bg1"/>
              </a:solidFill>
            </a:rPr>
            <a:t>CSJN. (19/03/24).</a:t>
          </a:r>
          <a:endParaRPr lang="es-ES" sz="1400" dirty="0">
            <a:solidFill>
              <a:schemeClr val="bg1"/>
            </a:solidFill>
          </a:endParaRPr>
        </a:p>
      </dgm:t>
    </dgm:pt>
    <dgm:pt modelId="{3BA538CD-A0BA-443B-93FE-BD3738D8FE9A}" type="parTrans" cxnId="{71D4AD4B-ECFB-443B-A964-A0B95476FD3F}">
      <dgm:prSet/>
      <dgm:spPr/>
      <dgm:t>
        <a:bodyPr/>
        <a:lstStyle/>
        <a:p>
          <a:endParaRPr lang="es-ES"/>
        </a:p>
      </dgm:t>
    </dgm:pt>
    <dgm:pt modelId="{2D78D947-FE16-4320-B7AD-B87DA5DE528E}" type="sibTrans" cxnId="{71D4AD4B-ECFB-443B-A964-A0B95476FD3F}">
      <dgm:prSet/>
      <dgm:spPr/>
      <dgm:t>
        <a:bodyPr/>
        <a:lstStyle/>
        <a:p>
          <a:endParaRPr lang="es-ES"/>
        </a:p>
      </dgm:t>
    </dgm:pt>
    <dgm:pt modelId="{D0BD217E-9A59-488A-9C65-D4CC618DDAE7}">
      <dgm:prSet phldrT="[Texto]" custT="1"/>
      <dgm:spPr>
        <a:solidFill>
          <a:srgbClr val="FFFF00"/>
        </a:solidFill>
      </dgm:spPr>
      <dgm:t>
        <a:bodyPr/>
        <a:lstStyle/>
        <a:p>
          <a:pPr algn="l"/>
          <a:r>
            <a:rPr lang="es-ES" sz="1500" b="1" dirty="0" smtClean="0">
              <a:solidFill>
                <a:schemeClr val="tx1"/>
              </a:solidFill>
            </a:rPr>
            <a:t>“</a:t>
          </a:r>
          <a:r>
            <a:rPr lang="es-ES" sz="1500" b="1" dirty="0" err="1" smtClean="0">
              <a:solidFill>
                <a:schemeClr val="tx1"/>
              </a:solidFill>
            </a:rPr>
            <a:t>Asoc</a:t>
          </a:r>
          <a:r>
            <a:rPr lang="es-ES" sz="1500" b="1" dirty="0" smtClean="0">
              <a:solidFill>
                <a:schemeClr val="tx1"/>
              </a:solidFill>
            </a:rPr>
            <a:t>. </a:t>
          </a:r>
          <a:r>
            <a:rPr lang="es-ES" sz="1500" b="1" dirty="0" err="1" smtClean="0">
              <a:solidFill>
                <a:schemeClr val="tx1"/>
              </a:solidFill>
            </a:rPr>
            <a:t>Mut</a:t>
          </a:r>
          <a:r>
            <a:rPr lang="es-ES" sz="1500" b="1" dirty="0" smtClean="0">
              <a:solidFill>
                <a:schemeClr val="tx1"/>
              </a:solidFill>
            </a:rPr>
            <a:t>. </a:t>
          </a:r>
          <a:r>
            <a:rPr lang="es-ES" sz="1500" b="1" dirty="0" err="1" smtClean="0">
              <a:solidFill>
                <a:schemeClr val="tx1"/>
              </a:solidFill>
            </a:rPr>
            <a:t>Sancor</a:t>
          </a:r>
          <a:r>
            <a:rPr lang="es-ES" sz="1500" b="1" dirty="0" smtClean="0">
              <a:solidFill>
                <a:schemeClr val="tx1"/>
              </a:solidFill>
            </a:rPr>
            <a:t> S/ </a:t>
          </a:r>
          <a:r>
            <a:rPr lang="es-ES" sz="1500" b="1" dirty="0" err="1" smtClean="0">
              <a:solidFill>
                <a:schemeClr val="tx1"/>
              </a:solidFill>
            </a:rPr>
            <a:t>apel</a:t>
          </a:r>
          <a:r>
            <a:rPr lang="es-ES" sz="1500" b="1" dirty="0" smtClean="0">
              <a:solidFill>
                <a:schemeClr val="tx1"/>
              </a:solidFill>
            </a:rPr>
            <a:t>  </a:t>
          </a:r>
          <a:r>
            <a:rPr lang="es-ES" sz="1500" b="1" dirty="0" err="1" smtClean="0">
              <a:solidFill>
                <a:schemeClr val="tx1"/>
              </a:solidFill>
            </a:rPr>
            <a:t>deneg</a:t>
          </a:r>
          <a:r>
            <a:rPr lang="es-ES" sz="1500" b="1" dirty="0" smtClean="0">
              <a:solidFill>
                <a:schemeClr val="tx1"/>
              </a:solidFill>
            </a:rPr>
            <a:t>. </a:t>
          </a:r>
          <a:r>
            <a:rPr lang="es-ES" sz="1500" b="1" dirty="0" err="1" smtClean="0">
              <a:solidFill>
                <a:schemeClr val="tx1"/>
              </a:solidFill>
            </a:rPr>
            <a:t>rep</a:t>
          </a:r>
          <a:r>
            <a:rPr lang="es-ES" sz="1500" b="1" dirty="0" smtClean="0">
              <a:solidFill>
                <a:schemeClr val="tx1"/>
              </a:solidFill>
            </a:rPr>
            <a:t>”.  </a:t>
          </a:r>
          <a:r>
            <a:rPr lang="es-ES" sz="1500" dirty="0" smtClean="0">
              <a:solidFill>
                <a:schemeClr val="tx1"/>
              </a:solidFill>
            </a:rPr>
            <a:t>TFN. Sala C (25/08/22).</a:t>
          </a:r>
          <a:endParaRPr lang="es-ES" sz="1500" dirty="0">
            <a:solidFill>
              <a:schemeClr val="tx1"/>
            </a:solidFill>
          </a:endParaRPr>
        </a:p>
      </dgm:t>
    </dgm:pt>
    <dgm:pt modelId="{792BBDDA-FB44-4C44-B96D-FBC0FCE60626}" type="parTrans" cxnId="{31A0A50F-0A03-40C2-8B0A-CE8A8FEF77E0}">
      <dgm:prSet/>
      <dgm:spPr/>
      <dgm:t>
        <a:bodyPr/>
        <a:lstStyle/>
        <a:p>
          <a:endParaRPr lang="es-ES"/>
        </a:p>
      </dgm:t>
    </dgm:pt>
    <dgm:pt modelId="{15CEC465-E8F9-493F-ADA7-C5E67138F170}" type="sibTrans" cxnId="{31A0A50F-0A03-40C2-8B0A-CE8A8FEF77E0}">
      <dgm:prSet/>
      <dgm:spPr/>
      <dgm:t>
        <a:bodyPr/>
        <a:lstStyle/>
        <a:p>
          <a:endParaRPr lang="es-ES"/>
        </a:p>
      </dgm:t>
    </dgm:pt>
    <dgm:pt modelId="{69D08B43-BDAF-4F9A-AA78-75D517A36A4F}">
      <dgm:prSet phldrT="[Texto]" custT="1"/>
      <dgm:spPr>
        <a:solidFill>
          <a:srgbClr val="FFFF00"/>
        </a:solidFill>
      </dgm:spPr>
      <dgm:t>
        <a:bodyPr/>
        <a:lstStyle/>
        <a:p>
          <a:pPr algn="l"/>
          <a:r>
            <a:rPr lang="es-ES" sz="1500" b="1" dirty="0" smtClean="0">
              <a:solidFill>
                <a:schemeClr val="tx1"/>
              </a:solidFill>
            </a:rPr>
            <a:t>“</a:t>
          </a:r>
          <a:r>
            <a:rPr lang="es-ES" sz="1500" b="1" dirty="0" err="1" smtClean="0">
              <a:solidFill>
                <a:schemeClr val="tx1"/>
              </a:solidFill>
            </a:rPr>
            <a:t>Asoc</a:t>
          </a:r>
          <a:r>
            <a:rPr lang="es-ES" sz="1500" b="1" dirty="0" smtClean="0">
              <a:solidFill>
                <a:schemeClr val="tx1"/>
              </a:solidFill>
            </a:rPr>
            <a:t>. </a:t>
          </a:r>
          <a:r>
            <a:rPr lang="es-ES" sz="1500" b="1" dirty="0" err="1" smtClean="0">
              <a:solidFill>
                <a:schemeClr val="tx1"/>
              </a:solidFill>
            </a:rPr>
            <a:t>Mut</a:t>
          </a:r>
          <a:r>
            <a:rPr lang="es-ES" sz="1500" b="1" dirty="0" smtClean="0">
              <a:solidFill>
                <a:schemeClr val="tx1"/>
              </a:solidFill>
            </a:rPr>
            <a:t>. </a:t>
          </a:r>
          <a:r>
            <a:rPr lang="es-ES" sz="1500" b="1" dirty="0" err="1" smtClean="0">
              <a:solidFill>
                <a:schemeClr val="tx1"/>
              </a:solidFill>
            </a:rPr>
            <a:t>Sancor</a:t>
          </a:r>
          <a:r>
            <a:rPr lang="es-ES" sz="1500" b="1" dirty="0" smtClean="0">
              <a:solidFill>
                <a:schemeClr val="tx1"/>
              </a:solidFill>
            </a:rPr>
            <a:t> </a:t>
          </a:r>
          <a:r>
            <a:rPr lang="es-ES" sz="1500" b="1" dirty="0" err="1" smtClean="0">
              <a:solidFill>
                <a:schemeClr val="tx1"/>
              </a:solidFill>
            </a:rPr>
            <a:t>rec</a:t>
          </a:r>
          <a:r>
            <a:rPr lang="es-ES" sz="1500" b="1" dirty="0" smtClean="0">
              <a:solidFill>
                <a:schemeClr val="tx1"/>
              </a:solidFill>
            </a:rPr>
            <a:t>. </a:t>
          </a:r>
          <a:r>
            <a:rPr lang="es-ES" sz="1500" b="1" dirty="0" err="1" smtClean="0">
              <a:solidFill>
                <a:schemeClr val="tx1"/>
              </a:solidFill>
            </a:rPr>
            <a:t>direct</a:t>
          </a:r>
          <a:r>
            <a:rPr lang="es-ES" sz="1500" b="1" dirty="0" smtClean="0">
              <a:solidFill>
                <a:schemeClr val="tx1"/>
              </a:solidFill>
            </a:rPr>
            <a:t>”. </a:t>
          </a:r>
          <a:r>
            <a:rPr lang="es-ES" sz="1500" dirty="0" smtClean="0">
              <a:solidFill>
                <a:schemeClr val="tx1"/>
              </a:solidFill>
            </a:rPr>
            <a:t>CNCAF. Sala I. (26/12/23).</a:t>
          </a:r>
          <a:endParaRPr lang="es-ES" sz="1500" dirty="0">
            <a:solidFill>
              <a:schemeClr val="tx1"/>
            </a:solidFill>
          </a:endParaRPr>
        </a:p>
      </dgm:t>
    </dgm:pt>
    <dgm:pt modelId="{139CAC90-F260-43D5-BDFB-6667A5C2E8CA}" type="parTrans" cxnId="{3984A9DB-6F9C-497D-BEAF-9EA71D42E84C}">
      <dgm:prSet/>
      <dgm:spPr/>
      <dgm:t>
        <a:bodyPr/>
        <a:lstStyle/>
        <a:p>
          <a:endParaRPr lang="es-ES"/>
        </a:p>
      </dgm:t>
    </dgm:pt>
    <dgm:pt modelId="{1918192D-055B-482F-93A5-8C18ACB9F798}" type="sibTrans" cxnId="{3984A9DB-6F9C-497D-BEAF-9EA71D42E84C}">
      <dgm:prSet/>
      <dgm:spPr/>
      <dgm:t>
        <a:bodyPr/>
        <a:lstStyle/>
        <a:p>
          <a:endParaRPr lang="es-ES"/>
        </a:p>
      </dgm:t>
    </dgm:pt>
    <dgm:pt modelId="{DDAFEC56-08A0-4498-AD90-BFFF737C1184}">
      <dgm:prSet phldrT="[Texto]" custT="1"/>
      <dgm:spPr>
        <a:solidFill>
          <a:srgbClr val="FFFF00"/>
        </a:solidFill>
      </dgm:spPr>
      <dgm:t>
        <a:bodyPr/>
        <a:lstStyle/>
        <a:p>
          <a:pPr algn="l"/>
          <a:r>
            <a:rPr lang="es-ES" sz="1500" b="1" dirty="0" smtClean="0">
              <a:solidFill>
                <a:schemeClr val="tx1"/>
              </a:solidFill>
            </a:rPr>
            <a:t>“</a:t>
          </a:r>
          <a:r>
            <a:rPr lang="es-ES" sz="1500" b="1" dirty="0" err="1" smtClean="0">
              <a:solidFill>
                <a:schemeClr val="tx1"/>
              </a:solidFill>
            </a:rPr>
            <a:t>Fata</a:t>
          </a:r>
          <a:r>
            <a:rPr lang="es-ES" sz="1500" b="1" dirty="0" smtClean="0">
              <a:solidFill>
                <a:schemeClr val="tx1"/>
              </a:solidFill>
            </a:rPr>
            <a:t> Soc. </a:t>
          </a:r>
          <a:r>
            <a:rPr lang="es-ES" sz="1500" b="1" dirty="0" err="1" smtClean="0">
              <a:solidFill>
                <a:schemeClr val="tx1"/>
              </a:solidFill>
            </a:rPr>
            <a:t>Seg</a:t>
          </a:r>
          <a:r>
            <a:rPr lang="es-ES" sz="1500" b="1" dirty="0" smtClean="0">
              <a:solidFill>
                <a:schemeClr val="tx1"/>
              </a:solidFill>
            </a:rPr>
            <a:t>. Mutuos </a:t>
          </a:r>
          <a:r>
            <a:rPr lang="es-ES" sz="1500" b="1" dirty="0" err="1" smtClean="0">
              <a:solidFill>
                <a:schemeClr val="tx1"/>
              </a:solidFill>
            </a:rPr>
            <a:t>apel</a:t>
          </a:r>
          <a:r>
            <a:rPr lang="es-ES" sz="1500" b="1" dirty="0" smtClean="0">
              <a:solidFill>
                <a:schemeClr val="tx1"/>
              </a:solidFill>
            </a:rPr>
            <a:t>. </a:t>
          </a:r>
          <a:r>
            <a:rPr lang="es-ES" sz="1500" b="1" dirty="0" err="1" smtClean="0">
              <a:solidFill>
                <a:schemeClr val="tx1"/>
              </a:solidFill>
            </a:rPr>
            <a:t>deneg</a:t>
          </a:r>
          <a:r>
            <a:rPr lang="es-ES" sz="1500" b="1" dirty="0" smtClean="0">
              <a:solidFill>
                <a:schemeClr val="tx1"/>
              </a:solidFill>
            </a:rPr>
            <a:t>. </a:t>
          </a:r>
          <a:r>
            <a:rPr lang="es-ES" sz="1500" b="1" dirty="0" err="1" smtClean="0">
              <a:solidFill>
                <a:schemeClr val="tx1"/>
              </a:solidFill>
            </a:rPr>
            <a:t>rep</a:t>
          </a:r>
          <a:r>
            <a:rPr lang="es-ES" sz="1500" b="1" dirty="0" smtClean="0">
              <a:solidFill>
                <a:schemeClr val="tx1"/>
              </a:solidFill>
            </a:rPr>
            <a:t>. </a:t>
          </a:r>
          <a:r>
            <a:rPr lang="es-ES" sz="1500" b="1" dirty="0" err="1" smtClean="0">
              <a:solidFill>
                <a:schemeClr val="tx1"/>
              </a:solidFill>
            </a:rPr>
            <a:t>gan</a:t>
          </a:r>
          <a:r>
            <a:rPr lang="es-ES" sz="1500" b="1" dirty="0" smtClean="0">
              <a:solidFill>
                <a:schemeClr val="tx1"/>
              </a:solidFill>
            </a:rPr>
            <a:t>. y cap.” </a:t>
          </a:r>
          <a:r>
            <a:rPr lang="es-ES" sz="1500" dirty="0" smtClean="0">
              <a:solidFill>
                <a:schemeClr val="tx1"/>
              </a:solidFill>
            </a:rPr>
            <a:t>CSJN. (11/02/92).</a:t>
          </a:r>
          <a:endParaRPr lang="es-ES" sz="1500" dirty="0">
            <a:solidFill>
              <a:schemeClr val="tx1"/>
            </a:solidFill>
          </a:endParaRPr>
        </a:p>
      </dgm:t>
    </dgm:pt>
    <dgm:pt modelId="{341CD43E-400F-4247-815A-2514795E6E62}" type="parTrans" cxnId="{D797CFBD-DF7D-4294-8614-9AFD962FEA12}">
      <dgm:prSet/>
      <dgm:spPr/>
      <dgm:t>
        <a:bodyPr/>
        <a:lstStyle/>
        <a:p>
          <a:endParaRPr lang="es-ES"/>
        </a:p>
      </dgm:t>
    </dgm:pt>
    <dgm:pt modelId="{B263E23B-720B-4807-BA9F-2B99722AC9F2}" type="sibTrans" cxnId="{D797CFBD-DF7D-4294-8614-9AFD962FEA12}">
      <dgm:prSet/>
      <dgm:spPr/>
      <dgm:t>
        <a:bodyPr/>
        <a:lstStyle/>
        <a:p>
          <a:endParaRPr lang="es-ES"/>
        </a:p>
      </dgm:t>
    </dgm:pt>
    <dgm:pt modelId="{00E8E7B5-E492-451D-B585-124043DEFA31}">
      <dgm:prSet phldrT="[Texto]" custT="1"/>
      <dgm:spPr>
        <a:solidFill>
          <a:srgbClr val="FFFF00"/>
        </a:solidFill>
      </dgm:spPr>
      <dgm:t>
        <a:bodyPr/>
        <a:lstStyle/>
        <a:p>
          <a:pPr algn="l"/>
          <a:r>
            <a:rPr lang="es-ES" sz="1500" b="1" dirty="0" smtClean="0">
              <a:solidFill>
                <a:schemeClr val="tx1"/>
              </a:solidFill>
            </a:rPr>
            <a:t>“</a:t>
          </a:r>
          <a:r>
            <a:rPr lang="es-ES" sz="1500" b="1" dirty="0" err="1" smtClean="0">
              <a:solidFill>
                <a:schemeClr val="tx1"/>
              </a:solidFill>
            </a:rPr>
            <a:t>Asoc</a:t>
          </a:r>
          <a:r>
            <a:rPr lang="es-ES" sz="1500" b="1" dirty="0" smtClean="0">
              <a:solidFill>
                <a:schemeClr val="tx1"/>
              </a:solidFill>
            </a:rPr>
            <a:t>. </a:t>
          </a:r>
          <a:r>
            <a:rPr lang="es-ES" sz="1500" b="1" dirty="0" err="1" smtClean="0">
              <a:solidFill>
                <a:schemeClr val="tx1"/>
              </a:solidFill>
            </a:rPr>
            <a:t>Mut</a:t>
          </a:r>
          <a:r>
            <a:rPr lang="es-ES" sz="1500" b="1" dirty="0" smtClean="0">
              <a:solidFill>
                <a:schemeClr val="tx1"/>
              </a:solidFill>
            </a:rPr>
            <a:t>. Doc. Córdoba c/ </a:t>
          </a:r>
          <a:r>
            <a:rPr lang="es-ES" sz="1500" b="1" dirty="0" err="1" smtClean="0">
              <a:solidFill>
                <a:schemeClr val="tx1"/>
              </a:solidFill>
            </a:rPr>
            <a:t>munic</a:t>
          </a:r>
          <a:r>
            <a:rPr lang="es-ES" sz="1500" b="1" dirty="0" smtClean="0">
              <a:solidFill>
                <a:schemeClr val="tx1"/>
              </a:solidFill>
            </a:rPr>
            <a:t>.”. </a:t>
          </a:r>
          <a:r>
            <a:rPr lang="es-ES" sz="1500" dirty="0" smtClean="0">
              <a:solidFill>
                <a:schemeClr val="tx1"/>
              </a:solidFill>
            </a:rPr>
            <a:t>TSJC. (27/10/15).</a:t>
          </a:r>
          <a:endParaRPr lang="es-ES" sz="1500" dirty="0">
            <a:solidFill>
              <a:schemeClr val="tx1"/>
            </a:solidFill>
          </a:endParaRPr>
        </a:p>
      </dgm:t>
    </dgm:pt>
    <dgm:pt modelId="{60ACD811-651B-4A24-A242-C9BC3F3AC8A6}" type="parTrans" cxnId="{662407A0-9C7C-4230-B2E2-8957CDA7F0B1}">
      <dgm:prSet/>
      <dgm:spPr/>
      <dgm:t>
        <a:bodyPr/>
        <a:lstStyle/>
        <a:p>
          <a:endParaRPr lang="es-ES"/>
        </a:p>
      </dgm:t>
    </dgm:pt>
    <dgm:pt modelId="{466D7109-E456-4DA6-A8CE-32D74CA63DDA}" type="sibTrans" cxnId="{662407A0-9C7C-4230-B2E2-8957CDA7F0B1}">
      <dgm:prSet/>
      <dgm:spPr/>
      <dgm:t>
        <a:bodyPr/>
        <a:lstStyle/>
        <a:p>
          <a:endParaRPr lang="es-ES"/>
        </a:p>
      </dgm:t>
    </dgm:pt>
    <dgm:pt modelId="{717EF8CB-3B37-4D53-9664-80D2876C557A}">
      <dgm:prSet phldrT="[Texto]" custT="1"/>
      <dgm:spPr>
        <a:solidFill>
          <a:srgbClr val="FFFF00"/>
        </a:solidFill>
      </dgm:spPr>
      <dgm:t>
        <a:bodyPr/>
        <a:lstStyle/>
        <a:p>
          <a:pPr algn="l"/>
          <a:r>
            <a:rPr lang="es-ES" sz="1500" b="1" dirty="0" smtClean="0">
              <a:solidFill>
                <a:schemeClr val="tx1"/>
              </a:solidFill>
            </a:rPr>
            <a:t>“</a:t>
          </a:r>
          <a:r>
            <a:rPr lang="es-ES" sz="1500" b="1" dirty="0" err="1" smtClean="0">
              <a:solidFill>
                <a:schemeClr val="tx1"/>
              </a:solidFill>
            </a:rPr>
            <a:t>Feder</a:t>
          </a:r>
          <a:r>
            <a:rPr lang="es-ES" sz="1500" b="1" dirty="0" smtClean="0">
              <a:solidFill>
                <a:schemeClr val="tx1"/>
              </a:solidFill>
            </a:rPr>
            <a:t>. </a:t>
          </a:r>
          <a:r>
            <a:rPr lang="es-ES" sz="1500" b="1" dirty="0" err="1" smtClean="0">
              <a:solidFill>
                <a:schemeClr val="tx1"/>
              </a:solidFill>
            </a:rPr>
            <a:t>Ent</a:t>
          </a:r>
          <a:r>
            <a:rPr lang="es-ES" sz="1500" b="1" dirty="0" smtClean="0">
              <a:solidFill>
                <a:schemeClr val="tx1"/>
              </a:solidFill>
            </a:rPr>
            <a:t>. </a:t>
          </a:r>
          <a:r>
            <a:rPr lang="es-ES" sz="1500" b="1" dirty="0" err="1" smtClean="0">
              <a:solidFill>
                <a:schemeClr val="tx1"/>
              </a:solidFill>
            </a:rPr>
            <a:t>Mut</a:t>
          </a:r>
          <a:r>
            <a:rPr lang="es-ES" sz="1500" b="1" dirty="0" smtClean="0">
              <a:solidFill>
                <a:schemeClr val="tx1"/>
              </a:solidFill>
            </a:rPr>
            <a:t>. Brigadier </a:t>
          </a:r>
          <a:r>
            <a:rPr lang="es-ES" sz="1500" b="1" dirty="0" err="1" smtClean="0">
              <a:solidFill>
                <a:schemeClr val="tx1"/>
              </a:solidFill>
            </a:rPr>
            <a:t>Est.</a:t>
          </a:r>
          <a:r>
            <a:rPr lang="es-ES" sz="1500" b="1" dirty="0" smtClean="0">
              <a:solidFill>
                <a:schemeClr val="tx1"/>
              </a:solidFill>
            </a:rPr>
            <a:t> López C/BCRA. </a:t>
          </a:r>
          <a:r>
            <a:rPr lang="es-ES" sz="1500" b="1" dirty="0" err="1" smtClean="0">
              <a:solidFill>
                <a:schemeClr val="tx1"/>
              </a:solidFill>
            </a:rPr>
            <a:t>Decl</a:t>
          </a:r>
          <a:r>
            <a:rPr lang="es-ES" sz="1500" b="1" dirty="0" smtClean="0">
              <a:solidFill>
                <a:schemeClr val="tx1"/>
              </a:solidFill>
            </a:rPr>
            <a:t>. </a:t>
          </a:r>
          <a:r>
            <a:rPr lang="es-ES" sz="1500" b="1" dirty="0" err="1" smtClean="0">
              <a:solidFill>
                <a:schemeClr val="tx1"/>
              </a:solidFill>
            </a:rPr>
            <a:t>Inconst</a:t>
          </a:r>
          <a:r>
            <a:rPr lang="es-ES" sz="1500" b="1" dirty="0" smtClean="0">
              <a:solidFill>
                <a:schemeClr val="tx1"/>
              </a:solidFill>
            </a:rPr>
            <a:t>.”. </a:t>
          </a:r>
          <a:r>
            <a:rPr lang="es-ES" sz="1500" dirty="0" smtClean="0">
              <a:solidFill>
                <a:schemeClr val="tx1"/>
              </a:solidFill>
            </a:rPr>
            <a:t>CSJN. (14/07/15).</a:t>
          </a:r>
          <a:endParaRPr lang="es-ES" sz="1500" dirty="0">
            <a:solidFill>
              <a:schemeClr val="tx1"/>
            </a:solidFill>
          </a:endParaRPr>
        </a:p>
      </dgm:t>
    </dgm:pt>
    <dgm:pt modelId="{6EFF48B4-1B70-4407-8557-7E2F76398B5E}" type="parTrans" cxnId="{87BDD062-A607-48F3-B19D-03B26F429D38}">
      <dgm:prSet/>
      <dgm:spPr/>
      <dgm:t>
        <a:bodyPr/>
        <a:lstStyle/>
        <a:p>
          <a:endParaRPr lang="es-ES"/>
        </a:p>
      </dgm:t>
    </dgm:pt>
    <dgm:pt modelId="{AE3F1F0A-6382-4A04-97B5-460C1181E692}" type="sibTrans" cxnId="{87BDD062-A607-48F3-B19D-03B26F429D38}">
      <dgm:prSet/>
      <dgm:spPr/>
      <dgm:t>
        <a:bodyPr/>
        <a:lstStyle/>
        <a:p>
          <a:endParaRPr lang="es-ES"/>
        </a:p>
      </dgm:t>
    </dgm:pt>
    <dgm:pt modelId="{2B189CA7-AF32-418B-ACC5-DB4708ECA344}">
      <dgm:prSet phldrT="[Texto]" custT="1"/>
      <dgm:spPr>
        <a:solidFill>
          <a:srgbClr val="FF0000"/>
        </a:solidFill>
      </dgm:spPr>
      <dgm:t>
        <a:bodyPr/>
        <a:lstStyle/>
        <a:p>
          <a:pPr algn="l"/>
          <a:r>
            <a:rPr lang="es-ES" sz="1400" b="1" dirty="0" smtClean="0">
              <a:solidFill>
                <a:schemeClr val="bg1"/>
              </a:solidFill>
            </a:rPr>
            <a:t>“</a:t>
          </a:r>
          <a:r>
            <a:rPr lang="es-ES" sz="1400" b="1" dirty="0" err="1" smtClean="0">
              <a:solidFill>
                <a:schemeClr val="bg1"/>
              </a:solidFill>
            </a:rPr>
            <a:t>Coop</a:t>
          </a:r>
          <a:r>
            <a:rPr lang="es-ES" sz="1400" b="1" dirty="0" smtClean="0">
              <a:solidFill>
                <a:schemeClr val="bg1"/>
              </a:solidFill>
            </a:rPr>
            <a:t>. Farm. de Prov. y Consumo Alberdi C/ Tucumán s/ </a:t>
          </a:r>
          <a:r>
            <a:rPr lang="es-ES" sz="1400" b="1" dirty="0" err="1" smtClean="0">
              <a:solidFill>
                <a:schemeClr val="bg1"/>
              </a:solidFill>
            </a:rPr>
            <a:t>Inconst</a:t>
          </a:r>
          <a:r>
            <a:rPr lang="es-ES" sz="1400" b="1" dirty="0" smtClean="0">
              <a:solidFill>
                <a:schemeClr val="bg1"/>
              </a:solidFill>
            </a:rPr>
            <a:t>”</a:t>
          </a:r>
          <a:r>
            <a:rPr lang="es-ES" sz="1400" dirty="0" smtClean="0">
              <a:solidFill>
                <a:schemeClr val="bg1"/>
              </a:solidFill>
            </a:rPr>
            <a:t>. CSJ Tucumán. (02/03/17).</a:t>
          </a:r>
          <a:endParaRPr lang="es-ES" sz="1400" dirty="0">
            <a:solidFill>
              <a:schemeClr val="bg1"/>
            </a:solidFill>
          </a:endParaRPr>
        </a:p>
      </dgm:t>
    </dgm:pt>
    <dgm:pt modelId="{055136B6-74D3-4680-9F06-EE9E0CFAC51A}" type="parTrans" cxnId="{B25D503E-12D6-4B59-A1FC-E524780A0116}">
      <dgm:prSet/>
      <dgm:spPr/>
      <dgm:t>
        <a:bodyPr/>
        <a:lstStyle/>
        <a:p>
          <a:endParaRPr lang="es-ES"/>
        </a:p>
      </dgm:t>
    </dgm:pt>
    <dgm:pt modelId="{7B0E9017-8CDD-4D25-8ABA-8947E56A842B}" type="sibTrans" cxnId="{B25D503E-12D6-4B59-A1FC-E524780A0116}">
      <dgm:prSet/>
      <dgm:spPr/>
      <dgm:t>
        <a:bodyPr/>
        <a:lstStyle/>
        <a:p>
          <a:endParaRPr lang="es-ES"/>
        </a:p>
      </dgm:t>
    </dgm:pt>
    <dgm:pt modelId="{DB936D2A-1063-46F1-80C4-EBD6BE563CD0}">
      <dgm:prSet phldrT="[Texto]" custT="1"/>
      <dgm:spPr>
        <a:solidFill>
          <a:srgbClr val="FF0000"/>
        </a:solidFill>
      </dgm:spPr>
      <dgm:t>
        <a:bodyPr/>
        <a:lstStyle/>
        <a:p>
          <a:pPr algn="l"/>
          <a:r>
            <a:rPr lang="es-ES" sz="1400" b="1" dirty="0" smtClean="0">
              <a:solidFill>
                <a:schemeClr val="bg1"/>
              </a:solidFill>
            </a:rPr>
            <a:t>“</a:t>
          </a:r>
          <a:r>
            <a:rPr lang="es-ES" sz="1400" b="1" dirty="0" err="1" smtClean="0">
              <a:solidFill>
                <a:schemeClr val="bg1"/>
              </a:solidFill>
            </a:rPr>
            <a:t>Asoc</a:t>
          </a:r>
          <a:r>
            <a:rPr lang="es-ES" sz="1400" b="1" dirty="0" smtClean="0">
              <a:solidFill>
                <a:schemeClr val="bg1"/>
              </a:solidFill>
            </a:rPr>
            <a:t>. Bancaria c/ </a:t>
          </a:r>
          <a:r>
            <a:rPr lang="es-ES" sz="1400" b="1" dirty="0" err="1" smtClean="0">
              <a:solidFill>
                <a:schemeClr val="bg1"/>
              </a:solidFill>
            </a:rPr>
            <a:t>Pcia</a:t>
          </a:r>
          <a:r>
            <a:rPr lang="es-ES" sz="1400" b="1" dirty="0" smtClean="0">
              <a:solidFill>
                <a:schemeClr val="bg1"/>
              </a:solidFill>
            </a:rPr>
            <a:t>. Bs. As”. </a:t>
          </a:r>
          <a:r>
            <a:rPr lang="es-ES" sz="1400" dirty="0" smtClean="0">
              <a:solidFill>
                <a:schemeClr val="bg1"/>
              </a:solidFill>
            </a:rPr>
            <a:t>CSBA. (11/08/22).</a:t>
          </a:r>
          <a:endParaRPr lang="es-ES" sz="1400" dirty="0">
            <a:solidFill>
              <a:schemeClr val="bg1"/>
            </a:solidFill>
          </a:endParaRPr>
        </a:p>
      </dgm:t>
    </dgm:pt>
    <dgm:pt modelId="{AA5AAB3F-29B4-4728-96C9-EFD05B3CBD43}" type="parTrans" cxnId="{88A85553-D5EC-49AA-B841-739067245228}">
      <dgm:prSet/>
      <dgm:spPr/>
      <dgm:t>
        <a:bodyPr/>
        <a:lstStyle/>
        <a:p>
          <a:endParaRPr lang="es-ES"/>
        </a:p>
      </dgm:t>
    </dgm:pt>
    <dgm:pt modelId="{E4439589-75F9-41E7-BC65-EFA2442FDE95}" type="sibTrans" cxnId="{88A85553-D5EC-49AA-B841-739067245228}">
      <dgm:prSet/>
      <dgm:spPr/>
      <dgm:t>
        <a:bodyPr/>
        <a:lstStyle/>
        <a:p>
          <a:endParaRPr lang="es-ES"/>
        </a:p>
      </dgm:t>
    </dgm:pt>
    <dgm:pt modelId="{96B51423-5812-4575-B2A5-17E7949DA0AA}">
      <dgm:prSet phldrT="[Texto]" custT="1"/>
      <dgm:spPr>
        <a:solidFill>
          <a:srgbClr val="FF0000"/>
        </a:solidFill>
      </dgm:spPr>
      <dgm:t>
        <a:bodyPr/>
        <a:lstStyle/>
        <a:p>
          <a:pPr algn="l"/>
          <a:r>
            <a:rPr lang="es-ES" sz="1400" b="1" dirty="0" smtClean="0">
              <a:solidFill>
                <a:schemeClr val="bg1"/>
              </a:solidFill>
            </a:rPr>
            <a:t>“</a:t>
          </a:r>
          <a:r>
            <a:rPr lang="es-ES" sz="1400" b="1" dirty="0" err="1" smtClean="0">
              <a:solidFill>
                <a:schemeClr val="bg1"/>
              </a:solidFill>
            </a:rPr>
            <a:t>Asoc</a:t>
          </a:r>
          <a:r>
            <a:rPr lang="es-ES" sz="1400" b="1" dirty="0" smtClean="0">
              <a:solidFill>
                <a:schemeClr val="bg1"/>
              </a:solidFill>
            </a:rPr>
            <a:t>. </a:t>
          </a:r>
          <a:r>
            <a:rPr lang="es-ES" sz="1400" b="1" dirty="0" err="1" smtClean="0">
              <a:solidFill>
                <a:schemeClr val="bg1"/>
              </a:solidFill>
            </a:rPr>
            <a:t>Transp</a:t>
          </a:r>
          <a:r>
            <a:rPr lang="es-ES" sz="1400" b="1" dirty="0" smtClean="0">
              <a:solidFill>
                <a:schemeClr val="bg1"/>
              </a:solidFill>
            </a:rPr>
            <a:t>. Unidos </a:t>
          </a:r>
          <a:r>
            <a:rPr lang="es-ES" sz="1400" b="1" dirty="0" err="1" smtClean="0">
              <a:solidFill>
                <a:schemeClr val="bg1"/>
              </a:solidFill>
            </a:rPr>
            <a:t>Elortondo</a:t>
          </a:r>
          <a:r>
            <a:rPr lang="es-ES" sz="1400" b="1" dirty="0" smtClean="0">
              <a:solidFill>
                <a:schemeClr val="bg1"/>
              </a:solidFill>
            </a:rPr>
            <a:t> c/Santa Fe. </a:t>
          </a:r>
          <a:r>
            <a:rPr lang="es-ES" sz="1400" b="1" dirty="0" err="1" smtClean="0">
              <a:solidFill>
                <a:schemeClr val="bg1"/>
              </a:solidFill>
            </a:rPr>
            <a:t>Inconst</a:t>
          </a:r>
          <a:r>
            <a:rPr lang="es-ES" sz="1400" b="1" dirty="0" smtClean="0">
              <a:solidFill>
                <a:schemeClr val="bg1"/>
              </a:solidFill>
            </a:rPr>
            <a:t>.” </a:t>
          </a:r>
          <a:r>
            <a:rPr lang="es-ES" sz="1400" dirty="0" smtClean="0">
              <a:solidFill>
                <a:schemeClr val="bg1"/>
              </a:solidFill>
            </a:rPr>
            <a:t>CSJ Santa Fe. (23/12/19).</a:t>
          </a:r>
          <a:endParaRPr lang="es-ES" sz="1400" dirty="0">
            <a:solidFill>
              <a:schemeClr val="bg1"/>
            </a:solidFill>
          </a:endParaRPr>
        </a:p>
      </dgm:t>
    </dgm:pt>
    <dgm:pt modelId="{ECB77715-F0A8-44F1-995F-DD88B5797AB0}" type="parTrans" cxnId="{A34CDFDF-4DEE-4A18-B4B7-BA4386BDB88E}">
      <dgm:prSet/>
      <dgm:spPr/>
      <dgm:t>
        <a:bodyPr/>
        <a:lstStyle/>
        <a:p>
          <a:endParaRPr lang="es-ES"/>
        </a:p>
      </dgm:t>
    </dgm:pt>
    <dgm:pt modelId="{3CEBD5D3-8E9B-455C-9189-3F4B58BAD084}" type="sibTrans" cxnId="{A34CDFDF-4DEE-4A18-B4B7-BA4386BDB88E}">
      <dgm:prSet/>
      <dgm:spPr/>
      <dgm:t>
        <a:bodyPr/>
        <a:lstStyle/>
        <a:p>
          <a:endParaRPr lang="es-ES"/>
        </a:p>
      </dgm:t>
    </dgm:pt>
    <dgm:pt modelId="{E0D4388C-2F12-4C12-9459-CCF829F521CA}">
      <dgm:prSet phldrT="[Texto]" custT="1"/>
      <dgm:spPr>
        <a:solidFill>
          <a:srgbClr val="FFFF00"/>
        </a:solidFill>
      </dgm:spPr>
      <dgm:t>
        <a:bodyPr/>
        <a:lstStyle/>
        <a:p>
          <a:pPr algn="l"/>
          <a:r>
            <a:rPr lang="es-ES" sz="1500" dirty="0" smtClean="0">
              <a:solidFill>
                <a:schemeClr val="tx1"/>
              </a:solidFill>
            </a:rPr>
            <a:t>“</a:t>
          </a:r>
          <a:r>
            <a:rPr lang="es-ES" sz="1500" b="1" dirty="0" smtClean="0">
              <a:solidFill>
                <a:schemeClr val="tx1"/>
              </a:solidFill>
            </a:rPr>
            <a:t>Asociación </a:t>
          </a:r>
          <a:r>
            <a:rPr lang="es-ES" sz="1500" b="1" dirty="0" err="1" smtClean="0">
              <a:solidFill>
                <a:schemeClr val="tx1"/>
              </a:solidFill>
            </a:rPr>
            <a:t>Mut</a:t>
          </a:r>
          <a:r>
            <a:rPr lang="es-ES" sz="1500" b="1" dirty="0" smtClean="0">
              <a:solidFill>
                <a:schemeClr val="tx1"/>
              </a:solidFill>
            </a:rPr>
            <a:t>. Consejeros de los Arroyos </a:t>
          </a:r>
          <a:r>
            <a:rPr lang="es-ES" sz="1500" b="1" dirty="0" err="1" smtClean="0">
              <a:solidFill>
                <a:schemeClr val="tx1"/>
              </a:solidFill>
            </a:rPr>
            <a:t>Coop</a:t>
          </a:r>
          <a:r>
            <a:rPr lang="es-ES" sz="1500" b="1" dirty="0" smtClean="0">
              <a:solidFill>
                <a:schemeClr val="tx1"/>
              </a:solidFill>
            </a:rPr>
            <a:t>. </a:t>
          </a:r>
          <a:r>
            <a:rPr lang="es-ES" sz="1500" b="1" dirty="0" err="1" smtClean="0">
              <a:solidFill>
                <a:schemeClr val="tx1"/>
              </a:solidFill>
            </a:rPr>
            <a:t>Emp</a:t>
          </a:r>
          <a:r>
            <a:rPr lang="es-ES" sz="1500" b="1" dirty="0" smtClean="0">
              <a:solidFill>
                <a:schemeClr val="tx1"/>
              </a:solidFill>
            </a:rPr>
            <a:t>. </a:t>
          </a:r>
          <a:r>
            <a:rPr lang="es-ES" sz="1500" b="1" dirty="0" err="1" smtClean="0">
              <a:solidFill>
                <a:schemeClr val="tx1"/>
              </a:solidFill>
            </a:rPr>
            <a:t>Mult</a:t>
          </a:r>
          <a:r>
            <a:rPr lang="es-ES" sz="1500" b="1" dirty="0" smtClean="0">
              <a:solidFill>
                <a:schemeClr val="tx1"/>
              </a:solidFill>
            </a:rPr>
            <a:t>. </a:t>
          </a:r>
          <a:r>
            <a:rPr lang="es-ES" sz="1500" b="1" dirty="0" err="1" smtClean="0">
              <a:solidFill>
                <a:schemeClr val="tx1"/>
              </a:solidFill>
            </a:rPr>
            <a:t>Decl</a:t>
          </a:r>
          <a:r>
            <a:rPr lang="es-ES" sz="1500" b="1" dirty="0" smtClean="0">
              <a:solidFill>
                <a:schemeClr val="tx1"/>
              </a:solidFill>
            </a:rPr>
            <a:t>. de Certeza.”</a:t>
          </a:r>
          <a:r>
            <a:rPr lang="es-AR" sz="1500" b="0" dirty="0" smtClean="0">
              <a:solidFill>
                <a:schemeClr val="tx1"/>
              </a:solidFill>
            </a:rPr>
            <a:t> SCPBA. (13/02/2019).</a:t>
          </a:r>
          <a:endParaRPr lang="es-ES" sz="1500" dirty="0">
            <a:solidFill>
              <a:schemeClr val="tx1"/>
            </a:solidFill>
          </a:endParaRPr>
        </a:p>
      </dgm:t>
    </dgm:pt>
    <dgm:pt modelId="{B9FD64B0-B365-4B7C-84AE-1F105C957FB4}" type="parTrans" cxnId="{F8A21B6A-B263-48A5-BB3D-B7BAA6CC2F6D}">
      <dgm:prSet/>
      <dgm:spPr/>
      <dgm:t>
        <a:bodyPr/>
        <a:lstStyle/>
        <a:p>
          <a:endParaRPr lang="es-ES"/>
        </a:p>
      </dgm:t>
    </dgm:pt>
    <dgm:pt modelId="{ECCA5E36-128E-4CF0-A52D-64E5BADB6AC0}" type="sibTrans" cxnId="{F8A21B6A-B263-48A5-BB3D-B7BAA6CC2F6D}">
      <dgm:prSet/>
      <dgm:spPr/>
      <dgm:t>
        <a:bodyPr/>
        <a:lstStyle/>
        <a:p>
          <a:endParaRPr lang="es-ES"/>
        </a:p>
      </dgm:t>
    </dgm:pt>
    <dgm:pt modelId="{EA183C77-78A1-4498-A8AA-96248DC05067}">
      <dgm:prSet phldrT="[Texto]" custT="1"/>
      <dgm:spPr>
        <a:solidFill>
          <a:srgbClr val="FF0000"/>
        </a:solidFill>
      </dgm:spPr>
      <dgm:t>
        <a:bodyPr/>
        <a:lstStyle/>
        <a:p>
          <a:pPr algn="l"/>
          <a:r>
            <a:rPr lang="es-AR" sz="1400" dirty="0" smtClean="0">
              <a:solidFill>
                <a:schemeClr val="bg1"/>
              </a:solidFill>
            </a:rPr>
            <a:t> </a:t>
          </a:r>
          <a:r>
            <a:rPr lang="es-ES" sz="1400" b="1" dirty="0" smtClean="0">
              <a:solidFill>
                <a:schemeClr val="bg1"/>
              </a:solidFill>
            </a:rPr>
            <a:t>“</a:t>
          </a:r>
          <a:r>
            <a:rPr lang="es-ES" sz="1400" b="1" dirty="0" err="1" smtClean="0">
              <a:solidFill>
                <a:schemeClr val="bg1"/>
              </a:solidFill>
            </a:rPr>
            <a:t>Autom</a:t>
          </a:r>
          <a:r>
            <a:rPr lang="es-ES" sz="1400" b="1" dirty="0" smtClean="0">
              <a:solidFill>
                <a:schemeClr val="bg1"/>
              </a:solidFill>
            </a:rPr>
            <a:t>. Club. </a:t>
          </a:r>
          <a:r>
            <a:rPr lang="es-ES" sz="1400" b="1" dirty="0" err="1" smtClean="0">
              <a:solidFill>
                <a:schemeClr val="bg1"/>
              </a:solidFill>
            </a:rPr>
            <a:t>Arg</a:t>
          </a:r>
          <a:r>
            <a:rPr lang="es-ES" sz="1400" b="1" dirty="0" smtClean="0">
              <a:solidFill>
                <a:schemeClr val="bg1"/>
              </a:solidFill>
            </a:rPr>
            <a:t>. c/GCBA s/</a:t>
          </a:r>
          <a:r>
            <a:rPr lang="es-ES" sz="1400" b="1" dirty="0" err="1" smtClean="0">
              <a:solidFill>
                <a:schemeClr val="bg1"/>
              </a:solidFill>
            </a:rPr>
            <a:t>rep</a:t>
          </a:r>
          <a:r>
            <a:rPr lang="es-ES" sz="1400" b="1" dirty="0" smtClean="0">
              <a:solidFill>
                <a:schemeClr val="bg1"/>
              </a:solidFill>
            </a:rPr>
            <a:t>”. TSJ. </a:t>
          </a:r>
          <a:r>
            <a:rPr lang="es-ES" sz="1400" dirty="0" smtClean="0">
              <a:solidFill>
                <a:schemeClr val="bg1"/>
              </a:solidFill>
            </a:rPr>
            <a:t>(13/12/23).</a:t>
          </a:r>
        </a:p>
        <a:p>
          <a:pPr algn="l"/>
          <a:r>
            <a:rPr lang="es-ES" sz="1400" b="1" dirty="0" smtClean="0">
              <a:solidFill>
                <a:schemeClr val="bg1"/>
              </a:solidFill>
            </a:rPr>
            <a:t>“</a:t>
          </a:r>
          <a:r>
            <a:rPr lang="es-ES" sz="1400" b="1" dirty="0" err="1" smtClean="0">
              <a:solidFill>
                <a:schemeClr val="bg1"/>
              </a:solidFill>
            </a:rPr>
            <a:t>Sancor</a:t>
          </a:r>
          <a:r>
            <a:rPr lang="es-ES" sz="1400" b="1" dirty="0" smtClean="0">
              <a:solidFill>
                <a:schemeClr val="bg1"/>
              </a:solidFill>
            </a:rPr>
            <a:t>”. </a:t>
          </a:r>
          <a:r>
            <a:rPr lang="es-ES" sz="1400" dirty="0" smtClean="0">
              <a:solidFill>
                <a:schemeClr val="bg1"/>
              </a:solidFill>
            </a:rPr>
            <a:t>CA Sala III. CABA. 25/04/24.</a:t>
          </a:r>
          <a:endParaRPr lang="es-ES" sz="1400" dirty="0">
            <a:solidFill>
              <a:schemeClr val="bg1"/>
            </a:solidFill>
          </a:endParaRPr>
        </a:p>
      </dgm:t>
    </dgm:pt>
    <dgm:pt modelId="{FD5EABBF-08B2-4DBF-BCA5-25E432EE99E3}" type="parTrans" cxnId="{DEA34625-E9DE-4AE2-97C7-DF4F06FA7F2A}">
      <dgm:prSet/>
      <dgm:spPr/>
      <dgm:t>
        <a:bodyPr/>
        <a:lstStyle/>
        <a:p>
          <a:endParaRPr lang="es-ES"/>
        </a:p>
      </dgm:t>
    </dgm:pt>
    <dgm:pt modelId="{E97512EB-AD65-43F5-97AB-00A9C610F02E}" type="sibTrans" cxnId="{DEA34625-E9DE-4AE2-97C7-DF4F06FA7F2A}">
      <dgm:prSet/>
      <dgm:spPr/>
      <dgm:t>
        <a:bodyPr/>
        <a:lstStyle/>
        <a:p>
          <a:endParaRPr lang="es-ES"/>
        </a:p>
      </dgm:t>
    </dgm:pt>
    <dgm:pt modelId="{219C001D-1747-47FB-B1F2-0A5ABEF60B00}">
      <dgm:prSet phldrT="[Texto]" custT="1"/>
      <dgm:spPr>
        <a:solidFill>
          <a:srgbClr val="FF0000"/>
        </a:solidFill>
      </dgm:spPr>
      <dgm:t>
        <a:bodyPr/>
        <a:lstStyle/>
        <a:p>
          <a:pPr algn="l"/>
          <a:endParaRPr lang="es-ES" sz="1500" dirty="0">
            <a:solidFill>
              <a:schemeClr val="bg1"/>
            </a:solidFill>
          </a:endParaRPr>
        </a:p>
      </dgm:t>
    </dgm:pt>
    <dgm:pt modelId="{1CEE58E3-AD24-44F6-AC73-D138D0F110B6}" type="parTrans" cxnId="{2000C33F-2801-4633-9968-BA9C363FFE4A}">
      <dgm:prSet/>
      <dgm:spPr/>
      <dgm:t>
        <a:bodyPr/>
        <a:lstStyle/>
        <a:p>
          <a:endParaRPr lang="es-ES"/>
        </a:p>
      </dgm:t>
    </dgm:pt>
    <dgm:pt modelId="{B39176DE-59FA-4B3E-9076-614101EE0F76}" type="sibTrans" cxnId="{2000C33F-2801-4633-9968-BA9C363FFE4A}">
      <dgm:prSet/>
      <dgm:spPr/>
      <dgm:t>
        <a:bodyPr/>
        <a:lstStyle/>
        <a:p>
          <a:endParaRPr lang="es-ES"/>
        </a:p>
      </dgm:t>
    </dgm:pt>
    <dgm:pt modelId="{930A86A3-175D-4DA7-BAE0-E7C2ADFAC900}">
      <dgm:prSet phldrT="[Texto]" custT="1"/>
      <dgm:spPr>
        <a:solidFill>
          <a:srgbClr val="FF0000"/>
        </a:solidFill>
      </dgm:spPr>
      <dgm:t>
        <a:bodyPr/>
        <a:lstStyle/>
        <a:p>
          <a:pPr algn="l"/>
          <a:r>
            <a:rPr lang="es-ES" sz="1400" b="1" i="0" dirty="0" smtClean="0">
              <a:solidFill>
                <a:schemeClr val="bg1"/>
              </a:solidFill>
            </a:rPr>
            <a:t> “Colegio de Farm. Prov. Corrientes s/Acción contenciosa administrativa” </a:t>
          </a:r>
          <a:r>
            <a:rPr lang="es-ES" sz="1400" b="0" i="0" dirty="0" smtClean="0">
              <a:solidFill>
                <a:schemeClr val="bg1"/>
              </a:solidFill>
            </a:rPr>
            <a:t>- STJ Corrientes – (19/9/2022).</a:t>
          </a:r>
          <a:endParaRPr lang="es-ES" sz="1400" dirty="0">
            <a:solidFill>
              <a:schemeClr val="bg1"/>
            </a:solidFill>
          </a:endParaRPr>
        </a:p>
      </dgm:t>
    </dgm:pt>
    <dgm:pt modelId="{8C8BB4A3-1BE0-4F71-A91A-B18537075194}" type="parTrans" cxnId="{E2EC648F-1015-4BD4-BA92-1BE8F71093B7}">
      <dgm:prSet/>
      <dgm:spPr/>
      <dgm:t>
        <a:bodyPr/>
        <a:lstStyle/>
        <a:p>
          <a:endParaRPr lang="es-ES"/>
        </a:p>
      </dgm:t>
    </dgm:pt>
    <dgm:pt modelId="{31133DF3-3036-418E-A4FD-37FA07C00EF7}" type="sibTrans" cxnId="{E2EC648F-1015-4BD4-BA92-1BE8F71093B7}">
      <dgm:prSet/>
      <dgm:spPr/>
      <dgm:t>
        <a:bodyPr/>
        <a:lstStyle/>
        <a:p>
          <a:endParaRPr lang="es-ES"/>
        </a:p>
      </dgm:t>
    </dgm:pt>
    <dgm:pt modelId="{765C3FBD-CE77-484A-831B-051D90FD8A1C}">
      <dgm:prSet phldrT="[Texto]" custT="1"/>
      <dgm:spPr>
        <a:solidFill>
          <a:srgbClr val="FFFF00"/>
        </a:solidFill>
      </dgm:spPr>
      <dgm:t>
        <a:bodyPr/>
        <a:lstStyle/>
        <a:p>
          <a:pPr algn="l"/>
          <a:r>
            <a:rPr lang="es-AR" sz="1500" b="1" dirty="0" smtClean="0">
              <a:solidFill>
                <a:schemeClr val="tx1"/>
              </a:solidFill>
            </a:rPr>
            <a:t> “</a:t>
          </a:r>
          <a:r>
            <a:rPr lang="es-AR" sz="1500" b="1" dirty="0" err="1" smtClean="0">
              <a:solidFill>
                <a:schemeClr val="tx1"/>
              </a:solidFill>
            </a:rPr>
            <a:t>Asoc</a:t>
          </a:r>
          <a:r>
            <a:rPr lang="es-AR" sz="1500" b="1" dirty="0" smtClean="0">
              <a:solidFill>
                <a:schemeClr val="tx1"/>
              </a:solidFill>
            </a:rPr>
            <a:t>. </a:t>
          </a:r>
          <a:r>
            <a:rPr lang="es-AR" sz="1500" b="1" dirty="0" err="1" smtClean="0">
              <a:solidFill>
                <a:schemeClr val="tx1"/>
              </a:solidFill>
            </a:rPr>
            <a:t>Mut</a:t>
          </a:r>
          <a:r>
            <a:rPr lang="es-AR" sz="1500" b="1" dirty="0" smtClean="0">
              <a:solidFill>
                <a:schemeClr val="tx1"/>
              </a:solidFill>
            </a:rPr>
            <a:t>. </a:t>
          </a:r>
          <a:r>
            <a:rPr lang="es-AR" sz="1500" b="1" dirty="0" err="1" smtClean="0">
              <a:solidFill>
                <a:schemeClr val="tx1"/>
              </a:solidFill>
            </a:rPr>
            <a:t>Ferrov</a:t>
          </a:r>
          <a:r>
            <a:rPr lang="es-AR" sz="1500" b="1" dirty="0" smtClean="0">
              <a:solidFill>
                <a:schemeClr val="tx1"/>
              </a:solidFill>
            </a:rPr>
            <a:t>. Pergamino F.C. Mitre. </a:t>
          </a:r>
          <a:r>
            <a:rPr lang="es-AR" sz="1500" b="1" dirty="0" err="1" smtClean="0">
              <a:solidFill>
                <a:schemeClr val="tx1"/>
              </a:solidFill>
            </a:rPr>
            <a:t>Decl</a:t>
          </a:r>
          <a:r>
            <a:rPr lang="es-AR" sz="1500" b="1" dirty="0" smtClean="0">
              <a:solidFill>
                <a:schemeClr val="tx1"/>
              </a:solidFill>
            </a:rPr>
            <a:t>. Certeza”. </a:t>
          </a:r>
          <a:r>
            <a:rPr lang="es-AR" sz="1500" b="0" dirty="0" smtClean="0">
              <a:solidFill>
                <a:schemeClr val="tx1"/>
              </a:solidFill>
            </a:rPr>
            <a:t>CA San Nicolás.  (25/08/20).</a:t>
          </a:r>
          <a:r>
            <a:rPr lang="es-AR" sz="1500" dirty="0" smtClean="0">
              <a:solidFill>
                <a:schemeClr val="tx1"/>
              </a:solidFill>
            </a:rPr>
            <a:t> </a:t>
          </a:r>
          <a:endParaRPr lang="es-ES" sz="1500" dirty="0">
            <a:solidFill>
              <a:schemeClr val="tx1"/>
            </a:solidFill>
          </a:endParaRPr>
        </a:p>
      </dgm:t>
    </dgm:pt>
    <dgm:pt modelId="{6E75C317-1357-4B79-A1F0-3FFE70E11EB5}" type="parTrans" cxnId="{78385E5E-EF99-4D19-BEFC-3EE3D24E92FE}">
      <dgm:prSet/>
      <dgm:spPr/>
      <dgm:t>
        <a:bodyPr/>
        <a:lstStyle/>
        <a:p>
          <a:endParaRPr lang="es-ES"/>
        </a:p>
      </dgm:t>
    </dgm:pt>
    <dgm:pt modelId="{E643CD93-1183-49D7-B2B1-F0FF17573A1A}" type="sibTrans" cxnId="{78385E5E-EF99-4D19-BEFC-3EE3D24E92FE}">
      <dgm:prSet/>
      <dgm:spPr/>
      <dgm:t>
        <a:bodyPr/>
        <a:lstStyle/>
        <a:p>
          <a:endParaRPr lang="es-ES"/>
        </a:p>
      </dgm:t>
    </dgm:pt>
    <dgm:pt modelId="{2AC3DC15-DCDB-497F-AE19-5E98928D32E7}">
      <dgm:prSet phldrT="[Texto]" custT="1"/>
      <dgm:spPr>
        <a:solidFill>
          <a:srgbClr val="FF0000"/>
        </a:solidFill>
      </dgm:spPr>
      <dgm:t>
        <a:bodyPr/>
        <a:lstStyle/>
        <a:p>
          <a:pPr algn="l"/>
          <a:r>
            <a:rPr lang="es-AR" sz="1400" b="1" dirty="0" smtClean="0">
              <a:solidFill>
                <a:schemeClr val="bg1"/>
              </a:solidFill>
            </a:rPr>
            <a:t> “Centro </a:t>
          </a:r>
          <a:r>
            <a:rPr lang="es-AR" sz="1400" b="1" dirty="0" err="1" smtClean="0">
              <a:solidFill>
                <a:schemeClr val="bg1"/>
              </a:solidFill>
            </a:rPr>
            <a:t>Emp</a:t>
          </a:r>
          <a:r>
            <a:rPr lang="es-AR" sz="1400" b="1" dirty="0" smtClean="0">
              <a:solidFill>
                <a:schemeClr val="bg1"/>
              </a:solidFill>
            </a:rPr>
            <a:t>. Comercio c/ATER”</a:t>
          </a:r>
          <a:r>
            <a:rPr lang="es-AR" sz="1400" dirty="0" smtClean="0">
              <a:solidFill>
                <a:schemeClr val="bg1"/>
              </a:solidFill>
            </a:rPr>
            <a:t>.  CSJN           (29/05/2018) y CA1.(5/10/22).</a:t>
          </a:r>
          <a:endParaRPr lang="es-ES" sz="1400" b="0" dirty="0">
            <a:solidFill>
              <a:schemeClr val="bg1"/>
            </a:solidFill>
          </a:endParaRPr>
        </a:p>
      </dgm:t>
    </dgm:pt>
    <dgm:pt modelId="{6C9835C8-7215-4092-9043-2671C776B1DD}" type="parTrans" cxnId="{D5E961FC-FBD1-49C7-B3E9-34CB1422FCC0}">
      <dgm:prSet/>
      <dgm:spPr/>
      <dgm:t>
        <a:bodyPr/>
        <a:lstStyle/>
        <a:p>
          <a:endParaRPr lang="es-ES"/>
        </a:p>
      </dgm:t>
    </dgm:pt>
    <dgm:pt modelId="{EB139153-EA20-42B5-8E4E-46FAD971A10C}" type="sibTrans" cxnId="{D5E961FC-FBD1-49C7-B3E9-34CB1422FCC0}">
      <dgm:prSet/>
      <dgm:spPr/>
      <dgm:t>
        <a:bodyPr/>
        <a:lstStyle/>
        <a:p>
          <a:endParaRPr lang="es-ES"/>
        </a:p>
      </dgm:t>
    </dgm:pt>
    <dgm:pt modelId="{8BAECE10-BD00-41FE-92E0-84E0FF5CF5AB}">
      <dgm:prSet phldrT="[Texto]" custT="1"/>
      <dgm:spPr>
        <a:solidFill>
          <a:srgbClr val="FF0000"/>
        </a:solidFill>
      </dgm:spPr>
      <dgm:t>
        <a:bodyPr/>
        <a:lstStyle/>
        <a:p>
          <a:pPr algn="l"/>
          <a:r>
            <a:rPr lang="es-AR" sz="1400" b="1" dirty="0" smtClean="0">
              <a:solidFill>
                <a:schemeClr val="bg1"/>
              </a:solidFill>
            </a:rPr>
            <a:t> “Soc. Española Soc. Mutuos c/ATER”</a:t>
          </a:r>
          <a:r>
            <a:rPr lang="es-AR" sz="1400" dirty="0" smtClean="0">
              <a:solidFill>
                <a:schemeClr val="bg1"/>
              </a:solidFill>
            </a:rPr>
            <a:t>. CA2.(17/06/21).</a:t>
          </a:r>
          <a:endParaRPr lang="es-ES" sz="1400" dirty="0">
            <a:solidFill>
              <a:schemeClr val="bg1"/>
            </a:solidFill>
          </a:endParaRPr>
        </a:p>
      </dgm:t>
    </dgm:pt>
    <dgm:pt modelId="{C86D31FB-CE78-4E76-BB47-998CF40A68FC}" type="parTrans" cxnId="{EBEC6BB7-76A7-48CD-9028-A187CB7ED931}">
      <dgm:prSet/>
      <dgm:spPr/>
      <dgm:t>
        <a:bodyPr/>
        <a:lstStyle/>
        <a:p>
          <a:endParaRPr lang="es-ES"/>
        </a:p>
      </dgm:t>
    </dgm:pt>
    <dgm:pt modelId="{A5B1ECCA-8AD4-42F3-9584-EA157057A59C}" type="sibTrans" cxnId="{EBEC6BB7-76A7-48CD-9028-A187CB7ED931}">
      <dgm:prSet/>
      <dgm:spPr/>
      <dgm:t>
        <a:bodyPr/>
        <a:lstStyle/>
        <a:p>
          <a:endParaRPr lang="es-ES"/>
        </a:p>
      </dgm:t>
    </dgm:pt>
    <dgm:pt modelId="{CF6FD5AA-AC03-475D-AD57-015F74E0FE47}">
      <dgm:prSet phldrT="[Texto]" custT="1"/>
      <dgm:spPr>
        <a:solidFill>
          <a:srgbClr val="FF0000"/>
        </a:solidFill>
      </dgm:spPr>
      <dgm:t>
        <a:bodyPr/>
        <a:lstStyle/>
        <a:p>
          <a:pPr algn="l"/>
          <a:r>
            <a:rPr lang="es-AR" sz="1400" b="1" dirty="0" smtClean="0">
              <a:solidFill>
                <a:schemeClr val="bg1"/>
              </a:solidFill>
            </a:rPr>
            <a:t>“</a:t>
          </a:r>
          <a:r>
            <a:rPr lang="es-AR" sz="1400" b="1" dirty="0" err="1" smtClean="0">
              <a:solidFill>
                <a:schemeClr val="bg1"/>
              </a:solidFill>
            </a:rPr>
            <a:t>Yacht</a:t>
          </a:r>
          <a:r>
            <a:rPr lang="es-AR" sz="1400" b="1" dirty="0" smtClean="0">
              <a:solidFill>
                <a:schemeClr val="bg1"/>
              </a:solidFill>
            </a:rPr>
            <a:t> Club </a:t>
          </a:r>
          <a:r>
            <a:rPr lang="es-AR" sz="1400" b="1" dirty="0" err="1" smtClean="0">
              <a:solidFill>
                <a:schemeClr val="bg1"/>
              </a:solidFill>
            </a:rPr>
            <a:t>Arg</a:t>
          </a:r>
          <a:r>
            <a:rPr lang="es-AR" sz="1400" b="1" dirty="0" smtClean="0">
              <a:solidFill>
                <a:schemeClr val="bg1"/>
              </a:solidFill>
            </a:rPr>
            <a:t>. c/ ARBA”. JCA N° 2. Mar del Plata. </a:t>
          </a:r>
          <a:r>
            <a:rPr lang="es-AR" sz="1400" b="0" dirty="0" smtClean="0">
              <a:solidFill>
                <a:schemeClr val="bg1"/>
              </a:solidFill>
            </a:rPr>
            <a:t>(10/10/23).</a:t>
          </a:r>
          <a:endParaRPr lang="es-ES" sz="1400" dirty="0">
            <a:solidFill>
              <a:schemeClr val="bg1"/>
            </a:solidFill>
          </a:endParaRPr>
        </a:p>
      </dgm:t>
    </dgm:pt>
    <dgm:pt modelId="{FB1B9D97-1AA8-433F-B00A-FFB916FA9015}" type="parTrans" cxnId="{12D27E7C-6971-4FD8-8D02-A0D7CDE20245}">
      <dgm:prSet/>
      <dgm:spPr/>
      <dgm:t>
        <a:bodyPr/>
        <a:lstStyle/>
        <a:p>
          <a:endParaRPr lang="es-ES"/>
        </a:p>
      </dgm:t>
    </dgm:pt>
    <dgm:pt modelId="{55FEFDEE-7BEF-4F2C-AEF5-7AA790844E80}" type="sibTrans" cxnId="{12D27E7C-6971-4FD8-8D02-A0D7CDE20245}">
      <dgm:prSet/>
      <dgm:spPr/>
      <dgm:t>
        <a:bodyPr/>
        <a:lstStyle/>
        <a:p>
          <a:endParaRPr lang="es-ES"/>
        </a:p>
      </dgm:t>
    </dgm:pt>
    <dgm:pt modelId="{96678A7A-F2CD-4F24-AE73-FFAC1FAA39D3}">
      <dgm:prSet phldrT="[Texto]" custT="1"/>
      <dgm:spPr>
        <a:solidFill>
          <a:srgbClr val="FF0000"/>
        </a:solidFill>
      </dgm:spPr>
      <dgm:t>
        <a:bodyPr/>
        <a:lstStyle/>
        <a:p>
          <a:pPr algn="l"/>
          <a:r>
            <a:rPr lang="es-AR" sz="1400" b="1" dirty="0" smtClean="0">
              <a:solidFill>
                <a:schemeClr val="bg1"/>
              </a:solidFill>
            </a:rPr>
            <a:t>“</a:t>
          </a:r>
          <a:r>
            <a:rPr lang="es-AR" sz="1400" b="1" dirty="0" err="1" smtClean="0">
              <a:solidFill>
                <a:schemeClr val="bg1"/>
              </a:solidFill>
            </a:rPr>
            <a:t>Asoc</a:t>
          </a:r>
          <a:r>
            <a:rPr lang="es-AR" sz="1400" b="1" dirty="0" smtClean="0">
              <a:solidFill>
                <a:schemeClr val="bg1"/>
              </a:solidFill>
            </a:rPr>
            <a:t>. </a:t>
          </a:r>
          <a:r>
            <a:rPr lang="es-AR" sz="1400" b="1" dirty="0" err="1" smtClean="0">
              <a:solidFill>
                <a:schemeClr val="bg1"/>
              </a:solidFill>
            </a:rPr>
            <a:t>Mut</a:t>
          </a:r>
          <a:r>
            <a:rPr lang="es-AR" sz="1400" b="1" dirty="0" smtClean="0">
              <a:solidFill>
                <a:schemeClr val="bg1"/>
              </a:solidFill>
            </a:rPr>
            <a:t>. Bancarios c/ATER”</a:t>
          </a:r>
          <a:r>
            <a:rPr lang="es-AR" sz="1400" dirty="0" smtClean="0">
              <a:solidFill>
                <a:schemeClr val="bg1"/>
              </a:solidFill>
            </a:rPr>
            <a:t>. CA2.(1/10/24).</a:t>
          </a:r>
          <a:endParaRPr lang="es-ES" sz="1400" dirty="0">
            <a:solidFill>
              <a:schemeClr val="bg1"/>
            </a:solidFill>
          </a:endParaRPr>
        </a:p>
      </dgm:t>
    </dgm:pt>
    <dgm:pt modelId="{D530E8DA-9046-4028-85CD-80372331C15A}" type="parTrans" cxnId="{2E670CCF-2D22-4230-AD4B-F7B8CEE7BFC7}">
      <dgm:prSet/>
      <dgm:spPr/>
      <dgm:t>
        <a:bodyPr/>
        <a:lstStyle/>
        <a:p>
          <a:endParaRPr lang="es-ES"/>
        </a:p>
      </dgm:t>
    </dgm:pt>
    <dgm:pt modelId="{22651577-0D34-41F3-A60E-E41ACB058EFB}" type="sibTrans" cxnId="{2E670CCF-2D22-4230-AD4B-F7B8CEE7BFC7}">
      <dgm:prSet/>
      <dgm:spPr/>
      <dgm:t>
        <a:bodyPr/>
        <a:lstStyle/>
        <a:p>
          <a:endParaRPr lang="es-ES"/>
        </a:p>
      </dgm:t>
    </dgm:pt>
    <dgm:pt modelId="{58C00E82-49F7-4E8D-B260-6F736A3CF28F}">
      <dgm:prSet phldrT="[Texto]" custT="1"/>
      <dgm:spPr>
        <a:solidFill>
          <a:srgbClr val="FF0000"/>
        </a:solidFill>
      </dgm:spPr>
      <dgm:t>
        <a:bodyPr/>
        <a:lstStyle/>
        <a:p>
          <a:pPr algn="l"/>
          <a:r>
            <a:rPr lang="es-AR" sz="1400" b="1" dirty="0" smtClean="0">
              <a:solidFill>
                <a:schemeClr val="bg1"/>
              </a:solidFill>
            </a:rPr>
            <a:t>“</a:t>
          </a:r>
          <a:r>
            <a:rPr lang="es-AR" sz="1400" b="1" dirty="0" err="1" smtClean="0">
              <a:solidFill>
                <a:schemeClr val="bg1"/>
              </a:solidFill>
            </a:rPr>
            <a:t>Sancor</a:t>
          </a:r>
          <a:r>
            <a:rPr lang="es-AR" sz="1400" b="1" dirty="0" smtClean="0">
              <a:solidFill>
                <a:schemeClr val="bg1"/>
              </a:solidFill>
            </a:rPr>
            <a:t> </a:t>
          </a:r>
          <a:r>
            <a:rPr lang="es-AR" sz="1400" b="1" dirty="0" err="1" smtClean="0">
              <a:solidFill>
                <a:schemeClr val="bg1"/>
              </a:solidFill>
            </a:rPr>
            <a:t>Coop</a:t>
          </a:r>
          <a:r>
            <a:rPr lang="es-AR" sz="1400" b="1" dirty="0" smtClean="0">
              <a:solidFill>
                <a:schemeClr val="bg1"/>
              </a:solidFill>
            </a:rPr>
            <a:t>. c/ATER”</a:t>
          </a:r>
          <a:r>
            <a:rPr lang="es-AR" sz="1400" dirty="0" smtClean="0">
              <a:solidFill>
                <a:schemeClr val="bg1"/>
              </a:solidFill>
            </a:rPr>
            <a:t>. STJE.(5/10/22).</a:t>
          </a:r>
          <a:endParaRPr lang="es-ES" sz="1200" dirty="0">
            <a:solidFill>
              <a:schemeClr val="bg1"/>
            </a:solidFill>
          </a:endParaRPr>
        </a:p>
      </dgm:t>
    </dgm:pt>
    <dgm:pt modelId="{E124568A-D232-449B-B836-10A53149AD1D}" type="parTrans" cxnId="{9E06F00E-339F-4574-8DAF-31B3C6428EE1}">
      <dgm:prSet/>
      <dgm:spPr/>
      <dgm:t>
        <a:bodyPr/>
        <a:lstStyle/>
        <a:p>
          <a:endParaRPr lang="es-ES"/>
        </a:p>
      </dgm:t>
    </dgm:pt>
    <dgm:pt modelId="{787E91CC-C4AA-4146-97E4-6882E577EEC4}" type="sibTrans" cxnId="{9E06F00E-339F-4574-8DAF-31B3C6428EE1}">
      <dgm:prSet/>
      <dgm:spPr/>
      <dgm:t>
        <a:bodyPr/>
        <a:lstStyle/>
        <a:p>
          <a:endParaRPr lang="es-ES"/>
        </a:p>
      </dgm:t>
    </dgm:pt>
    <dgm:pt modelId="{10CA22A7-CD0A-4C01-A9C5-DC4CD3E0F163}">
      <dgm:prSet phldrT="[Texto]" custT="1"/>
      <dgm:spPr>
        <a:solidFill>
          <a:srgbClr val="FF0000"/>
        </a:solidFill>
      </dgm:spPr>
      <dgm:t>
        <a:bodyPr/>
        <a:lstStyle/>
        <a:p>
          <a:pPr algn="l"/>
          <a:r>
            <a:rPr lang="es-ES" sz="1400" b="1" dirty="0" smtClean="0">
              <a:solidFill>
                <a:schemeClr val="bg1"/>
              </a:solidFill>
            </a:rPr>
            <a:t>“ACA Salud </a:t>
          </a:r>
          <a:r>
            <a:rPr lang="es-ES" sz="1400" b="1" dirty="0" err="1" smtClean="0">
              <a:solidFill>
                <a:schemeClr val="bg1"/>
              </a:solidFill>
            </a:rPr>
            <a:t>Coop</a:t>
          </a:r>
          <a:r>
            <a:rPr lang="es-ES" sz="1400" b="1" dirty="0" smtClean="0">
              <a:solidFill>
                <a:schemeClr val="bg1"/>
              </a:solidFill>
            </a:rPr>
            <a:t>.”. </a:t>
          </a:r>
          <a:r>
            <a:rPr lang="es-ES" sz="1400" b="0" dirty="0" smtClean="0">
              <a:solidFill>
                <a:schemeClr val="bg1"/>
              </a:solidFill>
            </a:rPr>
            <a:t>STJE. Entre </a:t>
          </a:r>
          <a:r>
            <a:rPr lang="es-ES" sz="1400" b="0" dirty="0" err="1" smtClean="0">
              <a:solidFill>
                <a:schemeClr val="bg1"/>
              </a:solidFill>
            </a:rPr>
            <a:t>Rios</a:t>
          </a:r>
          <a:r>
            <a:rPr lang="es-ES" sz="1400" b="1" dirty="0" smtClean="0">
              <a:solidFill>
                <a:schemeClr val="bg1"/>
              </a:solidFill>
            </a:rPr>
            <a:t>. </a:t>
          </a:r>
          <a:r>
            <a:rPr lang="es-ES" sz="1400" b="0" dirty="0" smtClean="0">
              <a:solidFill>
                <a:schemeClr val="bg1"/>
              </a:solidFill>
            </a:rPr>
            <a:t>12/11/24.</a:t>
          </a:r>
        </a:p>
      </dgm:t>
    </dgm:pt>
    <dgm:pt modelId="{6F53C0FA-0DCC-4C55-BEC4-58F4741C703B}" type="parTrans" cxnId="{3F5ABF22-5C90-450F-8092-031B9DA8D909}">
      <dgm:prSet/>
      <dgm:spPr/>
      <dgm:t>
        <a:bodyPr/>
        <a:lstStyle/>
        <a:p>
          <a:endParaRPr lang="es-ES"/>
        </a:p>
      </dgm:t>
    </dgm:pt>
    <dgm:pt modelId="{7A5FA04A-7B31-4F42-A39B-33A41993778E}" type="sibTrans" cxnId="{3F5ABF22-5C90-450F-8092-031B9DA8D909}">
      <dgm:prSet/>
      <dgm:spPr/>
      <dgm:t>
        <a:bodyPr/>
        <a:lstStyle/>
        <a:p>
          <a:endParaRPr lang="es-ES"/>
        </a:p>
      </dgm:t>
    </dgm:pt>
    <dgm:pt modelId="{4DB5EE0F-AE51-4D48-94C9-7294DE558382}" type="pres">
      <dgm:prSet presAssocID="{AAC0F924-C1D2-48D8-A804-85C5CB3539CA}" presName="Name0" presStyleCnt="0">
        <dgm:presLayoutVars>
          <dgm:dir/>
          <dgm:animLvl val="lvl"/>
          <dgm:resizeHandles val="exact"/>
        </dgm:presLayoutVars>
      </dgm:prSet>
      <dgm:spPr/>
      <dgm:t>
        <a:bodyPr/>
        <a:lstStyle/>
        <a:p>
          <a:endParaRPr lang="es-ES"/>
        </a:p>
      </dgm:t>
    </dgm:pt>
    <dgm:pt modelId="{6B5AE830-127C-4AC8-8BD4-69776E8C8E62}" type="pres">
      <dgm:prSet presAssocID="{302856FA-17BF-4F59-A312-EF0B2442C0D5}" presName="compositeNode" presStyleCnt="0">
        <dgm:presLayoutVars>
          <dgm:bulletEnabled val="1"/>
        </dgm:presLayoutVars>
      </dgm:prSet>
      <dgm:spPr/>
    </dgm:pt>
    <dgm:pt modelId="{E40750B9-DE7E-4F04-8889-A856C7BBFE42}" type="pres">
      <dgm:prSet presAssocID="{302856FA-17BF-4F59-A312-EF0B2442C0D5}" presName="bgRect" presStyleLbl="node1" presStyleIdx="0" presStyleCnt="2" custScaleX="64304"/>
      <dgm:spPr/>
      <dgm:t>
        <a:bodyPr/>
        <a:lstStyle/>
        <a:p>
          <a:endParaRPr lang="es-ES"/>
        </a:p>
      </dgm:t>
    </dgm:pt>
    <dgm:pt modelId="{F81BB46D-1511-4713-91BB-77F1ADA77E8A}" type="pres">
      <dgm:prSet presAssocID="{302856FA-17BF-4F59-A312-EF0B2442C0D5}" presName="parentNode" presStyleLbl="node1" presStyleIdx="0" presStyleCnt="2">
        <dgm:presLayoutVars>
          <dgm:chMax val="0"/>
          <dgm:bulletEnabled val="1"/>
        </dgm:presLayoutVars>
      </dgm:prSet>
      <dgm:spPr/>
      <dgm:t>
        <a:bodyPr/>
        <a:lstStyle/>
        <a:p>
          <a:endParaRPr lang="es-ES"/>
        </a:p>
      </dgm:t>
    </dgm:pt>
    <dgm:pt modelId="{0BAE1BD6-E1CF-4783-89FA-7C9D167E75A4}" type="pres">
      <dgm:prSet presAssocID="{302856FA-17BF-4F59-A312-EF0B2442C0D5}" presName="childNode" presStyleLbl="node1" presStyleIdx="0" presStyleCnt="2">
        <dgm:presLayoutVars>
          <dgm:bulletEnabled val="1"/>
        </dgm:presLayoutVars>
      </dgm:prSet>
      <dgm:spPr/>
      <dgm:t>
        <a:bodyPr/>
        <a:lstStyle/>
        <a:p>
          <a:endParaRPr lang="es-ES"/>
        </a:p>
      </dgm:t>
    </dgm:pt>
    <dgm:pt modelId="{6F27C3D2-7CF6-424D-BE9C-E7DA3978EA79}" type="pres">
      <dgm:prSet presAssocID="{301ED108-1AE5-44A9-80BB-EDDF81C22288}" presName="hSp" presStyleCnt="0"/>
      <dgm:spPr/>
    </dgm:pt>
    <dgm:pt modelId="{C90ADC3D-5998-4D0F-86A2-FC6E0A55E2D4}" type="pres">
      <dgm:prSet presAssocID="{301ED108-1AE5-44A9-80BB-EDDF81C22288}" presName="vProcSp" presStyleCnt="0"/>
      <dgm:spPr/>
    </dgm:pt>
    <dgm:pt modelId="{F4360722-E252-46AC-91E0-EDCD79427F32}" type="pres">
      <dgm:prSet presAssocID="{301ED108-1AE5-44A9-80BB-EDDF81C22288}" presName="vSp1" presStyleCnt="0"/>
      <dgm:spPr/>
    </dgm:pt>
    <dgm:pt modelId="{C374B02E-683D-4562-AE3B-D25EF8BF564C}" type="pres">
      <dgm:prSet presAssocID="{301ED108-1AE5-44A9-80BB-EDDF81C22288}" presName="simulatedConn" presStyleLbl="solidFgAcc1" presStyleIdx="0" presStyleCnt="1" custLinFactY="77047" custLinFactNeighborX="-9556" custLinFactNeighborY="100000"/>
      <dgm:spPr/>
    </dgm:pt>
    <dgm:pt modelId="{9D796442-12A7-4931-A5EC-64F8836156B6}" type="pres">
      <dgm:prSet presAssocID="{301ED108-1AE5-44A9-80BB-EDDF81C22288}" presName="vSp2" presStyleCnt="0"/>
      <dgm:spPr/>
    </dgm:pt>
    <dgm:pt modelId="{75D16AFA-D4BE-429D-ABBF-8054B27B0A91}" type="pres">
      <dgm:prSet presAssocID="{301ED108-1AE5-44A9-80BB-EDDF81C22288}" presName="sibTrans" presStyleCnt="0"/>
      <dgm:spPr/>
    </dgm:pt>
    <dgm:pt modelId="{D1D41460-ADE9-45B7-B4BF-11AC490D527D}" type="pres">
      <dgm:prSet presAssocID="{D4600558-2CD8-4B81-966F-239DF34D3E6A}" presName="compositeNode" presStyleCnt="0">
        <dgm:presLayoutVars>
          <dgm:bulletEnabled val="1"/>
        </dgm:presLayoutVars>
      </dgm:prSet>
      <dgm:spPr/>
    </dgm:pt>
    <dgm:pt modelId="{0DC4E73D-57BF-487B-B16C-AB17A95E1646}" type="pres">
      <dgm:prSet presAssocID="{D4600558-2CD8-4B81-966F-239DF34D3E6A}" presName="bgRect" presStyleLbl="node1" presStyleIdx="1" presStyleCnt="2" custScaleX="78366"/>
      <dgm:spPr/>
      <dgm:t>
        <a:bodyPr/>
        <a:lstStyle/>
        <a:p>
          <a:endParaRPr lang="es-ES"/>
        </a:p>
      </dgm:t>
    </dgm:pt>
    <dgm:pt modelId="{6D153AE0-93B9-4148-852F-212E00A85204}" type="pres">
      <dgm:prSet presAssocID="{D4600558-2CD8-4B81-966F-239DF34D3E6A}" presName="parentNode" presStyleLbl="node1" presStyleIdx="1" presStyleCnt="2">
        <dgm:presLayoutVars>
          <dgm:chMax val="0"/>
          <dgm:bulletEnabled val="1"/>
        </dgm:presLayoutVars>
      </dgm:prSet>
      <dgm:spPr/>
      <dgm:t>
        <a:bodyPr/>
        <a:lstStyle/>
        <a:p>
          <a:endParaRPr lang="es-ES"/>
        </a:p>
      </dgm:t>
    </dgm:pt>
    <dgm:pt modelId="{7D937BC5-0758-4D5B-8BF5-A4B5AC1A107D}" type="pres">
      <dgm:prSet presAssocID="{D4600558-2CD8-4B81-966F-239DF34D3E6A}" presName="childNode" presStyleLbl="node1" presStyleIdx="1" presStyleCnt="2">
        <dgm:presLayoutVars>
          <dgm:bulletEnabled val="1"/>
        </dgm:presLayoutVars>
      </dgm:prSet>
      <dgm:spPr/>
      <dgm:t>
        <a:bodyPr/>
        <a:lstStyle/>
        <a:p>
          <a:endParaRPr lang="es-ES"/>
        </a:p>
      </dgm:t>
    </dgm:pt>
  </dgm:ptLst>
  <dgm:cxnLst>
    <dgm:cxn modelId="{87BDD062-A607-48F3-B19D-03B26F429D38}" srcId="{302856FA-17BF-4F59-A312-EF0B2442C0D5}" destId="{717EF8CB-3B37-4D53-9664-80D2876C557A}" srcOrd="5" destOrd="0" parTransId="{6EFF48B4-1B70-4407-8557-7E2F76398B5E}" sibTransId="{AE3F1F0A-6382-4A04-97B5-460C1181E692}"/>
    <dgm:cxn modelId="{2000C33F-2801-4633-9968-BA9C363FFE4A}" srcId="{D4600558-2CD8-4B81-966F-239DF34D3E6A}" destId="{219C001D-1747-47FB-B1F2-0A5ABEF60B00}" srcOrd="12" destOrd="0" parTransId="{1CEE58E3-AD24-44F6-AC73-D138D0F110B6}" sibTransId="{B39176DE-59FA-4B3E-9076-614101EE0F76}"/>
    <dgm:cxn modelId="{2E670CCF-2D22-4230-AD4B-F7B8CEE7BFC7}" srcId="{D4600558-2CD8-4B81-966F-239DF34D3E6A}" destId="{96678A7A-F2CD-4F24-AE73-FFAC1FAA39D3}" srcOrd="9" destOrd="0" parTransId="{D530E8DA-9046-4028-85CD-80372331C15A}" sibTransId="{22651577-0D34-41F3-A60E-E41ACB058EFB}"/>
    <dgm:cxn modelId="{7619C96E-EACC-47AF-9F6D-B82B6D46F50F}" type="presOf" srcId="{69D08B43-BDAF-4F9A-AA78-75D517A36A4F}" destId="{0BAE1BD6-E1CF-4783-89FA-7C9D167E75A4}" srcOrd="0" destOrd="2" presId="urn:microsoft.com/office/officeart/2005/8/layout/hProcess7"/>
    <dgm:cxn modelId="{D797CFBD-DF7D-4294-8614-9AFD962FEA12}" srcId="{302856FA-17BF-4F59-A312-EF0B2442C0D5}" destId="{DDAFEC56-08A0-4498-AD90-BFFF737C1184}" srcOrd="3" destOrd="0" parTransId="{341CD43E-400F-4247-815A-2514795E6E62}" sibTransId="{B263E23B-720B-4807-BA9F-2B99722AC9F2}"/>
    <dgm:cxn modelId="{88A85553-D5EC-49AA-B841-739067245228}" srcId="{D4600558-2CD8-4B81-966F-239DF34D3E6A}" destId="{DB936D2A-1063-46F1-80C4-EBD6BE563CD0}" srcOrd="2" destOrd="0" parTransId="{AA5AAB3F-29B4-4728-96C9-EFD05B3CBD43}" sibTransId="{E4439589-75F9-41E7-BC65-EFA2442FDE95}"/>
    <dgm:cxn modelId="{955AB93D-6A4B-4AB6-A4AA-7486AFADF616}" type="presOf" srcId="{EA183C77-78A1-4498-A8AA-96248DC05067}" destId="{7D937BC5-0758-4D5B-8BF5-A4B5AC1A107D}" srcOrd="0" destOrd="4" presId="urn:microsoft.com/office/officeart/2005/8/layout/hProcess7"/>
    <dgm:cxn modelId="{662407A0-9C7C-4230-B2E2-8957CDA7F0B1}" srcId="{302856FA-17BF-4F59-A312-EF0B2442C0D5}" destId="{00E8E7B5-E492-451D-B585-124043DEFA31}" srcOrd="4" destOrd="0" parTransId="{60ACD811-651B-4A24-A242-C9BC3F3AC8A6}" sibTransId="{466D7109-E456-4DA6-A8CE-32D74CA63DDA}"/>
    <dgm:cxn modelId="{F8A21B6A-B263-48A5-BB3D-B7BAA6CC2F6D}" srcId="{302856FA-17BF-4F59-A312-EF0B2442C0D5}" destId="{E0D4388C-2F12-4C12-9459-CCF829F521CA}" srcOrd="6" destOrd="0" parTransId="{B9FD64B0-B365-4B7C-84AE-1F105C957FB4}" sibTransId="{ECCA5E36-128E-4CF0-A52D-64E5BADB6AC0}"/>
    <dgm:cxn modelId="{6696FF27-9361-44F2-86BE-87E7A858C5CD}" type="presOf" srcId="{CF6FD5AA-AC03-475D-AD57-015F74E0FE47}" destId="{7D937BC5-0758-4D5B-8BF5-A4B5AC1A107D}" srcOrd="0" destOrd="3" presId="urn:microsoft.com/office/officeart/2005/8/layout/hProcess7"/>
    <dgm:cxn modelId="{A484C586-720E-41E7-96AA-3F3E6B9213C8}" type="presOf" srcId="{2AC3DC15-DCDB-497F-AE19-5E98928D32E7}" destId="{7D937BC5-0758-4D5B-8BF5-A4B5AC1A107D}" srcOrd="0" destOrd="6" presId="urn:microsoft.com/office/officeart/2005/8/layout/hProcess7"/>
    <dgm:cxn modelId="{DA26BD3B-D06A-4E56-8F3F-A1C72481552C}" type="presOf" srcId="{D4600558-2CD8-4B81-966F-239DF34D3E6A}" destId="{0DC4E73D-57BF-487B-B16C-AB17A95E1646}" srcOrd="0" destOrd="0" presId="urn:microsoft.com/office/officeart/2005/8/layout/hProcess7"/>
    <dgm:cxn modelId="{D50F97A6-7D30-4906-8B96-A73321495985}" type="presOf" srcId="{D0BD217E-9A59-488A-9C65-D4CC618DDAE7}" destId="{0BAE1BD6-E1CF-4783-89FA-7C9D167E75A4}" srcOrd="0" destOrd="1" presId="urn:microsoft.com/office/officeart/2005/8/layout/hProcess7"/>
    <dgm:cxn modelId="{E2EC648F-1015-4BD4-BA92-1BE8F71093B7}" srcId="{D4600558-2CD8-4B81-966F-239DF34D3E6A}" destId="{930A86A3-175D-4DA7-BAE0-E7C2ADFAC900}" srcOrd="5" destOrd="0" parTransId="{8C8BB4A3-1BE0-4F71-A91A-B18537075194}" sibTransId="{31133DF3-3036-418E-A4FD-37FA07C00EF7}"/>
    <dgm:cxn modelId="{A1F602FC-DBEA-4BC4-A09C-3BC826AF7E58}" type="presOf" srcId="{DB936D2A-1063-46F1-80C4-EBD6BE563CD0}" destId="{7D937BC5-0758-4D5B-8BF5-A4B5AC1A107D}" srcOrd="0" destOrd="2" presId="urn:microsoft.com/office/officeart/2005/8/layout/hProcess7"/>
    <dgm:cxn modelId="{476F4504-90A2-4DBC-951D-19146BC83634}" type="presOf" srcId="{717EF8CB-3B37-4D53-9664-80D2876C557A}" destId="{0BAE1BD6-E1CF-4783-89FA-7C9D167E75A4}" srcOrd="0" destOrd="5" presId="urn:microsoft.com/office/officeart/2005/8/layout/hProcess7"/>
    <dgm:cxn modelId="{71D4AD4B-ECFB-443B-A964-A0B95476FD3F}" srcId="{D4600558-2CD8-4B81-966F-239DF34D3E6A}" destId="{BBC7FF0C-3364-44AA-810B-9582A7499096}" srcOrd="0" destOrd="0" parTransId="{3BA538CD-A0BA-443B-93FE-BD3738D8FE9A}" sibTransId="{2D78D947-FE16-4320-B7AD-B87DA5DE528E}"/>
    <dgm:cxn modelId="{12D27E7C-6971-4FD8-8D02-A0D7CDE20245}" srcId="{D4600558-2CD8-4B81-966F-239DF34D3E6A}" destId="{CF6FD5AA-AC03-475D-AD57-015F74E0FE47}" srcOrd="3" destOrd="0" parTransId="{FB1B9D97-1AA8-433F-B00A-FFB916FA9015}" sibTransId="{55FEFDEE-7BEF-4F2C-AEF5-7AA790844E80}"/>
    <dgm:cxn modelId="{9E06F00E-339F-4574-8DAF-31B3C6428EE1}" srcId="{D4600558-2CD8-4B81-966F-239DF34D3E6A}" destId="{58C00E82-49F7-4E8D-B260-6F736A3CF28F}" srcOrd="10" destOrd="0" parTransId="{E124568A-D232-449B-B836-10A53149AD1D}" sibTransId="{787E91CC-C4AA-4146-97E4-6882E577EEC4}"/>
    <dgm:cxn modelId="{31A0A50F-0A03-40C2-8B0A-CE8A8FEF77E0}" srcId="{302856FA-17BF-4F59-A312-EF0B2442C0D5}" destId="{D0BD217E-9A59-488A-9C65-D4CC618DDAE7}" srcOrd="1" destOrd="0" parTransId="{792BBDDA-FB44-4C44-B96D-FBC0FCE60626}" sibTransId="{15CEC465-E8F9-493F-ADA7-C5E67138F170}"/>
    <dgm:cxn modelId="{DAB45DF3-4F73-4059-9C1C-1256E8DD9657}" srcId="{AAC0F924-C1D2-48D8-A804-85C5CB3539CA}" destId="{302856FA-17BF-4F59-A312-EF0B2442C0D5}" srcOrd="0" destOrd="0" parTransId="{0AD24F19-C405-4BEA-BA42-38E62F4A53C6}" sibTransId="{301ED108-1AE5-44A9-80BB-EDDF81C22288}"/>
    <dgm:cxn modelId="{E41503A3-4D67-4E08-9230-150870D3DC09}" srcId="{302856FA-17BF-4F59-A312-EF0B2442C0D5}" destId="{D9BA055B-2180-4F5E-A680-C75C7CF7E97A}" srcOrd="0" destOrd="0" parTransId="{25E4B4DE-9BF6-49BA-ABDF-AFBF125B1671}" sibTransId="{EADA6B9E-6802-44B2-ACC4-7AF128802E28}"/>
    <dgm:cxn modelId="{39771EC2-EA0E-42BB-A247-708624F5744F}" type="presOf" srcId="{AAC0F924-C1D2-48D8-A804-85C5CB3539CA}" destId="{4DB5EE0F-AE51-4D48-94C9-7294DE558382}" srcOrd="0" destOrd="0" presId="urn:microsoft.com/office/officeart/2005/8/layout/hProcess7"/>
    <dgm:cxn modelId="{46059103-118B-4EA8-81D1-3692F754D073}" type="presOf" srcId="{58C00E82-49F7-4E8D-B260-6F736A3CF28F}" destId="{7D937BC5-0758-4D5B-8BF5-A4B5AC1A107D}" srcOrd="0" destOrd="10" presId="urn:microsoft.com/office/officeart/2005/8/layout/hProcess7"/>
    <dgm:cxn modelId="{02B6AC84-53D2-4976-94DA-A6442D4051C0}" type="presOf" srcId="{302856FA-17BF-4F59-A312-EF0B2442C0D5}" destId="{E40750B9-DE7E-4F04-8889-A856C7BBFE42}" srcOrd="0" destOrd="0" presId="urn:microsoft.com/office/officeart/2005/8/layout/hProcess7"/>
    <dgm:cxn modelId="{78385E5E-EF99-4D19-BEFC-3EE3D24E92FE}" srcId="{302856FA-17BF-4F59-A312-EF0B2442C0D5}" destId="{765C3FBD-CE77-484A-831B-051D90FD8A1C}" srcOrd="7" destOrd="0" parTransId="{6E75C317-1357-4B79-A1F0-3FFE70E11EB5}" sibTransId="{E643CD93-1183-49D7-B2B1-F0FF17573A1A}"/>
    <dgm:cxn modelId="{AF3A14CD-B9B0-4076-AB38-C1D0AA710A6F}" type="presOf" srcId="{8BAECE10-BD00-41FE-92E0-84E0FF5CF5AB}" destId="{7D937BC5-0758-4D5B-8BF5-A4B5AC1A107D}" srcOrd="0" destOrd="8" presId="urn:microsoft.com/office/officeart/2005/8/layout/hProcess7"/>
    <dgm:cxn modelId="{B25D503E-12D6-4B59-A1FC-E524780A0116}" srcId="{D4600558-2CD8-4B81-966F-239DF34D3E6A}" destId="{2B189CA7-AF32-418B-ACC5-DB4708ECA344}" srcOrd="1" destOrd="0" parTransId="{055136B6-74D3-4680-9F06-EE9E0CFAC51A}" sibTransId="{7B0E9017-8CDD-4D25-8ABA-8947E56A842B}"/>
    <dgm:cxn modelId="{3F5ABF22-5C90-450F-8092-031B9DA8D909}" srcId="{D4600558-2CD8-4B81-966F-239DF34D3E6A}" destId="{10CA22A7-CD0A-4C01-A9C5-DC4CD3E0F163}" srcOrd="11" destOrd="0" parTransId="{6F53C0FA-0DCC-4C55-BEC4-58F4741C703B}" sibTransId="{7A5FA04A-7B31-4F42-A39B-33A41993778E}"/>
    <dgm:cxn modelId="{D5E961FC-FBD1-49C7-B3E9-34CB1422FCC0}" srcId="{D4600558-2CD8-4B81-966F-239DF34D3E6A}" destId="{2AC3DC15-DCDB-497F-AE19-5E98928D32E7}" srcOrd="6" destOrd="0" parTransId="{6C9835C8-7215-4092-9043-2671C776B1DD}" sibTransId="{EB139153-EA20-42B5-8E4E-46FAD971A10C}"/>
    <dgm:cxn modelId="{5CABD295-3319-4DBB-B852-FF5188597CF1}" type="presOf" srcId="{302856FA-17BF-4F59-A312-EF0B2442C0D5}" destId="{F81BB46D-1511-4713-91BB-77F1ADA77E8A}" srcOrd="1" destOrd="0" presId="urn:microsoft.com/office/officeart/2005/8/layout/hProcess7"/>
    <dgm:cxn modelId="{3984A9DB-6F9C-497D-BEAF-9EA71D42E84C}" srcId="{302856FA-17BF-4F59-A312-EF0B2442C0D5}" destId="{69D08B43-BDAF-4F9A-AA78-75D517A36A4F}" srcOrd="2" destOrd="0" parTransId="{139CAC90-F260-43D5-BDFB-6667A5C2E8CA}" sibTransId="{1918192D-055B-482F-93A5-8C18ACB9F798}"/>
    <dgm:cxn modelId="{D8A538B9-ACE1-4E79-A782-2F40E4077BC7}" type="presOf" srcId="{D4600558-2CD8-4B81-966F-239DF34D3E6A}" destId="{6D153AE0-93B9-4148-852F-212E00A85204}" srcOrd="1" destOrd="0" presId="urn:microsoft.com/office/officeart/2005/8/layout/hProcess7"/>
    <dgm:cxn modelId="{3DC5850B-4549-4467-BB13-75EC057964D5}" type="presOf" srcId="{00E8E7B5-E492-451D-B585-124043DEFA31}" destId="{0BAE1BD6-E1CF-4783-89FA-7C9D167E75A4}" srcOrd="0" destOrd="4" presId="urn:microsoft.com/office/officeart/2005/8/layout/hProcess7"/>
    <dgm:cxn modelId="{98294EBD-C98A-4064-830D-487BE290831D}" type="presOf" srcId="{765C3FBD-CE77-484A-831B-051D90FD8A1C}" destId="{0BAE1BD6-E1CF-4783-89FA-7C9D167E75A4}" srcOrd="0" destOrd="7" presId="urn:microsoft.com/office/officeart/2005/8/layout/hProcess7"/>
    <dgm:cxn modelId="{4AA04688-662B-41D9-92D9-206003A29B06}" type="presOf" srcId="{96678A7A-F2CD-4F24-AE73-FFAC1FAA39D3}" destId="{7D937BC5-0758-4D5B-8BF5-A4B5AC1A107D}" srcOrd="0" destOrd="9" presId="urn:microsoft.com/office/officeart/2005/8/layout/hProcess7"/>
    <dgm:cxn modelId="{98E3EC26-AF25-4A6C-BDFF-9DE028234824}" type="presOf" srcId="{DDAFEC56-08A0-4498-AD90-BFFF737C1184}" destId="{0BAE1BD6-E1CF-4783-89FA-7C9D167E75A4}" srcOrd="0" destOrd="3" presId="urn:microsoft.com/office/officeart/2005/8/layout/hProcess7"/>
    <dgm:cxn modelId="{4EE0A01F-30EC-4E39-88E3-454DDA8FC792}" type="presOf" srcId="{10CA22A7-CD0A-4C01-A9C5-DC4CD3E0F163}" destId="{7D937BC5-0758-4D5B-8BF5-A4B5AC1A107D}" srcOrd="0" destOrd="11" presId="urn:microsoft.com/office/officeart/2005/8/layout/hProcess7"/>
    <dgm:cxn modelId="{48B92734-F18F-4002-9CF2-1C77C11324AA}" srcId="{AAC0F924-C1D2-48D8-A804-85C5CB3539CA}" destId="{D4600558-2CD8-4B81-966F-239DF34D3E6A}" srcOrd="1" destOrd="0" parTransId="{E13B4D81-6186-4DD6-BCEC-9C83FD53D8AD}" sibTransId="{C0985BA2-D51C-40A2-96F1-8659998F785E}"/>
    <dgm:cxn modelId="{2ADCD891-14E6-4C32-9DB7-F89F171C27EF}" type="presOf" srcId="{E0D4388C-2F12-4C12-9459-CCF829F521CA}" destId="{0BAE1BD6-E1CF-4783-89FA-7C9D167E75A4}" srcOrd="0" destOrd="6" presId="urn:microsoft.com/office/officeart/2005/8/layout/hProcess7"/>
    <dgm:cxn modelId="{2AF3C0C7-6CE4-4B9B-94F7-E4B47ED5F7C6}" type="presOf" srcId="{96B51423-5812-4575-B2A5-17E7949DA0AA}" destId="{7D937BC5-0758-4D5B-8BF5-A4B5AC1A107D}" srcOrd="0" destOrd="7" presId="urn:microsoft.com/office/officeart/2005/8/layout/hProcess7"/>
    <dgm:cxn modelId="{057ACBBB-1B7B-4C12-A4DC-7534CDC77EA2}" type="presOf" srcId="{219C001D-1747-47FB-B1F2-0A5ABEF60B00}" destId="{7D937BC5-0758-4D5B-8BF5-A4B5AC1A107D}" srcOrd="0" destOrd="12" presId="urn:microsoft.com/office/officeart/2005/8/layout/hProcess7"/>
    <dgm:cxn modelId="{DEA34625-E9DE-4AE2-97C7-DF4F06FA7F2A}" srcId="{D4600558-2CD8-4B81-966F-239DF34D3E6A}" destId="{EA183C77-78A1-4498-A8AA-96248DC05067}" srcOrd="4" destOrd="0" parTransId="{FD5EABBF-08B2-4DBF-BCA5-25E432EE99E3}" sibTransId="{E97512EB-AD65-43F5-97AB-00A9C610F02E}"/>
    <dgm:cxn modelId="{B3880D9A-4AB0-42A1-AF0B-93DDFBA808EF}" type="presOf" srcId="{2B189CA7-AF32-418B-ACC5-DB4708ECA344}" destId="{7D937BC5-0758-4D5B-8BF5-A4B5AC1A107D}" srcOrd="0" destOrd="1" presId="urn:microsoft.com/office/officeart/2005/8/layout/hProcess7"/>
    <dgm:cxn modelId="{F074A1CA-8396-4AD9-BF08-9AD2CAE9E47C}" type="presOf" srcId="{BBC7FF0C-3364-44AA-810B-9582A7499096}" destId="{7D937BC5-0758-4D5B-8BF5-A4B5AC1A107D}" srcOrd="0" destOrd="0" presId="urn:microsoft.com/office/officeart/2005/8/layout/hProcess7"/>
    <dgm:cxn modelId="{6BBC94A7-92B5-49B7-87F7-A72842293E83}" type="presOf" srcId="{930A86A3-175D-4DA7-BAE0-E7C2ADFAC900}" destId="{7D937BC5-0758-4D5B-8BF5-A4B5AC1A107D}" srcOrd="0" destOrd="5" presId="urn:microsoft.com/office/officeart/2005/8/layout/hProcess7"/>
    <dgm:cxn modelId="{EBEC6BB7-76A7-48CD-9028-A187CB7ED931}" srcId="{D4600558-2CD8-4B81-966F-239DF34D3E6A}" destId="{8BAECE10-BD00-41FE-92E0-84E0FF5CF5AB}" srcOrd="8" destOrd="0" parTransId="{C86D31FB-CE78-4E76-BB47-998CF40A68FC}" sibTransId="{A5B1ECCA-8AD4-42F3-9584-EA157057A59C}"/>
    <dgm:cxn modelId="{A34CDFDF-4DEE-4A18-B4B7-BA4386BDB88E}" srcId="{D4600558-2CD8-4B81-966F-239DF34D3E6A}" destId="{96B51423-5812-4575-B2A5-17E7949DA0AA}" srcOrd="7" destOrd="0" parTransId="{ECB77715-F0A8-44F1-995F-DD88B5797AB0}" sibTransId="{3CEBD5D3-8E9B-455C-9189-3F4B58BAD084}"/>
    <dgm:cxn modelId="{2FA859FD-F1DB-4760-9C3F-49489AB630F4}" type="presOf" srcId="{D9BA055B-2180-4F5E-A680-C75C7CF7E97A}" destId="{0BAE1BD6-E1CF-4783-89FA-7C9D167E75A4}" srcOrd="0" destOrd="0" presId="urn:microsoft.com/office/officeart/2005/8/layout/hProcess7"/>
    <dgm:cxn modelId="{97081AA7-3451-4505-B6EA-6E4D83827297}" type="presParOf" srcId="{4DB5EE0F-AE51-4D48-94C9-7294DE558382}" destId="{6B5AE830-127C-4AC8-8BD4-69776E8C8E62}" srcOrd="0" destOrd="0" presId="urn:microsoft.com/office/officeart/2005/8/layout/hProcess7"/>
    <dgm:cxn modelId="{6E9E980A-DD58-4A35-992E-1A539320FFDE}" type="presParOf" srcId="{6B5AE830-127C-4AC8-8BD4-69776E8C8E62}" destId="{E40750B9-DE7E-4F04-8889-A856C7BBFE42}" srcOrd="0" destOrd="0" presId="urn:microsoft.com/office/officeart/2005/8/layout/hProcess7"/>
    <dgm:cxn modelId="{3E5C436A-BDD0-4590-B425-569E34389954}" type="presParOf" srcId="{6B5AE830-127C-4AC8-8BD4-69776E8C8E62}" destId="{F81BB46D-1511-4713-91BB-77F1ADA77E8A}" srcOrd="1" destOrd="0" presId="urn:microsoft.com/office/officeart/2005/8/layout/hProcess7"/>
    <dgm:cxn modelId="{28739247-D702-42DB-AF9E-1EF28D345249}" type="presParOf" srcId="{6B5AE830-127C-4AC8-8BD4-69776E8C8E62}" destId="{0BAE1BD6-E1CF-4783-89FA-7C9D167E75A4}" srcOrd="2" destOrd="0" presId="urn:microsoft.com/office/officeart/2005/8/layout/hProcess7"/>
    <dgm:cxn modelId="{90E0BF22-88E5-419C-B922-A318518224F4}" type="presParOf" srcId="{4DB5EE0F-AE51-4D48-94C9-7294DE558382}" destId="{6F27C3D2-7CF6-424D-BE9C-E7DA3978EA79}" srcOrd="1" destOrd="0" presId="urn:microsoft.com/office/officeart/2005/8/layout/hProcess7"/>
    <dgm:cxn modelId="{7DCD7B38-0EA4-427B-8064-90768AAC0737}" type="presParOf" srcId="{4DB5EE0F-AE51-4D48-94C9-7294DE558382}" destId="{C90ADC3D-5998-4D0F-86A2-FC6E0A55E2D4}" srcOrd="2" destOrd="0" presId="urn:microsoft.com/office/officeart/2005/8/layout/hProcess7"/>
    <dgm:cxn modelId="{F24A41CB-8043-49E5-A8A5-DE41C8996CCA}" type="presParOf" srcId="{C90ADC3D-5998-4D0F-86A2-FC6E0A55E2D4}" destId="{F4360722-E252-46AC-91E0-EDCD79427F32}" srcOrd="0" destOrd="0" presId="urn:microsoft.com/office/officeart/2005/8/layout/hProcess7"/>
    <dgm:cxn modelId="{A59332A4-9682-48D5-AF6D-7EDCB9BB006D}" type="presParOf" srcId="{C90ADC3D-5998-4D0F-86A2-FC6E0A55E2D4}" destId="{C374B02E-683D-4562-AE3B-D25EF8BF564C}" srcOrd="1" destOrd="0" presId="urn:microsoft.com/office/officeart/2005/8/layout/hProcess7"/>
    <dgm:cxn modelId="{8B132D23-B0F1-4135-972C-18E4B4861269}" type="presParOf" srcId="{C90ADC3D-5998-4D0F-86A2-FC6E0A55E2D4}" destId="{9D796442-12A7-4931-A5EC-64F8836156B6}" srcOrd="2" destOrd="0" presId="urn:microsoft.com/office/officeart/2005/8/layout/hProcess7"/>
    <dgm:cxn modelId="{2D2A8CEB-E47F-43E8-94A1-A61D31E4E354}" type="presParOf" srcId="{4DB5EE0F-AE51-4D48-94C9-7294DE558382}" destId="{75D16AFA-D4BE-429D-ABBF-8054B27B0A91}" srcOrd="3" destOrd="0" presId="urn:microsoft.com/office/officeart/2005/8/layout/hProcess7"/>
    <dgm:cxn modelId="{1BB1ED1F-AC89-4AED-B5CA-3E5E288C7006}" type="presParOf" srcId="{4DB5EE0F-AE51-4D48-94C9-7294DE558382}" destId="{D1D41460-ADE9-45B7-B4BF-11AC490D527D}" srcOrd="4" destOrd="0" presId="urn:microsoft.com/office/officeart/2005/8/layout/hProcess7"/>
    <dgm:cxn modelId="{94D69C3A-8612-4511-85C0-8C7884A80B5B}" type="presParOf" srcId="{D1D41460-ADE9-45B7-B4BF-11AC490D527D}" destId="{0DC4E73D-57BF-487B-B16C-AB17A95E1646}" srcOrd="0" destOrd="0" presId="urn:microsoft.com/office/officeart/2005/8/layout/hProcess7"/>
    <dgm:cxn modelId="{CAA5BC41-BED5-46E1-8280-F58C80AFC7F3}" type="presParOf" srcId="{D1D41460-ADE9-45B7-B4BF-11AC490D527D}" destId="{6D153AE0-93B9-4148-852F-212E00A85204}" srcOrd="1" destOrd="0" presId="urn:microsoft.com/office/officeart/2005/8/layout/hProcess7"/>
    <dgm:cxn modelId="{1D23EE72-015E-4C1A-8029-7787AE82B1D9}" type="presParOf" srcId="{D1D41460-ADE9-45B7-B4BF-11AC490D527D}" destId="{7D937BC5-0758-4D5B-8BF5-A4B5AC1A107D}" srcOrd="2" destOrd="0" presId="urn:microsoft.com/office/officeart/2005/8/layout/hProcess7"/>
  </dgm:cxnLst>
  <dgm:bg/>
  <dgm:whole/>
  <dgm:extLst>
    <a:ext uri="http://schemas.microsoft.com/office/drawing/2008/diagram">
      <dsp:dataModelExt xmlns=""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82F9F9F-F8CB-400A-BDA4-D2E24D4DCAC8}"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s-ES"/>
        </a:p>
      </dgm:t>
    </dgm:pt>
    <dgm:pt modelId="{41980E39-6868-460A-BBE0-7899CE0723C4}">
      <dgm:prSet phldrT="[Texto]"/>
      <dgm:spPr/>
      <dgm:t>
        <a:bodyPr/>
        <a:lstStyle/>
        <a:p>
          <a:r>
            <a:rPr lang="es-ES" b="1" dirty="0" smtClean="0">
              <a:solidFill>
                <a:srgbClr val="FFFF00"/>
              </a:solidFill>
            </a:rPr>
            <a:t>Asociación Mutual </a:t>
          </a:r>
          <a:r>
            <a:rPr lang="es-ES" b="1" dirty="0" err="1" smtClean="0">
              <a:solidFill>
                <a:srgbClr val="FFFF00"/>
              </a:solidFill>
            </a:rPr>
            <a:t>Sancor</a:t>
          </a:r>
          <a:r>
            <a:rPr lang="es-ES" b="1" dirty="0" smtClean="0">
              <a:solidFill>
                <a:srgbClr val="FFFF00"/>
              </a:solidFill>
            </a:rPr>
            <a:t> s/ </a:t>
          </a:r>
          <a:r>
            <a:rPr lang="es-ES" b="1" dirty="0" err="1" smtClean="0">
              <a:solidFill>
                <a:srgbClr val="FFFF00"/>
              </a:solidFill>
            </a:rPr>
            <a:t>Apel</a:t>
          </a:r>
          <a:r>
            <a:rPr lang="es-ES" b="1" dirty="0" smtClean="0">
              <a:solidFill>
                <a:srgbClr val="FFFF00"/>
              </a:solidFill>
            </a:rPr>
            <a:t>. </a:t>
          </a:r>
          <a:r>
            <a:rPr lang="es-ES" b="1" dirty="0" err="1" smtClean="0">
              <a:solidFill>
                <a:srgbClr val="FFFF00"/>
              </a:solidFill>
            </a:rPr>
            <a:t>Deneg</a:t>
          </a:r>
          <a:r>
            <a:rPr lang="es-ES" b="1" dirty="0" smtClean="0">
              <a:solidFill>
                <a:srgbClr val="FFFF00"/>
              </a:solidFill>
            </a:rPr>
            <a:t>. </a:t>
          </a:r>
          <a:r>
            <a:rPr lang="es-ES" b="1" dirty="0" err="1" smtClean="0">
              <a:solidFill>
                <a:srgbClr val="FFFF00"/>
              </a:solidFill>
            </a:rPr>
            <a:t>repet</a:t>
          </a:r>
          <a:r>
            <a:rPr lang="es-ES" b="1" dirty="0" smtClean="0">
              <a:solidFill>
                <a:srgbClr val="FFFF00"/>
              </a:solidFill>
            </a:rPr>
            <a:t>. TFN. Sala C. (25/08/22).</a:t>
          </a:r>
          <a:endParaRPr lang="es-ES" b="1" dirty="0">
            <a:solidFill>
              <a:srgbClr val="FFFF00"/>
            </a:solidFill>
          </a:endParaRPr>
        </a:p>
      </dgm:t>
    </dgm:pt>
    <dgm:pt modelId="{1A206483-B979-451E-8D3D-405A932D9A8C}" type="parTrans" cxnId="{E41BC417-826C-4F74-A163-5744E3DD133D}">
      <dgm:prSet/>
      <dgm:spPr/>
      <dgm:t>
        <a:bodyPr/>
        <a:lstStyle/>
        <a:p>
          <a:endParaRPr lang="es-ES"/>
        </a:p>
      </dgm:t>
    </dgm:pt>
    <dgm:pt modelId="{53BEA8D9-E9FB-4D9A-85FC-06DAE105B7CE}" type="sibTrans" cxnId="{E41BC417-826C-4F74-A163-5744E3DD133D}">
      <dgm:prSet/>
      <dgm:spPr/>
      <dgm:t>
        <a:bodyPr/>
        <a:lstStyle/>
        <a:p>
          <a:endParaRPr lang="es-ES"/>
        </a:p>
      </dgm:t>
    </dgm:pt>
    <dgm:pt modelId="{2F8523CB-7A5C-4551-8E8C-9854BBF6DAE5}">
      <dgm:prSet phldrT="[Texto]" custT="1"/>
      <dgm:spPr/>
      <dgm:t>
        <a:bodyPr/>
        <a:lstStyle/>
        <a:p>
          <a:pPr algn="just"/>
          <a:r>
            <a:rPr lang="es-ES" sz="1500" dirty="0" smtClean="0"/>
            <a:t> Aplicó jurisprudencia de la CSJN “Fundación Emprender (</a:t>
          </a:r>
          <a:r>
            <a:rPr lang="es-ES" sz="1500" dirty="0" err="1" smtClean="0"/>
            <a:t>expte</a:t>
          </a:r>
          <a:r>
            <a:rPr lang="es-ES" sz="1500" dirty="0" smtClean="0"/>
            <a:t>. 20.679-I) de fecha 5/03/13 en la que concluyó “...en razón de la naturaleza del sujeto que promovió las actuaciones, el empobrecimiento cabe razonablemente inferirlo del solo hecho del pago...”.</a:t>
          </a:r>
          <a:endParaRPr lang="es-ES" sz="1500" dirty="0"/>
        </a:p>
      </dgm:t>
    </dgm:pt>
    <dgm:pt modelId="{A786998C-698A-4604-87E1-DAF54F731212}" type="parTrans" cxnId="{0E480AB4-7C7E-4DA4-BE55-04D819052A5C}">
      <dgm:prSet/>
      <dgm:spPr/>
      <dgm:t>
        <a:bodyPr/>
        <a:lstStyle/>
        <a:p>
          <a:endParaRPr lang="es-ES"/>
        </a:p>
      </dgm:t>
    </dgm:pt>
    <dgm:pt modelId="{2FE1E2B6-9765-45E0-88E1-AC530DFF0685}" type="sibTrans" cxnId="{0E480AB4-7C7E-4DA4-BE55-04D819052A5C}">
      <dgm:prSet/>
      <dgm:spPr/>
      <dgm:t>
        <a:bodyPr/>
        <a:lstStyle/>
        <a:p>
          <a:endParaRPr lang="es-ES"/>
        </a:p>
      </dgm:t>
    </dgm:pt>
    <dgm:pt modelId="{C2DC3BC2-116E-4E6E-B4D9-50F2E74F8ACD}">
      <dgm:prSet phldrT="[Texto]"/>
      <dgm:spPr/>
      <dgm:t>
        <a:bodyPr/>
        <a:lstStyle/>
        <a:p>
          <a:r>
            <a:rPr lang="es-ES" b="1" dirty="0" smtClean="0">
              <a:solidFill>
                <a:srgbClr val="FFFF00"/>
              </a:solidFill>
            </a:rPr>
            <a:t>Asociación Mutual </a:t>
          </a:r>
          <a:r>
            <a:rPr lang="es-ES" b="1" dirty="0" err="1" smtClean="0">
              <a:solidFill>
                <a:srgbClr val="FFFF00"/>
              </a:solidFill>
            </a:rPr>
            <a:t>Sancor</a:t>
          </a:r>
          <a:r>
            <a:rPr lang="es-ES" b="1" dirty="0" smtClean="0">
              <a:solidFill>
                <a:srgbClr val="FFFF00"/>
              </a:solidFill>
            </a:rPr>
            <a:t>  C/DGI. </a:t>
          </a:r>
          <a:r>
            <a:rPr lang="es-ES" b="1" dirty="0" err="1" smtClean="0">
              <a:solidFill>
                <a:srgbClr val="FFFF00"/>
              </a:solidFill>
            </a:rPr>
            <a:t>Rec</a:t>
          </a:r>
          <a:r>
            <a:rPr lang="es-ES" b="1" dirty="0" smtClean="0">
              <a:solidFill>
                <a:srgbClr val="FFFF00"/>
              </a:solidFill>
            </a:rPr>
            <a:t>. Directo. CNCAF. Sala I. (26/12/23). </a:t>
          </a:r>
          <a:endParaRPr lang="es-ES" b="1" dirty="0">
            <a:solidFill>
              <a:srgbClr val="FFFF00"/>
            </a:solidFill>
          </a:endParaRPr>
        </a:p>
      </dgm:t>
    </dgm:pt>
    <dgm:pt modelId="{33FBE025-4475-47C6-A65E-448ACBDF297B}" type="parTrans" cxnId="{36A52C92-0314-4254-BE23-8C0CE359CAA6}">
      <dgm:prSet/>
      <dgm:spPr/>
      <dgm:t>
        <a:bodyPr/>
        <a:lstStyle/>
        <a:p>
          <a:endParaRPr lang="es-ES"/>
        </a:p>
      </dgm:t>
    </dgm:pt>
    <dgm:pt modelId="{CB5D24F0-A4C2-41E3-8C4A-58D9C7CC6DE3}" type="sibTrans" cxnId="{36A52C92-0314-4254-BE23-8C0CE359CAA6}">
      <dgm:prSet/>
      <dgm:spPr/>
      <dgm:t>
        <a:bodyPr/>
        <a:lstStyle/>
        <a:p>
          <a:endParaRPr lang="es-ES"/>
        </a:p>
      </dgm:t>
    </dgm:pt>
    <dgm:pt modelId="{8BC3538D-6AFF-4C77-80ED-11F6AD93C0B7}">
      <dgm:prSet phldrT="[Texto]" custT="1"/>
      <dgm:spPr/>
      <dgm:t>
        <a:bodyPr/>
        <a:lstStyle/>
        <a:p>
          <a:pPr algn="ctr"/>
          <a:r>
            <a:rPr lang="es-ES" sz="1700" b="1" dirty="0" smtClean="0">
              <a:solidFill>
                <a:srgbClr val="FFFF00"/>
              </a:solidFill>
            </a:rPr>
            <a:t>Asociación Mutual </a:t>
          </a:r>
          <a:r>
            <a:rPr lang="es-ES" sz="1700" b="1" dirty="0" err="1" smtClean="0">
              <a:solidFill>
                <a:srgbClr val="FFFF00"/>
              </a:solidFill>
            </a:rPr>
            <a:t>Sancor</a:t>
          </a:r>
          <a:r>
            <a:rPr lang="es-ES" sz="1700" b="1" dirty="0" smtClean="0">
              <a:solidFill>
                <a:srgbClr val="FFFF00"/>
              </a:solidFill>
            </a:rPr>
            <a:t>  C/DGI. </a:t>
          </a:r>
          <a:r>
            <a:rPr lang="es-ES" sz="1700" b="1" dirty="0" err="1" smtClean="0">
              <a:solidFill>
                <a:srgbClr val="FFFF00"/>
              </a:solidFill>
            </a:rPr>
            <a:t>Rec</a:t>
          </a:r>
          <a:r>
            <a:rPr lang="es-ES" sz="1700" b="1" dirty="0" smtClean="0">
              <a:solidFill>
                <a:srgbClr val="FFFF00"/>
              </a:solidFill>
            </a:rPr>
            <a:t>. Directo. CNCAF. Sala I. (11/04/24). </a:t>
          </a:r>
          <a:endParaRPr lang="es-ES" sz="1700" dirty="0"/>
        </a:p>
      </dgm:t>
    </dgm:pt>
    <dgm:pt modelId="{FAAEBB15-1ECE-4614-AAAD-5A1E22BB37CF}" type="sibTrans" cxnId="{B3FA686B-FF0C-4925-BE37-C5265AB7CB3E}">
      <dgm:prSet/>
      <dgm:spPr/>
      <dgm:t>
        <a:bodyPr/>
        <a:lstStyle/>
        <a:p>
          <a:endParaRPr lang="es-ES"/>
        </a:p>
      </dgm:t>
    </dgm:pt>
    <dgm:pt modelId="{767397BD-73BE-4462-A379-F86FB9300D44}" type="parTrans" cxnId="{B3FA686B-FF0C-4925-BE37-C5265AB7CB3E}">
      <dgm:prSet/>
      <dgm:spPr/>
      <dgm:t>
        <a:bodyPr/>
        <a:lstStyle/>
        <a:p>
          <a:endParaRPr lang="es-ES"/>
        </a:p>
      </dgm:t>
    </dgm:pt>
    <dgm:pt modelId="{8E49A5AC-3C02-43C2-80C3-EFE73FE86D08}">
      <dgm:prSet phldrT="[Texto]"/>
      <dgm:spPr/>
      <dgm:t>
        <a:bodyPr/>
        <a:lstStyle/>
        <a:p>
          <a:pPr algn="l"/>
          <a:endParaRPr lang="es-ES" sz="1500" dirty="0"/>
        </a:p>
      </dgm:t>
    </dgm:pt>
    <dgm:pt modelId="{F95BECB3-0679-4B35-827B-833D401D3F7F}" type="parTrans" cxnId="{DF9877AA-E252-474C-923E-E1CED7CD736A}">
      <dgm:prSet/>
      <dgm:spPr/>
      <dgm:t>
        <a:bodyPr/>
        <a:lstStyle/>
        <a:p>
          <a:endParaRPr lang="es-ES"/>
        </a:p>
      </dgm:t>
    </dgm:pt>
    <dgm:pt modelId="{F0406FCB-4DAF-48C4-81F9-77131DD7679B}" type="sibTrans" cxnId="{DF9877AA-E252-474C-923E-E1CED7CD736A}">
      <dgm:prSet/>
      <dgm:spPr/>
      <dgm:t>
        <a:bodyPr/>
        <a:lstStyle/>
        <a:p>
          <a:endParaRPr lang="es-ES"/>
        </a:p>
      </dgm:t>
    </dgm:pt>
    <dgm:pt modelId="{5F2B321D-3260-4006-A645-F01586F4683D}">
      <dgm:prSet custT="1"/>
      <dgm:spPr/>
      <dgm:t>
        <a:bodyPr/>
        <a:lstStyle/>
        <a:p>
          <a:r>
            <a:rPr lang="es-ES" sz="1500" dirty="0" smtClean="0"/>
            <a:t>No debe demostrar el traslado del impuesto porque pues teniendo en cuenta la figura legal de que se trata resulta que aquélla soportó ese impuesto junto con los asociados que conforman esa organización solidaria.</a:t>
          </a:r>
          <a:endParaRPr lang="es-ES" sz="1500" dirty="0"/>
        </a:p>
      </dgm:t>
    </dgm:pt>
    <dgm:pt modelId="{5F163AB2-9592-4C86-923A-515956B9074C}" type="parTrans" cxnId="{9D3B30AF-1E2C-4DA2-A561-15C86BD30717}">
      <dgm:prSet/>
      <dgm:spPr/>
      <dgm:t>
        <a:bodyPr/>
        <a:lstStyle/>
        <a:p>
          <a:endParaRPr lang="es-ES"/>
        </a:p>
      </dgm:t>
    </dgm:pt>
    <dgm:pt modelId="{DDF24435-BB31-429B-93E0-0AA44D4A41E8}" type="sibTrans" cxnId="{9D3B30AF-1E2C-4DA2-A561-15C86BD30717}">
      <dgm:prSet/>
      <dgm:spPr/>
      <dgm:t>
        <a:bodyPr/>
        <a:lstStyle/>
        <a:p>
          <a:endParaRPr lang="es-ES"/>
        </a:p>
      </dgm:t>
    </dgm:pt>
    <dgm:pt modelId="{D452F065-7576-43E9-9A77-E29EF69A2B0D}">
      <dgm:prSet custT="1"/>
      <dgm:spPr/>
      <dgm:t>
        <a:bodyPr/>
        <a:lstStyle/>
        <a:p>
          <a:r>
            <a:rPr lang="es-ES" sz="1500" dirty="0" smtClean="0"/>
            <a:t>No aplica precedente “Asociación Mutual Carlos Mujica c/Estado Nacional (Poder Ejecutivo Nacional-</a:t>
          </a:r>
          <a:r>
            <a:rPr lang="es-ES" sz="1500" dirty="0" err="1" smtClean="0"/>
            <a:t>Comfer</a:t>
          </a:r>
          <a:r>
            <a:rPr lang="es-ES" sz="1500" dirty="0" smtClean="0"/>
            <a:t>) s/Amparo” del Máximo Tribunal (Fallos 316:3142) en el intento de asimilar a la Mutuales a una sociedad comercial.</a:t>
          </a:r>
          <a:endParaRPr lang="es-ES" sz="1500" dirty="0"/>
        </a:p>
      </dgm:t>
    </dgm:pt>
    <dgm:pt modelId="{867F8FA9-E854-4B07-92D2-95376F33FEE8}" type="parTrans" cxnId="{BEA9A4C8-9162-43DB-88AD-335FBC2D33A0}">
      <dgm:prSet/>
      <dgm:spPr/>
      <dgm:t>
        <a:bodyPr/>
        <a:lstStyle/>
        <a:p>
          <a:endParaRPr lang="es-ES"/>
        </a:p>
      </dgm:t>
    </dgm:pt>
    <dgm:pt modelId="{91C07913-39D9-4236-83A6-0593EC4B1113}" type="sibTrans" cxnId="{BEA9A4C8-9162-43DB-88AD-335FBC2D33A0}">
      <dgm:prSet/>
      <dgm:spPr/>
      <dgm:t>
        <a:bodyPr/>
        <a:lstStyle/>
        <a:p>
          <a:endParaRPr lang="es-ES"/>
        </a:p>
      </dgm:t>
    </dgm:pt>
    <dgm:pt modelId="{EB7D3C83-3577-4BCF-B3B2-801418DC37A7}" type="pres">
      <dgm:prSet presAssocID="{682F9F9F-F8CB-400A-BDA4-D2E24D4DCAC8}" presName="Name0" presStyleCnt="0">
        <dgm:presLayoutVars>
          <dgm:dir/>
          <dgm:animLvl val="lvl"/>
          <dgm:resizeHandles/>
        </dgm:presLayoutVars>
      </dgm:prSet>
      <dgm:spPr/>
      <dgm:t>
        <a:bodyPr/>
        <a:lstStyle/>
        <a:p>
          <a:endParaRPr lang="es-ES"/>
        </a:p>
      </dgm:t>
    </dgm:pt>
    <dgm:pt modelId="{BC0CEE63-C0DA-458E-9189-8CA5401B32F8}" type="pres">
      <dgm:prSet presAssocID="{41980E39-6868-460A-BBE0-7899CE0723C4}" presName="linNode" presStyleCnt="0"/>
      <dgm:spPr/>
    </dgm:pt>
    <dgm:pt modelId="{9CC8C78D-60B0-4EBA-B8E9-1B71AA2A0BC2}" type="pres">
      <dgm:prSet presAssocID="{41980E39-6868-460A-BBE0-7899CE0723C4}" presName="parentShp" presStyleLbl="node1" presStyleIdx="0" presStyleCnt="3" custScaleX="59664" custScaleY="179260" custLinFactNeighborX="-13445">
        <dgm:presLayoutVars>
          <dgm:bulletEnabled val="1"/>
        </dgm:presLayoutVars>
      </dgm:prSet>
      <dgm:spPr/>
      <dgm:t>
        <a:bodyPr/>
        <a:lstStyle/>
        <a:p>
          <a:endParaRPr lang="es-ES"/>
        </a:p>
      </dgm:t>
    </dgm:pt>
    <dgm:pt modelId="{9F392624-B46C-44AE-8A28-21D9CFE59A31}" type="pres">
      <dgm:prSet presAssocID="{41980E39-6868-460A-BBE0-7899CE0723C4}" presName="childShp" presStyleLbl="bgAccFollowNode1" presStyleIdx="0" presStyleCnt="3" custScaleX="139011" custScaleY="221217" custLinFactNeighborX="10351" custLinFactNeighborY="-50078">
        <dgm:presLayoutVars>
          <dgm:bulletEnabled val="1"/>
        </dgm:presLayoutVars>
      </dgm:prSet>
      <dgm:spPr/>
      <dgm:t>
        <a:bodyPr/>
        <a:lstStyle/>
        <a:p>
          <a:endParaRPr lang="es-ES"/>
        </a:p>
      </dgm:t>
    </dgm:pt>
    <dgm:pt modelId="{74A8CC39-C802-4A4E-974A-6CF9C033F13E}" type="pres">
      <dgm:prSet presAssocID="{53BEA8D9-E9FB-4D9A-85FC-06DAE105B7CE}" presName="spacing" presStyleCnt="0"/>
      <dgm:spPr/>
    </dgm:pt>
    <dgm:pt modelId="{2164EFFB-E0F1-4A5A-8ACC-1E5DF3918383}" type="pres">
      <dgm:prSet presAssocID="{C2DC3BC2-116E-4E6E-B4D9-50F2E74F8ACD}" presName="linNode" presStyleCnt="0"/>
      <dgm:spPr/>
    </dgm:pt>
    <dgm:pt modelId="{D13C87F2-6BC7-42CB-AEE2-B212B0B77E98}" type="pres">
      <dgm:prSet presAssocID="{C2DC3BC2-116E-4E6E-B4D9-50F2E74F8ACD}" presName="parentShp" presStyleLbl="node1" presStyleIdx="1" presStyleCnt="3" custScaleX="55464" custScaleY="251160" custLinFactNeighborX="-2321" custLinFactNeighborY="-3748">
        <dgm:presLayoutVars>
          <dgm:bulletEnabled val="1"/>
        </dgm:presLayoutVars>
      </dgm:prSet>
      <dgm:spPr/>
      <dgm:t>
        <a:bodyPr/>
        <a:lstStyle/>
        <a:p>
          <a:endParaRPr lang="es-ES"/>
        </a:p>
      </dgm:t>
    </dgm:pt>
    <dgm:pt modelId="{3375499F-50BD-41C1-8271-EDFE60414C8E}" type="pres">
      <dgm:prSet presAssocID="{C2DC3BC2-116E-4E6E-B4D9-50F2E74F8ACD}" presName="childShp" presStyleLbl="bgAccFollowNode1" presStyleIdx="1" presStyleCnt="3" custScaleX="125211" custScaleY="334406" custLinFactNeighborX="-2622" custLinFactNeighborY="-3667">
        <dgm:presLayoutVars>
          <dgm:bulletEnabled val="1"/>
        </dgm:presLayoutVars>
      </dgm:prSet>
      <dgm:spPr/>
      <dgm:t>
        <a:bodyPr/>
        <a:lstStyle/>
        <a:p>
          <a:endParaRPr lang="es-ES"/>
        </a:p>
      </dgm:t>
    </dgm:pt>
    <dgm:pt modelId="{883FE283-C1F8-4623-9274-165CA7CC6A75}" type="pres">
      <dgm:prSet presAssocID="{CB5D24F0-A4C2-41E3-8C4A-58D9C7CC6DE3}" presName="spacing" presStyleCnt="0"/>
      <dgm:spPr/>
    </dgm:pt>
    <dgm:pt modelId="{52D46F69-8752-48BF-B6E5-D58A75155C39}" type="pres">
      <dgm:prSet presAssocID="{8BC3538D-6AFF-4C77-80ED-11F6AD93C0B7}" presName="linNode" presStyleCnt="0"/>
      <dgm:spPr/>
    </dgm:pt>
    <dgm:pt modelId="{C2ADF5CE-5E24-4C19-A149-1269B5D71954}" type="pres">
      <dgm:prSet presAssocID="{8BC3538D-6AFF-4C77-80ED-11F6AD93C0B7}" presName="parentShp" presStyleLbl="node1" presStyleIdx="2" presStyleCnt="3" custScaleX="58773" custScaleY="140105" custLinFactNeighborX="-13824" custLinFactNeighborY="-15895">
        <dgm:presLayoutVars>
          <dgm:bulletEnabled val="1"/>
        </dgm:presLayoutVars>
      </dgm:prSet>
      <dgm:spPr/>
      <dgm:t>
        <a:bodyPr/>
        <a:lstStyle/>
        <a:p>
          <a:endParaRPr lang="es-ES"/>
        </a:p>
      </dgm:t>
    </dgm:pt>
    <dgm:pt modelId="{EE01E7ED-B7F8-4DDF-A43B-6C8EC19623B1}" type="pres">
      <dgm:prSet presAssocID="{8BC3538D-6AFF-4C77-80ED-11F6AD93C0B7}" presName="childShp" presStyleLbl="bgAccFollowNode1" presStyleIdx="2" presStyleCnt="3" custScaleX="122439" custScaleY="162846" custLinFactNeighborX="-5713" custLinFactNeighborY="-10081">
        <dgm:presLayoutVars>
          <dgm:bulletEnabled val="1"/>
        </dgm:presLayoutVars>
      </dgm:prSet>
      <dgm:spPr/>
    </dgm:pt>
  </dgm:ptLst>
  <dgm:cxnLst>
    <dgm:cxn modelId="{9D3B30AF-1E2C-4DA2-A561-15C86BD30717}" srcId="{C2DC3BC2-116E-4E6E-B4D9-50F2E74F8ACD}" destId="{5F2B321D-3260-4006-A645-F01586F4683D}" srcOrd="0" destOrd="0" parTransId="{5F163AB2-9592-4C86-923A-515956B9074C}" sibTransId="{DDF24435-BB31-429B-93E0-0AA44D4A41E8}"/>
    <dgm:cxn modelId="{3398F70D-4674-42B9-91DB-4D59608A5439}" type="presOf" srcId="{5F2B321D-3260-4006-A645-F01586F4683D}" destId="{3375499F-50BD-41C1-8271-EDFE60414C8E}" srcOrd="0" destOrd="0" presId="urn:microsoft.com/office/officeart/2005/8/layout/vList6"/>
    <dgm:cxn modelId="{E41BC417-826C-4F74-A163-5744E3DD133D}" srcId="{682F9F9F-F8CB-400A-BDA4-D2E24D4DCAC8}" destId="{41980E39-6868-460A-BBE0-7899CE0723C4}" srcOrd="0" destOrd="0" parTransId="{1A206483-B979-451E-8D3D-405A932D9A8C}" sibTransId="{53BEA8D9-E9FB-4D9A-85FC-06DAE105B7CE}"/>
    <dgm:cxn modelId="{BEA9A4C8-9162-43DB-88AD-335FBC2D33A0}" srcId="{C2DC3BC2-116E-4E6E-B4D9-50F2E74F8ACD}" destId="{D452F065-7576-43E9-9A77-E29EF69A2B0D}" srcOrd="1" destOrd="0" parTransId="{867F8FA9-E854-4B07-92D2-95376F33FEE8}" sibTransId="{91C07913-39D9-4236-83A6-0593EC4B1113}"/>
    <dgm:cxn modelId="{E826D4B1-842C-42E7-AB53-51CDF75CBA37}" type="presOf" srcId="{D452F065-7576-43E9-9A77-E29EF69A2B0D}" destId="{3375499F-50BD-41C1-8271-EDFE60414C8E}" srcOrd="0" destOrd="1" presId="urn:microsoft.com/office/officeart/2005/8/layout/vList6"/>
    <dgm:cxn modelId="{48FD71EC-898E-40A7-B7B8-8BFBBCA62B93}" type="presOf" srcId="{682F9F9F-F8CB-400A-BDA4-D2E24D4DCAC8}" destId="{EB7D3C83-3577-4BCF-B3B2-801418DC37A7}" srcOrd="0" destOrd="0" presId="urn:microsoft.com/office/officeart/2005/8/layout/vList6"/>
    <dgm:cxn modelId="{B3FA686B-FF0C-4925-BE37-C5265AB7CB3E}" srcId="{682F9F9F-F8CB-400A-BDA4-D2E24D4DCAC8}" destId="{8BC3538D-6AFF-4C77-80ED-11F6AD93C0B7}" srcOrd="2" destOrd="0" parTransId="{767397BD-73BE-4462-A379-F86FB9300D44}" sibTransId="{FAAEBB15-1ECE-4614-AAAD-5A1E22BB37CF}"/>
    <dgm:cxn modelId="{0B8DDEB3-40C7-4967-973C-5B5C0D1EF33E}" type="presOf" srcId="{C2DC3BC2-116E-4E6E-B4D9-50F2E74F8ACD}" destId="{D13C87F2-6BC7-42CB-AEE2-B212B0B77E98}" srcOrd="0" destOrd="0" presId="urn:microsoft.com/office/officeart/2005/8/layout/vList6"/>
    <dgm:cxn modelId="{EFD83F0C-D157-49BB-95CC-17F51E8959EE}" type="presOf" srcId="{8BC3538D-6AFF-4C77-80ED-11F6AD93C0B7}" destId="{C2ADF5CE-5E24-4C19-A149-1269B5D71954}" srcOrd="0" destOrd="0" presId="urn:microsoft.com/office/officeart/2005/8/layout/vList6"/>
    <dgm:cxn modelId="{8712271B-637D-4A84-A300-719C5EDBDF02}" type="presOf" srcId="{8E49A5AC-3C02-43C2-80C3-EFE73FE86D08}" destId="{9F392624-B46C-44AE-8A28-21D9CFE59A31}" srcOrd="0" destOrd="0" presId="urn:microsoft.com/office/officeart/2005/8/layout/vList6"/>
    <dgm:cxn modelId="{36A52C92-0314-4254-BE23-8C0CE359CAA6}" srcId="{682F9F9F-F8CB-400A-BDA4-D2E24D4DCAC8}" destId="{C2DC3BC2-116E-4E6E-B4D9-50F2E74F8ACD}" srcOrd="1" destOrd="0" parTransId="{33FBE025-4475-47C6-A65E-448ACBDF297B}" sibTransId="{CB5D24F0-A4C2-41E3-8C4A-58D9C7CC6DE3}"/>
    <dgm:cxn modelId="{BAAF1AA8-131D-40E9-AE8B-EF4C3EC245DB}" type="presOf" srcId="{2F8523CB-7A5C-4551-8E8C-9854BBF6DAE5}" destId="{9F392624-B46C-44AE-8A28-21D9CFE59A31}" srcOrd="0" destOrd="1" presId="urn:microsoft.com/office/officeart/2005/8/layout/vList6"/>
    <dgm:cxn modelId="{03887C20-94A5-4299-B941-CF0CEE00FAD4}" type="presOf" srcId="{41980E39-6868-460A-BBE0-7899CE0723C4}" destId="{9CC8C78D-60B0-4EBA-B8E9-1B71AA2A0BC2}" srcOrd="0" destOrd="0" presId="urn:microsoft.com/office/officeart/2005/8/layout/vList6"/>
    <dgm:cxn modelId="{0E480AB4-7C7E-4DA4-BE55-04D819052A5C}" srcId="{41980E39-6868-460A-BBE0-7899CE0723C4}" destId="{2F8523CB-7A5C-4551-8E8C-9854BBF6DAE5}" srcOrd="1" destOrd="0" parTransId="{A786998C-698A-4604-87E1-DAF54F731212}" sibTransId="{2FE1E2B6-9765-45E0-88E1-AC530DFF0685}"/>
    <dgm:cxn modelId="{DF9877AA-E252-474C-923E-E1CED7CD736A}" srcId="{41980E39-6868-460A-BBE0-7899CE0723C4}" destId="{8E49A5AC-3C02-43C2-80C3-EFE73FE86D08}" srcOrd="0" destOrd="0" parTransId="{F95BECB3-0679-4B35-827B-833D401D3F7F}" sibTransId="{F0406FCB-4DAF-48C4-81F9-77131DD7679B}"/>
    <dgm:cxn modelId="{76BDB3D2-CF23-42CE-BAB5-F4F2E88B172D}" type="presParOf" srcId="{EB7D3C83-3577-4BCF-B3B2-801418DC37A7}" destId="{BC0CEE63-C0DA-458E-9189-8CA5401B32F8}" srcOrd="0" destOrd="0" presId="urn:microsoft.com/office/officeart/2005/8/layout/vList6"/>
    <dgm:cxn modelId="{AAEA38C7-5C68-420E-B5A1-1C99AAF5C656}" type="presParOf" srcId="{BC0CEE63-C0DA-458E-9189-8CA5401B32F8}" destId="{9CC8C78D-60B0-4EBA-B8E9-1B71AA2A0BC2}" srcOrd="0" destOrd="0" presId="urn:microsoft.com/office/officeart/2005/8/layout/vList6"/>
    <dgm:cxn modelId="{838618F6-A524-4882-8ADF-625199277DF4}" type="presParOf" srcId="{BC0CEE63-C0DA-458E-9189-8CA5401B32F8}" destId="{9F392624-B46C-44AE-8A28-21D9CFE59A31}" srcOrd="1" destOrd="0" presId="urn:microsoft.com/office/officeart/2005/8/layout/vList6"/>
    <dgm:cxn modelId="{D4E49FE9-36B5-4C43-8C24-5BF1DDA116A2}" type="presParOf" srcId="{EB7D3C83-3577-4BCF-B3B2-801418DC37A7}" destId="{74A8CC39-C802-4A4E-974A-6CF9C033F13E}" srcOrd="1" destOrd="0" presId="urn:microsoft.com/office/officeart/2005/8/layout/vList6"/>
    <dgm:cxn modelId="{A358EB85-445B-4BCE-BC87-CB6742AEA2A1}" type="presParOf" srcId="{EB7D3C83-3577-4BCF-B3B2-801418DC37A7}" destId="{2164EFFB-E0F1-4A5A-8ACC-1E5DF3918383}" srcOrd="2" destOrd="0" presId="urn:microsoft.com/office/officeart/2005/8/layout/vList6"/>
    <dgm:cxn modelId="{2CA6F3F8-71F4-4291-BB5D-45ABB7E64325}" type="presParOf" srcId="{2164EFFB-E0F1-4A5A-8ACC-1E5DF3918383}" destId="{D13C87F2-6BC7-42CB-AEE2-B212B0B77E98}" srcOrd="0" destOrd="0" presId="urn:microsoft.com/office/officeart/2005/8/layout/vList6"/>
    <dgm:cxn modelId="{8B04F1C7-0CE1-4DA4-BE15-6BE3A4AB2AB7}" type="presParOf" srcId="{2164EFFB-E0F1-4A5A-8ACC-1E5DF3918383}" destId="{3375499F-50BD-41C1-8271-EDFE60414C8E}" srcOrd="1" destOrd="0" presId="urn:microsoft.com/office/officeart/2005/8/layout/vList6"/>
    <dgm:cxn modelId="{FBA8509E-65CB-4591-9E94-9934AAB99CC9}" type="presParOf" srcId="{EB7D3C83-3577-4BCF-B3B2-801418DC37A7}" destId="{883FE283-C1F8-4623-9274-165CA7CC6A75}" srcOrd="3" destOrd="0" presId="urn:microsoft.com/office/officeart/2005/8/layout/vList6"/>
    <dgm:cxn modelId="{F420CE85-DF90-4F1D-AD3F-B0C604A3E3B0}" type="presParOf" srcId="{EB7D3C83-3577-4BCF-B3B2-801418DC37A7}" destId="{52D46F69-8752-48BF-B6E5-D58A75155C39}" srcOrd="4" destOrd="0" presId="urn:microsoft.com/office/officeart/2005/8/layout/vList6"/>
    <dgm:cxn modelId="{7B36E7D9-667C-4847-80C8-CD243F98FA80}" type="presParOf" srcId="{52D46F69-8752-48BF-B6E5-D58A75155C39}" destId="{C2ADF5CE-5E24-4C19-A149-1269B5D71954}" srcOrd="0" destOrd="0" presId="urn:microsoft.com/office/officeart/2005/8/layout/vList6"/>
    <dgm:cxn modelId="{21FF0567-9459-453A-8ACB-C5BB8970B6A0}" type="presParOf" srcId="{52D46F69-8752-48BF-B6E5-D58A75155C39}" destId="{EE01E7ED-B7F8-4DDF-A43B-6C8EC19623B1}" srcOrd="1" destOrd="0" presId="urn:microsoft.com/office/officeart/2005/8/layout/vList6"/>
  </dgm:cxnLst>
  <dgm:bg/>
  <dgm:whole/>
  <dgm:extLst>
    <a:ext uri="http://schemas.microsoft.com/office/drawing/2008/diagram">
      <dsp:dataModelExt xmlns=""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2FA0F6E-55BE-4327-B8F1-B72F8C053B63}">
      <dsp:nvSpPr>
        <dsp:cNvPr id="0" name=""/>
        <dsp:cNvSpPr/>
      </dsp:nvSpPr>
      <dsp:spPr>
        <a:xfrm rot="16200000">
          <a:off x="566779" y="-576743"/>
          <a:ext cx="2232248" cy="3420380"/>
        </a:xfrm>
        <a:prstGeom prst="round1Rect">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833EB7-3A95-464D-944B-93B2BFDE76C9}">
      <dsp:nvSpPr>
        <dsp:cNvPr id="0" name=""/>
        <dsp:cNvSpPr/>
      </dsp:nvSpPr>
      <dsp:spPr>
        <a:xfrm>
          <a:off x="3393093" y="0"/>
          <a:ext cx="3420380" cy="2232248"/>
        </a:xfrm>
        <a:prstGeom prst="round1Rect">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8A7751-1579-4230-ADD8-1BEB21F59008}">
      <dsp:nvSpPr>
        <dsp:cNvPr id="0" name=""/>
        <dsp:cNvSpPr/>
      </dsp:nvSpPr>
      <dsp:spPr>
        <a:xfrm rot="10800000">
          <a:off x="-27286" y="2232248"/>
          <a:ext cx="3420380" cy="2232248"/>
        </a:xfrm>
        <a:prstGeom prst="round1Rect">
          <a:avLst/>
        </a:prstGeom>
        <a:solidFill>
          <a:srgbClr val="FFFF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8B32D6-0683-4956-8BE9-621625E154BA}">
      <dsp:nvSpPr>
        <dsp:cNvPr id="0" name=""/>
        <dsp:cNvSpPr/>
      </dsp:nvSpPr>
      <dsp:spPr>
        <a:xfrm rot="5400000">
          <a:off x="3906370" y="1583609"/>
          <a:ext cx="2232248" cy="3529524"/>
        </a:xfrm>
        <a:prstGeom prst="round1Rect">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A1C2F2-6639-4EE8-A019-B63C70C42D33}">
      <dsp:nvSpPr>
        <dsp:cNvPr id="0" name=""/>
        <dsp:cNvSpPr/>
      </dsp:nvSpPr>
      <dsp:spPr>
        <a:xfrm>
          <a:off x="1584179" y="1674186"/>
          <a:ext cx="3672400" cy="1116124"/>
        </a:xfrm>
        <a:prstGeom prst="roundRect">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s-AR" sz="2800" b="1" kern="1200" dirty="0" smtClean="0">
              <a:solidFill>
                <a:schemeClr val="tx1"/>
              </a:solidFill>
            </a:rPr>
            <a:t>Naturaleza Jurídica Tributaria</a:t>
          </a:r>
          <a:endParaRPr lang="es-ES" sz="2800" b="1" kern="1200" dirty="0">
            <a:solidFill>
              <a:schemeClr val="tx1"/>
            </a:solidFill>
          </a:endParaRPr>
        </a:p>
      </dsp:txBody>
      <dsp:txXfrm>
        <a:off x="1584179" y="1674186"/>
        <a:ext cx="3672400" cy="1116124"/>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D274624-CCDA-4F62-82B0-DB1320C56D27}">
      <dsp:nvSpPr>
        <dsp:cNvPr id="0" name=""/>
        <dsp:cNvSpPr/>
      </dsp:nvSpPr>
      <dsp:spPr>
        <a:xfrm>
          <a:off x="4495027" y="3524919"/>
          <a:ext cx="4433964" cy="1658785"/>
        </a:xfrm>
        <a:prstGeom prst="roundRect">
          <a:avLst>
            <a:gd name="adj" fmla="val 10000"/>
          </a:avLst>
        </a:prstGeom>
        <a:solidFill>
          <a:schemeClr val="accent4">
            <a:lumMod val="40000"/>
            <a:lumOff val="60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ctr" defTabSz="800100">
            <a:lnSpc>
              <a:spcPct val="90000"/>
            </a:lnSpc>
            <a:spcBef>
              <a:spcPct val="0"/>
            </a:spcBef>
            <a:spcAft>
              <a:spcPct val="15000"/>
            </a:spcAft>
            <a:buChar char="••"/>
          </a:pPr>
          <a:r>
            <a:rPr lang="es-ES" sz="1800" kern="1200" dirty="0" smtClean="0"/>
            <a:t>Tasas de Servicios</a:t>
          </a:r>
          <a:endParaRPr lang="es-ES" sz="1800" kern="1200" dirty="0"/>
        </a:p>
        <a:p>
          <a:pPr marL="171450" lvl="1" indent="-171450" algn="l" defTabSz="800100">
            <a:lnSpc>
              <a:spcPct val="90000"/>
            </a:lnSpc>
            <a:spcBef>
              <a:spcPct val="0"/>
            </a:spcBef>
            <a:spcAft>
              <a:spcPct val="15000"/>
            </a:spcAft>
            <a:buChar char="••"/>
          </a:pPr>
          <a:endParaRPr lang="es-ES" sz="1800" kern="1200" dirty="0"/>
        </a:p>
        <a:p>
          <a:pPr marL="171450" lvl="1" indent="-171450" algn="ctr" defTabSz="800100">
            <a:lnSpc>
              <a:spcPct val="90000"/>
            </a:lnSpc>
            <a:spcBef>
              <a:spcPct val="0"/>
            </a:spcBef>
            <a:spcAft>
              <a:spcPct val="15000"/>
            </a:spcAft>
            <a:buChar char="••"/>
          </a:pPr>
          <a:r>
            <a:rPr lang="es-ES" sz="1800" kern="1200" dirty="0" smtClean="0"/>
            <a:t> Procedimiento Municipal</a:t>
          </a:r>
          <a:endParaRPr lang="es-ES" sz="1800" kern="1200" dirty="0"/>
        </a:p>
      </dsp:txBody>
      <dsp:txXfrm>
        <a:off x="5825216" y="3939615"/>
        <a:ext cx="3103775" cy="1244089"/>
      </dsp:txXfrm>
    </dsp:sp>
    <dsp:sp modelId="{9D32E807-1FFE-4D32-8045-317FDC5004C1}">
      <dsp:nvSpPr>
        <dsp:cNvPr id="0" name=""/>
        <dsp:cNvSpPr/>
      </dsp:nvSpPr>
      <dsp:spPr>
        <a:xfrm>
          <a:off x="0" y="3600244"/>
          <a:ext cx="4236095" cy="1583460"/>
        </a:xfrm>
        <a:prstGeom prst="roundRect">
          <a:avLst>
            <a:gd name="adj" fmla="val 10000"/>
          </a:avLst>
        </a:prstGeom>
        <a:solidFill>
          <a:schemeClr val="accent1">
            <a:lumMod val="40000"/>
            <a:lumOff val="60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s-ES" sz="1800" kern="1200" dirty="0" smtClean="0"/>
            <a:t>Impuestos Provinciales</a:t>
          </a:r>
          <a:endParaRPr lang="es-ES" sz="1800" kern="1200" dirty="0"/>
        </a:p>
        <a:p>
          <a:pPr marL="171450" lvl="1" indent="-171450" algn="l" defTabSz="800100">
            <a:lnSpc>
              <a:spcPct val="90000"/>
            </a:lnSpc>
            <a:spcBef>
              <a:spcPct val="0"/>
            </a:spcBef>
            <a:spcAft>
              <a:spcPct val="15000"/>
            </a:spcAft>
            <a:buChar char="••"/>
          </a:pPr>
          <a:r>
            <a:rPr lang="es-ES" sz="1800" kern="1200" dirty="0" smtClean="0"/>
            <a:t>Procedimiento Provincial</a:t>
          </a:r>
          <a:endParaRPr lang="es-ES" sz="1800" kern="1200" dirty="0"/>
        </a:p>
        <a:p>
          <a:pPr marL="171450" lvl="1" indent="-171450" algn="l" defTabSz="800100">
            <a:lnSpc>
              <a:spcPct val="90000"/>
            </a:lnSpc>
            <a:spcBef>
              <a:spcPct val="0"/>
            </a:spcBef>
            <a:spcAft>
              <a:spcPct val="15000"/>
            </a:spcAft>
            <a:buChar char="••"/>
          </a:pPr>
          <a:r>
            <a:rPr lang="es-ES" sz="1800" kern="1200" dirty="0" smtClean="0"/>
            <a:t>Constituciones Provinciales</a:t>
          </a:r>
          <a:endParaRPr lang="es-ES" sz="1800" kern="1200" dirty="0"/>
        </a:p>
      </dsp:txBody>
      <dsp:txXfrm>
        <a:off x="0" y="3996109"/>
        <a:ext cx="2965266" cy="1187595"/>
      </dsp:txXfrm>
    </dsp:sp>
    <dsp:sp modelId="{481235B6-24DE-454D-9860-A6C333FD6039}">
      <dsp:nvSpPr>
        <dsp:cNvPr id="0" name=""/>
        <dsp:cNvSpPr/>
      </dsp:nvSpPr>
      <dsp:spPr>
        <a:xfrm>
          <a:off x="4505347" y="0"/>
          <a:ext cx="4423644" cy="1658785"/>
        </a:xfrm>
        <a:prstGeom prst="roundRect">
          <a:avLst>
            <a:gd name="adj" fmla="val 10000"/>
          </a:avLst>
        </a:prstGeom>
        <a:solidFill>
          <a:srgbClr val="31F927"/>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t" anchorCtr="0">
          <a:noAutofit/>
        </a:bodyPr>
        <a:lstStyle/>
        <a:p>
          <a:pPr marL="171450" lvl="1" indent="-171450" algn="ctr" defTabSz="755650">
            <a:lnSpc>
              <a:spcPct val="90000"/>
            </a:lnSpc>
            <a:spcBef>
              <a:spcPct val="0"/>
            </a:spcBef>
            <a:spcAft>
              <a:spcPct val="15000"/>
            </a:spcAft>
            <a:buChar char="••"/>
          </a:pPr>
          <a:r>
            <a:rPr lang="es-ES" sz="1700" kern="1200" dirty="0" smtClean="0"/>
            <a:t>Procedimiento Nacional</a:t>
          </a:r>
          <a:endParaRPr lang="es-ES" sz="1700" kern="1200" dirty="0"/>
        </a:p>
        <a:p>
          <a:pPr marL="171450" lvl="1" indent="-171450" algn="ctr" defTabSz="755650">
            <a:lnSpc>
              <a:spcPct val="90000"/>
            </a:lnSpc>
            <a:spcBef>
              <a:spcPct val="0"/>
            </a:spcBef>
            <a:spcAft>
              <a:spcPct val="15000"/>
            </a:spcAft>
            <a:buChar char="••"/>
          </a:pPr>
          <a:r>
            <a:rPr lang="es-ES" sz="1700" kern="1200" dirty="0" smtClean="0"/>
            <a:t>Responsabilidad Solidaria Fiscal</a:t>
          </a:r>
          <a:endParaRPr lang="es-ES" sz="1700" kern="1200" dirty="0"/>
        </a:p>
        <a:p>
          <a:pPr marL="171450" lvl="1" indent="-171450" algn="ctr" defTabSz="755650">
            <a:lnSpc>
              <a:spcPct val="90000"/>
            </a:lnSpc>
            <a:spcBef>
              <a:spcPct val="0"/>
            </a:spcBef>
            <a:spcAft>
              <a:spcPct val="15000"/>
            </a:spcAft>
            <a:buChar char="••"/>
          </a:pPr>
          <a:r>
            <a:rPr lang="es-ES" sz="1700" kern="1200" dirty="0" smtClean="0"/>
            <a:t>Responsabilidad Penal Tributaria</a:t>
          </a:r>
          <a:endParaRPr lang="es-ES" sz="1700" kern="1200" dirty="0"/>
        </a:p>
      </dsp:txBody>
      <dsp:txXfrm>
        <a:off x="5832440" y="0"/>
        <a:ext cx="3096551" cy="1244089"/>
      </dsp:txXfrm>
    </dsp:sp>
    <dsp:sp modelId="{199E52C4-0C62-426B-B248-C63869D52559}">
      <dsp:nvSpPr>
        <dsp:cNvPr id="0" name=""/>
        <dsp:cNvSpPr/>
      </dsp:nvSpPr>
      <dsp:spPr>
        <a:xfrm>
          <a:off x="0" y="0"/>
          <a:ext cx="4506485" cy="1658785"/>
        </a:xfrm>
        <a:prstGeom prst="roundRect">
          <a:avLst>
            <a:gd name="adj" fmla="val 10000"/>
          </a:avLst>
        </a:prstGeom>
        <a:solidFill>
          <a:srgbClr val="FFFF00">
            <a:alpha val="90000"/>
          </a:srgb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t" anchorCtr="0">
          <a:noAutofit/>
        </a:bodyPr>
        <a:lstStyle/>
        <a:p>
          <a:pPr marL="171450" lvl="1" indent="-171450" algn="ctr" defTabSz="755650">
            <a:lnSpc>
              <a:spcPct val="90000"/>
            </a:lnSpc>
            <a:spcBef>
              <a:spcPct val="0"/>
            </a:spcBef>
            <a:spcAft>
              <a:spcPct val="15000"/>
            </a:spcAft>
            <a:buChar char="••"/>
          </a:pPr>
          <a:r>
            <a:rPr lang="es-ES" sz="1700" kern="1200" dirty="0" smtClean="0"/>
            <a:t>Art. 29. Exenta por sus bienes y sus actos</a:t>
          </a:r>
          <a:endParaRPr lang="es-ES" sz="1700" kern="1200" dirty="0"/>
        </a:p>
      </dsp:txBody>
      <dsp:txXfrm>
        <a:off x="0" y="0"/>
        <a:ext cx="3154539" cy="1244089"/>
      </dsp:txXfrm>
    </dsp:sp>
    <dsp:sp modelId="{B014C5D2-7B97-43CD-ABF9-48F94FA24614}">
      <dsp:nvSpPr>
        <dsp:cNvPr id="0" name=""/>
        <dsp:cNvSpPr/>
      </dsp:nvSpPr>
      <dsp:spPr>
        <a:xfrm>
          <a:off x="2024564" y="130788"/>
          <a:ext cx="2391135" cy="2244544"/>
        </a:xfrm>
        <a:prstGeom prst="pieWedge">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s-ES" sz="1800" kern="1200" dirty="0" smtClean="0"/>
            <a:t>Ley 20321 Mutualidades</a:t>
          </a:r>
        </a:p>
      </dsp:txBody>
      <dsp:txXfrm>
        <a:off x="2024564" y="130788"/>
        <a:ext cx="2391135" cy="2244544"/>
      </dsp:txXfrm>
    </dsp:sp>
    <dsp:sp modelId="{526A20F5-AD8D-4987-A23D-07FB6D540A6C}">
      <dsp:nvSpPr>
        <dsp:cNvPr id="0" name=""/>
        <dsp:cNvSpPr/>
      </dsp:nvSpPr>
      <dsp:spPr>
        <a:xfrm rot="5400000">
          <a:off x="4516333" y="106211"/>
          <a:ext cx="2244544" cy="2293699"/>
        </a:xfrm>
        <a:prstGeom prst="pieWedge">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s-ES" sz="1800" kern="1200" dirty="0" smtClean="0"/>
            <a:t>Ley 11.683 </a:t>
          </a:r>
        </a:p>
        <a:p>
          <a:pPr lvl="0" algn="ctr" defTabSz="800100">
            <a:lnSpc>
              <a:spcPct val="90000"/>
            </a:lnSpc>
            <a:spcBef>
              <a:spcPct val="0"/>
            </a:spcBef>
            <a:spcAft>
              <a:spcPct val="35000"/>
            </a:spcAft>
          </a:pPr>
          <a:r>
            <a:rPr lang="es-ES" sz="1800" kern="1200" dirty="0" smtClean="0"/>
            <a:t> Ley 27.430</a:t>
          </a:r>
          <a:endParaRPr lang="es-ES" sz="1800" kern="1200" dirty="0"/>
        </a:p>
      </dsp:txBody>
      <dsp:txXfrm rot="5400000">
        <a:off x="4516333" y="106211"/>
        <a:ext cx="2244544" cy="2293699"/>
      </dsp:txXfrm>
    </dsp:sp>
    <dsp:sp modelId="{10CF11F5-35EE-4835-9BEC-79D33BD85EB9}">
      <dsp:nvSpPr>
        <dsp:cNvPr id="0" name=""/>
        <dsp:cNvSpPr/>
      </dsp:nvSpPr>
      <dsp:spPr>
        <a:xfrm rot="10800000">
          <a:off x="4479387" y="2629234"/>
          <a:ext cx="2318434" cy="2244544"/>
        </a:xfrm>
        <a:prstGeom prst="pieWedge">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endParaRPr lang="es-ES" sz="1800" kern="1200" dirty="0" smtClean="0"/>
        </a:p>
        <a:p>
          <a:pPr lvl="0" algn="ctr" defTabSz="800100">
            <a:lnSpc>
              <a:spcPct val="90000"/>
            </a:lnSpc>
            <a:spcBef>
              <a:spcPct val="0"/>
            </a:spcBef>
            <a:spcAft>
              <a:spcPct val="35000"/>
            </a:spcAft>
          </a:pPr>
          <a:r>
            <a:rPr lang="es-ES" sz="1800" kern="1200" dirty="0" smtClean="0"/>
            <a:t>Ordenanzas Municipales</a:t>
          </a:r>
          <a:endParaRPr lang="es-ES" sz="1800" kern="1200" dirty="0"/>
        </a:p>
      </dsp:txBody>
      <dsp:txXfrm rot="10800000">
        <a:off x="4479387" y="2629234"/>
        <a:ext cx="2318434" cy="2244544"/>
      </dsp:txXfrm>
    </dsp:sp>
    <dsp:sp modelId="{1B5B4E8E-16AB-490A-889F-F8B5FA6AB5AF}">
      <dsp:nvSpPr>
        <dsp:cNvPr id="0" name=""/>
        <dsp:cNvSpPr/>
      </dsp:nvSpPr>
      <dsp:spPr>
        <a:xfrm rot="16200000">
          <a:off x="2083854" y="2509544"/>
          <a:ext cx="2244544" cy="2483924"/>
        </a:xfrm>
        <a:prstGeom prst="pieWedge">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endParaRPr lang="es-ES" sz="1800" kern="1200" dirty="0" smtClean="0"/>
        </a:p>
        <a:p>
          <a:pPr lvl="0" algn="ctr" defTabSz="800100">
            <a:lnSpc>
              <a:spcPct val="90000"/>
            </a:lnSpc>
            <a:spcBef>
              <a:spcPct val="0"/>
            </a:spcBef>
            <a:spcAft>
              <a:spcPct val="35000"/>
            </a:spcAft>
          </a:pPr>
          <a:r>
            <a:rPr lang="es-ES" sz="1800" kern="1200" dirty="0" smtClean="0"/>
            <a:t>Códigos Fiscales</a:t>
          </a:r>
        </a:p>
        <a:p>
          <a:pPr lvl="0" algn="ctr" defTabSz="800100">
            <a:lnSpc>
              <a:spcPct val="90000"/>
            </a:lnSpc>
            <a:spcBef>
              <a:spcPct val="0"/>
            </a:spcBef>
            <a:spcAft>
              <a:spcPct val="35000"/>
            </a:spcAft>
          </a:pPr>
          <a:r>
            <a:rPr lang="es-ES" sz="1700" kern="1200" dirty="0" smtClean="0"/>
            <a:t>Ley 23.548 Coparticipación Federal </a:t>
          </a:r>
          <a:endParaRPr lang="es-ES" sz="1700" kern="1200" dirty="0"/>
        </a:p>
      </dsp:txBody>
      <dsp:txXfrm rot="16200000">
        <a:off x="2083854" y="2509544"/>
        <a:ext cx="2244544" cy="2483924"/>
      </dsp:txXfrm>
    </dsp:sp>
    <dsp:sp modelId="{242859C8-8263-45FF-8457-D4B334CD937B}">
      <dsp:nvSpPr>
        <dsp:cNvPr id="0" name=""/>
        <dsp:cNvSpPr/>
      </dsp:nvSpPr>
      <dsp:spPr>
        <a:xfrm>
          <a:off x="3974083" y="2125319"/>
          <a:ext cx="774963" cy="673881"/>
        </a:xfrm>
        <a:prstGeom prst="circular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36BB6B-D5E8-4D3A-B1CD-9A5883871006}">
      <dsp:nvSpPr>
        <dsp:cNvPr id="0" name=""/>
        <dsp:cNvSpPr/>
      </dsp:nvSpPr>
      <dsp:spPr>
        <a:xfrm rot="10800000">
          <a:off x="3974083" y="2384504"/>
          <a:ext cx="774963" cy="673881"/>
        </a:xfrm>
        <a:prstGeom prst="circular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15D6935-5ECB-40B0-B8FF-98C24F04FE44}">
      <dsp:nvSpPr>
        <dsp:cNvPr id="0" name=""/>
        <dsp:cNvSpPr/>
      </dsp:nvSpPr>
      <dsp:spPr>
        <a:xfrm>
          <a:off x="1265" y="282559"/>
          <a:ext cx="1106841" cy="1106841"/>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60913" tIns="12700" rIns="60913" bIns="12700" numCol="1" spcCol="1270" anchor="ctr" anchorCtr="0">
          <a:noAutofit/>
        </a:bodyPr>
        <a:lstStyle/>
        <a:p>
          <a:pPr lvl="0" algn="ctr" defTabSz="444500">
            <a:lnSpc>
              <a:spcPct val="90000"/>
            </a:lnSpc>
            <a:spcBef>
              <a:spcPct val="0"/>
            </a:spcBef>
            <a:spcAft>
              <a:spcPct val="35000"/>
            </a:spcAft>
          </a:pPr>
          <a:r>
            <a:rPr lang="es-AR" sz="1000" b="1" kern="1200" dirty="0" err="1" smtClean="0">
              <a:solidFill>
                <a:schemeClr val="tx1"/>
              </a:solidFill>
            </a:rPr>
            <a:t>Iva</a:t>
          </a:r>
          <a:endParaRPr lang="es-AR" sz="1000" b="1" kern="1200" dirty="0" smtClean="0">
            <a:solidFill>
              <a:schemeClr val="tx1"/>
            </a:solidFill>
          </a:endParaRPr>
        </a:p>
      </dsp:txBody>
      <dsp:txXfrm>
        <a:off x="1265" y="282559"/>
        <a:ext cx="1106841" cy="1106841"/>
      </dsp:txXfrm>
    </dsp:sp>
    <dsp:sp modelId="{75AD13FB-53B3-488B-BA82-D47ECB768E8E}">
      <dsp:nvSpPr>
        <dsp:cNvPr id="0" name=""/>
        <dsp:cNvSpPr/>
      </dsp:nvSpPr>
      <dsp:spPr>
        <a:xfrm>
          <a:off x="886739" y="282559"/>
          <a:ext cx="1106841" cy="1106841"/>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60913" tIns="12700" rIns="60913" bIns="12700" numCol="1" spcCol="1270" anchor="ctr" anchorCtr="0">
          <a:noAutofit/>
        </a:bodyPr>
        <a:lstStyle/>
        <a:p>
          <a:pPr lvl="0" algn="ctr" defTabSz="444500">
            <a:lnSpc>
              <a:spcPct val="90000"/>
            </a:lnSpc>
            <a:spcBef>
              <a:spcPct val="0"/>
            </a:spcBef>
            <a:spcAft>
              <a:spcPct val="35000"/>
            </a:spcAft>
          </a:pPr>
          <a:r>
            <a:rPr lang="es-AR" sz="1000" b="1" kern="1200" dirty="0" smtClean="0">
              <a:solidFill>
                <a:schemeClr val="tx1"/>
              </a:solidFill>
            </a:rPr>
            <a:t>Ganancias</a:t>
          </a:r>
          <a:endParaRPr lang="es-ES" sz="1000" b="1" kern="1200" dirty="0">
            <a:solidFill>
              <a:schemeClr val="tx1"/>
            </a:solidFill>
          </a:endParaRPr>
        </a:p>
      </dsp:txBody>
      <dsp:txXfrm>
        <a:off x="886739" y="282559"/>
        <a:ext cx="1106841" cy="1106841"/>
      </dsp:txXfrm>
    </dsp:sp>
    <dsp:sp modelId="{8E85D9CB-0695-4CD6-878C-E238FBDC87F6}">
      <dsp:nvSpPr>
        <dsp:cNvPr id="0" name=""/>
        <dsp:cNvSpPr/>
      </dsp:nvSpPr>
      <dsp:spPr>
        <a:xfrm>
          <a:off x="1772212" y="282559"/>
          <a:ext cx="1106841" cy="1106841"/>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60913" tIns="12700" rIns="60913" bIns="12700" numCol="1" spcCol="1270" anchor="ctr" anchorCtr="0">
          <a:noAutofit/>
        </a:bodyPr>
        <a:lstStyle/>
        <a:p>
          <a:pPr lvl="0" algn="ctr" defTabSz="444500">
            <a:lnSpc>
              <a:spcPct val="90000"/>
            </a:lnSpc>
            <a:spcBef>
              <a:spcPct val="0"/>
            </a:spcBef>
            <a:spcAft>
              <a:spcPct val="35000"/>
            </a:spcAft>
          </a:pPr>
          <a:r>
            <a:rPr lang="es-AR" sz="1000" b="1" kern="1200" dirty="0" err="1" smtClean="0">
              <a:solidFill>
                <a:schemeClr val="tx1"/>
              </a:solidFill>
            </a:rPr>
            <a:t>IDyC</a:t>
          </a:r>
          <a:endParaRPr lang="es-ES" sz="1000" b="1" kern="1200" dirty="0">
            <a:solidFill>
              <a:schemeClr val="tx1"/>
            </a:solidFill>
          </a:endParaRPr>
        </a:p>
      </dsp:txBody>
      <dsp:txXfrm>
        <a:off x="1772212" y="282559"/>
        <a:ext cx="1106841" cy="1106841"/>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5AD13FB-53B3-488B-BA82-D47ECB768E8E}">
      <dsp:nvSpPr>
        <dsp:cNvPr id="0" name=""/>
        <dsp:cNvSpPr/>
      </dsp:nvSpPr>
      <dsp:spPr>
        <a:xfrm>
          <a:off x="1265" y="282559"/>
          <a:ext cx="1106841" cy="1106841"/>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60913" tIns="12700" rIns="60913" bIns="12700" numCol="1" spcCol="1270" anchor="ctr" anchorCtr="0">
          <a:noAutofit/>
        </a:bodyPr>
        <a:lstStyle/>
        <a:p>
          <a:pPr lvl="0" algn="ctr" defTabSz="444500">
            <a:lnSpc>
              <a:spcPct val="90000"/>
            </a:lnSpc>
            <a:spcBef>
              <a:spcPct val="0"/>
            </a:spcBef>
            <a:spcAft>
              <a:spcPct val="35000"/>
            </a:spcAft>
          </a:pPr>
          <a:r>
            <a:rPr lang="es-AR" sz="1000" b="1" kern="1200" dirty="0" smtClean="0">
              <a:solidFill>
                <a:schemeClr val="tx1"/>
              </a:solidFill>
            </a:rPr>
            <a:t>I. Brutos</a:t>
          </a:r>
          <a:endParaRPr lang="es-ES" sz="1000" b="1" kern="1200" dirty="0">
            <a:solidFill>
              <a:schemeClr val="tx1"/>
            </a:solidFill>
          </a:endParaRPr>
        </a:p>
      </dsp:txBody>
      <dsp:txXfrm>
        <a:off x="1265" y="282559"/>
        <a:ext cx="1106841" cy="1106841"/>
      </dsp:txXfrm>
    </dsp:sp>
    <dsp:sp modelId="{8E85D9CB-0695-4CD6-878C-E238FBDC87F6}">
      <dsp:nvSpPr>
        <dsp:cNvPr id="0" name=""/>
        <dsp:cNvSpPr/>
      </dsp:nvSpPr>
      <dsp:spPr>
        <a:xfrm>
          <a:off x="886739" y="282559"/>
          <a:ext cx="1106841" cy="1106841"/>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60913" tIns="12700" rIns="60913" bIns="12700" numCol="1" spcCol="1270" anchor="ctr" anchorCtr="0">
          <a:noAutofit/>
        </a:bodyPr>
        <a:lstStyle/>
        <a:p>
          <a:pPr lvl="0" algn="ctr" defTabSz="444500">
            <a:lnSpc>
              <a:spcPct val="90000"/>
            </a:lnSpc>
            <a:spcBef>
              <a:spcPct val="0"/>
            </a:spcBef>
            <a:spcAft>
              <a:spcPct val="35000"/>
            </a:spcAft>
          </a:pPr>
          <a:r>
            <a:rPr lang="es-AR" sz="1000" b="1" kern="1200" dirty="0" smtClean="0">
              <a:solidFill>
                <a:schemeClr val="tx1"/>
              </a:solidFill>
            </a:rPr>
            <a:t>Sellos</a:t>
          </a:r>
          <a:endParaRPr lang="es-ES" sz="1000" b="1" kern="1200" dirty="0">
            <a:solidFill>
              <a:schemeClr val="tx1"/>
            </a:solidFill>
          </a:endParaRPr>
        </a:p>
      </dsp:txBody>
      <dsp:txXfrm>
        <a:off x="886739" y="282559"/>
        <a:ext cx="1106841" cy="1106841"/>
      </dsp:txXfrm>
    </dsp:sp>
    <dsp:sp modelId="{89048939-5E4D-40AE-9E57-BA20E5586CEA}">
      <dsp:nvSpPr>
        <dsp:cNvPr id="0" name=""/>
        <dsp:cNvSpPr/>
      </dsp:nvSpPr>
      <dsp:spPr>
        <a:xfrm>
          <a:off x="1772212" y="282559"/>
          <a:ext cx="1106841" cy="1106841"/>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60913" tIns="12700" rIns="60913" bIns="12700" numCol="1" spcCol="1270" anchor="ctr" anchorCtr="0">
          <a:noAutofit/>
        </a:bodyPr>
        <a:lstStyle/>
        <a:p>
          <a:pPr lvl="0" algn="ctr" defTabSz="444500">
            <a:lnSpc>
              <a:spcPct val="90000"/>
            </a:lnSpc>
            <a:spcBef>
              <a:spcPct val="0"/>
            </a:spcBef>
            <a:spcAft>
              <a:spcPct val="35000"/>
            </a:spcAft>
          </a:pPr>
          <a:r>
            <a:rPr lang="es-AR" sz="1000" b="1" kern="1200" dirty="0" err="1" smtClean="0">
              <a:solidFill>
                <a:schemeClr val="tx1"/>
              </a:solidFill>
            </a:rPr>
            <a:t>Inmob</a:t>
          </a:r>
          <a:r>
            <a:rPr lang="es-AR" sz="1000" b="1" kern="1200" dirty="0" smtClean="0">
              <a:solidFill>
                <a:schemeClr val="tx1"/>
              </a:solidFill>
            </a:rPr>
            <a:t>.</a:t>
          </a:r>
          <a:endParaRPr lang="es-ES" sz="1000" b="1" kern="1200" dirty="0">
            <a:solidFill>
              <a:schemeClr val="tx1"/>
            </a:solidFill>
          </a:endParaRPr>
        </a:p>
      </dsp:txBody>
      <dsp:txXfrm>
        <a:off x="1772212" y="282559"/>
        <a:ext cx="1106841" cy="1106841"/>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2A51699-244D-427A-BE02-4FDA4D22DB7A}">
      <dsp:nvSpPr>
        <dsp:cNvPr id="0" name=""/>
        <dsp:cNvSpPr/>
      </dsp:nvSpPr>
      <dsp:spPr>
        <a:xfrm>
          <a:off x="0" y="0"/>
          <a:ext cx="8629680" cy="1552963"/>
        </a:xfrm>
        <a:prstGeom prst="rect">
          <a:avLst/>
        </a:prstGeom>
        <a:solidFill>
          <a:srgbClr val="FF0000"/>
        </a:solidFill>
        <a:ln>
          <a:noFill/>
        </a:ln>
        <a:effectLst/>
      </dsp:spPr>
      <dsp:style>
        <a:lnRef idx="0">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s-ES" sz="4000" b="1" kern="1200" dirty="0" smtClean="0">
              <a:solidFill>
                <a:schemeClr val="bg1"/>
              </a:solidFill>
            </a:rPr>
            <a:t>Pilar fundamental: ??? </a:t>
          </a:r>
        </a:p>
        <a:p>
          <a:pPr lvl="0" algn="ctr" defTabSz="1778000">
            <a:lnSpc>
              <a:spcPct val="90000"/>
            </a:lnSpc>
            <a:spcBef>
              <a:spcPct val="0"/>
            </a:spcBef>
            <a:spcAft>
              <a:spcPct val="35000"/>
            </a:spcAft>
          </a:pPr>
          <a:endParaRPr lang="es-ES" sz="1500" kern="1200" dirty="0"/>
        </a:p>
      </dsp:txBody>
      <dsp:txXfrm>
        <a:off x="0" y="0"/>
        <a:ext cx="8629680" cy="1552963"/>
      </dsp:txXfrm>
    </dsp:sp>
    <dsp:sp modelId="{3898918E-DD03-46A5-BE97-1CAC89E61025}">
      <dsp:nvSpPr>
        <dsp:cNvPr id="0" name=""/>
        <dsp:cNvSpPr/>
      </dsp:nvSpPr>
      <dsp:spPr>
        <a:xfrm>
          <a:off x="4213" y="1552963"/>
          <a:ext cx="2873750" cy="3261223"/>
        </a:xfrm>
        <a:prstGeom prst="rect">
          <a:avLst/>
        </a:prstGeom>
        <a:solidFill>
          <a:schemeClr val="bg2">
            <a:lumMod val="9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t" anchorCtr="0">
          <a:noAutofit/>
        </a:bodyPr>
        <a:lstStyle/>
        <a:p>
          <a:pPr lvl="0" algn="ctr" defTabSz="1377950">
            <a:lnSpc>
              <a:spcPct val="90000"/>
            </a:lnSpc>
            <a:spcBef>
              <a:spcPct val="0"/>
            </a:spcBef>
            <a:spcAft>
              <a:spcPct val="35000"/>
            </a:spcAft>
          </a:pPr>
          <a:r>
            <a:rPr lang="es-ES" sz="3100" b="1" u="sng" kern="1200" dirty="0" smtClean="0">
              <a:solidFill>
                <a:schemeClr val="tx1"/>
              </a:solidFill>
            </a:rPr>
            <a:t>Naturaleza</a:t>
          </a:r>
          <a:endParaRPr lang="es-ES" sz="3100" b="1" u="sng" kern="1200" dirty="0">
            <a:solidFill>
              <a:schemeClr val="tx1"/>
            </a:solidFill>
          </a:endParaRPr>
        </a:p>
        <a:p>
          <a:pPr marL="228600" lvl="1" indent="-228600" algn="ctr" defTabSz="1066800">
            <a:lnSpc>
              <a:spcPct val="90000"/>
            </a:lnSpc>
            <a:spcBef>
              <a:spcPct val="0"/>
            </a:spcBef>
            <a:spcAft>
              <a:spcPct val="15000"/>
            </a:spcAft>
            <a:buChar char="••"/>
          </a:pPr>
          <a:r>
            <a:rPr lang="es-ES" sz="2400" kern="1200" dirty="0" smtClean="0">
              <a:solidFill>
                <a:srgbClr val="002060"/>
              </a:solidFill>
            </a:rPr>
            <a:t>Actos Mutuales</a:t>
          </a:r>
          <a:endParaRPr lang="es-ES" sz="2400" kern="1200" dirty="0">
            <a:solidFill>
              <a:srgbClr val="002060"/>
            </a:solidFill>
          </a:endParaRPr>
        </a:p>
        <a:p>
          <a:pPr marL="228600" lvl="1" indent="-228600" algn="ctr" defTabSz="1066800">
            <a:lnSpc>
              <a:spcPct val="90000"/>
            </a:lnSpc>
            <a:spcBef>
              <a:spcPct val="0"/>
            </a:spcBef>
            <a:spcAft>
              <a:spcPct val="15000"/>
            </a:spcAft>
            <a:buChar char="••"/>
          </a:pPr>
          <a:r>
            <a:rPr lang="es-ES" sz="2400" kern="1200" dirty="0" smtClean="0">
              <a:solidFill>
                <a:srgbClr val="002060"/>
              </a:solidFill>
            </a:rPr>
            <a:t>Rango Constitucional</a:t>
          </a:r>
          <a:endParaRPr lang="es-ES" sz="2400" kern="1200" dirty="0">
            <a:solidFill>
              <a:srgbClr val="002060"/>
            </a:solidFill>
          </a:endParaRPr>
        </a:p>
        <a:p>
          <a:pPr marL="228600" lvl="1" indent="-228600" algn="ctr" defTabSz="1066800">
            <a:lnSpc>
              <a:spcPct val="90000"/>
            </a:lnSpc>
            <a:spcBef>
              <a:spcPct val="0"/>
            </a:spcBef>
            <a:spcAft>
              <a:spcPct val="15000"/>
            </a:spcAft>
            <a:buChar char="••"/>
          </a:pPr>
          <a:r>
            <a:rPr lang="es-ES" sz="2400" kern="1200" dirty="0" smtClean="0">
              <a:solidFill>
                <a:srgbClr val="002060"/>
              </a:solidFill>
            </a:rPr>
            <a:t>Derecho comparado</a:t>
          </a:r>
          <a:endParaRPr lang="es-ES" sz="2400" kern="1200" dirty="0">
            <a:solidFill>
              <a:srgbClr val="002060"/>
            </a:solidFill>
          </a:endParaRPr>
        </a:p>
      </dsp:txBody>
      <dsp:txXfrm>
        <a:off x="4213" y="1552963"/>
        <a:ext cx="2873750" cy="3261223"/>
      </dsp:txXfrm>
    </dsp:sp>
    <dsp:sp modelId="{92753581-6CAE-4CC8-B139-7DA07E6CADA8}">
      <dsp:nvSpPr>
        <dsp:cNvPr id="0" name=""/>
        <dsp:cNvSpPr/>
      </dsp:nvSpPr>
      <dsp:spPr>
        <a:xfrm>
          <a:off x="2877964" y="1552963"/>
          <a:ext cx="2873750" cy="3261223"/>
        </a:xfrm>
        <a:prstGeom prst="rect">
          <a:avLst/>
        </a:prstGeom>
        <a:solidFill>
          <a:schemeClr val="accent4">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t" anchorCtr="0">
          <a:noAutofit/>
        </a:bodyPr>
        <a:lstStyle/>
        <a:p>
          <a:pPr lvl="0" algn="ctr" defTabSz="1377950">
            <a:lnSpc>
              <a:spcPct val="90000"/>
            </a:lnSpc>
            <a:spcBef>
              <a:spcPct val="0"/>
            </a:spcBef>
            <a:spcAft>
              <a:spcPct val="35000"/>
            </a:spcAft>
          </a:pPr>
          <a:r>
            <a:rPr lang="es-ES" sz="3100" b="1" u="sng" kern="1200" dirty="0" smtClean="0">
              <a:solidFill>
                <a:schemeClr val="tx1"/>
              </a:solidFill>
            </a:rPr>
            <a:t>Legislación</a:t>
          </a:r>
          <a:endParaRPr lang="es-ES" sz="3100" b="1" u="sng" kern="1200" dirty="0">
            <a:solidFill>
              <a:schemeClr val="tx1"/>
            </a:solidFill>
          </a:endParaRPr>
        </a:p>
        <a:p>
          <a:pPr marL="228600" lvl="1" indent="-228600" algn="ctr" defTabSz="1066800">
            <a:lnSpc>
              <a:spcPct val="90000"/>
            </a:lnSpc>
            <a:spcBef>
              <a:spcPct val="0"/>
            </a:spcBef>
            <a:spcAft>
              <a:spcPct val="15000"/>
            </a:spcAft>
            <a:buChar char="••"/>
          </a:pPr>
          <a:r>
            <a:rPr lang="es-ES" sz="2400" kern="1200" dirty="0" smtClean="0">
              <a:solidFill>
                <a:srgbClr val="002060"/>
              </a:solidFill>
            </a:rPr>
            <a:t>Art. 29 Ley 20321</a:t>
          </a:r>
          <a:endParaRPr lang="es-ES" sz="2400" kern="1200" dirty="0">
            <a:solidFill>
              <a:srgbClr val="002060"/>
            </a:solidFill>
          </a:endParaRPr>
        </a:p>
        <a:p>
          <a:pPr marL="228600" lvl="1" indent="-228600" algn="ctr" defTabSz="1066800">
            <a:lnSpc>
              <a:spcPct val="90000"/>
            </a:lnSpc>
            <a:spcBef>
              <a:spcPct val="0"/>
            </a:spcBef>
            <a:spcAft>
              <a:spcPct val="15000"/>
            </a:spcAft>
            <a:buChar char="••"/>
          </a:pPr>
          <a:r>
            <a:rPr lang="es-ES" sz="2400" kern="1200" dirty="0" smtClean="0">
              <a:solidFill>
                <a:srgbClr val="002060"/>
              </a:solidFill>
            </a:rPr>
            <a:t>Exenciones de Impuestos</a:t>
          </a:r>
          <a:endParaRPr lang="es-ES" sz="2400" kern="1200" dirty="0">
            <a:solidFill>
              <a:srgbClr val="002060"/>
            </a:solidFill>
          </a:endParaRPr>
        </a:p>
        <a:p>
          <a:pPr marL="228600" lvl="1" indent="-228600" algn="l" defTabSz="1066800">
            <a:lnSpc>
              <a:spcPct val="90000"/>
            </a:lnSpc>
            <a:spcBef>
              <a:spcPct val="0"/>
            </a:spcBef>
            <a:spcAft>
              <a:spcPct val="15000"/>
            </a:spcAft>
            <a:buChar char="••"/>
          </a:pPr>
          <a:endParaRPr lang="es-ES" sz="2400" kern="1200" dirty="0"/>
        </a:p>
      </dsp:txBody>
      <dsp:txXfrm>
        <a:off x="2877964" y="1552963"/>
        <a:ext cx="2873750" cy="3261223"/>
      </dsp:txXfrm>
    </dsp:sp>
    <dsp:sp modelId="{D51B7421-CF2D-4116-BCFD-B4AF7A2E3AEE}">
      <dsp:nvSpPr>
        <dsp:cNvPr id="0" name=""/>
        <dsp:cNvSpPr/>
      </dsp:nvSpPr>
      <dsp:spPr>
        <a:xfrm>
          <a:off x="5751715" y="1552963"/>
          <a:ext cx="2873750" cy="3261223"/>
        </a:xfrm>
        <a:prstGeom prst="rect">
          <a:avLst/>
        </a:prstGeom>
        <a:solidFill>
          <a:schemeClr val="accent6">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t" anchorCtr="0">
          <a:noAutofit/>
        </a:bodyPr>
        <a:lstStyle/>
        <a:p>
          <a:pPr lvl="0" algn="ctr" defTabSz="1377950">
            <a:lnSpc>
              <a:spcPct val="90000"/>
            </a:lnSpc>
            <a:spcBef>
              <a:spcPct val="0"/>
            </a:spcBef>
            <a:spcAft>
              <a:spcPct val="35000"/>
            </a:spcAft>
          </a:pPr>
          <a:r>
            <a:rPr lang="es-ES" sz="3100" b="1" u="sng" kern="1200" dirty="0" smtClean="0">
              <a:solidFill>
                <a:schemeClr val="tx1"/>
              </a:solidFill>
            </a:rPr>
            <a:t>Jurisprudencia</a:t>
          </a:r>
          <a:endParaRPr lang="es-ES" sz="3100" b="1" u="sng" kern="1200" dirty="0">
            <a:solidFill>
              <a:schemeClr val="tx1"/>
            </a:solidFill>
          </a:endParaRPr>
        </a:p>
        <a:p>
          <a:pPr marL="228600" lvl="1" indent="-228600" algn="ctr" defTabSz="1066800">
            <a:lnSpc>
              <a:spcPct val="90000"/>
            </a:lnSpc>
            <a:spcBef>
              <a:spcPct val="0"/>
            </a:spcBef>
            <a:spcAft>
              <a:spcPct val="15000"/>
            </a:spcAft>
            <a:buChar char="••"/>
          </a:pPr>
          <a:r>
            <a:rPr lang="es-ES" sz="2400" kern="1200" dirty="0" smtClean="0">
              <a:solidFill>
                <a:srgbClr val="002060"/>
              </a:solidFill>
            </a:rPr>
            <a:t>Fallos CSJN y otros Tribunales</a:t>
          </a:r>
          <a:endParaRPr lang="es-ES" sz="2400" kern="1200" dirty="0">
            <a:solidFill>
              <a:srgbClr val="002060"/>
            </a:solidFill>
          </a:endParaRPr>
        </a:p>
        <a:p>
          <a:pPr marL="228600" lvl="1" indent="-228600" algn="ctr" defTabSz="1066800">
            <a:lnSpc>
              <a:spcPct val="90000"/>
            </a:lnSpc>
            <a:spcBef>
              <a:spcPct val="0"/>
            </a:spcBef>
            <a:spcAft>
              <a:spcPct val="15000"/>
            </a:spcAft>
            <a:buChar char="••"/>
          </a:pPr>
          <a:r>
            <a:rPr lang="es-ES" sz="2400" kern="1200" dirty="0" smtClean="0">
              <a:solidFill>
                <a:srgbClr val="002060"/>
              </a:solidFill>
            </a:rPr>
            <a:t>Fallos Cooperativas</a:t>
          </a:r>
          <a:endParaRPr lang="es-ES" sz="2400" kern="1200" dirty="0">
            <a:solidFill>
              <a:srgbClr val="002060"/>
            </a:solidFill>
          </a:endParaRPr>
        </a:p>
        <a:p>
          <a:pPr marL="228600" lvl="1" indent="-228600" algn="ctr" defTabSz="1066800">
            <a:lnSpc>
              <a:spcPct val="90000"/>
            </a:lnSpc>
            <a:spcBef>
              <a:spcPct val="0"/>
            </a:spcBef>
            <a:spcAft>
              <a:spcPct val="15000"/>
            </a:spcAft>
            <a:buChar char="••"/>
          </a:pPr>
          <a:r>
            <a:rPr lang="es-ES" sz="2400" kern="1200" dirty="0" smtClean="0">
              <a:solidFill>
                <a:srgbClr val="002060"/>
              </a:solidFill>
            </a:rPr>
            <a:t>Fallos Asociaciones Civiles</a:t>
          </a:r>
          <a:endParaRPr lang="es-ES" sz="2400" kern="1200" dirty="0">
            <a:solidFill>
              <a:srgbClr val="002060"/>
            </a:solidFill>
          </a:endParaRPr>
        </a:p>
      </dsp:txBody>
      <dsp:txXfrm>
        <a:off x="5751715" y="1552963"/>
        <a:ext cx="2873750" cy="3261223"/>
      </dsp:txXfrm>
    </dsp:sp>
    <dsp:sp modelId="{2B5BF053-C468-4556-876E-C7DBE2898B08}">
      <dsp:nvSpPr>
        <dsp:cNvPr id="0" name=""/>
        <dsp:cNvSpPr/>
      </dsp:nvSpPr>
      <dsp:spPr>
        <a:xfrm>
          <a:off x="0" y="4814186"/>
          <a:ext cx="8629680" cy="362358"/>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B86424D-F1A7-4AA0-B76B-F3DC3AF5B44B}">
      <dsp:nvSpPr>
        <dsp:cNvPr id="0" name=""/>
        <dsp:cNvSpPr/>
      </dsp:nvSpPr>
      <dsp:spPr>
        <a:xfrm>
          <a:off x="3303577" y="70"/>
          <a:ext cx="1241716" cy="807115"/>
        </a:xfrm>
        <a:prstGeom prst="roundRect">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ES" sz="1400" kern="1200" dirty="0" smtClean="0"/>
            <a:t>Sin fines de lucro</a:t>
          </a:r>
          <a:endParaRPr lang="es-ES" sz="1400" kern="1200" dirty="0"/>
        </a:p>
      </dsp:txBody>
      <dsp:txXfrm>
        <a:off x="3303577" y="70"/>
        <a:ext cx="1241716" cy="807115"/>
      </dsp:txXfrm>
    </dsp:sp>
    <dsp:sp modelId="{95839C5A-E82B-451C-B4ED-19ECB530FFD6}">
      <dsp:nvSpPr>
        <dsp:cNvPr id="0" name=""/>
        <dsp:cNvSpPr/>
      </dsp:nvSpPr>
      <dsp:spPr>
        <a:xfrm>
          <a:off x="1621758" y="403628"/>
          <a:ext cx="4605355" cy="4605355"/>
        </a:xfrm>
        <a:custGeom>
          <a:avLst/>
          <a:gdLst/>
          <a:ahLst/>
          <a:cxnLst/>
          <a:rect l="0" t="0" r="0" b="0"/>
          <a:pathLst>
            <a:path>
              <a:moveTo>
                <a:pt x="2931745" y="87593"/>
              </a:moveTo>
              <a:arcTo wR="2302677" hR="2302677" stAng="17151249" swAng="125538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950322D-72BE-4498-9AD8-A6BA67EEB3D2}">
      <dsp:nvSpPr>
        <dsp:cNvPr id="0" name=""/>
        <dsp:cNvSpPr/>
      </dsp:nvSpPr>
      <dsp:spPr>
        <a:xfrm>
          <a:off x="5103884" y="867052"/>
          <a:ext cx="1241716" cy="807115"/>
        </a:xfrm>
        <a:prstGeom prst="roundRect">
          <a:avLst/>
        </a:prstGeom>
        <a:solidFill>
          <a:srgbClr val="EB641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ES" sz="1400" kern="1200" dirty="0" smtClean="0"/>
            <a:t>No distribución excedentes</a:t>
          </a:r>
          <a:endParaRPr lang="es-ES" sz="1400" kern="1200" dirty="0"/>
        </a:p>
      </dsp:txBody>
      <dsp:txXfrm>
        <a:off x="5103884" y="867052"/>
        <a:ext cx="1241716" cy="807115"/>
      </dsp:txXfrm>
    </dsp:sp>
    <dsp:sp modelId="{5C7C7333-AA35-4955-AF00-0F400DDF052A}">
      <dsp:nvSpPr>
        <dsp:cNvPr id="0" name=""/>
        <dsp:cNvSpPr/>
      </dsp:nvSpPr>
      <dsp:spPr>
        <a:xfrm>
          <a:off x="1621758" y="403628"/>
          <a:ext cx="4605355" cy="4605355"/>
        </a:xfrm>
        <a:custGeom>
          <a:avLst/>
          <a:gdLst/>
          <a:ahLst/>
          <a:cxnLst/>
          <a:rect l="0" t="0" r="0" b="0"/>
          <a:pathLst>
            <a:path>
              <a:moveTo>
                <a:pt x="4366280" y="1280978"/>
              </a:moveTo>
              <a:arcTo wR="2302677" hR="2302677" stAng="20019586" swAng="1725548"/>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B440A67-7F7B-4977-9F81-14A89737BED1}">
      <dsp:nvSpPr>
        <dsp:cNvPr id="0" name=""/>
        <dsp:cNvSpPr/>
      </dsp:nvSpPr>
      <dsp:spPr>
        <a:xfrm>
          <a:off x="5548522" y="2815142"/>
          <a:ext cx="1241716" cy="807115"/>
        </a:xfrm>
        <a:prstGeom prst="roundRect">
          <a:avLst/>
        </a:prstGeom>
        <a:solidFill>
          <a:srgbClr val="EB641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ES" sz="1400" kern="1200" dirty="0" smtClean="0"/>
            <a:t>Adhesión voluntaria</a:t>
          </a:r>
          <a:endParaRPr lang="es-ES" sz="1400" kern="1200" dirty="0"/>
        </a:p>
      </dsp:txBody>
      <dsp:txXfrm>
        <a:off x="5548522" y="2815142"/>
        <a:ext cx="1241716" cy="807115"/>
      </dsp:txXfrm>
    </dsp:sp>
    <dsp:sp modelId="{9AE9BDE7-0E41-4B70-9D6D-E1A23F623D85}">
      <dsp:nvSpPr>
        <dsp:cNvPr id="0" name=""/>
        <dsp:cNvSpPr/>
      </dsp:nvSpPr>
      <dsp:spPr>
        <a:xfrm>
          <a:off x="1621758" y="403628"/>
          <a:ext cx="4605355" cy="4605355"/>
        </a:xfrm>
        <a:custGeom>
          <a:avLst/>
          <a:gdLst/>
          <a:ahLst/>
          <a:cxnLst/>
          <a:rect l="0" t="0" r="0" b="0"/>
          <a:pathLst>
            <a:path>
              <a:moveTo>
                <a:pt x="4411661" y="3227078"/>
              </a:moveTo>
              <a:arcTo wR="2302677" hR="2302677" stAng="1420116" swAng="135781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7C446B4-8F83-43A2-986B-EF94AE991620}">
      <dsp:nvSpPr>
        <dsp:cNvPr id="0" name=""/>
        <dsp:cNvSpPr/>
      </dsp:nvSpPr>
      <dsp:spPr>
        <a:xfrm>
          <a:off x="4302672" y="4377389"/>
          <a:ext cx="1241716" cy="807115"/>
        </a:xfrm>
        <a:prstGeom prst="roundRect">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ES" sz="1400" kern="1200" dirty="0" smtClean="0"/>
            <a:t>Ayuda recíproca mutua</a:t>
          </a:r>
          <a:endParaRPr lang="es-ES" sz="1400" kern="1200" dirty="0"/>
        </a:p>
      </dsp:txBody>
      <dsp:txXfrm>
        <a:off x="4302672" y="4377389"/>
        <a:ext cx="1241716" cy="807115"/>
      </dsp:txXfrm>
    </dsp:sp>
    <dsp:sp modelId="{F87A87C0-2B85-414E-80C8-E1141CC4C3F2}">
      <dsp:nvSpPr>
        <dsp:cNvPr id="0" name=""/>
        <dsp:cNvSpPr/>
      </dsp:nvSpPr>
      <dsp:spPr>
        <a:xfrm>
          <a:off x="1621758" y="403628"/>
          <a:ext cx="4605355" cy="4605355"/>
        </a:xfrm>
        <a:custGeom>
          <a:avLst/>
          <a:gdLst/>
          <a:ahLst/>
          <a:cxnLst/>
          <a:rect l="0" t="0" r="0" b="0"/>
          <a:pathLst>
            <a:path>
              <a:moveTo>
                <a:pt x="2673450" y="4575309"/>
              </a:moveTo>
              <a:arcTo wR="2302677" hR="2302677" stAng="4844041" swAng="1111918"/>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B1A2815-C0A9-46EB-ADCB-605BE9F43976}">
      <dsp:nvSpPr>
        <dsp:cNvPr id="0" name=""/>
        <dsp:cNvSpPr/>
      </dsp:nvSpPr>
      <dsp:spPr>
        <a:xfrm>
          <a:off x="2304483" y="4377389"/>
          <a:ext cx="1241716" cy="807115"/>
        </a:xfrm>
        <a:prstGeom prst="roundRect">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ES" sz="1400" kern="1200" dirty="0" smtClean="0"/>
            <a:t>Solidaridad</a:t>
          </a:r>
          <a:endParaRPr lang="es-ES" sz="1400" kern="1200" dirty="0"/>
        </a:p>
      </dsp:txBody>
      <dsp:txXfrm>
        <a:off x="2304483" y="4377389"/>
        <a:ext cx="1241716" cy="807115"/>
      </dsp:txXfrm>
    </dsp:sp>
    <dsp:sp modelId="{0F4D75C2-CECC-4464-AB00-62514F361816}">
      <dsp:nvSpPr>
        <dsp:cNvPr id="0" name=""/>
        <dsp:cNvSpPr/>
      </dsp:nvSpPr>
      <dsp:spPr>
        <a:xfrm>
          <a:off x="1621758" y="403628"/>
          <a:ext cx="4605355" cy="4605355"/>
        </a:xfrm>
        <a:custGeom>
          <a:avLst/>
          <a:gdLst/>
          <a:ahLst/>
          <a:cxnLst/>
          <a:rect l="0" t="0" r="0" b="0"/>
          <a:pathLst>
            <a:path>
              <a:moveTo>
                <a:pt x="711765" y="3967407"/>
              </a:moveTo>
              <a:arcTo wR="2302677" hR="2302677" stAng="8022068" swAng="135781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333FF6F-F2A4-4C37-964C-4CCDFFE91087}">
      <dsp:nvSpPr>
        <dsp:cNvPr id="0" name=""/>
        <dsp:cNvSpPr/>
      </dsp:nvSpPr>
      <dsp:spPr>
        <a:xfrm>
          <a:off x="1058632" y="2815142"/>
          <a:ext cx="1241716" cy="807115"/>
        </a:xfrm>
        <a:prstGeom prst="roundRect">
          <a:avLst/>
        </a:prstGeom>
        <a:solidFill>
          <a:srgbClr val="EB641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ES" sz="1400" kern="1200" dirty="0" smtClean="0"/>
            <a:t>Bienestar material y espiritual</a:t>
          </a:r>
          <a:endParaRPr lang="es-ES" sz="1400" kern="1200" dirty="0"/>
        </a:p>
      </dsp:txBody>
      <dsp:txXfrm>
        <a:off x="1058632" y="2815142"/>
        <a:ext cx="1241716" cy="807115"/>
      </dsp:txXfrm>
    </dsp:sp>
    <dsp:sp modelId="{4112A9C0-700A-4EA0-BC57-04EED4E41E9F}">
      <dsp:nvSpPr>
        <dsp:cNvPr id="0" name=""/>
        <dsp:cNvSpPr/>
      </dsp:nvSpPr>
      <dsp:spPr>
        <a:xfrm>
          <a:off x="1621758" y="403628"/>
          <a:ext cx="4605355" cy="4605355"/>
        </a:xfrm>
        <a:custGeom>
          <a:avLst/>
          <a:gdLst/>
          <a:ahLst/>
          <a:cxnLst/>
          <a:rect l="0" t="0" r="0" b="0"/>
          <a:pathLst>
            <a:path>
              <a:moveTo>
                <a:pt x="2051" y="2399863"/>
              </a:moveTo>
              <a:arcTo wR="2302677" hR="2302677" stAng="10654866" swAng="1725548"/>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E135FD5-CA01-4D9D-AFAE-AAD436515695}">
      <dsp:nvSpPr>
        <dsp:cNvPr id="0" name=""/>
        <dsp:cNvSpPr/>
      </dsp:nvSpPr>
      <dsp:spPr>
        <a:xfrm>
          <a:off x="1503271" y="867052"/>
          <a:ext cx="1241716" cy="807115"/>
        </a:xfrm>
        <a:prstGeom prst="roundRect">
          <a:avLst/>
        </a:prstGeom>
        <a:solidFill>
          <a:srgbClr val="EB641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ES" sz="1400" kern="1200" dirty="0" smtClean="0"/>
            <a:t>No reintegro por liquidación</a:t>
          </a:r>
          <a:endParaRPr lang="es-ES" sz="1400" kern="1200" dirty="0"/>
        </a:p>
      </dsp:txBody>
      <dsp:txXfrm>
        <a:off x="1503271" y="867052"/>
        <a:ext cx="1241716" cy="807115"/>
      </dsp:txXfrm>
    </dsp:sp>
    <dsp:sp modelId="{DA8DBC2C-A086-4EBD-9330-6F6D4F35D112}">
      <dsp:nvSpPr>
        <dsp:cNvPr id="0" name=""/>
        <dsp:cNvSpPr/>
      </dsp:nvSpPr>
      <dsp:spPr>
        <a:xfrm>
          <a:off x="1621758" y="403628"/>
          <a:ext cx="4605355" cy="4605355"/>
        </a:xfrm>
        <a:custGeom>
          <a:avLst/>
          <a:gdLst/>
          <a:ahLst/>
          <a:cxnLst/>
          <a:rect l="0" t="0" r="0" b="0"/>
          <a:pathLst>
            <a:path>
              <a:moveTo>
                <a:pt x="924051" y="458304"/>
              </a:moveTo>
              <a:arcTo wR="2302677" hR="2302677" stAng="13993364" swAng="125538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8896157-F216-4FF5-9D82-D012F1A26B44}">
      <dsp:nvSpPr>
        <dsp:cNvPr id="0" name=""/>
        <dsp:cNvSpPr/>
      </dsp:nvSpPr>
      <dsp:spPr>
        <a:xfrm>
          <a:off x="0" y="3818036"/>
          <a:ext cx="7643866" cy="125316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es-ES" sz="2100" b="1" kern="1200" dirty="0" smtClean="0"/>
            <a:t>RÉGIMEN DE PROMOCIÓN ECONÓMICA, NACIONAL Y SECTORIAL</a:t>
          </a:r>
          <a:endParaRPr lang="es-ES" sz="2100" b="1" kern="1200" dirty="0"/>
        </a:p>
      </dsp:txBody>
      <dsp:txXfrm>
        <a:off x="0" y="3818036"/>
        <a:ext cx="7643866" cy="676709"/>
      </dsp:txXfrm>
    </dsp:sp>
    <dsp:sp modelId="{0D8D6647-2B82-4D39-A17A-0C9CC5718DC0}">
      <dsp:nvSpPr>
        <dsp:cNvPr id="0" name=""/>
        <dsp:cNvSpPr/>
      </dsp:nvSpPr>
      <dsp:spPr>
        <a:xfrm>
          <a:off x="0" y="4469682"/>
          <a:ext cx="3821932" cy="57645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lvl="0" algn="ctr" defTabSz="622300">
            <a:lnSpc>
              <a:spcPct val="90000"/>
            </a:lnSpc>
            <a:spcBef>
              <a:spcPct val="0"/>
            </a:spcBef>
            <a:spcAft>
              <a:spcPct val="35000"/>
            </a:spcAft>
          </a:pPr>
          <a:r>
            <a:rPr lang="es-ES" sz="1400" b="1" kern="1200" dirty="0" smtClean="0"/>
            <a:t>Art. 29. Exenta de todo impuesto, tasa y contribución de mejoras  por sus bienes y actos</a:t>
          </a:r>
          <a:endParaRPr lang="es-ES" sz="1400" b="1" kern="1200" dirty="0"/>
        </a:p>
      </dsp:txBody>
      <dsp:txXfrm>
        <a:off x="0" y="4469682"/>
        <a:ext cx="3821932" cy="576455"/>
      </dsp:txXfrm>
    </dsp:sp>
    <dsp:sp modelId="{60AA8617-DF4D-4F12-B08F-FD2CD34E6C65}">
      <dsp:nvSpPr>
        <dsp:cNvPr id="0" name=""/>
        <dsp:cNvSpPr/>
      </dsp:nvSpPr>
      <dsp:spPr>
        <a:xfrm>
          <a:off x="3821933" y="4469682"/>
          <a:ext cx="3821932" cy="57645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lvl="0" algn="ctr" defTabSz="622300">
            <a:lnSpc>
              <a:spcPct val="90000"/>
            </a:lnSpc>
            <a:spcBef>
              <a:spcPct val="0"/>
            </a:spcBef>
            <a:spcAft>
              <a:spcPct val="35000"/>
            </a:spcAft>
          </a:pPr>
          <a:r>
            <a:rPr lang="es-ES" sz="1400" b="1" kern="1200" dirty="0" smtClean="0"/>
            <a:t>Liberación derechos aduaneros</a:t>
          </a:r>
        </a:p>
        <a:p>
          <a:pPr lvl="0" algn="ctr" defTabSz="622300">
            <a:lnSpc>
              <a:spcPct val="90000"/>
            </a:lnSpc>
            <a:spcBef>
              <a:spcPct val="0"/>
            </a:spcBef>
            <a:spcAft>
              <a:spcPct val="35000"/>
            </a:spcAft>
          </a:pPr>
          <a:r>
            <a:rPr lang="es-ES" sz="1400" b="1" kern="1200" dirty="0" smtClean="0"/>
            <a:t>Gestión adhesiones provinciales</a:t>
          </a:r>
          <a:endParaRPr lang="es-ES" sz="1400" b="1" kern="1200" dirty="0"/>
        </a:p>
      </dsp:txBody>
      <dsp:txXfrm>
        <a:off x="3821933" y="4469682"/>
        <a:ext cx="3821932" cy="576455"/>
      </dsp:txXfrm>
    </dsp:sp>
    <dsp:sp modelId="{4AEC5EE0-1417-4AB8-ACAC-E96E97773E99}">
      <dsp:nvSpPr>
        <dsp:cNvPr id="0" name=""/>
        <dsp:cNvSpPr/>
      </dsp:nvSpPr>
      <dsp:spPr>
        <a:xfrm rot="10800000">
          <a:off x="0" y="1909466"/>
          <a:ext cx="7643866" cy="1927367"/>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es-ES" sz="2100" b="1" kern="1200" dirty="0" smtClean="0"/>
            <a:t>EXPOSICIÓN DE MOTIVOS</a:t>
          </a:r>
          <a:endParaRPr lang="es-ES" sz="2100" b="1" kern="1200" dirty="0"/>
        </a:p>
      </dsp:txBody>
      <dsp:txXfrm>
        <a:off x="0" y="1909466"/>
        <a:ext cx="7643866" cy="676505"/>
      </dsp:txXfrm>
    </dsp:sp>
    <dsp:sp modelId="{4363D365-243A-42A1-AD44-A06AFA324F45}">
      <dsp:nvSpPr>
        <dsp:cNvPr id="0" name=""/>
        <dsp:cNvSpPr/>
      </dsp:nvSpPr>
      <dsp:spPr>
        <a:xfrm>
          <a:off x="0" y="2585972"/>
          <a:ext cx="3821932" cy="576282"/>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lvl="0" algn="ctr" defTabSz="622300">
            <a:lnSpc>
              <a:spcPct val="90000"/>
            </a:lnSpc>
            <a:spcBef>
              <a:spcPct val="0"/>
            </a:spcBef>
            <a:spcAft>
              <a:spcPct val="35000"/>
            </a:spcAft>
          </a:pPr>
          <a:r>
            <a:rPr lang="es-ES" sz="1400" b="1" kern="1200" dirty="0" smtClean="0"/>
            <a:t>Eficiencia Operativa – Menor Costo Social</a:t>
          </a:r>
          <a:endParaRPr lang="es-ES" sz="1400" b="1" kern="1200" dirty="0"/>
        </a:p>
      </dsp:txBody>
      <dsp:txXfrm>
        <a:off x="0" y="2585972"/>
        <a:ext cx="3821932" cy="576282"/>
      </dsp:txXfrm>
    </dsp:sp>
    <dsp:sp modelId="{55F5E61D-474B-40C0-8F6B-8E806346F9CF}">
      <dsp:nvSpPr>
        <dsp:cNvPr id="0" name=""/>
        <dsp:cNvSpPr/>
      </dsp:nvSpPr>
      <dsp:spPr>
        <a:xfrm>
          <a:off x="3821933" y="2585972"/>
          <a:ext cx="3821932" cy="576282"/>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lvl="0" algn="ctr" defTabSz="622300">
            <a:lnSpc>
              <a:spcPct val="90000"/>
            </a:lnSpc>
            <a:spcBef>
              <a:spcPct val="0"/>
            </a:spcBef>
            <a:spcAft>
              <a:spcPct val="35000"/>
            </a:spcAft>
          </a:pPr>
          <a:r>
            <a:rPr lang="es-ES" sz="1400" b="1" kern="1200" dirty="0" smtClean="0"/>
            <a:t>Fomentarlas eximiéndolas de cargas impositivas</a:t>
          </a:r>
          <a:endParaRPr lang="es-ES" sz="1400" b="1" kern="1200" dirty="0"/>
        </a:p>
      </dsp:txBody>
      <dsp:txXfrm>
        <a:off x="3821933" y="2585972"/>
        <a:ext cx="3821932" cy="576282"/>
      </dsp:txXfrm>
    </dsp:sp>
    <dsp:sp modelId="{F458718A-6310-4F5A-91CC-49B1ED081BAF}">
      <dsp:nvSpPr>
        <dsp:cNvPr id="0" name=""/>
        <dsp:cNvSpPr/>
      </dsp:nvSpPr>
      <dsp:spPr>
        <a:xfrm rot="10800000">
          <a:off x="0" y="896"/>
          <a:ext cx="7643866" cy="1927367"/>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es-ES" sz="2100" b="1" kern="1200" dirty="0" smtClean="0"/>
            <a:t>LEY MUTUALIDADES N° 20.321</a:t>
          </a:r>
          <a:endParaRPr lang="es-ES" sz="2100" b="1" kern="1200" dirty="0"/>
        </a:p>
      </dsp:txBody>
      <dsp:txXfrm>
        <a:off x="0" y="896"/>
        <a:ext cx="7643866" cy="676505"/>
      </dsp:txXfrm>
    </dsp:sp>
    <dsp:sp modelId="{F3367253-2065-42F7-A425-B5D0057CB56A}">
      <dsp:nvSpPr>
        <dsp:cNvPr id="0" name=""/>
        <dsp:cNvSpPr/>
      </dsp:nvSpPr>
      <dsp:spPr>
        <a:xfrm>
          <a:off x="2121" y="573763"/>
          <a:ext cx="3889115" cy="78356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lvl="0" algn="ctr" defTabSz="622300">
            <a:lnSpc>
              <a:spcPct val="90000"/>
            </a:lnSpc>
            <a:spcBef>
              <a:spcPct val="0"/>
            </a:spcBef>
            <a:spcAft>
              <a:spcPct val="35000"/>
            </a:spcAft>
          </a:pPr>
          <a:r>
            <a:rPr lang="es-ES" sz="1400" b="1" kern="1200" dirty="0" smtClean="0"/>
            <a:t>Instrumento idóneo para desarrollar y consolidar a las Mutuales</a:t>
          </a:r>
          <a:endParaRPr lang="es-ES" sz="1400" b="1" kern="1200" dirty="0"/>
        </a:p>
      </dsp:txBody>
      <dsp:txXfrm>
        <a:off x="2121" y="573763"/>
        <a:ext cx="3889115" cy="783560"/>
      </dsp:txXfrm>
    </dsp:sp>
    <dsp:sp modelId="{B466C606-5C4F-4358-8F89-147A9AA3CA4C}">
      <dsp:nvSpPr>
        <dsp:cNvPr id="0" name=""/>
        <dsp:cNvSpPr/>
      </dsp:nvSpPr>
      <dsp:spPr>
        <a:xfrm>
          <a:off x="3893358" y="569245"/>
          <a:ext cx="3750507" cy="788078"/>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lvl="0" algn="ctr" defTabSz="622300">
            <a:lnSpc>
              <a:spcPct val="90000"/>
            </a:lnSpc>
            <a:spcBef>
              <a:spcPct val="0"/>
            </a:spcBef>
            <a:spcAft>
              <a:spcPct val="35000"/>
            </a:spcAft>
          </a:pPr>
          <a:r>
            <a:rPr lang="es-ES" sz="1400" b="1" kern="1200" dirty="0" smtClean="0"/>
            <a:t>Significación Social</a:t>
          </a:r>
        </a:p>
        <a:p>
          <a:pPr lvl="0" algn="ctr" defTabSz="622300">
            <a:lnSpc>
              <a:spcPct val="90000"/>
            </a:lnSpc>
            <a:spcBef>
              <a:spcPct val="0"/>
            </a:spcBef>
            <a:spcAft>
              <a:spcPct val="35000"/>
            </a:spcAft>
          </a:pPr>
          <a:r>
            <a:rPr lang="es-ES" sz="1400" b="1" kern="1200" dirty="0" smtClean="0"/>
            <a:t>Impulso y desarrollo del país</a:t>
          </a:r>
        </a:p>
        <a:p>
          <a:pPr lvl="0" algn="ctr" defTabSz="622300">
            <a:lnSpc>
              <a:spcPct val="90000"/>
            </a:lnSpc>
            <a:spcBef>
              <a:spcPct val="0"/>
            </a:spcBef>
            <a:spcAft>
              <a:spcPct val="35000"/>
            </a:spcAft>
          </a:pPr>
          <a:r>
            <a:rPr lang="es-ES" sz="1400" b="1" kern="1200" dirty="0" smtClean="0"/>
            <a:t>Resuelve problemas del Estado</a:t>
          </a:r>
        </a:p>
      </dsp:txBody>
      <dsp:txXfrm>
        <a:off x="3893358" y="569245"/>
        <a:ext cx="3750507" cy="788078"/>
      </dsp:txXfrm>
    </dsp:sp>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E40750B9-DE7E-4F04-8889-A856C7BBFE42}">
      <dsp:nvSpPr>
        <dsp:cNvPr id="0" name=""/>
        <dsp:cNvSpPr/>
      </dsp:nvSpPr>
      <dsp:spPr>
        <a:xfrm>
          <a:off x="3616" y="0"/>
          <a:ext cx="4019502" cy="5715039"/>
        </a:xfrm>
        <a:prstGeom prst="roundRect">
          <a:avLst>
            <a:gd name="adj" fmla="val 5000"/>
          </a:avLst>
        </a:prstGeom>
        <a:solidFill>
          <a:srgbClr val="FFFF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1722" rIns="80010" bIns="0" numCol="1" spcCol="1270" anchor="t" anchorCtr="0">
          <a:noAutofit/>
        </a:bodyPr>
        <a:lstStyle/>
        <a:p>
          <a:pPr lvl="0" algn="ctr" defTabSz="800100">
            <a:lnSpc>
              <a:spcPct val="90000"/>
            </a:lnSpc>
            <a:spcBef>
              <a:spcPct val="0"/>
            </a:spcBef>
            <a:spcAft>
              <a:spcPct val="35000"/>
            </a:spcAft>
          </a:pPr>
          <a:r>
            <a:rPr lang="es-ES" sz="1800" b="1" u="sng" kern="1200" dirty="0" smtClean="0">
              <a:solidFill>
                <a:schemeClr val="tx1"/>
              </a:solidFill>
            </a:rPr>
            <a:t>MUTUALES</a:t>
          </a:r>
          <a:endParaRPr lang="es-ES" sz="1800" b="1" u="sng" kern="1200" dirty="0">
            <a:solidFill>
              <a:schemeClr val="tx1"/>
            </a:solidFill>
          </a:endParaRPr>
        </a:p>
      </dsp:txBody>
      <dsp:txXfrm rot="16200000">
        <a:off x="-1937599" y="1941216"/>
        <a:ext cx="4686332" cy="803900"/>
      </dsp:txXfrm>
    </dsp:sp>
    <dsp:sp modelId="{0BAE1BD6-E1CF-4783-89FA-7C9D167E75A4}">
      <dsp:nvSpPr>
        <dsp:cNvPr id="0" name=""/>
        <dsp:cNvSpPr/>
      </dsp:nvSpPr>
      <dsp:spPr>
        <a:xfrm>
          <a:off x="969284" y="0"/>
          <a:ext cx="2994529" cy="571503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1435" rIns="0" bIns="0" numCol="1" spcCol="1270" anchor="t" anchorCtr="0">
          <a:noAutofit/>
        </a:bodyPr>
        <a:lstStyle/>
        <a:p>
          <a:pPr lvl="0" algn="l" defTabSz="666750">
            <a:lnSpc>
              <a:spcPct val="90000"/>
            </a:lnSpc>
            <a:spcBef>
              <a:spcPct val="0"/>
            </a:spcBef>
            <a:spcAft>
              <a:spcPct val="35000"/>
            </a:spcAft>
          </a:pPr>
          <a:r>
            <a:rPr lang="es-ES" sz="1500" kern="1200" dirty="0" smtClean="0">
              <a:solidFill>
                <a:schemeClr val="tx1"/>
              </a:solidFill>
            </a:rPr>
            <a:t> </a:t>
          </a:r>
          <a:r>
            <a:rPr lang="es-ES" sz="1500" b="1" kern="1200" dirty="0" smtClean="0">
              <a:solidFill>
                <a:schemeClr val="tx1"/>
              </a:solidFill>
            </a:rPr>
            <a:t>“</a:t>
          </a:r>
          <a:r>
            <a:rPr lang="es-ES" sz="1500" b="1" kern="1200" dirty="0" err="1" smtClean="0">
              <a:solidFill>
                <a:schemeClr val="tx1"/>
              </a:solidFill>
            </a:rPr>
            <a:t>Asoc</a:t>
          </a:r>
          <a:r>
            <a:rPr lang="es-ES" sz="1500" b="1" kern="1200" dirty="0" smtClean="0">
              <a:solidFill>
                <a:schemeClr val="tx1"/>
              </a:solidFill>
            </a:rPr>
            <a:t>. </a:t>
          </a:r>
          <a:r>
            <a:rPr lang="es-ES" sz="1500" b="1" kern="1200" dirty="0" err="1" smtClean="0">
              <a:solidFill>
                <a:schemeClr val="tx1"/>
              </a:solidFill>
            </a:rPr>
            <a:t>Mut</a:t>
          </a:r>
          <a:r>
            <a:rPr lang="es-ES" sz="1500" b="1" kern="1200" dirty="0" smtClean="0">
              <a:solidFill>
                <a:schemeClr val="tx1"/>
              </a:solidFill>
            </a:rPr>
            <a:t>. </a:t>
          </a:r>
          <a:r>
            <a:rPr lang="es-ES" sz="1500" b="1" kern="1200" dirty="0" err="1" smtClean="0">
              <a:solidFill>
                <a:schemeClr val="tx1"/>
              </a:solidFill>
            </a:rPr>
            <a:t>Sancor</a:t>
          </a:r>
          <a:r>
            <a:rPr lang="es-ES" sz="1500" b="1" kern="1200" dirty="0" smtClean="0">
              <a:solidFill>
                <a:schemeClr val="tx1"/>
              </a:solidFill>
            </a:rPr>
            <a:t> C/ AFIP DGI”. </a:t>
          </a:r>
          <a:r>
            <a:rPr lang="es-ES" sz="1500" kern="1200" dirty="0" smtClean="0">
              <a:solidFill>
                <a:schemeClr val="tx1"/>
              </a:solidFill>
            </a:rPr>
            <a:t>CSJN. (14/04/2015).</a:t>
          </a:r>
          <a:endParaRPr lang="es-ES" sz="1500" kern="1200" dirty="0">
            <a:solidFill>
              <a:schemeClr val="tx1"/>
            </a:solidFill>
          </a:endParaRPr>
        </a:p>
        <a:p>
          <a:pPr lvl="0" algn="l" defTabSz="666750">
            <a:lnSpc>
              <a:spcPct val="90000"/>
            </a:lnSpc>
            <a:spcBef>
              <a:spcPct val="0"/>
            </a:spcBef>
            <a:spcAft>
              <a:spcPct val="35000"/>
            </a:spcAft>
          </a:pPr>
          <a:r>
            <a:rPr lang="es-ES" sz="1500" b="1" kern="1200" dirty="0" smtClean="0">
              <a:solidFill>
                <a:schemeClr val="tx1"/>
              </a:solidFill>
            </a:rPr>
            <a:t>“</a:t>
          </a:r>
          <a:r>
            <a:rPr lang="es-ES" sz="1500" b="1" kern="1200" dirty="0" err="1" smtClean="0">
              <a:solidFill>
                <a:schemeClr val="tx1"/>
              </a:solidFill>
            </a:rPr>
            <a:t>Asoc</a:t>
          </a:r>
          <a:r>
            <a:rPr lang="es-ES" sz="1500" b="1" kern="1200" dirty="0" smtClean="0">
              <a:solidFill>
                <a:schemeClr val="tx1"/>
              </a:solidFill>
            </a:rPr>
            <a:t>. </a:t>
          </a:r>
          <a:r>
            <a:rPr lang="es-ES" sz="1500" b="1" kern="1200" dirty="0" err="1" smtClean="0">
              <a:solidFill>
                <a:schemeClr val="tx1"/>
              </a:solidFill>
            </a:rPr>
            <a:t>Mut</a:t>
          </a:r>
          <a:r>
            <a:rPr lang="es-ES" sz="1500" b="1" kern="1200" dirty="0" smtClean="0">
              <a:solidFill>
                <a:schemeClr val="tx1"/>
              </a:solidFill>
            </a:rPr>
            <a:t>. </a:t>
          </a:r>
          <a:r>
            <a:rPr lang="es-ES" sz="1500" b="1" kern="1200" dirty="0" err="1" smtClean="0">
              <a:solidFill>
                <a:schemeClr val="tx1"/>
              </a:solidFill>
            </a:rPr>
            <a:t>Sancor</a:t>
          </a:r>
          <a:r>
            <a:rPr lang="es-ES" sz="1500" b="1" kern="1200" dirty="0" smtClean="0">
              <a:solidFill>
                <a:schemeClr val="tx1"/>
              </a:solidFill>
            </a:rPr>
            <a:t> S/ </a:t>
          </a:r>
          <a:r>
            <a:rPr lang="es-ES" sz="1500" b="1" kern="1200" dirty="0" err="1" smtClean="0">
              <a:solidFill>
                <a:schemeClr val="tx1"/>
              </a:solidFill>
            </a:rPr>
            <a:t>apel</a:t>
          </a:r>
          <a:r>
            <a:rPr lang="es-ES" sz="1500" b="1" kern="1200" dirty="0" smtClean="0">
              <a:solidFill>
                <a:schemeClr val="tx1"/>
              </a:solidFill>
            </a:rPr>
            <a:t>  </a:t>
          </a:r>
          <a:r>
            <a:rPr lang="es-ES" sz="1500" b="1" kern="1200" dirty="0" err="1" smtClean="0">
              <a:solidFill>
                <a:schemeClr val="tx1"/>
              </a:solidFill>
            </a:rPr>
            <a:t>deneg</a:t>
          </a:r>
          <a:r>
            <a:rPr lang="es-ES" sz="1500" b="1" kern="1200" dirty="0" smtClean="0">
              <a:solidFill>
                <a:schemeClr val="tx1"/>
              </a:solidFill>
            </a:rPr>
            <a:t>. </a:t>
          </a:r>
          <a:r>
            <a:rPr lang="es-ES" sz="1500" b="1" kern="1200" dirty="0" err="1" smtClean="0">
              <a:solidFill>
                <a:schemeClr val="tx1"/>
              </a:solidFill>
            </a:rPr>
            <a:t>rep</a:t>
          </a:r>
          <a:r>
            <a:rPr lang="es-ES" sz="1500" b="1" kern="1200" dirty="0" smtClean="0">
              <a:solidFill>
                <a:schemeClr val="tx1"/>
              </a:solidFill>
            </a:rPr>
            <a:t>”.  </a:t>
          </a:r>
          <a:r>
            <a:rPr lang="es-ES" sz="1500" kern="1200" dirty="0" smtClean="0">
              <a:solidFill>
                <a:schemeClr val="tx1"/>
              </a:solidFill>
            </a:rPr>
            <a:t>TFN. Sala C (25/08/22).</a:t>
          </a:r>
          <a:endParaRPr lang="es-ES" sz="1500" kern="1200" dirty="0">
            <a:solidFill>
              <a:schemeClr val="tx1"/>
            </a:solidFill>
          </a:endParaRPr>
        </a:p>
        <a:p>
          <a:pPr lvl="0" algn="l" defTabSz="666750">
            <a:lnSpc>
              <a:spcPct val="90000"/>
            </a:lnSpc>
            <a:spcBef>
              <a:spcPct val="0"/>
            </a:spcBef>
            <a:spcAft>
              <a:spcPct val="35000"/>
            </a:spcAft>
          </a:pPr>
          <a:r>
            <a:rPr lang="es-ES" sz="1500" b="1" kern="1200" dirty="0" smtClean="0">
              <a:solidFill>
                <a:schemeClr val="tx1"/>
              </a:solidFill>
            </a:rPr>
            <a:t>“</a:t>
          </a:r>
          <a:r>
            <a:rPr lang="es-ES" sz="1500" b="1" kern="1200" dirty="0" err="1" smtClean="0">
              <a:solidFill>
                <a:schemeClr val="tx1"/>
              </a:solidFill>
            </a:rPr>
            <a:t>Asoc</a:t>
          </a:r>
          <a:r>
            <a:rPr lang="es-ES" sz="1500" b="1" kern="1200" dirty="0" smtClean="0">
              <a:solidFill>
                <a:schemeClr val="tx1"/>
              </a:solidFill>
            </a:rPr>
            <a:t>. </a:t>
          </a:r>
          <a:r>
            <a:rPr lang="es-ES" sz="1500" b="1" kern="1200" dirty="0" err="1" smtClean="0">
              <a:solidFill>
                <a:schemeClr val="tx1"/>
              </a:solidFill>
            </a:rPr>
            <a:t>Mut</a:t>
          </a:r>
          <a:r>
            <a:rPr lang="es-ES" sz="1500" b="1" kern="1200" dirty="0" smtClean="0">
              <a:solidFill>
                <a:schemeClr val="tx1"/>
              </a:solidFill>
            </a:rPr>
            <a:t>. </a:t>
          </a:r>
          <a:r>
            <a:rPr lang="es-ES" sz="1500" b="1" kern="1200" dirty="0" err="1" smtClean="0">
              <a:solidFill>
                <a:schemeClr val="tx1"/>
              </a:solidFill>
            </a:rPr>
            <a:t>Sancor</a:t>
          </a:r>
          <a:r>
            <a:rPr lang="es-ES" sz="1500" b="1" kern="1200" dirty="0" smtClean="0">
              <a:solidFill>
                <a:schemeClr val="tx1"/>
              </a:solidFill>
            </a:rPr>
            <a:t> </a:t>
          </a:r>
          <a:r>
            <a:rPr lang="es-ES" sz="1500" b="1" kern="1200" dirty="0" err="1" smtClean="0">
              <a:solidFill>
                <a:schemeClr val="tx1"/>
              </a:solidFill>
            </a:rPr>
            <a:t>rec</a:t>
          </a:r>
          <a:r>
            <a:rPr lang="es-ES" sz="1500" b="1" kern="1200" dirty="0" smtClean="0">
              <a:solidFill>
                <a:schemeClr val="tx1"/>
              </a:solidFill>
            </a:rPr>
            <a:t>. </a:t>
          </a:r>
          <a:r>
            <a:rPr lang="es-ES" sz="1500" b="1" kern="1200" dirty="0" err="1" smtClean="0">
              <a:solidFill>
                <a:schemeClr val="tx1"/>
              </a:solidFill>
            </a:rPr>
            <a:t>direct</a:t>
          </a:r>
          <a:r>
            <a:rPr lang="es-ES" sz="1500" b="1" kern="1200" dirty="0" smtClean="0">
              <a:solidFill>
                <a:schemeClr val="tx1"/>
              </a:solidFill>
            </a:rPr>
            <a:t>”. </a:t>
          </a:r>
          <a:r>
            <a:rPr lang="es-ES" sz="1500" kern="1200" dirty="0" smtClean="0">
              <a:solidFill>
                <a:schemeClr val="tx1"/>
              </a:solidFill>
            </a:rPr>
            <a:t>CNCAF. Sala I. (26/12/23).</a:t>
          </a:r>
          <a:endParaRPr lang="es-ES" sz="1500" kern="1200" dirty="0">
            <a:solidFill>
              <a:schemeClr val="tx1"/>
            </a:solidFill>
          </a:endParaRPr>
        </a:p>
        <a:p>
          <a:pPr lvl="0" algn="l" defTabSz="666750">
            <a:lnSpc>
              <a:spcPct val="90000"/>
            </a:lnSpc>
            <a:spcBef>
              <a:spcPct val="0"/>
            </a:spcBef>
            <a:spcAft>
              <a:spcPct val="35000"/>
            </a:spcAft>
          </a:pPr>
          <a:r>
            <a:rPr lang="es-ES" sz="1500" b="1" kern="1200" dirty="0" smtClean="0">
              <a:solidFill>
                <a:schemeClr val="tx1"/>
              </a:solidFill>
            </a:rPr>
            <a:t>“</a:t>
          </a:r>
          <a:r>
            <a:rPr lang="es-ES" sz="1500" b="1" kern="1200" dirty="0" err="1" smtClean="0">
              <a:solidFill>
                <a:schemeClr val="tx1"/>
              </a:solidFill>
            </a:rPr>
            <a:t>Fata</a:t>
          </a:r>
          <a:r>
            <a:rPr lang="es-ES" sz="1500" b="1" kern="1200" dirty="0" smtClean="0">
              <a:solidFill>
                <a:schemeClr val="tx1"/>
              </a:solidFill>
            </a:rPr>
            <a:t> Soc. </a:t>
          </a:r>
          <a:r>
            <a:rPr lang="es-ES" sz="1500" b="1" kern="1200" dirty="0" err="1" smtClean="0">
              <a:solidFill>
                <a:schemeClr val="tx1"/>
              </a:solidFill>
            </a:rPr>
            <a:t>Seg</a:t>
          </a:r>
          <a:r>
            <a:rPr lang="es-ES" sz="1500" b="1" kern="1200" dirty="0" smtClean="0">
              <a:solidFill>
                <a:schemeClr val="tx1"/>
              </a:solidFill>
            </a:rPr>
            <a:t>. Mutuos </a:t>
          </a:r>
          <a:r>
            <a:rPr lang="es-ES" sz="1500" b="1" kern="1200" dirty="0" err="1" smtClean="0">
              <a:solidFill>
                <a:schemeClr val="tx1"/>
              </a:solidFill>
            </a:rPr>
            <a:t>apel</a:t>
          </a:r>
          <a:r>
            <a:rPr lang="es-ES" sz="1500" b="1" kern="1200" dirty="0" smtClean="0">
              <a:solidFill>
                <a:schemeClr val="tx1"/>
              </a:solidFill>
            </a:rPr>
            <a:t>. </a:t>
          </a:r>
          <a:r>
            <a:rPr lang="es-ES" sz="1500" b="1" kern="1200" dirty="0" err="1" smtClean="0">
              <a:solidFill>
                <a:schemeClr val="tx1"/>
              </a:solidFill>
            </a:rPr>
            <a:t>deneg</a:t>
          </a:r>
          <a:r>
            <a:rPr lang="es-ES" sz="1500" b="1" kern="1200" dirty="0" smtClean="0">
              <a:solidFill>
                <a:schemeClr val="tx1"/>
              </a:solidFill>
            </a:rPr>
            <a:t>. </a:t>
          </a:r>
          <a:r>
            <a:rPr lang="es-ES" sz="1500" b="1" kern="1200" dirty="0" err="1" smtClean="0">
              <a:solidFill>
                <a:schemeClr val="tx1"/>
              </a:solidFill>
            </a:rPr>
            <a:t>rep</a:t>
          </a:r>
          <a:r>
            <a:rPr lang="es-ES" sz="1500" b="1" kern="1200" dirty="0" smtClean="0">
              <a:solidFill>
                <a:schemeClr val="tx1"/>
              </a:solidFill>
            </a:rPr>
            <a:t>. </a:t>
          </a:r>
          <a:r>
            <a:rPr lang="es-ES" sz="1500" b="1" kern="1200" dirty="0" err="1" smtClean="0">
              <a:solidFill>
                <a:schemeClr val="tx1"/>
              </a:solidFill>
            </a:rPr>
            <a:t>gan</a:t>
          </a:r>
          <a:r>
            <a:rPr lang="es-ES" sz="1500" b="1" kern="1200" dirty="0" smtClean="0">
              <a:solidFill>
                <a:schemeClr val="tx1"/>
              </a:solidFill>
            </a:rPr>
            <a:t>. y cap.” </a:t>
          </a:r>
          <a:r>
            <a:rPr lang="es-ES" sz="1500" kern="1200" dirty="0" smtClean="0">
              <a:solidFill>
                <a:schemeClr val="tx1"/>
              </a:solidFill>
            </a:rPr>
            <a:t>CSJN. (11/02/92).</a:t>
          </a:r>
          <a:endParaRPr lang="es-ES" sz="1500" kern="1200" dirty="0">
            <a:solidFill>
              <a:schemeClr val="tx1"/>
            </a:solidFill>
          </a:endParaRPr>
        </a:p>
        <a:p>
          <a:pPr lvl="0" algn="l" defTabSz="666750">
            <a:lnSpc>
              <a:spcPct val="90000"/>
            </a:lnSpc>
            <a:spcBef>
              <a:spcPct val="0"/>
            </a:spcBef>
            <a:spcAft>
              <a:spcPct val="35000"/>
            </a:spcAft>
          </a:pPr>
          <a:r>
            <a:rPr lang="es-ES" sz="1500" b="1" kern="1200" dirty="0" smtClean="0">
              <a:solidFill>
                <a:schemeClr val="tx1"/>
              </a:solidFill>
            </a:rPr>
            <a:t>“</a:t>
          </a:r>
          <a:r>
            <a:rPr lang="es-ES" sz="1500" b="1" kern="1200" dirty="0" err="1" smtClean="0">
              <a:solidFill>
                <a:schemeClr val="tx1"/>
              </a:solidFill>
            </a:rPr>
            <a:t>Asoc</a:t>
          </a:r>
          <a:r>
            <a:rPr lang="es-ES" sz="1500" b="1" kern="1200" dirty="0" smtClean="0">
              <a:solidFill>
                <a:schemeClr val="tx1"/>
              </a:solidFill>
            </a:rPr>
            <a:t>. </a:t>
          </a:r>
          <a:r>
            <a:rPr lang="es-ES" sz="1500" b="1" kern="1200" dirty="0" err="1" smtClean="0">
              <a:solidFill>
                <a:schemeClr val="tx1"/>
              </a:solidFill>
            </a:rPr>
            <a:t>Mut</a:t>
          </a:r>
          <a:r>
            <a:rPr lang="es-ES" sz="1500" b="1" kern="1200" dirty="0" smtClean="0">
              <a:solidFill>
                <a:schemeClr val="tx1"/>
              </a:solidFill>
            </a:rPr>
            <a:t>. Doc. Córdoba c/ </a:t>
          </a:r>
          <a:r>
            <a:rPr lang="es-ES" sz="1500" b="1" kern="1200" dirty="0" err="1" smtClean="0">
              <a:solidFill>
                <a:schemeClr val="tx1"/>
              </a:solidFill>
            </a:rPr>
            <a:t>munic</a:t>
          </a:r>
          <a:r>
            <a:rPr lang="es-ES" sz="1500" b="1" kern="1200" dirty="0" smtClean="0">
              <a:solidFill>
                <a:schemeClr val="tx1"/>
              </a:solidFill>
            </a:rPr>
            <a:t>.”. </a:t>
          </a:r>
          <a:r>
            <a:rPr lang="es-ES" sz="1500" kern="1200" dirty="0" smtClean="0">
              <a:solidFill>
                <a:schemeClr val="tx1"/>
              </a:solidFill>
            </a:rPr>
            <a:t>TSJC. (27/10/15).</a:t>
          </a:r>
          <a:endParaRPr lang="es-ES" sz="1500" kern="1200" dirty="0">
            <a:solidFill>
              <a:schemeClr val="tx1"/>
            </a:solidFill>
          </a:endParaRPr>
        </a:p>
        <a:p>
          <a:pPr lvl="0" algn="l" defTabSz="666750">
            <a:lnSpc>
              <a:spcPct val="90000"/>
            </a:lnSpc>
            <a:spcBef>
              <a:spcPct val="0"/>
            </a:spcBef>
            <a:spcAft>
              <a:spcPct val="35000"/>
            </a:spcAft>
          </a:pPr>
          <a:r>
            <a:rPr lang="es-ES" sz="1500" b="1" kern="1200" dirty="0" smtClean="0">
              <a:solidFill>
                <a:schemeClr val="tx1"/>
              </a:solidFill>
            </a:rPr>
            <a:t>“</a:t>
          </a:r>
          <a:r>
            <a:rPr lang="es-ES" sz="1500" b="1" kern="1200" dirty="0" err="1" smtClean="0">
              <a:solidFill>
                <a:schemeClr val="tx1"/>
              </a:solidFill>
            </a:rPr>
            <a:t>Feder</a:t>
          </a:r>
          <a:r>
            <a:rPr lang="es-ES" sz="1500" b="1" kern="1200" dirty="0" smtClean="0">
              <a:solidFill>
                <a:schemeClr val="tx1"/>
              </a:solidFill>
            </a:rPr>
            <a:t>. </a:t>
          </a:r>
          <a:r>
            <a:rPr lang="es-ES" sz="1500" b="1" kern="1200" dirty="0" err="1" smtClean="0">
              <a:solidFill>
                <a:schemeClr val="tx1"/>
              </a:solidFill>
            </a:rPr>
            <a:t>Ent</a:t>
          </a:r>
          <a:r>
            <a:rPr lang="es-ES" sz="1500" b="1" kern="1200" dirty="0" smtClean="0">
              <a:solidFill>
                <a:schemeClr val="tx1"/>
              </a:solidFill>
            </a:rPr>
            <a:t>. </a:t>
          </a:r>
          <a:r>
            <a:rPr lang="es-ES" sz="1500" b="1" kern="1200" dirty="0" err="1" smtClean="0">
              <a:solidFill>
                <a:schemeClr val="tx1"/>
              </a:solidFill>
            </a:rPr>
            <a:t>Mut</a:t>
          </a:r>
          <a:r>
            <a:rPr lang="es-ES" sz="1500" b="1" kern="1200" dirty="0" smtClean="0">
              <a:solidFill>
                <a:schemeClr val="tx1"/>
              </a:solidFill>
            </a:rPr>
            <a:t>. Brigadier </a:t>
          </a:r>
          <a:r>
            <a:rPr lang="es-ES" sz="1500" b="1" kern="1200" dirty="0" err="1" smtClean="0">
              <a:solidFill>
                <a:schemeClr val="tx1"/>
              </a:solidFill>
            </a:rPr>
            <a:t>Est.</a:t>
          </a:r>
          <a:r>
            <a:rPr lang="es-ES" sz="1500" b="1" kern="1200" dirty="0" smtClean="0">
              <a:solidFill>
                <a:schemeClr val="tx1"/>
              </a:solidFill>
            </a:rPr>
            <a:t> López C/BCRA. </a:t>
          </a:r>
          <a:r>
            <a:rPr lang="es-ES" sz="1500" b="1" kern="1200" dirty="0" err="1" smtClean="0">
              <a:solidFill>
                <a:schemeClr val="tx1"/>
              </a:solidFill>
            </a:rPr>
            <a:t>Decl</a:t>
          </a:r>
          <a:r>
            <a:rPr lang="es-ES" sz="1500" b="1" kern="1200" dirty="0" smtClean="0">
              <a:solidFill>
                <a:schemeClr val="tx1"/>
              </a:solidFill>
            </a:rPr>
            <a:t>. </a:t>
          </a:r>
          <a:r>
            <a:rPr lang="es-ES" sz="1500" b="1" kern="1200" dirty="0" err="1" smtClean="0">
              <a:solidFill>
                <a:schemeClr val="tx1"/>
              </a:solidFill>
            </a:rPr>
            <a:t>Inconst</a:t>
          </a:r>
          <a:r>
            <a:rPr lang="es-ES" sz="1500" b="1" kern="1200" dirty="0" smtClean="0">
              <a:solidFill>
                <a:schemeClr val="tx1"/>
              </a:solidFill>
            </a:rPr>
            <a:t>.”. </a:t>
          </a:r>
          <a:r>
            <a:rPr lang="es-ES" sz="1500" kern="1200" dirty="0" smtClean="0">
              <a:solidFill>
                <a:schemeClr val="tx1"/>
              </a:solidFill>
            </a:rPr>
            <a:t>CSJN. (14/07/15).</a:t>
          </a:r>
          <a:endParaRPr lang="es-ES" sz="1500" kern="1200" dirty="0">
            <a:solidFill>
              <a:schemeClr val="tx1"/>
            </a:solidFill>
          </a:endParaRPr>
        </a:p>
        <a:p>
          <a:pPr lvl="0" algn="l" defTabSz="666750">
            <a:lnSpc>
              <a:spcPct val="90000"/>
            </a:lnSpc>
            <a:spcBef>
              <a:spcPct val="0"/>
            </a:spcBef>
            <a:spcAft>
              <a:spcPct val="35000"/>
            </a:spcAft>
          </a:pPr>
          <a:r>
            <a:rPr lang="es-ES" sz="1500" kern="1200" dirty="0" smtClean="0">
              <a:solidFill>
                <a:schemeClr val="tx1"/>
              </a:solidFill>
            </a:rPr>
            <a:t>“</a:t>
          </a:r>
          <a:r>
            <a:rPr lang="es-ES" sz="1500" b="1" kern="1200" dirty="0" smtClean="0">
              <a:solidFill>
                <a:schemeClr val="tx1"/>
              </a:solidFill>
            </a:rPr>
            <a:t>Asociación </a:t>
          </a:r>
          <a:r>
            <a:rPr lang="es-ES" sz="1500" b="1" kern="1200" dirty="0" err="1" smtClean="0">
              <a:solidFill>
                <a:schemeClr val="tx1"/>
              </a:solidFill>
            </a:rPr>
            <a:t>Mut</a:t>
          </a:r>
          <a:r>
            <a:rPr lang="es-ES" sz="1500" b="1" kern="1200" dirty="0" smtClean="0">
              <a:solidFill>
                <a:schemeClr val="tx1"/>
              </a:solidFill>
            </a:rPr>
            <a:t>. Consejeros de los Arroyos </a:t>
          </a:r>
          <a:r>
            <a:rPr lang="es-ES" sz="1500" b="1" kern="1200" dirty="0" err="1" smtClean="0">
              <a:solidFill>
                <a:schemeClr val="tx1"/>
              </a:solidFill>
            </a:rPr>
            <a:t>Coop</a:t>
          </a:r>
          <a:r>
            <a:rPr lang="es-ES" sz="1500" b="1" kern="1200" dirty="0" smtClean="0">
              <a:solidFill>
                <a:schemeClr val="tx1"/>
              </a:solidFill>
            </a:rPr>
            <a:t>. </a:t>
          </a:r>
          <a:r>
            <a:rPr lang="es-ES" sz="1500" b="1" kern="1200" dirty="0" err="1" smtClean="0">
              <a:solidFill>
                <a:schemeClr val="tx1"/>
              </a:solidFill>
            </a:rPr>
            <a:t>Emp</a:t>
          </a:r>
          <a:r>
            <a:rPr lang="es-ES" sz="1500" b="1" kern="1200" dirty="0" smtClean="0">
              <a:solidFill>
                <a:schemeClr val="tx1"/>
              </a:solidFill>
            </a:rPr>
            <a:t>. </a:t>
          </a:r>
          <a:r>
            <a:rPr lang="es-ES" sz="1500" b="1" kern="1200" dirty="0" err="1" smtClean="0">
              <a:solidFill>
                <a:schemeClr val="tx1"/>
              </a:solidFill>
            </a:rPr>
            <a:t>Mult</a:t>
          </a:r>
          <a:r>
            <a:rPr lang="es-ES" sz="1500" b="1" kern="1200" dirty="0" smtClean="0">
              <a:solidFill>
                <a:schemeClr val="tx1"/>
              </a:solidFill>
            </a:rPr>
            <a:t>. </a:t>
          </a:r>
          <a:r>
            <a:rPr lang="es-ES" sz="1500" b="1" kern="1200" dirty="0" err="1" smtClean="0">
              <a:solidFill>
                <a:schemeClr val="tx1"/>
              </a:solidFill>
            </a:rPr>
            <a:t>Decl</a:t>
          </a:r>
          <a:r>
            <a:rPr lang="es-ES" sz="1500" b="1" kern="1200" dirty="0" smtClean="0">
              <a:solidFill>
                <a:schemeClr val="tx1"/>
              </a:solidFill>
            </a:rPr>
            <a:t>. de Certeza.”</a:t>
          </a:r>
          <a:r>
            <a:rPr lang="es-AR" sz="1500" b="0" kern="1200" dirty="0" smtClean="0">
              <a:solidFill>
                <a:schemeClr val="tx1"/>
              </a:solidFill>
            </a:rPr>
            <a:t> SCPBA. (13/02/2019).</a:t>
          </a:r>
          <a:endParaRPr lang="es-ES" sz="1500" kern="1200" dirty="0">
            <a:solidFill>
              <a:schemeClr val="tx1"/>
            </a:solidFill>
          </a:endParaRPr>
        </a:p>
        <a:p>
          <a:pPr lvl="0" algn="l" defTabSz="666750">
            <a:lnSpc>
              <a:spcPct val="90000"/>
            </a:lnSpc>
            <a:spcBef>
              <a:spcPct val="0"/>
            </a:spcBef>
            <a:spcAft>
              <a:spcPct val="35000"/>
            </a:spcAft>
          </a:pPr>
          <a:r>
            <a:rPr lang="es-AR" sz="1500" b="1" kern="1200" dirty="0" smtClean="0">
              <a:solidFill>
                <a:schemeClr val="tx1"/>
              </a:solidFill>
            </a:rPr>
            <a:t> “</a:t>
          </a:r>
          <a:r>
            <a:rPr lang="es-AR" sz="1500" b="1" kern="1200" dirty="0" err="1" smtClean="0">
              <a:solidFill>
                <a:schemeClr val="tx1"/>
              </a:solidFill>
            </a:rPr>
            <a:t>Asoc</a:t>
          </a:r>
          <a:r>
            <a:rPr lang="es-AR" sz="1500" b="1" kern="1200" dirty="0" smtClean="0">
              <a:solidFill>
                <a:schemeClr val="tx1"/>
              </a:solidFill>
            </a:rPr>
            <a:t>. </a:t>
          </a:r>
          <a:r>
            <a:rPr lang="es-AR" sz="1500" b="1" kern="1200" dirty="0" err="1" smtClean="0">
              <a:solidFill>
                <a:schemeClr val="tx1"/>
              </a:solidFill>
            </a:rPr>
            <a:t>Mut</a:t>
          </a:r>
          <a:r>
            <a:rPr lang="es-AR" sz="1500" b="1" kern="1200" dirty="0" smtClean="0">
              <a:solidFill>
                <a:schemeClr val="tx1"/>
              </a:solidFill>
            </a:rPr>
            <a:t>. </a:t>
          </a:r>
          <a:r>
            <a:rPr lang="es-AR" sz="1500" b="1" kern="1200" dirty="0" err="1" smtClean="0">
              <a:solidFill>
                <a:schemeClr val="tx1"/>
              </a:solidFill>
            </a:rPr>
            <a:t>Ferrov</a:t>
          </a:r>
          <a:r>
            <a:rPr lang="es-AR" sz="1500" b="1" kern="1200" dirty="0" smtClean="0">
              <a:solidFill>
                <a:schemeClr val="tx1"/>
              </a:solidFill>
            </a:rPr>
            <a:t>. Pergamino F.C. Mitre. </a:t>
          </a:r>
          <a:r>
            <a:rPr lang="es-AR" sz="1500" b="1" kern="1200" dirty="0" err="1" smtClean="0">
              <a:solidFill>
                <a:schemeClr val="tx1"/>
              </a:solidFill>
            </a:rPr>
            <a:t>Decl</a:t>
          </a:r>
          <a:r>
            <a:rPr lang="es-AR" sz="1500" b="1" kern="1200" dirty="0" smtClean="0">
              <a:solidFill>
                <a:schemeClr val="tx1"/>
              </a:solidFill>
            </a:rPr>
            <a:t>. Certeza”. </a:t>
          </a:r>
          <a:r>
            <a:rPr lang="es-AR" sz="1500" b="0" kern="1200" dirty="0" smtClean="0">
              <a:solidFill>
                <a:schemeClr val="tx1"/>
              </a:solidFill>
            </a:rPr>
            <a:t>CA San Nicolás.  (25/08/20).</a:t>
          </a:r>
          <a:r>
            <a:rPr lang="es-AR" sz="1500" kern="1200" dirty="0" smtClean="0">
              <a:solidFill>
                <a:schemeClr val="tx1"/>
              </a:solidFill>
            </a:rPr>
            <a:t> </a:t>
          </a:r>
          <a:endParaRPr lang="es-ES" sz="1500" kern="1200" dirty="0">
            <a:solidFill>
              <a:schemeClr val="tx1"/>
            </a:solidFill>
          </a:endParaRPr>
        </a:p>
      </dsp:txBody>
      <dsp:txXfrm>
        <a:off x="969284" y="0"/>
        <a:ext cx="2994529" cy="5715039"/>
      </dsp:txXfrm>
    </dsp:sp>
    <dsp:sp modelId="{0DC4E73D-57BF-487B-B16C-AB17A95E1646}">
      <dsp:nvSpPr>
        <dsp:cNvPr id="0" name=""/>
        <dsp:cNvSpPr/>
      </dsp:nvSpPr>
      <dsp:spPr>
        <a:xfrm>
          <a:off x="4241896" y="0"/>
          <a:ext cx="4898487" cy="5715039"/>
        </a:xfrm>
        <a:prstGeom prst="roundRect">
          <a:avLst>
            <a:gd name="adj" fmla="val 5000"/>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58293" rIns="75565" bIns="0" numCol="1" spcCol="1270" anchor="t" anchorCtr="0">
          <a:noAutofit/>
        </a:bodyPr>
        <a:lstStyle/>
        <a:p>
          <a:pPr lvl="0" algn="ctr" defTabSz="755650">
            <a:lnSpc>
              <a:spcPct val="90000"/>
            </a:lnSpc>
            <a:spcBef>
              <a:spcPct val="0"/>
            </a:spcBef>
            <a:spcAft>
              <a:spcPct val="35000"/>
            </a:spcAft>
          </a:pPr>
          <a:r>
            <a:rPr lang="es-ES" sz="1700" b="1" u="sng" kern="1200" dirty="0" smtClean="0">
              <a:solidFill>
                <a:schemeClr val="bg1"/>
              </a:solidFill>
            </a:rPr>
            <a:t>OTROS ENTES</a:t>
          </a:r>
          <a:endParaRPr lang="es-ES" sz="1700" b="1" u="sng" kern="1200" dirty="0">
            <a:solidFill>
              <a:schemeClr val="bg1"/>
            </a:solidFill>
          </a:endParaRPr>
        </a:p>
      </dsp:txBody>
      <dsp:txXfrm rot="16200000">
        <a:off x="2388578" y="1853317"/>
        <a:ext cx="4686332" cy="979697"/>
      </dsp:txXfrm>
    </dsp:sp>
    <dsp:sp modelId="{C374B02E-683D-4562-AE3B-D25EF8BF564C}">
      <dsp:nvSpPr>
        <dsp:cNvPr id="0" name=""/>
        <dsp:cNvSpPr/>
      </dsp:nvSpPr>
      <dsp:spPr>
        <a:xfrm rot="5400000">
          <a:off x="3763632" y="4826312"/>
          <a:ext cx="839837" cy="937617"/>
        </a:xfrm>
        <a:prstGeom prst="flowChartExtra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D937BC5-0758-4D5B-8BF5-A4B5AC1A107D}">
      <dsp:nvSpPr>
        <dsp:cNvPr id="0" name=""/>
        <dsp:cNvSpPr/>
      </dsp:nvSpPr>
      <dsp:spPr>
        <a:xfrm>
          <a:off x="5319635" y="0"/>
          <a:ext cx="3649372" cy="571503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8006" rIns="0" bIns="0" numCol="1" spcCol="1270" anchor="t" anchorCtr="0">
          <a:noAutofit/>
        </a:bodyPr>
        <a:lstStyle/>
        <a:p>
          <a:pPr lvl="0" algn="l" defTabSz="622300">
            <a:lnSpc>
              <a:spcPct val="90000"/>
            </a:lnSpc>
            <a:spcBef>
              <a:spcPct val="0"/>
            </a:spcBef>
            <a:spcAft>
              <a:spcPct val="35000"/>
            </a:spcAft>
          </a:pPr>
          <a:r>
            <a:rPr lang="es-ES" sz="1400" b="1" kern="1200" dirty="0" smtClean="0">
              <a:solidFill>
                <a:schemeClr val="bg1"/>
              </a:solidFill>
            </a:rPr>
            <a:t>“</a:t>
          </a:r>
          <a:r>
            <a:rPr lang="es-ES" sz="1400" b="1" kern="1200" dirty="0" err="1" smtClean="0">
              <a:solidFill>
                <a:schemeClr val="bg1"/>
              </a:solidFill>
            </a:rPr>
            <a:t>Coop</a:t>
          </a:r>
          <a:r>
            <a:rPr lang="es-ES" sz="1400" b="1" kern="1200" dirty="0" smtClean="0">
              <a:solidFill>
                <a:schemeClr val="bg1"/>
              </a:solidFill>
            </a:rPr>
            <a:t>. Farm. de Prov. y Consumo Alberdi C/ Chaco. Amparo”. </a:t>
          </a:r>
          <a:r>
            <a:rPr lang="es-ES" sz="1400" kern="1200" dirty="0" smtClean="0">
              <a:solidFill>
                <a:schemeClr val="bg1"/>
              </a:solidFill>
            </a:rPr>
            <a:t>CSJN. (19/03/24).</a:t>
          </a:r>
          <a:endParaRPr lang="es-ES" sz="1400" kern="1200" dirty="0">
            <a:solidFill>
              <a:schemeClr val="bg1"/>
            </a:solidFill>
          </a:endParaRPr>
        </a:p>
        <a:p>
          <a:pPr lvl="0" algn="l" defTabSz="622300">
            <a:lnSpc>
              <a:spcPct val="90000"/>
            </a:lnSpc>
            <a:spcBef>
              <a:spcPct val="0"/>
            </a:spcBef>
            <a:spcAft>
              <a:spcPct val="35000"/>
            </a:spcAft>
          </a:pPr>
          <a:r>
            <a:rPr lang="es-ES" sz="1400" b="1" kern="1200" dirty="0" smtClean="0">
              <a:solidFill>
                <a:schemeClr val="bg1"/>
              </a:solidFill>
            </a:rPr>
            <a:t>“</a:t>
          </a:r>
          <a:r>
            <a:rPr lang="es-ES" sz="1400" b="1" kern="1200" dirty="0" err="1" smtClean="0">
              <a:solidFill>
                <a:schemeClr val="bg1"/>
              </a:solidFill>
            </a:rPr>
            <a:t>Coop</a:t>
          </a:r>
          <a:r>
            <a:rPr lang="es-ES" sz="1400" b="1" kern="1200" dirty="0" smtClean="0">
              <a:solidFill>
                <a:schemeClr val="bg1"/>
              </a:solidFill>
            </a:rPr>
            <a:t>. Farm. de Prov. y Consumo Alberdi C/ Tucumán s/ </a:t>
          </a:r>
          <a:r>
            <a:rPr lang="es-ES" sz="1400" b="1" kern="1200" dirty="0" err="1" smtClean="0">
              <a:solidFill>
                <a:schemeClr val="bg1"/>
              </a:solidFill>
            </a:rPr>
            <a:t>Inconst</a:t>
          </a:r>
          <a:r>
            <a:rPr lang="es-ES" sz="1400" b="1" kern="1200" dirty="0" smtClean="0">
              <a:solidFill>
                <a:schemeClr val="bg1"/>
              </a:solidFill>
            </a:rPr>
            <a:t>”</a:t>
          </a:r>
          <a:r>
            <a:rPr lang="es-ES" sz="1400" kern="1200" dirty="0" smtClean="0">
              <a:solidFill>
                <a:schemeClr val="bg1"/>
              </a:solidFill>
            </a:rPr>
            <a:t>. CSJ Tucumán. (02/03/17).</a:t>
          </a:r>
          <a:endParaRPr lang="es-ES" sz="1400" kern="1200" dirty="0">
            <a:solidFill>
              <a:schemeClr val="bg1"/>
            </a:solidFill>
          </a:endParaRPr>
        </a:p>
        <a:p>
          <a:pPr lvl="0" algn="l" defTabSz="622300">
            <a:lnSpc>
              <a:spcPct val="90000"/>
            </a:lnSpc>
            <a:spcBef>
              <a:spcPct val="0"/>
            </a:spcBef>
            <a:spcAft>
              <a:spcPct val="35000"/>
            </a:spcAft>
          </a:pPr>
          <a:r>
            <a:rPr lang="es-ES" sz="1400" b="1" kern="1200" dirty="0" smtClean="0">
              <a:solidFill>
                <a:schemeClr val="bg1"/>
              </a:solidFill>
            </a:rPr>
            <a:t>“</a:t>
          </a:r>
          <a:r>
            <a:rPr lang="es-ES" sz="1400" b="1" kern="1200" dirty="0" err="1" smtClean="0">
              <a:solidFill>
                <a:schemeClr val="bg1"/>
              </a:solidFill>
            </a:rPr>
            <a:t>Asoc</a:t>
          </a:r>
          <a:r>
            <a:rPr lang="es-ES" sz="1400" b="1" kern="1200" dirty="0" smtClean="0">
              <a:solidFill>
                <a:schemeClr val="bg1"/>
              </a:solidFill>
            </a:rPr>
            <a:t>. Bancaria c/ </a:t>
          </a:r>
          <a:r>
            <a:rPr lang="es-ES" sz="1400" b="1" kern="1200" dirty="0" err="1" smtClean="0">
              <a:solidFill>
                <a:schemeClr val="bg1"/>
              </a:solidFill>
            </a:rPr>
            <a:t>Pcia</a:t>
          </a:r>
          <a:r>
            <a:rPr lang="es-ES" sz="1400" b="1" kern="1200" dirty="0" smtClean="0">
              <a:solidFill>
                <a:schemeClr val="bg1"/>
              </a:solidFill>
            </a:rPr>
            <a:t>. Bs. As”. </a:t>
          </a:r>
          <a:r>
            <a:rPr lang="es-ES" sz="1400" kern="1200" dirty="0" smtClean="0">
              <a:solidFill>
                <a:schemeClr val="bg1"/>
              </a:solidFill>
            </a:rPr>
            <a:t>CSBA. (11/08/22).</a:t>
          </a:r>
          <a:endParaRPr lang="es-ES" sz="1400" kern="1200" dirty="0">
            <a:solidFill>
              <a:schemeClr val="bg1"/>
            </a:solidFill>
          </a:endParaRPr>
        </a:p>
        <a:p>
          <a:pPr lvl="0" algn="l" defTabSz="622300">
            <a:lnSpc>
              <a:spcPct val="90000"/>
            </a:lnSpc>
            <a:spcBef>
              <a:spcPct val="0"/>
            </a:spcBef>
            <a:spcAft>
              <a:spcPct val="35000"/>
            </a:spcAft>
          </a:pPr>
          <a:r>
            <a:rPr lang="es-AR" sz="1400" b="1" kern="1200" dirty="0" smtClean="0">
              <a:solidFill>
                <a:schemeClr val="bg1"/>
              </a:solidFill>
            </a:rPr>
            <a:t>“</a:t>
          </a:r>
          <a:r>
            <a:rPr lang="es-AR" sz="1400" b="1" kern="1200" dirty="0" err="1" smtClean="0">
              <a:solidFill>
                <a:schemeClr val="bg1"/>
              </a:solidFill>
            </a:rPr>
            <a:t>Yacht</a:t>
          </a:r>
          <a:r>
            <a:rPr lang="es-AR" sz="1400" b="1" kern="1200" dirty="0" smtClean="0">
              <a:solidFill>
                <a:schemeClr val="bg1"/>
              </a:solidFill>
            </a:rPr>
            <a:t> Club </a:t>
          </a:r>
          <a:r>
            <a:rPr lang="es-AR" sz="1400" b="1" kern="1200" dirty="0" err="1" smtClean="0">
              <a:solidFill>
                <a:schemeClr val="bg1"/>
              </a:solidFill>
            </a:rPr>
            <a:t>Arg</a:t>
          </a:r>
          <a:r>
            <a:rPr lang="es-AR" sz="1400" b="1" kern="1200" dirty="0" smtClean="0">
              <a:solidFill>
                <a:schemeClr val="bg1"/>
              </a:solidFill>
            </a:rPr>
            <a:t>. c/ ARBA”. JCA N° 2. Mar del Plata. </a:t>
          </a:r>
          <a:r>
            <a:rPr lang="es-AR" sz="1400" b="0" kern="1200" dirty="0" smtClean="0">
              <a:solidFill>
                <a:schemeClr val="bg1"/>
              </a:solidFill>
            </a:rPr>
            <a:t>(10/10/23).</a:t>
          </a:r>
          <a:endParaRPr lang="es-ES" sz="1400" kern="1200" dirty="0">
            <a:solidFill>
              <a:schemeClr val="bg1"/>
            </a:solidFill>
          </a:endParaRPr>
        </a:p>
        <a:p>
          <a:pPr lvl="0" algn="l" defTabSz="622300">
            <a:lnSpc>
              <a:spcPct val="90000"/>
            </a:lnSpc>
            <a:spcBef>
              <a:spcPct val="0"/>
            </a:spcBef>
            <a:spcAft>
              <a:spcPct val="35000"/>
            </a:spcAft>
          </a:pPr>
          <a:r>
            <a:rPr lang="es-AR" sz="1400" kern="1200" dirty="0" smtClean="0">
              <a:solidFill>
                <a:schemeClr val="bg1"/>
              </a:solidFill>
            </a:rPr>
            <a:t> </a:t>
          </a:r>
          <a:r>
            <a:rPr lang="es-ES" sz="1400" b="1" kern="1200" dirty="0" smtClean="0">
              <a:solidFill>
                <a:schemeClr val="bg1"/>
              </a:solidFill>
            </a:rPr>
            <a:t>“</a:t>
          </a:r>
          <a:r>
            <a:rPr lang="es-ES" sz="1400" b="1" kern="1200" dirty="0" err="1" smtClean="0">
              <a:solidFill>
                <a:schemeClr val="bg1"/>
              </a:solidFill>
            </a:rPr>
            <a:t>Autom</a:t>
          </a:r>
          <a:r>
            <a:rPr lang="es-ES" sz="1400" b="1" kern="1200" dirty="0" smtClean="0">
              <a:solidFill>
                <a:schemeClr val="bg1"/>
              </a:solidFill>
            </a:rPr>
            <a:t>. Club. </a:t>
          </a:r>
          <a:r>
            <a:rPr lang="es-ES" sz="1400" b="1" kern="1200" dirty="0" err="1" smtClean="0">
              <a:solidFill>
                <a:schemeClr val="bg1"/>
              </a:solidFill>
            </a:rPr>
            <a:t>Arg</a:t>
          </a:r>
          <a:r>
            <a:rPr lang="es-ES" sz="1400" b="1" kern="1200" dirty="0" smtClean="0">
              <a:solidFill>
                <a:schemeClr val="bg1"/>
              </a:solidFill>
            </a:rPr>
            <a:t>. c/GCBA s/</a:t>
          </a:r>
          <a:r>
            <a:rPr lang="es-ES" sz="1400" b="1" kern="1200" dirty="0" err="1" smtClean="0">
              <a:solidFill>
                <a:schemeClr val="bg1"/>
              </a:solidFill>
            </a:rPr>
            <a:t>rep</a:t>
          </a:r>
          <a:r>
            <a:rPr lang="es-ES" sz="1400" b="1" kern="1200" dirty="0" smtClean="0">
              <a:solidFill>
                <a:schemeClr val="bg1"/>
              </a:solidFill>
            </a:rPr>
            <a:t>”. TSJ. </a:t>
          </a:r>
          <a:r>
            <a:rPr lang="es-ES" sz="1400" kern="1200" dirty="0" smtClean="0">
              <a:solidFill>
                <a:schemeClr val="bg1"/>
              </a:solidFill>
            </a:rPr>
            <a:t>(13/12/23).</a:t>
          </a:r>
        </a:p>
        <a:p>
          <a:pPr lvl="0" algn="l" defTabSz="622300">
            <a:lnSpc>
              <a:spcPct val="90000"/>
            </a:lnSpc>
            <a:spcBef>
              <a:spcPct val="0"/>
            </a:spcBef>
            <a:spcAft>
              <a:spcPct val="35000"/>
            </a:spcAft>
          </a:pPr>
          <a:r>
            <a:rPr lang="es-ES" sz="1400" b="1" kern="1200" dirty="0" smtClean="0">
              <a:solidFill>
                <a:schemeClr val="bg1"/>
              </a:solidFill>
            </a:rPr>
            <a:t>“</a:t>
          </a:r>
          <a:r>
            <a:rPr lang="es-ES" sz="1400" b="1" kern="1200" dirty="0" err="1" smtClean="0">
              <a:solidFill>
                <a:schemeClr val="bg1"/>
              </a:solidFill>
            </a:rPr>
            <a:t>Sancor</a:t>
          </a:r>
          <a:r>
            <a:rPr lang="es-ES" sz="1400" b="1" kern="1200" dirty="0" smtClean="0">
              <a:solidFill>
                <a:schemeClr val="bg1"/>
              </a:solidFill>
            </a:rPr>
            <a:t>”. </a:t>
          </a:r>
          <a:r>
            <a:rPr lang="es-ES" sz="1400" kern="1200" dirty="0" smtClean="0">
              <a:solidFill>
                <a:schemeClr val="bg1"/>
              </a:solidFill>
            </a:rPr>
            <a:t>CA Sala III. CABA. 25/04/24.</a:t>
          </a:r>
          <a:endParaRPr lang="es-ES" sz="1400" kern="1200" dirty="0">
            <a:solidFill>
              <a:schemeClr val="bg1"/>
            </a:solidFill>
          </a:endParaRPr>
        </a:p>
        <a:p>
          <a:pPr lvl="0" algn="l" defTabSz="622300">
            <a:lnSpc>
              <a:spcPct val="90000"/>
            </a:lnSpc>
            <a:spcBef>
              <a:spcPct val="0"/>
            </a:spcBef>
            <a:spcAft>
              <a:spcPct val="35000"/>
            </a:spcAft>
          </a:pPr>
          <a:r>
            <a:rPr lang="es-ES" sz="1400" b="1" i="0" kern="1200" dirty="0" smtClean="0">
              <a:solidFill>
                <a:schemeClr val="bg1"/>
              </a:solidFill>
            </a:rPr>
            <a:t> “Colegio de Farm. Prov. Corrientes s/Acción contenciosa administrativa” </a:t>
          </a:r>
          <a:r>
            <a:rPr lang="es-ES" sz="1400" b="0" i="0" kern="1200" dirty="0" smtClean="0">
              <a:solidFill>
                <a:schemeClr val="bg1"/>
              </a:solidFill>
            </a:rPr>
            <a:t>- STJ Corrientes – (19/9/2022).</a:t>
          </a:r>
          <a:endParaRPr lang="es-ES" sz="1400" kern="1200" dirty="0">
            <a:solidFill>
              <a:schemeClr val="bg1"/>
            </a:solidFill>
          </a:endParaRPr>
        </a:p>
        <a:p>
          <a:pPr lvl="0" algn="l" defTabSz="622300">
            <a:lnSpc>
              <a:spcPct val="90000"/>
            </a:lnSpc>
            <a:spcBef>
              <a:spcPct val="0"/>
            </a:spcBef>
            <a:spcAft>
              <a:spcPct val="35000"/>
            </a:spcAft>
          </a:pPr>
          <a:r>
            <a:rPr lang="es-AR" sz="1400" b="1" kern="1200" dirty="0" smtClean="0">
              <a:solidFill>
                <a:schemeClr val="bg1"/>
              </a:solidFill>
            </a:rPr>
            <a:t> “Centro </a:t>
          </a:r>
          <a:r>
            <a:rPr lang="es-AR" sz="1400" b="1" kern="1200" dirty="0" err="1" smtClean="0">
              <a:solidFill>
                <a:schemeClr val="bg1"/>
              </a:solidFill>
            </a:rPr>
            <a:t>Emp</a:t>
          </a:r>
          <a:r>
            <a:rPr lang="es-AR" sz="1400" b="1" kern="1200" dirty="0" smtClean="0">
              <a:solidFill>
                <a:schemeClr val="bg1"/>
              </a:solidFill>
            </a:rPr>
            <a:t>. Comercio c/ATER”</a:t>
          </a:r>
          <a:r>
            <a:rPr lang="es-AR" sz="1400" kern="1200" dirty="0" smtClean="0">
              <a:solidFill>
                <a:schemeClr val="bg1"/>
              </a:solidFill>
            </a:rPr>
            <a:t>.  CSJN           (29/05/2018) y CA1.(5/10/22).</a:t>
          </a:r>
          <a:endParaRPr lang="es-ES" sz="1400" b="0" kern="1200" dirty="0">
            <a:solidFill>
              <a:schemeClr val="bg1"/>
            </a:solidFill>
          </a:endParaRPr>
        </a:p>
        <a:p>
          <a:pPr lvl="0" algn="l" defTabSz="622300">
            <a:lnSpc>
              <a:spcPct val="90000"/>
            </a:lnSpc>
            <a:spcBef>
              <a:spcPct val="0"/>
            </a:spcBef>
            <a:spcAft>
              <a:spcPct val="35000"/>
            </a:spcAft>
          </a:pPr>
          <a:r>
            <a:rPr lang="es-ES" sz="1400" b="1" kern="1200" dirty="0" smtClean="0">
              <a:solidFill>
                <a:schemeClr val="bg1"/>
              </a:solidFill>
            </a:rPr>
            <a:t>“</a:t>
          </a:r>
          <a:r>
            <a:rPr lang="es-ES" sz="1400" b="1" kern="1200" dirty="0" err="1" smtClean="0">
              <a:solidFill>
                <a:schemeClr val="bg1"/>
              </a:solidFill>
            </a:rPr>
            <a:t>Asoc</a:t>
          </a:r>
          <a:r>
            <a:rPr lang="es-ES" sz="1400" b="1" kern="1200" dirty="0" smtClean="0">
              <a:solidFill>
                <a:schemeClr val="bg1"/>
              </a:solidFill>
            </a:rPr>
            <a:t>. </a:t>
          </a:r>
          <a:r>
            <a:rPr lang="es-ES" sz="1400" b="1" kern="1200" dirty="0" err="1" smtClean="0">
              <a:solidFill>
                <a:schemeClr val="bg1"/>
              </a:solidFill>
            </a:rPr>
            <a:t>Transp</a:t>
          </a:r>
          <a:r>
            <a:rPr lang="es-ES" sz="1400" b="1" kern="1200" dirty="0" smtClean="0">
              <a:solidFill>
                <a:schemeClr val="bg1"/>
              </a:solidFill>
            </a:rPr>
            <a:t>. Unidos </a:t>
          </a:r>
          <a:r>
            <a:rPr lang="es-ES" sz="1400" b="1" kern="1200" dirty="0" err="1" smtClean="0">
              <a:solidFill>
                <a:schemeClr val="bg1"/>
              </a:solidFill>
            </a:rPr>
            <a:t>Elortondo</a:t>
          </a:r>
          <a:r>
            <a:rPr lang="es-ES" sz="1400" b="1" kern="1200" dirty="0" smtClean="0">
              <a:solidFill>
                <a:schemeClr val="bg1"/>
              </a:solidFill>
            </a:rPr>
            <a:t> c/Santa Fe. </a:t>
          </a:r>
          <a:r>
            <a:rPr lang="es-ES" sz="1400" b="1" kern="1200" dirty="0" err="1" smtClean="0">
              <a:solidFill>
                <a:schemeClr val="bg1"/>
              </a:solidFill>
            </a:rPr>
            <a:t>Inconst</a:t>
          </a:r>
          <a:r>
            <a:rPr lang="es-ES" sz="1400" b="1" kern="1200" dirty="0" smtClean="0">
              <a:solidFill>
                <a:schemeClr val="bg1"/>
              </a:solidFill>
            </a:rPr>
            <a:t>.” </a:t>
          </a:r>
          <a:r>
            <a:rPr lang="es-ES" sz="1400" kern="1200" dirty="0" smtClean="0">
              <a:solidFill>
                <a:schemeClr val="bg1"/>
              </a:solidFill>
            </a:rPr>
            <a:t>CSJ Santa Fe. (23/12/19).</a:t>
          </a:r>
          <a:endParaRPr lang="es-ES" sz="1400" kern="1200" dirty="0">
            <a:solidFill>
              <a:schemeClr val="bg1"/>
            </a:solidFill>
          </a:endParaRPr>
        </a:p>
        <a:p>
          <a:pPr lvl="0" algn="l" defTabSz="622300">
            <a:lnSpc>
              <a:spcPct val="90000"/>
            </a:lnSpc>
            <a:spcBef>
              <a:spcPct val="0"/>
            </a:spcBef>
            <a:spcAft>
              <a:spcPct val="35000"/>
            </a:spcAft>
          </a:pPr>
          <a:r>
            <a:rPr lang="es-AR" sz="1400" b="1" kern="1200" dirty="0" smtClean="0">
              <a:solidFill>
                <a:schemeClr val="bg1"/>
              </a:solidFill>
            </a:rPr>
            <a:t> “Soc. Española Soc. Mutuos c/ATER”</a:t>
          </a:r>
          <a:r>
            <a:rPr lang="es-AR" sz="1400" kern="1200" dirty="0" smtClean="0">
              <a:solidFill>
                <a:schemeClr val="bg1"/>
              </a:solidFill>
            </a:rPr>
            <a:t>. CA2.(17/06/21).</a:t>
          </a:r>
          <a:endParaRPr lang="es-ES" sz="1400" kern="1200" dirty="0">
            <a:solidFill>
              <a:schemeClr val="bg1"/>
            </a:solidFill>
          </a:endParaRPr>
        </a:p>
        <a:p>
          <a:pPr lvl="0" algn="l" defTabSz="622300">
            <a:lnSpc>
              <a:spcPct val="90000"/>
            </a:lnSpc>
            <a:spcBef>
              <a:spcPct val="0"/>
            </a:spcBef>
            <a:spcAft>
              <a:spcPct val="35000"/>
            </a:spcAft>
          </a:pPr>
          <a:r>
            <a:rPr lang="es-AR" sz="1400" b="1" kern="1200" dirty="0" smtClean="0">
              <a:solidFill>
                <a:schemeClr val="bg1"/>
              </a:solidFill>
            </a:rPr>
            <a:t>“</a:t>
          </a:r>
          <a:r>
            <a:rPr lang="es-AR" sz="1400" b="1" kern="1200" dirty="0" err="1" smtClean="0">
              <a:solidFill>
                <a:schemeClr val="bg1"/>
              </a:solidFill>
            </a:rPr>
            <a:t>Asoc</a:t>
          </a:r>
          <a:r>
            <a:rPr lang="es-AR" sz="1400" b="1" kern="1200" dirty="0" smtClean="0">
              <a:solidFill>
                <a:schemeClr val="bg1"/>
              </a:solidFill>
            </a:rPr>
            <a:t>. </a:t>
          </a:r>
          <a:r>
            <a:rPr lang="es-AR" sz="1400" b="1" kern="1200" dirty="0" err="1" smtClean="0">
              <a:solidFill>
                <a:schemeClr val="bg1"/>
              </a:solidFill>
            </a:rPr>
            <a:t>Mut</a:t>
          </a:r>
          <a:r>
            <a:rPr lang="es-AR" sz="1400" b="1" kern="1200" dirty="0" smtClean="0">
              <a:solidFill>
                <a:schemeClr val="bg1"/>
              </a:solidFill>
            </a:rPr>
            <a:t>. Bancarios c/ATER”</a:t>
          </a:r>
          <a:r>
            <a:rPr lang="es-AR" sz="1400" kern="1200" dirty="0" smtClean="0">
              <a:solidFill>
                <a:schemeClr val="bg1"/>
              </a:solidFill>
            </a:rPr>
            <a:t>. CA2.(1/10/24).</a:t>
          </a:r>
          <a:endParaRPr lang="es-ES" sz="1400" kern="1200" dirty="0">
            <a:solidFill>
              <a:schemeClr val="bg1"/>
            </a:solidFill>
          </a:endParaRPr>
        </a:p>
        <a:p>
          <a:pPr lvl="0" algn="l" defTabSz="622300">
            <a:lnSpc>
              <a:spcPct val="90000"/>
            </a:lnSpc>
            <a:spcBef>
              <a:spcPct val="0"/>
            </a:spcBef>
            <a:spcAft>
              <a:spcPct val="35000"/>
            </a:spcAft>
          </a:pPr>
          <a:r>
            <a:rPr lang="es-AR" sz="1400" b="1" kern="1200" dirty="0" smtClean="0">
              <a:solidFill>
                <a:schemeClr val="bg1"/>
              </a:solidFill>
            </a:rPr>
            <a:t>“</a:t>
          </a:r>
          <a:r>
            <a:rPr lang="es-AR" sz="1400" b="1" kern="1200" dirty="0" err="1" smtClean="0">
              <a:solidFill>
                <a:schemeClr val="bg1"/>
              </a:solidFill>
            </a:rPr>
            <a:t>Sancor</a:t>
          </a:r>
          <a:r>
            <a:rPr lang="es-AR" sz="1400" b="1" kern="1200" dirty="0" smtClean="0">
              <a:solidFill>
                <a:schemeClr val="bg1"/>
              </a:solidFill>
            </a:rPr>
            <a:t> </a:t>
          </a:r>
          <a:r>
            <a:rPr lang="es-AR" sz="1400" b="1" kern="1200" dirty="0" err="1" smtClean="0">
              <a:solidFill>
                <a:schemeClr val="bg1"/>
              </a:solidFill>
            </a:rPr>
            <a:t>Coop</a:t>
          </a:r>
          <a:r>
            <a:rPr lang="es-AR" sz="1400" b="1" kern="1200" dirty="0" smtClean="0">
              <a:solidFill>
                <a:schemeClr val="bg1"/>
              </a:solidFill>
            </a:rPr>
            <a:t>. c/ATER”</a:t>
          </a:r>
          <a:r>
            <a:rPr lang="es-AR" sz="1400" kern="1200" dirty="0" smtClean="0">
              <a:solidFill>
                <a:schemeClr val="bg1"/>
              </a:solidFill>
            </a:rPr>
            <a:t>. TSJE.(5/10/22).</a:t>
          </a:r>
          <a:endParaRPr lang="es-ES" sz="1200" kern="1200" dirty="0">
            <a:solidFill>
              <a:schemeClr val="bg1"/>
            </a:solidFill>
          </a:endParaRPr>
        </a:p>
        <a:p>
          <a:pPr lvl="0" algn="l" defTabSz="533400">
            <a:lnSpc>
              <a:spcPct val="90000"/>
            </a:lnSpc>
            <a:spcBef>
              <a:spcPct val="0"/>
            </a:spcBef>
            <a:spcAft>
              <a:spcPct val="35000"/>
            </a:spcAft>
          </a:pPr>
          <a:r>
            <a:rPr lang="es-ES" sz="1200" b="1" kern="1200" dirty="0" smtClean="0">
              <a:solidFill>
                <a:schemeClr val="bg1"/>
              </a:solidFill>
            </a:rPr>
            <a:t>“ACA Salud </a:t>
          </a:r>
          <a:r>
            <a:rPr lang="es-ES" sz="1200" b="1" kern="1200" dirty="0" err="1" smtClean="0">
              <a:solidFill>
                <a:schemeClr val="bg1"/>
              </a:solidFill>
            </a:rPr>
            <a:t>Coop</a:t>
          </a:r>
          <a:r>
            <a:rPr lang="es-ES" sz="1200" b="1" kern="1200" dirty="0" smtClean="0">
              <a:solidFill>
                <a:schemeClr val="bg1"/>
              </a:solidFill>
            </a:rPr>
            <a:t>.”. </a:t>
          </a:r>
          <a:r>
            <a:rPr lang="es-ES" sz="1200" b="0" kern="1200" dirty="0" smtClean="0">
              <a:solidFill>
                <a:schemeClr val="bg1"/>
              </a:solidFill>
            </a:rPr>
            <a:t>STJ. Entre </a:t>
          </a:r>
          <a:r>
            <a:rPr lang="es-ES" sz="1200" b="0" kern="1200" dirty="0" err="1" smtClean="0">
              <a:solidFill>
                <a:schemeClr val="bg1"/>
              </a:solidFill>
            </a:rPr>
            <a:t>Rios</a:t>
          </a:r>
          <a:r>
            <a:rPr lang="es-ES" sz="1200" b="1" kern="1200" dirty="0" smtClean="0">
              <a:solidFill>
                <a:schemeClr val="bg1"/>
              </a:solidFill>
            </a:rPr>
            <a:t>. </a:t>
          </a:r>
          <a:r>
            <a:rPr lang="es-ES" sz="1200" b="0" kern="1200" dirty="0" smtClean="0">
              <a:solidFill>
                <a:schemeClr val="bg1"/>
              </a:solidFill>
            </a:rPr>
            <a:t>12/11/24.</a:t>
          </a:r>
        </a:p>
        <a:p>
          <a:pPr lvl="0" algn="l" defTabSz="666750">
            <a:lnSpc>
              <a:spcPct val="90000"/>
            </a:lnSpc>
            <a:spcBef>
              <a:spcPct val="0"/>
            </a:spcBef>
            <a:spcAft>
              <a:spcPct val="35000"/>
            </a:spcAft>
          </a:pPr>
          <a:endParaRPr lang="es-ES" sz="1500" kern="1200" dirty="0">
            <a:solidFill>
              <a:schemeClr val="bg1"/>
            </a:solidFill>
          </a:endParaRPr>
        </a:p>
      </dsp:txBody>
      <dsp:txXfrm>
        <a:off x="5319635" y="0"/>
        <a:ext cx="3649372" cy="5715039"/>
      </dsp:txXfrm>
    </dsp:sp>
  </dsp:spTree>
</dsp:drawing>
</file>

<file path=ppt/diagrams/drawing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F392624-B46C-44AE-8A28-21D9CFE59A31}">
      <dsp:nvSpPr>
        <dsp:cNvPr id="0" name=""/>
        <dsp:cNvSpPr/>
      </dsp:nvSpPr>
      <dsp:spPr>
        <a:xfrm>
          <a:off x="1959035" y="0"/>
          <a:ext cx="6827838" cy="1581718"/>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endParaRPr lang="es-ES" sz="1500" kern="1200" dirty="0"/>
        </a:p>
        <a:p>
          <a:pPr marL="114300" lvl="1" indent="-114300" algn="just" defTabSz="666750">
            <a:lnSpc>
              <a:spcPct val="90000"/>
            </a:lnSpc>
            <a:spcBef>
              <a:spcPct val="0"/>
            </a:spcBef>
            <a:spcAft>
              <a:spcPct val="15000"/>
            </a:spcAft>
            <a:buChar char="••"/>
          </a:pPr>
          <a:r>
            <a:rPr lang="es-ES" sz="1500" kern="1200" dirty="0" smtClean="0"/>
            <a:t> Aplicó jurisprudencia de la CSJN “Fundación Emprender (</a:t>
          </a:r>
          <a:r>
            <a:rPr lang="es-ES" sz="1500" kern="1200" dirty="0" err="1" smtClean="0"/>
            <a:t>expte</a:t>
          </a:r>
          <a:r>
            <a:rPr lang="es-ES" sz="1500" kern="1200" dirty="0" smtClean="0"/>
            <a:t>. 20.679-I) de fecha 5/03/13 en la que concluyó “...en razón de la naturaleza del sujeto que promovió las actuaciones, el empobrecimiento cabe razonablemente inferirlo del solo hecho del pago...”.</a:t>
          </a:r>
          <a:endParaRPr lang="es-ES" sz="1500" kern="1200" dirty="0"/>
        </a:p>
      </dsp:txBody>
      <dsp:txXfrm>
        <a:off x="1959035" y="0"/>
        <a:ext cx="6827838" cy="1581718"/>
      </dsp:txXfrm>
    </dsp:sp>
    <dsp:sp modelId="{9CC8C78D-60B0-4EBA-B8E9-1B71AA2A0BC2}">
      <dsp:nvSpPr>
        <dsp:cNvPr id="0" name=""/>
        <dsp:cNvSpPr/>
      </dsp:nvSpPr>
      <dsp:spPr>
        <a:xfrm>
          <a:off x="0" y="153148"/>
          <a:ext cx="1953687" cy="12817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a:lnSpc>
              <a:spcPct val="90000"/>
            </a:lnSpc>
            <a:spcBef>
              <a:spcPct val="0"/>
            </a:spcBef>
            <a:spcAft>
              <a:spcPct val="35000"/>
            </a:spcAft>
          </a:pPr>
          <a:r>
            <a:rPr lang="es-ES" sz="1700" b="1" kern="1200" dirty="0" smtClean="0">
              <a:solidFill>
                <a:srgbClr val="FFFF00"/>
              </a:solidFill>
            </a:rPr>
            <a:t>Asociación Mutual </a:t>
          </a:r>
          <a:r>
            <a:rPr lang="es-ES" sz="1700" b="1" kern="1200" dirty="0" err="1" smtClean="0">
              <a:solidFill>
                <a:srgbClr val="FFFF00"/>
              </a:solidFill>
            </a:rPr>
            <a:t>Sancor</a:t>
          </a:r>
          <a:r>
            <a:rPr lang="es-ES" sz="1700" b="1" kern="1200" dirty="0" smtClean="0">
              <a:solidFill>
                <a:srgbClr val="FFFF00"/>
              </a:solidFill>
            </a:rPr>
            <a:t> s/ </a:t>
          </a:r>
          <a:r>
            <a:rPr lang="es-ES" sz="1700" b="1" kern="1200" dirty="0" err="1" smtClean="0">
              <a:solidFill>
                <a:srgbClr val="FFFF00"/>
              </a:solidFill>
            </a:rPr>
            <a:t>Apel</a:t>
          </a:r>
          <a:r>
            <a:rPr lang="es-ES" sz="1700" b="1" kern="1200" dirty="0" smtClean="0">
              <a:solidFill>
                <a:srgbClr val="FFFF00"/>
              </a:solidFill>
            </a:rPr>
            <a:t>. </a:t>
          </a:r>
          <a:r>
            <a:rPr lang="es-ES" sz="1700" b="1" kern="1200" dirty="0" err="1" smtClean="0">
              <a:solidFill>
                <a:srgbClr val="FFFF00"/>
              </a:solidFill>
            </a:rPr>
            <a:t>Deneg</a:t>
          </a:r>
          <a:r>
            <a:rPr lang="es-ES" sz="1700" b="1" kern="1200" dirty="0" smtClean="0">
              <a:solidFill>
                <a:srgbClr val="FFFF00"/>
              </a:solidFill>
            </a:rPr>
            <a:t>. </a:t>
          </a:r>
          <a:r>
            <a:rPr lang="es-ES" sz="1700" b="1" kern="1200" dirty="0" err="1" smtClean="0">
              <a:solidFill>
                <a:srgbClr val="FFFF00"/>
              </a:solidFill>
            </a:rPr>
            <a:t>repet</a:t>
          </a:r>
          <a:r>
            <a:rPr lang="es-ES" sz="1700" b="1" kern="1200" dirty="0" smtClean="0">
              <a:solidFill>
                <a:srgbClr val="FFFF00"/>
              </a:solidFill>
            </a:rPr>
            <a:t>. TFN. Sala C. (25/08/22).</a:t>
          </a:r>
          <a:endParaRPr lang="es-ES" sz="1700" b="1" kern="1200" dirty="0">
            <a:solidFill>
              <a:srgbClr val="FFFF00"/>
            </a:solidFill>
          </a:endParaRPr>
        </a:p>
      </dsp:txBody>
      <dsp:txXfrm>
        <a:off x="0" y="153148"/>
        <a:ext cx="1953687" cy="1281723"/>
      </dsp:txXfrm>
    </dsp:sp>
    <dsp:sp modelId="{3375499F-50BD-41C1-8271-EDFE60414C8E}">
      <dsp:nvSpPr>
        <dsp:cNvPr id="0" name=""/>
        <dsp:cNvSpPr/>
      </dsp:nvSpPr>
      <dsp:spPr>
        <a:xfrm>
          <a:off x="1977712" y="1630150"/>
          <a:ext cx="6594833" cy="2391029"/>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s-ES" sz="1500" kern="1200" dirty="0" smtClean="0"/>
            <a:t>No debe demostrar el traslado del impuesto porque pues teniendo en cuenta la figura legal de que se trata resulta que aquélla soportó ese impuesto junto con los asociados que conforman esa organización solidaria.</a:t>
          </a:r>
          <a:endParaRPr lang="es-ES" sz="1500" kern="1200" dirty="0"/>
        </a:p>
        <a:p>
          <a:pPr marL="114300" lvl="1" indent="-114300" algn="l" defTabSz="666750">
            <a:lnSpc>
              <a:spcPct val="90000"/>
            </a:lnSpc>
            <a:spcBef>
              <a:spcPct val="0"/>
            </a:spcBef>
            <a:spcAft>
              <a:spcPct val="15000"/>
            </a:spcAft>
            <a:buChar char="••"/>
          </a:pPr>
          <a:r>
            <a:rPr lang="es-ES" sz="1500" kern="1200" dirty="0" smtClean="0"/>
            <a:t>No aplica precedente “Asociación Mutual Carlos Mujica c/Estado Nacional (Poder Ejecutivo Nacional-</a:t>
          </a:r>
          <a:r>
            <a:rPr lang="es-ES" sz="1500" kern="1200" dirty="0" err="1" smtClean="0"/>
            <a:t>Comfer</a:t>
          </a:r>
          <a:r>
            <a:rPr lang="es-ES" sz="1500" kern="1200" dirty="0" smtClean="0"/>
            <a:t>) s/Amparo” del Máximo Tribunal (Fallos 316:3142) en el intento de asimilar a la Mutuales a una sociedad comercial.</a:t>
          </a:r>
          <a:endParaRPr lang="es-ES" sz="1500" kern="1200" dirty="0"/>
        </a:p>
      </dsp:txBody>
      <dsp:txXfrm>
        <a:off x="1977712" y="1630150"/>
        <a:ext cx="6594833" cy="2391029"/>
      </dsp:txXfrm>
    </dsp:sp>
    <dsp:sp modelId="{D13C87F2-6BC7-42CB-AEE2-B212B0B77E98}">
      <dsp:nvSpPr>
        <dsp:cNvPr id="0" name=""/>
        <dsp:cNvSpPr/>
      </dsp:nvSpPr>
      <dsp:spPr>
        <a:xfrm>
          <a:off x="15" y="1927179"/>
          <a:ext cx="1947516" cy="179581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a:lnSpc>
              <a:spcPct val="90000"/>
            </a:lnSpc>
            <a:spcBef>
              <a:spcPct val="0"/>
            </a:spcBef>
            <a:spcAft>
              <a:spcPct val="35000"/>
            </a:spcAft>
          </a:pPr>
          <a:r>
            <a:rPr lang="es-ES" sz="1700" b="1" kern="1200" dirty="0" smtClean="0">
              <a:solidFill>
                <a:srgbClr val="FFFF00"/>
              </a:solidFill>
            </a:rPr>
            <a:t>Asociación Mutual </a:t>
          </a:r>
          <a:r>
            <a:rPr lang="es-ES" sz="1700" b="1" kern="1200" dirty="0" err="1" smtClean="0">
              <a:solidFill>
                <a:srgbClr val="FFFF00"/>
              </a:solidFill>
            </a:rPr>
            <a:t>Sancor</a:t>
          </a:r>
          <a:r>
            <a:rPr lang="es-ES" sz="1700" b="1" kern="1200" dirty="0" smtClean="0">
              <a:solidFill>
                <a:srgbClr val="FFFF00"/>
              </a:solidFill>
            </a:rPr>
            <a:t>  C/DGI. </a:t>
          </a:r>
          <a:r>
            <a:rPr lang="es-ES" sz="1700" b="1" kern="1200" dirty="0" err="1" smtClean="0">
              <a:solidFill>
                <a:srgbClr val="FFFF00"/>
              </a:solidFill>
            </a:rPr>
            <a:t>Rec</a:t>
          </a:r>
          <a:r>
            <a:rPr lang="es-ES" sz="1700" b="1" kern="1200" dirty="0" smtClean="0">
              <a:solidFill>
                <a:srgbClr val="FFFF00"/>
              </a:solidFill>
            </a:rPr>
            <a:t>. Directo. CNCAF. Sala I. (26/12/23). </a:t>
          </a:r>
          <a:endParaRPr lang="es-ES" sz="1700" b="1" kern="1200" dirty="0">
            <a:solidFill>
              <a:srgbClr val="FFFF00"/>
            </a:solidFill>
          </a:endParaRPr>
        </a:p>
      </dsp:txBody>
      <dsp:txXfrm>
        <a:off x="15" y="1927179"/>
        <a:ext cx="1947516" cy="1795813"/>
      </dsp:txXfrm>
    </dsp:sp>
    <dsp:sp modelId="{EE01E7ED-B7F8-4DDF-A43B-6C8EC19623B1}">
      <dsp:nvSpPr>
        <dsp:cNvPr id="0" name=""/>
        <dsp:cNvSpPr/>
      </dsp:nvSpPr>
      <dsp:spPr>
        <a:xfrm>
          <a:off x="2000272" y="4046820"/>
          <a:ext cx="6448832" cy="1164361"/>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2ADF5CE-5E24-4C19-A149-1269B5D71954}">
      <dsp:nvSpPr>
        <dsp:cNvPr id="0" name=""/>
        <dsp:cNvSpPr/>
      </dsp:nvSpPr>
      <dsp:spPr>
        <a:xfrm>
          <a:off x="0" y="4086549"/>
          <a:ext cx="2063706" cy="100176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es-ES" sz="1600" b="1" kern="1200" dirty="0" smtClean="0">
              <a:solidFill>
                <a:srgbClr val="FFFF00"/>
              </a:solidFill>
            </a:rPr>
            <a:t>Asociación Mutual </a:t>
          </a:r>
          <a:r>
            <a:rPr lang="es-ES" sz="1600" b="1" kern="1200" dirty="0" err="1" smtClean="0">
              <a:solidFill>
                <a:srgbClr val="FFFF00"/>
              </a:solidFill>
            </a:rPr>
            <a:t>Sancor</a:t>
          </a:r>
          <a:r>
            <a:rPr lang="es-ES" sz="1600" b="1" kern="1200" dirty="0" smtClean="0">
              <a:solidFill>
                <a:srgbClr val="FFFF00"/>
              </a:solidFill>
            </a:rPr>
            <a:t>  C/DGI. </a:t>
          </a:r>
          <a:r>
            <a:rPr lang="es-ES" sz="1600" b="1" kern="1200" dirty="0" err="1" smtClean="0">
              <a:solidFill>
                <a:srgbClr val="FFFF00"/>
              </a:solidFill>
            </a:rPr>
            <a:t>Rec</a:t>
          </a:r>
          <a:r>
            <a:rPr lang="es-ES" sz="1600" b="1" kern="1200" dirty="0" smtClean="0">
              <a:solidFill>
                <a:srgbClr val="FFFF00"/>
              </a:solidFill>
            </a:rPr>
            <a:t>. Directo. CNCAF. Sala I. (11/04/24). </a:t>
          </a:r>
          <a:endParaRPr lang="es-ES" sz="1600" kern="1200" dirty="0"/>
        </a:p>
      </dsp:txBody>
      <dsp:txXfrm>
        <a:off x="0" y="4086549"/>
        <a:ext cx="2063706" cy="1001761"/>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cycle4#2">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3.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presOf axis="self"/>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presOf axis="self"/>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30" tIns="45715" rIns="91430" bIns="45715" rtlCol="0"/>
          <a:lstStyle>
            <a:lvl1pPr algn="l">
              <a:defRPr sz="1200"/>
            </a:lvl1pPr>
          </a:lstStyle>
          <a:p>
            <a:endParaRPr lang="es-AR" dirty="0"/>
          </a:p>
        </p:txBody>
      </p:sp>
      <p:sp>
        <p:nvSpPr>
          <p:cNvPr id="3" name="2 Marcador de fecha"/>
          <p:cNvSpPr>
            <a:spLocks noGrp="1"/>
          </p:cNvSpPr>
          <p:nvPr>
            <p:ph type="dt" sz="quarter" idx="1"/>
          </p:nvPr>
        </p:nvSpPr>
        <p:spPr>
          <a:xfrm>
            <a:off x="3884614" y="0"/>
            <a:ext cx="2971800" cy="457200"/>
          </a:xfrm>
          <a:prstGeom prst="rect">
            <a:avLst/>
          </a:prstGeom>
        </p:spPr>
        <p:txBody>
          <a:bodyPr vert="horz" lIns="91430" tIns="45715" rIns="91430" bIns="45715" rtlCol="0"/>
          <a:lstStyle>
            <a:lvl1pPr algn="r">
              <a:defRPr sz="1200"/>
            </a:lvl1pPr>
          </a:lstStyle>
          <a:p>
            <a:fld id="{955C2F76-07CD-453E-9B20-4B2DDF228CCF}" type="datetimeFigureOut">
              <a:rPr lang="es-AR" smtClean="0"/>
              <a:pPr/>
              <a:t>30/4/2025</a:t>
            </a:fld>
            <a:endParaRPr lang="es-AR" dirty="0"/>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30" tIns="45715" rIns="91430" bIns="45715" rtlCol="0" anchor="b"/>
          <a:lstStyle>
            <a:lvl1pPr algn="l">
              <a:defRPr sz="1200"/>
            </a:lvl1pPr>
          </a:lstStyle>
          <a:p>
            <a:endParaRPr lang="es-AR" dirty="0"/>
          </a:p>
        </p:txBody>
      </p:sp>
      <p:sp>
        <p:nvSpPr>
          <p:cNvPr id="5" name="4 Marcador de número de diapositiva"/>
          <p:cNvSpPr>
            <a:spLocks noGrp="1"/>
          </p:cNvSpPr>
          <p:nvPr>
            <p:ph type="sldNum" sz="quarter" idx="3"/>
          </p:nvPr>
        </p:nvSpPr>
        <p:spPr>
          <a:xfrm>
            <a:off x="3884614" y="8685213"/>
            <a:ext cx="2971800" cy="457200"/>
          </a:xfrm>
          <a:prstGeom prst="rect">
            <a:avLst/>
          </a:prstGeom>
        </p:spPr>
        <p:txBody>
          <a:bodyPr vert="horz" lIns="91430" tIns="45715" rIns="91430" bIns="45715" rtlCol="0" anchor="b"/>
          <a:lstStyle>
            <a:lvl1pPr algn="r">
              <a:defRPr sz="1200"/>
            </a:lvl1pPr>
          </a:lstStyle>
          <a:p>
            <a:fld id="{11FE9A8C-1099-4B52-B652-B7F6B7477BD3}" type="slidenum">
              <a:rPr lang="es-AR" smtClean="0"/>
              <a:pPr/>
              <a:t>‹Nº›</a:t>
            </a:fld>
            <a:endParaRPr lang="es-AR" dirty="0"/>
          </a:p>
        </p:txBody>
      </p:sp>
    </p:spTree>
    <p:extLst>
      <p:ext uri="{BB962C8B-B14F-4D97-AF65-F5344CB8AC3E}">
        <p14:creationId xmlns="" xmlns:p14="http://schemas.microsoft.com/office/powerpoint/2010/main" val="5631853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30" tIns="45715" rIns="91430" bIns="45715" rtlCol="0"/>
          <a:lstStyle>
            <a:lvl1pPr algn="l">
              <a:defRPr sz="1200"/>
            </a:lvl1pPr>
          </a:lstStyle>
          <a:p>
            <a:endParaRPr lang="es-ES" dirty="0"/>
          </a:p>
        </p:txBody>
      </p:sp>
      <p:sp>
        <p:nvSpPr>
          <p:cNvPr id="3" name="2 Marcador de fecha"/>
          <p:cNvSpPr>
            <a:spLocks noGrp="1"/>
          </p:cNvSpPr>
          <p:nvPr>
            <p:ph type="dt" idx="1"/>
          </p:nvPr>
        </p:nvSpPr>
        <p:spPr>
          <a:xfrm>
            <a:off x="3884614" y="0"/>
            <a:ext cx="2971800" cy="457200"/>
          </a:xfrm>
          <a:prstGeom prst="rect">
            <a:avLst/>
          </a:prstGeom>
        </p:spPr>
        <p:txBody>
          <a:bodyPr vert="horz" lIns="91430" tIns="45715" rIns="91430" bIns="45715" rtlCol="0"/>
          <a:lstStyle>
            <a:lvl1pPr algn="r">
              <a:defRPr sz="1200"/>
            </a:lvl1pPr>
          </a:lstStyle>
          <a:p>
            <a:fld id="{6BF9A670-8D01-4016-8E2F-D2C13E77110C}" type="datetimeFigureOut">
              <a:rPr lang="es-ES" smtClean="0"/>
              <a:pPr/>
              <a:t>30/04/2025</a:t>
            </a:fld>
            <a:endParaRPr lang="es-ES"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30" tIns="45715" rIns="91430" bIns="45715" rtlCol="0" anchor="ctr"/>
          <a:lstStyle/>
          <a:p>
            <a:endParaRPr lang="es-ES" dirty="0"/>
          </a:p>
        </p:txBody>
      </p:sp>
      <p:sp>
        <p:nvSpPr>
          <p:cNvPr id="5" name="4 Marcador de notas"/>
          <p:cNvSpPr>
            <a:spLocks noGrp="1"/>
          </p:cNvSpPr>
          <p:nvPr>
            <p:ph type="body" sz="quarter" idx="3"/>
          </p:nvPr>
        </p:nvSpPr>
        <p:spPr>
          <a:xfrm>
            <a:off x="685800" y="4343401"/>
            <a:ext cx="5486400" cy="4114800"/>
          </a:xfrm>
          <a:prstGeom prst="rect">
            <a:avLst/>
          </a:prstGeom>
        </p:spPr>
        <p:txBody>
          <a:bodyPr vert="horz" lIns="91430" tIns="45715" rIns="91430" bIns="45715"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30" tIns="45715" rIns="91430" bIns="45715" rtlCol="0" anchor="b"/>
          <a:lstStyle>
            <a:lvl1pPr algn="l">
              <a:defRPr sz="1200"/>
            </a:lvl1pPr>
          </a:lstStyle>
          <a:p>
            <a:endParaRPr lang="es-ES" dirty="0"/>
          </a:p>
        </p:txBody>
      </p:sp>
      <p:sp>
        <p:nvSpPr>
          <p:cNvPr id="7" name="6 Marcador de número de diapositiva"/>
          <p:cNvSpPr>
            <a:spLocks noGrp="1"/>
          </p:cNvSpPr>
          <p:nvPr>
            <p:ph type="sldNum" sz="quarter" idx="5"/>
          </p:nvPr>
        </p:nvSpPr>
        <p:spPr>
          <a:xfrm>
            <a:off x="3884614" y="8685213"/>
            <a:ext cx="2971800" cy="457200"/>
          </a:xfrm>
          <a:prstGeom prst="rect">
            <a:avLst/>
          </a:prstGeom>
        </p:spPr>
        <p:txBody>
          <a:bodyPr vert="horz" lIns="91430" tIns="45715" rIns="91430" bIns="45715" rtlCol="0" anchor="b"/>
          <a:lstStyle>
            <a:lvl1pPr algn="r">
              <a:defRPr sz="1200"/>
            </a:lvl1pPr>
          </a:lstStyle>
          <a:p>
            <a:fld id="{8BF395BE-BC0E-41D9-9DAB-49626D5F54FC}" type="slidenum">
              <a:rPr lang="es-ES" smtClean="0"/>
              <a:pPr/>
              <a:t>‹Nº›</a:t>
            </a:fld>
            <a:endParaRPr lang="es-ES" dirty="0"/>
          </a:p>
        </p:txBody>
      </p:sp>
    </p:spTree>
    <p:extLst>
      <p:ext uri="{BB962C8B-B14F-4D97-AF65-F5344CB8AC3E}">
        <p14:creationId xmlns="" xmlns:p14="http://schemas.microsoft.com/office/powerpoint/2010/main" val="362485783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dirty="0"/>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1</a:t>
            </a:fld>
            <a:endParaRPr lang="es-E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3</a:t>
            </a:fld>
            <a:endParaRPr lang="es-ES"/>
          </a:p>
        </p:txBody>
      </p:sp>
    </p:spTree>
    <p:extLst>
      <p:ext uri="{BB962C8B-B14F-4D97-AF65-F5344CB8AC3E}">
        <p14:creationId xmlns="" xmlns:p14="http://schemas.microsoft.com/office/powerpoint/2010/main" val="235793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dirty="0"/>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4</a:t>
            </a:fld>
            <a:endParaRPr lang="es-ES"/>
          </a:p>
        </p:txBody>
      </p:sp>
    </p:spTree>
    <p:extLst>
      <p:ext uri="{BB962C8B-B14F-4D97-AF65-F5344CB8AC3E}">
        <p14:creationId xmlns="" xmlns:p14="http://schemas.microsoft.com/office/powerpoint/2010/main" val="2618911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dirty="0"/>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5</a:t>
            </a:fld>
            <a:endParaRPr lang="es-ES"/>
          </a:p>
        </p:txBody>
      </p:sp>
    </p:spTree>
    <p:extLst>
      <p:ext uri="{BB962C8B-B14F-4D97-AF65-F5344CB8AC3E}">
        <p14:creationId xmlns="" xmlns:p14="http://schemas.microsoft.com/office/powerpoint/2010/main" val="3256824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6</a:t>
            </a:fld>
            <a:endParaRPr 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7</a:t>
            </a:fld>
            <a:endParaRPr 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8</a:t>
            </a:fld>
            <a:endParaRPr 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9</a:t>
            </a:fld>
            <a:endParaRPr 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10</a:t>
            </a:fld>
            <a:endParaRPr 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11</a:t>
            </a:fld>
            <a:endParaRPr lang="es-ES"/>
          </a:p>
        </p:txBody>
      </p:sp>
    </p:spTree>
    <p:extLst>
      <p:ext uri="{BB962C8B-B14F-4D97-AF65-F5344CB8AC3E}">
        <p14:creationId xmlns="" xmlns:p14="http://schemas.microsoft.com/office/powerpoint/2010/main" val="30088343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17</a:t>
            </a:fld>
            <a:endParaRPr lang="es-ES"/>
          </a:p>
        </p:txBody>
      </p:sp>
    </p:spTree>
    <p:extLst>
      <p:ext uri="{BB962C8B-B14F-4D97-AF65-F5344CB8AC3E}">
        <p14:creationId xmlns:p14="http://schemas.microsoft.com/office/powerpoint/2010/main" xmlns="" val="3008834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F3EF4538-661B-4C15-910A-1F8C30598B1E}" type="datetime1">
              <a:rPr lang="es-ES" smtClean="0"/>
              <a:pPr/>
              <a:t>30/04/2025</a:t>
            </a:fld>
            <a:endParaRPr lang="es-ES" dirty="0"/>
          </a:p>
        </p:txBody>
      </p:sp>
      <p:sp>
        <p:nvSpPr>
          <p:cNvPr id="5" name="4 Marcador de pie de página"/>
          <p:cNvSpPr>
            <a:spLocks noGrp="1"/>
          </p:cNvSpPr>
          <p:nvPr>
            <p:ph type="ftr" sz="quarter" idx="11"/>
          </p:nvPr>
        </p:nvSpPr>
        <p:spPr/>
        <p:txBody>
          <a:bodyPr/>
          <a:lstStyle/>
          <a:p>
            <a:r>
              <a:rPr lang="es-AR" smtClean="0"/>
              <a:t>CP JAVIER ARRIOLA             </a:t>
            </a:r>
            <a:endParaRPr lang="es-ES"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93856C6A-F61F-4AFC-90A7-0EE140BE605A}" type="datetime1">
              <a:rPr lang="es-ES" smtClean="0"/>
              <a:pPr/>
              <a:t>30/04/2025</a:t>
            </a:fld>
            <a:endParaRPr lang="es-ES" dirty="0"/>
          </a:p>
        </p:txBody>
      </p:sp>
      <p:sp>
        <p:nvSpPr>
          <p:cNvPr id="5" name="4 Marcador de pie de página"/>
          <p:cNvSpPr>
            <a:spLocks noGrp="1"/>
          </p:cNvSpPr>
          <p:nvPr>
            <p:ph type="ftr" sz="quarter" idx="11"/>
          </p:nvPr>
        </p:nvSpPr>
        <p:spPr/>
        <p:txBody>
          <a:bodyPr/>
          <a:lstStyle/>
          <a:p>
            <a:r>
              <a:rPr lang="es-AR" smtClean="0"/>
              <a:t>CP JAVIER ARRIOLA             </a:t>
            </a:r>
            <a:endParaRPr lang="es-ES"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7968C267-BDE0-4325-B1C0-EBAC9C09253E}" type="datetime1">
              <a:rPr lang="es-ES" smtClean="0"/>
              <a:pPr/>
              <a:t>30/04/2025</a:t>
            </a:fld>
            <a:endParaRPr lang="es-ES" dirty="0"/>
          </a:p>
        </p:txBody>
      </p:sp>
      <p:sp>
        <p:nvSpPr>
          <p:cNvPr id="5" name="4 Marcador de pie de página"/>
          <p:cNvSpPr>
            <a:spLocks noGrp="1"/>
          </p:cNvSpPr>
          <p:nvPr>
            <p:ph type="ftr" sz="quarter" idx="11"/>
          </p:nvPr>
        </p:nvSpPr>
        <p:spPr/>
        <p:txBody>
          <a:bodyPr/>
          <a:lstStyle/>
          <a:p>
            <a:r>
              <a:rPr lang="es-AR" smtClean="0"/>
              <a:t>CP JAVIER ARRIOLA             </a:t>
            </a:r>
            <a:endParaRPr lang="es-ES"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E58B5C35-2880-4219-85BA-1E7C3512F2F9}" type="datetime1">
              <a:rPr lang="es-ES" smtClean="0"/>
              <a:pPr/>
              <a:t>30/04/2025</a:t>
            </a:fld>
            <a:endParaRPr lang="es-ES" dirty="0"/>
          </a:p>
        </p:txBody>
      </p:sp>
      <p:sp>
        <p:nvSpPr>
          <p:cNvPr id="6" name="5 Marcador de pie de página"/>
          <p:cNvSpPr>
            <a:spLocks noGrp="1"/>
          </p:cNvSpPr>
          <p:nvPr>
            <p:ph type="ftr" sz="quarter" idx="11"/>
          </p:nvPr>
        </p:nvSpPr>
        <p:spPr/>
        <p:txBody>
          <a:bodyPr/>
          <a:lstStyle/>
          <a:p>
            <a:r>
              <a:rPr lang="es-AR" smtClean="0"/>
              <a:t>CP JAVIER ARRIOLA             </a:t>
            </a:r>
            <a:endParaRPr lang="es-ES" dirty="0"/>
          </a:p>
        </p:txBody>
      </p:sp>
      <p:sp>
        <p:nvSpPr>
          <p:cNvPr id="7" name="6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B6B002FF-0D62-439F-992D-9E0A37460A57}" type="datetime1">
              <a:rPr lang="es-ES" smtClean="0"/>
              <a:pPr/>
              <a:t>30/04/2025</a:t>
            </a:fld>
            <a:endParaRPr lang="es-ES" dirty="0"/>
          </a:p>
        </p:txBody>
      </p:sp>
      <p:sp>
        <p:nvSpPr>
          <p:cNvPr id="8" name="7 Marcador de pie de página"/>
          <p:cNvSpPr>
            <a:spLocks noGrp="1"/>
          </p:cNvSpPr>
          <p:nvPr>
            <p:ph type="ftr" sz="quarter" idx="11"/>
          </p:nvPr>
        </p:nvSpPr>
        <p:spPr/>
        <p:txBody>
          <a:bodyPr/>
          <a:lstStyle/>
          <a:p>
            <a:r>
              <a:rPr lang="es-AR" smtClean="0"/>
              <a:t>CP JAVIER ARRIOLA             </a:t>
            </a:r>
            <a:endParaRPr lang="es-ES" dirty="0"/>
          </a:p>
        </p:txBody>
      </p:sp>
      <p:sp>
        <p:nvSpPr>
          <p:cNvPr id="9" name="8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20481ED4-4ECE-47C2-84B5-08AA7BE35025}" type="datetime1">
              <a:rPr lang="es-ES" smtClean="0"/>
              <a:pPr/>
              <a:t>30/04/2025</a:t>
            </a:fld>
            <a:endParaRPr lang="es-ES" dirty="0"/>
          </a:p>
        </p:txBody>
      </p:sp>
      <p:sp>
        <p:nvSpPr>
          <p:cNvPr id="4" name="3 Marcador de pie de página"/>
          <p:cNvSpPr>
            <a:spLocks noGrp="1"/>
          </p:cNvSpPr>
          <p:nvPr>
            <p:ph type="ftr" sz="quarter" idx="11"/>
          </p:nvPr>
        </p:nvSpPr>
        <p:spPr/>
        <p:txBody>
          <a:bodyPr/>
          <a:lstStyle/>
          <a:p>
            <a:r>
              <a:rPr lang="es-AR" smtClean="0"/>
              <a:t>CP JAVIER ARRIOLA             </a:t>
            </a:r>
            <a:endParaRPr lang="es-ES" dirty="0"/>
          </a:p>
        </p:txBody>
      </p:sp>
      <p:sp>
        <p:nvSpPr>
          <p:cNvPr id="5" name="4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6416553A-6ACC-4AE0-8535-4474AC473D41}" type="datetime1">
              <a:rPr lang="es-ES" smtClean="0"/>
              <a:pPr/>
              <a:t>30/04/2025</a:t>
            </a:fld>
            <a:endParaRPr lang="es-ES" dirty="0"/>
          </a:p>
        </p:txBody>
      </p:sp>
      <p:sp>
        <p:nvSpPr>
          <p:cNvPr id="3" name="2 Marcador de pie de página"/>
          <p:cNvSpPr>
            <a:spLocks noGrp="1"/>
          </p:cNvSpPr>
          <p:nvPr>
            <p:ph type="ftr" sz="quarter" idx="11"/>
          </p:nvPr>
        </p:nvSpPr>
        <p:spPr/>
        <p:txBody>
          <a:bodyPr/>
          <a:lstStyle/>
          <a:p>
            <a:r>
              <a:rPr lang="es-AR" smtClean="0"/>
              <a:t>CP JAVIER ARRIOLA             </a:t>
            </a:r>
            <a:endParaRPr lang="es-ES" dirty="0"/>
          </a:p>
        </p:txBody>
      </p:sp>
      <p:sp>
        <p:nvSpPr>
          <p:cNvPr id="4" name="3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A6776E5F-C7E6-4841-8A27-0DDB62D08769}" type="datetime1">
              <a:rPr lang="es-ES" smtClean="0"/>
              <a:pPr/>
              <a:t>30/04/2025</a:t>
            </a:fld>
            <a:endParaRPr lang="es-ES" dirty="0"/>
          </a:p>
        </p:txBody>
      </p:sp>
      <p:sp>
        <p:nvSpPr>
          <p:cNvPr id="6" name="5 Marcador de pie de página"/>
          <p:cNvSpPr>
            <a:spLocks noGrp="1"/>
          </p:cNvSpPr>
          <p:nvPr>
            <p:ph type="ftr" sz="quarter" idx="11"/>
          </p:nvPr>
        </p:nvSpPr>
        <p:spPr/>
        <p:txBody>
          <a:bodyPr/>
          <a:lstStyle/>
          <a:p>
            <a:r>
              <a:rPr lang="es-AR" smtClean="0"/>
              <a:t>CP JAVIER ARRIOLA             </a:t>
            </a:r>
            <a:endParaRPr lang="es-ES" dirty="0"/>
          </a:p>
        </p:txBody>
      </p:sp>
      <p:sp>
        <p:nvSpPr>
          <p:cNvPr id="7" name="6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A951467C-EA03-40B2-952B-3A200FFBD17E}" type="datetime1">
              <a:rPr lang="es-ES" smtClean="0"/>
              <a:pPr/>
              <a:t>30/04/2025</a:t>
            </a:fld>
            <a:endParaRPr lang="es-ES" dirty="0"/>
          </a:p>
        </p:txBody>
      </p:sp>
      <p:sp>
        <p:nvSpPr>
          <p:cNvPr id="6" name="5 Marcador de pie de página"/>
          <p:cNvSpPr>
            <a:spLocks noGrp="1"/>
          </p:cNvSpPr>
          <p:nvPr>
            <p:ph type="ftr" sz="quarter" idx="11"/>
          </p:nvPr>
        </p:nvSpPr>
        <p:spPr/>
        <p:txBody>
          <a:bodyPr/>
          <a:lstStyle/>
          <a:p>
            <a:r>
              <a:rPr lang="es-AR" smtClean="0"/>
              <a:t>CP JAVIER ARRIOLA             </a:t>
            </a:r>
            <a:endParaRPr lang="es-ES" dirty="0"/>
          </a:p>
        </p:txBody>
      </p:sp>
      <p:sp>
        <p:nvSpPr>
          <p:cNvPr id="7" name="6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C4AB5BF-4421-46A1-BAF3-F80FBE45CBA1}" type="datetime1">
              <a:rPr lang="es-ES" smtClean="0"/>
              <a:pPr/>
              <a:t>30/04/2025</a:t>
            </a:fld>
            <a:endParaRPr lang="es-ES" dirty="0"/>
          </a:p>
        </p:txBody>
      </p:sp>
      <p:sp>
        <p:nvSpPr>
          <p:cNvPr id="5" name="4 Marcador de pie de página"/>
          <p:cNvSpPr>
            <a:spLocks noGrp="1"/>
          </p:cNvSpPr>
          <p:nvPr>
            <p:ph type="ftr" sz="quarter" idx="11"/>
          </p:nvPr>
        </p:nvSpPr>
        <p:spPr/>
        <p:txBody>
          <a:bodyPr/>
          <a:lstStyle/>
          <a:p>
            <a:r>
              <a:rPr lang="es-AR" smtClean="0"/>
              <a:t>CP JAVIER ARRIOLA             </a:t>
            </a:r>
            <a:endParaRPr lang="es-ES"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E6EE2B98-79D4-4D6E-8CD0-A15B12321787}" type="datetime1">
              <a:rPr lang="es-ES" smtClean="0"/>
              <a:pPr/>
              <a:t>30/04/2025</a:t>
            </a:fld>
            <a:endParaRPr lang="es-ES" dirty="0"/>
          </a:p>
        </p:txBody>
      </p:sp>
      <p:sp>
        <p:nvSpPr>
          <p:cNvPr id="5" name="4 Marcador de pie de página"/>
          <p:cNvSpPr>
            <a:spLocks noGrp="1"/>
          </p:cNvSpPr>
          <p:nvPr>
            <p:ph type="ftr" sz="quarter" idx="11"/>
          </p:nvPr>
        </p:nvSpPr>
        <p:spPr/>
        <p:txBody>
          <a:bodyPr/>
          <a:lstStyle/>
          <a:p>
            <a:r>
              <a:rPr lang="es-AR" smtClean="0"/>
              <a:t>CP JAVIER ARRIOLA             </a:t>
            </a:r>
            <a:endParaRPr lang="es-ES"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Solo el título">
    <p:spTree>
      <p:nvGrpSpPr>
        <p:cNvPr id="1" name=""/>
        <p:cNvGrpSpPr/>
        <p:nvPr/>
      </p:nvGrpSpPr>
      <p:grpSpPr>
        <a:xfrm>
          <a:off x="0" y="0"/>
          <a:ext cx="0" cy="0"/>
          <a:chOff x="0" y="0"/>
          <a:chExt cx="0" cy="0"/>
        </a:xfrm>
      </p:grpSpPr>
      <p:pic>
        <p:nvPicPr>
          <p:cNvPr id="37" name="Imagen 36" descr="Una imagen que contiene un accesorio&#10;&#10;Descripción generada automáticamente">
            <a:extLst>
              <a:ext uri="{FF2B5EF4-FFF2-40B4-BE49-F238E27FC236}">
                <a16:creationId xmlns="" xmlns:a16="http://schemas.microsoft.com/office/drawing/2014/main" id="{C36ADBF6-BB82-4096-70C0-7517A47A412F}"/>
              </a:ext>
            </a:extLst>
          </p:cNvPr>
          <p:cNvPicPr>
            <a:picLocks noChangeAspect="1"/>
          </p:cNvPicPr>
          <p:nvPr userDrawn="1"/>
        </p:nvPicPr>
        <p:blipFill>
          <a:blip r:embed="rId2" cstate="print">
            <a:grayscl/>
            <a:extLst>
              <a:ext uri="{BEBA8EAE-BF5A-486C-A8C5-ECC9F3942E4B}">
                <a14:imgProps xmlns="" xmlns:a14="http://schemas.microsoft.com/office/drawing/2010/main">
                  <a14:imgLayer r:embed="">
                    <a14:imgEffect>
                      <a14:colorTemperature colorTemp="4700"/>
                    </a14:imgEffect>
                    <a14:imgEffect>
                      <a14:saturation sat="33000"/>
                    </a14:imgEffect>
                    <a14:imgEffect>
                      <a14:brightnessContrast contrast="40000"/>
                    </a14:imgEffect>
                  </a14:imgLayer>
                </a14:imgProps>
              </a:ext>
              <a:ext uri="{28A0092B-C50C-407E-A947-70E740481C1C}">
                <a14:useLocalDpi xmlns="" xmlns:a14="http://schemas.microsoft.com/office/drawing/2010/main"/>
              </a:ext>
            </a:extLst>
          </a:blip>
          <a:srcRect r="21975" b="1533"/>
          <a:stretch>
            <a:fillRect/>
          </a:stretch>
        </p:blipFill>
        <p:spPr>
          <a:xfrm rot="8325578">
            <a:off x="-1331251" y="-1607470"/>
            <a:ext cx="7925972" cy="8905077"/>
          </a:xfrm>
          <a:custGeom>
            <a:avLst/>
            <a:gdLst>
              <a:gd name="connsiteX0" fmla="*/ 6047036 w 10567962"/>
              <a:gd name="connsiteY0" fmla="*/ 8905077 h 8905077"/>
              <a:gd name="connsiteX1" fmla="*/ 0 w 10567962"/>
              <a:gd name="connsiteY1" fmla="*/ 3603767 h 8905077"/>
              <a:gd name="connsiteX2" fmla="*/ 0 w 10567962"/>
              <a:gd name="connsiteY2" fmla="*/ 0 h 8905077"/>
              <a:gd name="connsiteX3" fmla="*/ 6292508 w 10567962"/>
              <a:gd name="connsiteY3" fmla="*/ 0 h 8905077"/>
              <a:gd name="connsiteX4" fmla="*/ 10567962 w 10567962"/>
              <a:gd name="connsiteY4" fmla="*/ 3748201 h 890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7962" h="8905077">
                <a:moveTo>
                  <a:pt x="6047036" y="8905077"/>
                </a:moveTo>
                <a:lnTo>
                  <a:pt x="0" y="3603767"/>
                </a:lnTo>
                <a:lnTo>
                  <a:pt x="0" y="0"/>
                </a:lnTo>
                <a:lnTo>
                  <a:pt x="6292508" y="0"/>
                </a:lnTo>
                <a:lnTo>
                  <a:pt x="10567962" y="3748201"/>
                </a:lnTo>
                <a:close/>
              </a:path>
            </a:pathLst>
          </a:custGeom>
        </p:spPr>
      </p:pic>
      <p:sp>
        <p:nvSpPr>
          <p:cNvPr id="14" name="Forma libre 13">
            <a:extLst>
              <a:ext uri="{FF2B5EF4-FFF2-40B4-BE49-F238E27FC236}">
                <a16:creationId xmlns="" xmlns:a16="http://schemas.microsoft.com/office/drawing/2014/main" id="{FA127B08-9EC5-3FDF-B7CC-DF3587255E18}"/>
              </a:ext>
            </a:extLst>
          </p:cNvPr>
          <p:cNvSpPr/>
          <p:nvPr userDrawn="1"/>
        </p:nvSpPr>
        <p:spPr>
          <a:xfrm>
            <a:off x="693870" y="4144753"/>
            <a:ext cx="3591242" cy="2713249"/>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8985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solidFill>
                <a:schemeClr val="accent1"/>
              </a:solidFill>
            </a:endParaRPr>
          </a:p>
        </p:txBody>
      </p:sp>
      <p:sp>
        <p:nvSpPr>
          <p:cNvPr id="10" name="Título 1">
            <a:extLst>
              <a:ext uri="{FF2B5EF4-FFF2-40B4-BE49-F238E27FC236}">
                <a16:creationId xmlns="" xmlns:a16="http://schemas.microsoft.com/office/drawing/2014/main" id="{0651D38D-DD64-4914-C669-30AA47A5AF3A}"/>
              </a:ext>
            </a:extLst>
          </p:cNvPr>
          <p:cNvSpPr>
            <a:spLocks noGrp="1"/>
          </p:cNvSpPr>
          <p:nvPr>
            <p:ph type="title" hasCustomPrompt="1"/>
          </p:nvPr>
        </p:nvSpPr>
        <p:spPr>
          <a:xfrm>
            <a:off x="4060084" y="2043946"/>
            <a:ext cx="4525662" cy="1439604"/>
          </a:xfrm>
        </p:spPr>
        <p:txBody>
          <a:bodyPr lIns="0" tIns="0" rIns="0" bIns="0" rtlCol="0" anchor="b">
            <a:noAutofit/>
          </a:bodyPr>
          <a:lstStyle>
            <a:lvl1pPr>
              <a:defRPr lang="es-ES" sz="3600" cap="all" baseline="0"/>
            </a:lvl1pPr>
          </a:lstStyle>
          <a:p>
            <a:pPr rtl="0"/>
            <a:r>
              <a:rPr lang="es-ES"/>
              <a:t>HAGA CLIC PARA EDITAR EL ESTILO DEL TÍTULO DEL PATRÓN</a:t>
            </a:r>
          </a:p>
        </p:txBody>
      </p:sp>
      <p:sp>
        <p:nvSpPr>
          <p:cNvPr id="12" name="Subtítulo 2">
            <a:extLst>
              <a:ext uri="{FF2B5EF4-FFF2-40B4-BE49-F238E27FC236}">
                <a16:creationId xmlns="" xmlns:a16="http://schemas.microsoft.com/office/drawing/2014/main" id="{5A8DA7F4-A65E-7F16-9966-719CC1CE28D2}"/>
              </a:ext>
            </a:extLst>
          </p:cNvPr>
          <p:cNvSpPr>
            <a:spLocks noGrp="1"/>
          </p:cNvSpPr>
          <p:nvPr>
            <p:ph type="subTitle" idx="1" hasCustomPrompt="1"/>
          </p:nvPr>
        </p:nvSpPr>
        <p:spPr>
          <a:xfrm>
            <a:off x="4060084" y="3469263"/>
            <a:ext cx="4525662" cy="1085641"/>
          </a:xfrm>
        </p:spPr>
        <p:txBody>
          <a:bodyPr lIns="0" tIns="0" rIns="0" bIns="0" rtlCol="0">
            <a:noAutofit/>
          </a:bodyPr>
          <a:lstStyle>
            <a:lvl1pPr marL="0" indent="0" algn="l">
              <a:buNone/>
              <a:defRPr lang="es-ES" sz="2000" cap="all" spc="0" baseline="0"/>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rtl="0"/>
            <a:r>
              <a:rPr lang="es-ES"/>
              <a:t>HAGA CLIC PARA EDITAR EL ESTILO DE SUBTÍTULO DEL PATRÓN</a:t>
            </a:r>
          </a:p>
        </p:txBody>
      </p:sp>
      <p:sp>
        <p:nvSpPr>
          <p:cNvPr id="2" name="Marcador de pie de página 1">
            <a:extLst>
              <a:ext uri="{FF2B5EF4-FFF2-40B4-BE49-F238E27FC236}">
                <a16:creationId xmlns="" xmlns:a16="http://schemas.microsoft.com/office/drawing/2014/main" id="{E21B6B04-886C-2862-3BD4-97071FCAD7CA}"/>
              </a:ext>
            </a:extLst>
          </p:cNvPr>
          <p:cNvSpPr>
            <a:spLocks noGrp="1"/>
          </p:cNvSpPr>
          <p:nvPr>
            <p:ph type="ftr" sz="quarter" idx="10"/>
          </p:nvPr>
        </p:nvSpPr>
        <p:spPr/>
        <p:txBody>
          <a:bodyPr rtlCol="0"/>
          <a:lstStyle>
            <a:defPPr>
              <a:defRPr lang="es-ES"/>
            </a:defPPr>
          </a:lstStyle>
          <a:p>
            <a:pPr rtl="0"/>
            <a:r>
              <a:rPr lang="es-ES"/>
              <a:t>Título de la presentación</a:t>
            </a:r>
          </a:p>
        </p:txBody>
      </p:sp>
      <p:sp>
        <p:nvSpPr>
          <p:cNvPr id="3" name="Marcador de número de diapositiva 2">
            <a:extLst>
              <a:ext uri="{FF2B5EF4-FFF2-40B4-BE49-F238E27FC236}">
                <a16:creationId xmlns="" xmlns:a16="http://schemas.microsoft.com/office/drawing/2014/main" id="{AE0F1657-AAC1-699F-C320-E5260E380642}"/>
              </a:ext>
            </a:extLst>
          </p:cNvPr>
          <p:cNvSpPr>
            <a:spLocks noGrp="1"/>
          </p:cNvSpPr>
          <p:nvPr>
            <p:ph type="sldNum" sz="quarter" idx="11"/>
          </p:nvPr>
        </p:nvSpPr>
        <p:spPr/>
        <p:txBody>
          <a:bodyPr rtlCol="0"/>
          <a:lstStyle>
            <a:defPPr>
              <a:defRPr lang="es-ES"/>
            </a:defPPr>
          </a:lstStyle>
          <a:p>
            <a:pPr rtl="0"/>
            <a:fld id="{09A01C0A-2BB6-49E7-91A3-DCB9F9F59583}" type="slidenum">
              <a:rPr lang="es-ES" smtClean="0"/>
              <a:pPr rtl="0"/>
              <a:t>‹Nº›</a:t>
            </a:fld>
            <a:endParaRPr lang="es-ES" dirty="0"/>
          </a:p>
        </p:txBody>
      </p:sp>
    </p:spTree>
    <p:extLst>
      <p:ext uri="{BB962C8B-B14F-4D97-AF65-F5344CB8AC3E}">
        <p14:creationId xmlns="" xmlns:p14="http://schemas.microsoft.com/office/powerpoint/2010/main" val="3077806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B21FA5-F74F-42D5-BCA8-B3ACC5C4CB83}" type="datetime1">
              <a:rPr lang="es-ES" smtClean="0"/>
              <a:pPr/>
              <a:t>30/04/2025</a:t>
            </a:fld>
            <a:endParaRPr lang="es-ES"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AR" smtClean="0"/>
              <a:t>CP JAVIER ARRIOLA             </a:t>
            </a:r>
            <a:endParaRPr lang="es-ES"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905A6E-3428-42CC-8A3B-D0D77FE4EB92}" type="slidenum">
              <a:rPr lang="es-ES" smtClean="0"/>
              <a:pPr/>
              <a:t>‹Nº›</a:t>
            </a:fld>
            <a:endParaRPr lang="es-ES" dirty="0"/>
          </a:p>
        </p:txBody>
      </p:sp>
    </p:spTree>
  </p:cSld>
  <p:clrMap bg1="lt1" tx1="dk1" bg2="lt2" tx2="dk2" accent1="accent1" accent2="accent2" accent3="accent3" accent4="accent4" accent5="accent5" accent6="accent6" hlink="hlink" folHlink="folHlink"/>
  <p:sldLayoutIdLst>
    <p:sldLayoutId id="2147484321" r:id="rId1"/>
    <p:sldLayoutId id="2147484322" r:id="rId2"/>
    <p:sldLayoutId id="2147484323" r:id="rId3"/>
    <p:sldLayoutId id="2147484324" r:id="rId4"/>
    <p:sldLayoutId id="2147484325" r:id="rId5"/>
    <p:sldLayoutId id="2147484326" r:id="rId6"/>
    <p:sldLayoutId id="2147484327" r:id="rId7"/>
    <p:sldLayoutId id="2147484328" r:id="rId8"/>
    <p:sldLayoutId id="2147484329" r:id="rId9"/>
    <p:sldLayoutId id="2147484330" r:id="rId10"/>
    <p:sldLayoutId id="2147484331" r:id="rId11"/>
    <p:sldLayoutId id="2147484335"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microsoft.com/office/2007/relationships/diagramDrawing" Target="../diagrams/drawing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Layout" Target="../diagrams/layout4.xml"/><Relationship Id="rId18" Type="http://schemas.microsoft.com/office/2007/relationships/diagramDrawing" Target="../diagrams/drawing4.xml"/><Relationship Id="rId3" Type="http://schemas.openxmlformats.org/officeDocument/2006/relationships/diagramData" Target="../diagrams/data2.xml"/><Relationship Id="rId7" Type="http://schemas.openxmlformats.org/officeDocument/2006/relationships/image" Target="../media/image4.png"/><Relationship Id="rId12" Type="http://schemas.openxmlformats.org/officeDocument/2006/relationships/diagramData" Target="../diagrams/data4.xml"/><Relationship Id="rId2" Type="http://schemas.openxmlformats.org/officeDocument/2006/relationships/notesSlide" Target="../notesSlides/notesSlide2.xml"/><Relationship Id="rId16" Type="http://schemas.microsoft.com/office/2007/relationships/diagramDrawing" Target="../diagrams/drawing3.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5" Type="http://schemas.openxmlformats.org/officeDocument/2006/relationships/diagramColors" Target="../diagrams/colors4.xml"/><Relationship Id="rId10" Type="http://schemas.openxmlformats.org/officeDocument/2006/relationships/diagramQuickStyle" Target="../diagrams/quickStyle3.xml"/><Relationship Id="rId19" Type="http://schemas.microsoft.com/office/2007/relationships/diagramDrawing" Target="../diagrams/drawing2.xml"/><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QuickStyle" Target="../diagrams/quickStyle4.xml"/></Relationships>
</file>

<file path=ppt/slides/_rels/slide4.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4.png"/><Relationship Id="rId7" Type="http://schemas.openxmlformats.org/officeDocument/2006/relationships/diagramColors" Target="../diagrams/colors5.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5.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diagramData" Target="../diagrams/data6.xml"/><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6.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4.png"/><Relationship Id="rId7" Type="http://schemas.openxmlformats.org/officeDocument/2006/relationships/diagramColors" Target="../diagrams/colors7.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7.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4.png"/><Relationship Id="rId7" Type="http://schemas.openxmlformats.org/officeDocument/2006/relationships/diagramColors" Target="../diagrams/colors8.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8066" name="Picture 2" descr="https://ss-static-01.esmsv.com/id/101689/galeriaimagenes/obtenerimagen/?id=215&amp;tipoEscala=stretch&amp;width=1050&amp;height=100"/>
          <p:cNvPicPr>
            <a:picLocks noChangeAspect="1" noChangeArrowheads="1"/>
          </p:cNvPicPr>
          <p:nvPr/>
        </p:nvPicPr>
        <p:blipFill>
          <a:blip r:embed="rId3" cstate="print"/>
          <a:srcRect/>
          <a:stretch>
            <a:fillRect/>
          </a:stretch>
        </p:blipFill>
        <p:spPr bwMode="auto">
          <a:xfrm>
            <a:off x="4143373" y="214290"/>
            <a:ext cx="4572032" cy="603566"/>
          </a:xfrm>
          <a:prstGeom prst="rect">
            <a:avLst/>
          </a:prstGeom>
          <a:noFill/>
        </p:spPr>
      </p:pic>
      <p:sp>
        <p:nvSpPr>
          <p:cNvPr id="2" name="1 Título"/>
          <p:cNvSpPr>
            <a:spLocks noGrp="1"/>
          </p:cNvSpPr>
          <p:nvPr>
            <p:ph type="title"/>
          </p:nvPr>
        </p:nvSpPr>
        <p:spPr>
          <a:xfrm>
            <a:off x="3000364" y="2060834"/>
            <a:ext cx="6143636" cy="1439604"/>
          </a:xfrm>
          <a:noFill/>
        </p:spPr>
        <p:txBody>
          <a:bodyPr>
            <a:noAutofit/>
          </a:bodyPr>
          <a:lstStyle/>
          <a:p>
            <a:pPr algn="ctr"/>
            <a:r>
              <a:rPr lang="es-AR" sz="3000" b="1" i="1" dirty="0" smtClean="0">
                <a:solidFill>
                  <a:srgbClr val="FF0000"/>
                </a:solidFill>
                <a:latin typeface="Arial Black" pitchFamily="34" charset="0"/>
              </a:rPr>
              <a:t>“Régimen Tributario </a:t>
            </a:r>
            <a:br>
              <a:rPr lang="es-AR" sz="3000" b="1" i="1" dirty="0" smtClean="0">
                <a:solidFill>
                  <a:srgbClr val="FF0000"/>
                </a:solidFill>
                <a:latin typeface="Arial Black" pitchFamily="34" charset="0"/>
              </a:rPr>
            </a:br>
            <a:r>
              <a:rPr lang="es-AR" sz="3000" b="1" i="1" dirty="0" smtClean="0">
                <a:solidFill>
                  <a:srgbClr val="FF0000"/>
                </a:solidFill>
                <a:latin typeface="Arial Black" pitchFamily="34" charset="0"/>
              </a:rPr>
              <a:t>de </a:t>
            </a:r>
            <a:br>
              <a:rPr lang="es-AR" sz="3000" b="1" i="1" dirty="0" smtClean="0">
                <a:solidFill>
                  <a:srgbClr val="FF0000"/>
                </a:solidFill>
                <a:latin typeface="Arial Black" pitchFamily="34" charset="0"/>
              </a:rPr>
            </a:br>
            <a:r>
              <a:rPr lang="es-AR" sz="3000" b="1" i="1" dirty="0" smtClean="0">
                <a:solidFill>
                  <a:srgbClr val="FF0000"/>
                </a:solidFill>
                <a:latin typeface="Arial Black" pitchFamily="34" charset="0"/>
              </a:rPr>
              <a:t>Entidades Mutuales”</a:t>
            </a:r>
            <a:endParaRPr lang="es-ES" sz="3000" b="1" i="1" dirty="0">
              <a:solidFill>
                <a:srgbClr val="FF0000"/>
              </a:solidFill>
              <a:latin typeface="Arial Black" pitchFamily="34" charset="0"/>
            </a:endParaRPr>
          </a:p>
        </p:txBody>
      </p:sp>
      <p:sp>
        <p:nvSpPr>
          <p:cNvPr id="3" name="2 Subtítulo"/>
          <p:cNvSpPr>
            <a:spLocks noGrp="1"/>
          </p:cNvSpPr>
          <p:nvPr>
            <p:ph type="subTitle" idx="1"/>
          </p:nvPr>
        </p:nvSpPr>
        <p:spPr>
          <a:xfrm>
            <a:off x="6357918" y="5929330"/>
            <a:ext cx="2786082" cy="642942"/>
          </a:xfrm>
        </p:spPr>
        <p:txBody>
          <a:bodyPr>
            <a:normAutofit/>
          </a:bodyPr>
          <a:lstStyle/>
          <a:p>
            <a:endParaRPr lang="es-AR" dirty="0" smtClean="0"/>
          </a:p>
          <a:p>
            <a:pPr>
              <a:buNone/>
            </a:pPr>
            <a:r>
              <a:rPr lang="es-AR" sz="1700" b="1" dirty="0" smtClean="0"/>
              <a:t>MAYO, 2025</a:t>
            </a:r>
            <a:endParaRPr lang="es-ES" sz="1700" b="1" dirty="0"/>
          </a:p>
        </p:txBody>
      </p:sp>
      <p:sp>
        <p:nvSpPr>
          <p:cNvPr id="8" name="7 Marcador de número de diapositiva"/>
          <p:cNvSpPr>
            <a:spLocks noGrp="1"/>
          </p:cNvSpPr>
          <p:nvPr>
            <p:ph type="sldNum" sz="quarter" idx="11"/>
          </p:nvPr>
        </p:nvSpPr>
        <p:spPr/>
        <p:txBody>
          <a:bodyPr/>
          <a:lstStyle/>
          <a:p>
            <a:fld id="{47905A6E-3428-42CC-8A3B-D0D77FE4EB92}" type="slidenum">
              <a:rPr lang="es-ES" smtClean="0"/>
              <a:pPr/>
              <a:t>1</a:t>
            </a:fld>
            <a:endParaRPr lang="es-ES" dirty="0"/>
          </a:p>
        </p:txBody>
      </p:sp>
      <p:sp>
        <p:nvSpPr>
          <p:cNvPr id="6" name="2 Subtítulo"/>
          <p:cNvSpPr txBox="1">
            <a:spLocks/>
          </p:cNvSpPr>
          <p:nvPr/>
        </p:nvSpPr>
        <p:spPr>
          <a:xfrm>
            <a:off x="5357818" y="5214950"/>
            <a:ext cx="2928958" cy="500066"/>
          </a:xfrm>
          <a:prstGeom prst="rect">
            <a:avLst/>
          </a:prstGeom>
        </p:spPr>
        <p:txBody>
          <a:bodyPr vert="horz" lIns="182880" tIns="0">
            <a:noAutofit/>
          </a:bodyPr>
          <a:lstStyle/>
          <a:p>
            <a:pPr marL="36576" marR="0" lvl="0" indent="0" defTabSz="914400" rtl="0" eaLnBrk="1" fontAlgn="auto" latinLnBrk="0" hangingPunct="1">
              <a:lnSpc>
                <a:spcPct val="100000"/>
              </a:lnSpc>
              <a:spcBef>
                <a:spcPts val="0"/>
              </a:spcBef>
              <a:spcAft>
                <a:spcPts val="0"/>
              </a:spcAft>
              <a:buClr>
                <a:schemeClr val="accent1"/>
              </a:buClr>
              <a:buSzPct val="80000"/>
              <a:buFont typeface="Wingdings 2"/>
              <a:buNone/>
              <a:tabLst/>
              <a:defRPr/>
            </a:pPr>
            <a:r>
              <a:rPr kumimoji="0" lang="es-AR" sz="2500" b="1" i="0" u="none" strike="noStrike" kern="1200" cap="none" spc="0" normalizeH="0" baseline="0" noProof="0" dirty="0" smtClean="0">
                <a:ln>
                  <a:noFill/>
                </a:ln>
                <a:effectLst/>
                <a:uLnTx/>
                <a:uFillTx/>
                <a:latin typeface="+mn-lt"/>
                <a:ea typeface="+mn-ea"/>
                <a:cs typeface="+mn-cs"/>
              </a:rPr>
              <a:t>CP Javier Arriola</a:t>
            </a:r>
            <a:endParaRPr kumimoji="0" lang="es-ES" sz="2500" b="1" i="0" u="none" strike="noStrike" kern="1200" cap="none" spc="0" normalizeH="0" baseline="0" noProof="0" dirty="0">
              <a:ln>
                <a:noFill/>
              </a:ln>
              <a:effectLst/>
              <a:uLnTx/>
              <a:uFillTx/>
              <a:latin typeface="+mn-lt"/>
              <a:ea typeface="+mn-ea"/>
              <a:cs typeface="+mn-cs"/>
            </a:endParaRPr>
          </a:p>
        </p:txBody>
      </p:sp>
      <p:sp>
        <p:nvSpPr>
          <p:cNvPr id="9" name="Google Shape;163;p38"/>
          <p:cNvSpPr txBox="1">
            <a:spLocks/>
          </p:cNvSpPr>
          <p:nvPr/>
        </p:nvSpPr>
        <p:spPr>
          <a:xfrm>
            <a:off x="3357554" y="4035870"/>
            <a:ext cx="5786478" cy="464700"/>
          </a:xfrm>
          <a:prstGeom prst="rect">
            <a:avLst/>
          </a:prstGeom>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chemeClr val="accent1"/>
              </a:buClr>
              <a:buSzPct val="80000"/>
              <a:buFont typeface="Wingdings 2"/>
              <a:buNone/>
              <a:tabLst/>
              <a:defRPr/>
            </a:pPr>
            <a:r>
              <a:rPr kumimoji="0" lang="es-AR" sz="3000" b="0" i="1" u="none" strike="noStrike" kern="1200" cap="none" spc="0" normalizeH="0" baseline="0" noProof="0" dirty="0" smtClean="0">
                <a:ln>
                  <a:noFill/>
                </a:ln>
                <a:solidFill>
                  <a:schemeClr val="tx1"/>
                </a:solidFill>
                <a:effectLst/>
                <a:uLnTx/>
                <a:uFillTx/>
                <a:latin typeface="+mn-lt"/>
                <a:ea typeface="+mn-ea"/>
                <a:cs typeface="+mn-cs"/>
              </a:rPr>
              <a:t>“La esencia está en la naturaleza”</a:t>
            </a:r>
            <a:endParaRPr kumimoji="0" lang="es-AR" sz="3000" b="0" i="1" u="none" strike="noStrike" kern="1200" cap="none" spc="0" normalizeH="0" baseline="0" noProof="0" dirty="0">
              <a:ln>
                <a:noFill/>
              </a:ln>
              <a:solidFill>
                <a:schemeClr val="tx1"/>
              </a:solidFill>
              <a:effectLst/>
              <a:uLnTx/>
              <a:uFillTx/>
              <a:latin typeface="+mn-lt"/>
              <a:ea typeface="+mn-ea"/>
              <a:cs typeface="+mn-cs"/>
            </a:endParaRPr>
          </a:p>
        </p:txBody>
      </p:sp>
      <p:pic>
        <p:nvPicPr>
          <p:cNvPr id="10" name="Picture 2" descr="IECAM"/>
          <p:cNvPicPr>
            <a:picLocks noChangeAspect="1" noChangeArrowheads="1"/>
          </p:cNvPicPr>
          <p:nvPr/>
        </p:nvPicPr>
        <p:blipFill>
          <a:blip r:embed="rId4" cstate="print"/>
          <a:srcRect/>
          <a:stretch>
            <a:fillRect/>
          </a:stretch>
        </p:blipFill>
        <p:spPr bwMode="auto">
          <a:xfrm>
            <a:off x="5357818" y="897416"/>
            <a:ext cx="2386029" cy="745634"/>
          </a:xfrm>
          <a:prstGeom prst="rect">
            <a:avLst/>
          </a:prstGeom>
          <a:noFill/>
        </p:spPr>
      </p:pic>
    </p:spTree>
  </p:cSld>
  <p:clrMapOvr>
    <a:masterClrMapping/>
  </p:clrMapOvr>
  <p:transition>
    <p:pull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47905A6E-3428-42CC-8A3B-D0D77FE4EB92}" type="slidenum">
              <a:rPr lang="es-ES" smtClean="0"/>
              <a:pPr/>
              <a:t>2</a:t>
            </a:fld>
            <a:endParaRPr lang="es-ES" dirty="0"/>
          </a:p>
        </p:txBody>
      </p:sp>
      <p:graphicFrame>
        <p:nvGraphicFramePr>
          <p:cNvPr id="5" name="4 Diagrama"/>
          <p:cNvGraphicFramePr/>
          <p:nvPr>
            <p:extLst>
              <p:ext uri="{D42A27DB-BD31-4B8C-83A1-F6EECF244321}">
                <p14:modId xmlns="" xmlns:p14="http://schemas.microsoft.com/office/powerpoint/2010/main" val="2670157468"/>
              </p:ext>
            </p:extLst>
          </p:nvPr>
        </p:nvGraphicFramePr>
        <p:xfrm>
          <a:off x="1043608" y="1721172"/>
          <a:ext cx="6840760" cy="44644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5 CuadroTexto"/>
          <p:cNvSpPr txBox="1"/>
          <p:nvPr/>
        </p:nvSpPr>
        <p:spPr>
          <a:xfrm>
            <a:off x="1403648" y="1916832"/>
            <a:ext cx="2736304" cy="1384995"/>
          </a:xfrm>
          <a:prstGeom prst="rect">
            <a:avLst/>
          </a:prstGeom>
          <a:noFill/>
        </p:spPr>
        <p:txBody>
          <a:bodyPr wrap="square" rtlCol="0">
            <a:spAutoFit/>
          </a:bodyPr>
          <a:lstStyle/>
          <a:p>
            <a:pPr algn="ctr"/>
            <a:r>
              <a:rPr lang="es-AR" sz="2800" b="1" dirty="0" smtClean="0"/>
              <a:t>Normativa </a:t>
            </a:r>
          </a:p>
          <a:p>
            <a:pPr algn="ctr"/>
            <a:r>
              <a:rPr lang="es-AR" sz="2800" b="1" dirty="0" smtClean="0"/>
              <a:t>y Jurisprudencia </a:t>
            </a:r>
            <a:endParaRPr lang="es-ES" sz="2800" b="1" dirty="0"/>
          </a:p>
        </p:txBody>
      </p:sp>
      <p:sp>
        <p:nvSpPr>
          <p:cNvPr id="7" name="6 CuadroTexto"/>
          <p:cNvSpPr txBox="1"/>
          <p:nvPr/>
        </p:nvSpPr>
        <p:spPr>
          <a:xfrm>
            <a:off x="5436096" y="2401724"/>
            <a:ext cx="1728192" cy="523220"/>
          </a:xfrm>
          <a:prstGeom prst="rect">
            <a:avLst/>
          </a:prstGeom>
          <a:noFill/>
        </p:spPr>
        <p:txBody>
          <a:bodyPr wrap="square" rtlCol="0">
            <a:spAutoFit/>
          </a:bodyPr>
          <a:lstStyle/>
          <a:p>
            <a:r>
              <a:rPr lang="es-AR" sz="2800" b="1" dirty="0" smtClean="0"/>
              <a:t>Tributos</a:t>
            </a:r>
            <a:endParaRPr lang="es-ES" sz="2800" b="1" dirty="0"/>
          </a:p>
        </p:txBody>
      </p:sp>
      <p:sp>
        <p:nvSpPr>
          <p:cNvPr id="8" name="7 CuadroTexto"/>
          <p:cNvSpPr txBox="1"/>
          <p:nvPr/>
        </p:nvSpPr>
        <p:spPr>
          <a:xfrm>
            <a:off x="1403648" y="4941168"/>
            <a:ext cx="2664296" cy="523220"/>
          </a:xfrm>
          <a:prstGeom prst="rect">
            <a:avLst/>
          </a:prstGeom>
          <a:noFill/>
        </p:spPr>
        <p:txBody>
          <a:bodyPr wrap="square" rtlCol="0">
            <a:spAutoFit/>
          </a:bodyPr>
          <a:lstStyle/>
          <a:p>
            <a:r>
              <a:rPr lang="es-AR" sz="2800" b="1" dirty="0" smtClean="0"/>
              <a:t>Procedimiento</a:t>
            </a:r>
            <a:endParaRPr lang="es-ES" sz="2800" b="1" dirty="0"/>
          </a:p>
        </p:txBody>
      </p:sp>
      <p:sp>
        <p:nvSpPr>
          <p:cNvPr id="9" name="8 CuadroTexto"/>
          <p:cNvSpPr txBox="1"/>
          <p:nvPr/>
        </p:nvSpPr>
        <p:spPr>
          <a:xfrm>
            <a:off x="4404320" y="4922004"/>
            <a:ext cx="3480048" cy="523220"/>
          </a:xfrm>
          <a:prstGeom prst="rect">
            <a:avLst/>
          </a:prstGeom>
          <a:noFill/>
        </p:spPr>
        <p:txBody>
          <a:bodyPr wrap="square" rtlCol="0">
            <a:spAutoFit/>
          </a:bodyPr>
          <a:lstStyle/>
          <a:p>
            <a:r>
              <a:rPr lang="es-AR" sz="2800" b="1" dirty="0" smtClean="0"/>
              <a:t>Responsabilidades</a:t>
            </a:r>
            <a:endParaRPr lang="es-ES" sz="2800" b="1" dirty="0"/>
          </a:p>
        </p:txBody>
      </p:sp>
      <p:sp>
        <p:nvSpPr>
          <p:cNvPr id="10" name="9 CuadroTexto"/>
          <p:cNvSpPr txBox="1"/>
          <p:nvPr/>
        </p:nvSpPr>
        <p:spPr>
          <a:xfrm>
            <a:off x="285720" y="214290"/>
            <a:ext cx="8064896" cy="954107"/>
          </a:xfrm>
          <a:prstGeom prst="rect">
            <a:avLst/>
          </a:prstGeom>
          <a:noFill/>
        </p:spPr>
        <p:txBody>
          <a:bodyPr wrap="square" rtlCol="0">
            <a:spAutoFit/>
          </a:bodyPr>
          <a:lstStyle/>
          <a:p>
            <a:pPr algn="ctr"/>
            <a:r>
              <a:rPr lang="es-AR" sz="2800" b="1" dirty="0" smtClean="0">
                <a:solidFill>
                  <a:srgbClr val="FF0000"/>
                </a:solidFill>
              </a:rPr>
              <a:t>¿Qué debe tener en cuenta un Directivo desde el punto de vista tributario de la Entidad?</a:t>
            </a:r>
            <a:endParaRPr lang="es-ES" sz="2800" b="1" dirty="0">
              <a:solidFill>
                <a:srgbClr val="FF0000"/>
              </a:solidFill>
            </a:endParaRPr>
          </a:p>
        </p:txBody>
      </p:sp>
      <p:pic>
        <p:nvPicPr>
          <p:cNvPr id="11"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6" cstate="print"/>
          <a:srcRect/>
          <a:stretch>
            <a:fillRect/>
          </a:stretch>
        </p:blipFill>
        <p:spPr bwMode="auto">
          <a:xfrm>
            <a:off x="107504" y="6357958"/>
            <a:ext cx="1500198" cy="51263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Marcador de contenido 1"/>
          <p:cNvGraphicFramePr>
            <a:graphicFrameLocks noGrp="1"/>
          </p:cNvGraphicFramePr>
          <p:nvPr>
            <p:ph idx="1"/>
            <p:extLst>
              <p:ext uri="{D42A27DB-BD31-4B8C-83A1-F6EECF244321}">
                <p14:modId xmlns="" xmlns:p14="http://schemas.microsoft.com/office/powerpoint/2010/main" val="2184136635"/>
              </p:ext>
            </p:extLst>
          </p:nvPr>
        </p:nvGraphicFramePr>
        <p:xfrm>
          <a:off x="107504" y="908720"/>
          <a:ext cx="8928992" cy="51837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6 Marcador de número de diapositiva"/>
          <p:cNvSpPr>
            <a:spLocks noGrp="1"/>
          </p:cNvSpPr>
          <p:nvPr>
            <p:ph type="sldNum" sz="quarter" idx="12"/>
          </p:nvPr>
        </p:nvSpPr>
        <p:spPr/>
        <p:txBody>
          <a:bodyPr/>
          <a:lstStyle/>
          <a:p>
            <a:fld id="{47905A6E-3428-42CC-8A3B-D0D77FE4EB92}" type="slidenum">
              <a:rPr lang="es-ES" smtClean="0"/>
              <a:pPr/>
              <a:t>3</a:t>
            </a:fld>
            <a:endParaRPr lang="es-ES" dirty="0"/>
          </a:p>
        </p:txBody>
      </p:sp>
      <p:sp>
        <p:nvSpPr>
          <p:cNvPr id="5" name="4 CuadroTexto"/>
          <p:cNvSpPr txBox="1"/>
          <p:nvPr/>
        </p:nvSpPr>
        <p:spPr>
          <a:xfrm>
            <a:off x="1500166" y="116632"/>
            <a:ext cx="6264696" cy="646331"/>
          </a:xfrm>
          <a:prstGeom prst="rect">
            <a:avLst/>
          </a:prstGeom>
          <a:noFill/>
        </p:spPr>
        <p:txBody>
          <a:bodyPr wrap="square" rtlCol="0">
            <a:spAutoFit/>
          </a:bodyPr>
          <a:lstStyle/>
          <a:p>
            <a:pPr algn="ctr"/>
            <a:r>
              <a:rPr lang="es-AR" sz="3600" b="1" dirty="0" smtClean="0">
                <a:solidFill>
                  <a:srgbClr val="FF0000"/>
                </a:solidFill>
              </a:rPr>
              <a:t>Marco Normativo</a:t>
            </a:r>
            <a:endParaRPr lang="es-ES" sz="3600" b="1" dirty="0">
              <a:solidFill>
                <a:srgbClr val="FF0000"/>
              </a:solidFill>
            </a:endParaRPr>
          </a:p>
        </p:txBody>
      </p:sp>
      <p:pic>
        <p:nvPicPr>
          <p:cNvPr id="6"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7" cstate="print"/>
          <a:srcRect/>
          <a:stretch>
            <a:fillRect/>
          </a:stretch>
        </p:blipFill>
        <p:spPr bwMode="auto">
          <a:xfrm>
            <a:off x="285720" y="6309320"/>
            <a:ext cx="1500198" cy="512630"/>
          </a:xfrm>
          <a:prstGeom prst="rect">
            <a:avLst/>
          </a:prstGeom>
          <a:noFill/>
        </p:spPr>
      </p:pic>
      <p:sp>
        <p:nvSpPr>
          <p:cNvPr id="4" name="CuadroTexto 3"/>
          <p:cNvSpPr txBox="1"/>
          <p:nvPr/>
        </p:nvSpPr>
        <p:spPr>
          <a:xfrm>
            <a:off x="3131840" y="3284984"/>
            <a:ext cx="2736304" cy="369332"/>
          </a:xfrm>
          <a:prstGeom prst="rect">
            <a:avLst/>
          </a:prstGeom>
          <a:solidFill>
            <a:schemeClr val="accent1"/>
          </a:solidFill>
          <a:ln w="12700">
            <a:solidFill>
              <a:schemeClr val="tx1"/>
            </a:solidFill>
          </a:ln>
        </p:spPr>
        <p:txBody>
          <a:bodyPr wrap="square" rtlCol="0">
            <a:spAutoFit/>
          </a:bodyPr>
          <a:lstStyle/>
          <a:p>
            <a:pPr algn="ctr"/>
            <a:r>
              <a:rPr lang="es-ES" b="1" dirty="0" smtClean="0">
                <a:solidFill>
                  <a:schemeClr val="bg1"/>
                </a:solidFill>
              </a:rPr>
              <a:t>IMPUESTOS Y TASAS</a:t>
            </a:r>
            <a:endParaRPr lang="en-US" b="1" dirty="0">
              <a:solidFill>
                <a:schemeClr val="bg1"/>
              </a:solidFill>
            </a:endParaRPr>
          </a:p>
        </p:txBody>
      </p:sp>
      <p:graphicFrame>
        <p:nvGraphicFramePr>
          <p:cNvPr id="9" name="8 Diagrama"/>
          <p:cNvGraphicFramePr/>
          <p:nvPr/>
        </p:nvGraphicFramePr>
        <p:xfrm>
          <a:off x="179512" y="2564904"/>
          <a:ext cx="2880320" cy="167196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0" name="9 Diagrama"/>
          <p:cNvGraphicFramePr/>
          <p:nvPr/>
        </p:nvGraphicFramePr>
        <p:xfrm>
          <a:off x="6156176" y="2564904"/>
          <a:ext cx="2880320" cy="167196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 xmlns:p14="http://schemas.microsoft.com/office/powerpoint/2010/main" val="30225549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Marcador de número de diapositiva"/>
          <p:cNvSpPr>
            <a:spLocks noGrp="1"/>
          </p:cNvSpPr>
          <p:nvPr>
            <p:ph type="sldNum" sz="quarter" idx="12"/>
          </p:nvPr>
        </p:nvSpPr>
        <p:spPr/>
        <p:txBody>
          <a:bodyPr/>
          <a:lstStyle/>
          <a:p>
            <a:fld id="{47905A6E-3428-42CC-8A3B-D0D77FE4EB92}" type="slidenum">
              <a:rPr lang="es-ES" smtClean="0"/>
              <a:pPr/>
              <a:t>4</a:t>
            </a:fld>
            <a:endParaRPr lang="es-ES" dirty="0"/>
          </a:p>
        </p:txBody>
      </p:sp>
      <p:sp>
        <p:nvSpPr>
          <p:cNvPr id="5" name="4 CuadroTexto"/>
          <p:cNvSpPr txBox="1"/>
          <p:nvPr/>
        </p:nvSpPr>
        <p:spPr>
          <a:xfrm>
            <a:off x="0" y="188640"/>
            <a:ext cx="9001156" cy="1200329"/>
          </a:xfrm>
          <a:prstGeom prst="rect">
            <a:avLst/>
          </a:prstGeom>
          <a:noFill/>
        </p:spPr>
        <p:txBody>
          <a:bodyPr wrap="square" rtlCol="0">
            <a:spAutoFit/>
          </a:bodyPr>
          <a:lstStyle/>
          <a:p>
            <a:pPr algn="ctr"/>
            <a:r>
              <a:rPr lang="es-ES" sz="3600" b="1" dirty="0" smtClean="0">
                <a:solidFill>
                  <a:srgbClr val="FF0000"/>
                </a:solidFill>
              </a:rPr>
              <a:t>Defensa Tributaria Mutual</a:t>
            </a:r>
          </a:p>
          <a:p>
            <a:pPr algn="ctr"/>
            <a:endParaRPr lang="es-ES" sz="3600" b="1" dirty="0" smtClean="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graphicFrame>
        <p:nvGraphicFramePr>
          <p:cNvPr id="10" name="Diagrama 9"/>
          <p:cNvGraphicFramePr/>
          <p:nvPr>
            <p:extLst>
              <p:ext uri="{D42A27DB-BD31-4B8C-83A1-F6EECF244321}">
                <p14:modId xmlns="" xmlns:p14="http://schemas.microsoft.com/office/powerpoint/2010/main" val="2985149429"/>
              </p:ext>
            </p:extLst>
          </p:nvPr>
        </p:nvGraphicFramePr>
        <p:xfrm>
          <a:off x="285720" y="1052736"/>
          <a:ext cx="8629680" cy="51765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8" name="Google Shape;12933;p83"/>
          <p:cNvGrpSpPr/>
          <p:nvPr/>
        </p:nvGrpSpPr>
        <p:grpSpPr>
          <a:xfrm>
            <a:off x="1187624" y="1412776"/>
            <a:ext cx="333285" cy="349950"/>
            <a:chOff x="7548967" y="1978927"/>
            <a:chExt cx="333285" cy="349950"/>
          </a:xfrm>
        </p:grpSpPr>
        <p:sp>
          <p:nvSpPr>
            <p:cNvPr id="9" name="Google Shape;12934;p83"/>
            <p:cNvSpPr/>
            <p:nvPr/>
          </p:nvSpPr>
          <p:spPr>
            <a:xfrm>
              <a:off x="7548967" y="1978927"/>
              <a:ext cx="333285" cy="234816"/>
            </a:xfrm>
            <a:custGeom>
              <a:avLst/>
              <a:gdLst/>
              <a:ahLst/>
              <a:cxnLst/>
              <a:rect l="l" t="t" r="r" b="b"/>
              <a:pathLst>
                <a:path w="10479" h="7383" extrusionOk="0">
                  <a:moveTo>
                    <a:pt x="8978" y="286"/>
                  </a:moveTo>
                  <a:cubicBezTo>
                    <a:pt x="9633" y="298"/>
                    <a:pt x="10145" y="834"/>
                    <a:pt x="10145" y="1489"/>
                  </a:cubicBezTo>
                  <a:cubicBezTo>
                    <a:pt x="10121" y="2168"/>
                    <a:pt x="9585" y="2727"/>
                    <a:pt x="8931" y="2727"/>
                  </a:cubicBezTo>
                  <a:cubicBezTo>
                    <a:pt x="8300" y="2727"/>
                    <a:pt x="7799" y="2251"/>
                    <a:pt x="7740" y="1656"/>
                  </a:cubicBezTo>
                  <a:lnTo>
                    <a:pt x="7740" y="1596"/>
                  </a:lnTo>
                  <a:lnTo>
                    <a:pt x="7740" y="1572"/>
                  </a:lnTo>
                  <a:lnTo>
                    <a:pt x="7740" y="1513"/>
                  </a:lnTo>
                  <a:cubicBezTo>
                    <a:pt x="7740" y="1429"/>
                    <a:pt x="7668" y="1358"/>
                    <a:pt x="7573" y="1358"/>
                  </a:cubicBezTo>
                  <a:lnTo>
                    <a:pt x="2882" y="1358"/>
                  </a:lnTo>
                  <a:cubicBezTo>
                    <a:pt x="2799" y="1358"/>
                    <a:pt x="2727" y="1429"/>
                    <a:pt x="2727" y="1513"/>
                  </a:cubicBezTo>
                  <a:lnTo>
                    <a:pt x="2727" y="1596"/>
                  </a:lnTo>
                  <a:lnTo>
                    <a:pt x="2727" y="1608"/>
                  </a:lnTo>
                  <a:lnTo>
                    <a:pt x="2727" y="1656"/>
                  </a:lnTo>
                  <a:lnTo>
                    <a:pt x="2727" y="1679"/>
                  </a:lnTo>
                  <a:lnTo>
                    <a:pt x="2727" y="1727"/>
                  </a:lnTo>
                  <a:lnTo>
                    <a:pt x="2727" y="1739"/>
                  </a:lnTo>
                  <a:cubicBezTo>
                    <a:pt x="2727" y="1751"/>
                    <a:pt x="2727" y="1775"/>
                    <a:pt x="2704" y="1799"/>
                  </a:cubicBezTo>
                  <a:lnTo>
                    <a:pt x="2704" y="1810"/>
                  </a:lnTo>
                  <a:cubicBezTo>
                    <a:pt x="2704" y="1834"/>
                    <a:pt x="2692" y="1858"/>
                    <a:pt x="2692" y="1870"/>
                  </a:cubicBezTo>
                  <a:cubicBezTo>
                    <a:pt x="2692" y="1894"/>
                    <a:pt x="2692" y="1894"/>
                    <a:pt x="2680" y="1906"/>
                  </a:cubicBezTo>
                  <a:cubicBezTo>
                    <a:pt x="2680" y="1918"/>
                    <a:pt x="2668" y="1930"/>
                    <a:pt x="2668" y="1930"/>
                  </a:cubicBezTo>
                  <a:cubicBezTo>
                    <a:pt x="2668" y="1953"/>
                    <a:pt x="2644" y="1953"/>
                    <a:pt x="2644" y="1965"/>
                  </a:cubicBezTo>
                  <a:cubicBezTo>
                    <a:pt x="2644" y="1977"/>
                    <a:pt x="2632" y="1977"/>
                    <a:pt x="2632" y="1989"/>
                  </a:cubicBezTo>
                  <a:cubicBezTo>
                    <a:pt x="2632" y="2013"/>
                    <a:pt x="2620" y="2025"/>
                    <a:pt x="2620" y="2025"/>
                  </a:cubicBezTo>
                  <a:cubicBezTo>
                    <a:pt x="2620" y="2025"/>
                    <a:pt x="2620" y="2037"/>
                    <a:pt x="2608" y="2037"/>
                  </a:cubicBezTo>
                  <a:cubicBezTo>
                    <a:pt x="2573" y="2084"/>
                    <a:pt x="2561" y="2132"/>
                    <a:pt x="2525" y="2168"/>
                  </a:cubicBezTo>
                  <a:cubicBezTo>
                    <a:pt x="2513" y="2191"/>
                    <a:pt x="2513" y="2203"/>
                    <a:pt x="2501" y="2215"/>
                  </a:cubicBezTo>
                  <a:cubicBezTo>
                    <a:pt x="2454" y="2275"/>
                    <a:pt x="2406" y="2334"/>
                    <a:pt x="2346" y="2382"/>
                  </a:cubicBezTo>
                  <a:cubicBezTo>
                    <a:pt x="2334" y="2394"/>
                    <a:pt x="2323" y="2394"/>
                    <a:pt x="2311" y="2406"/>
                  </a:cubicBezTo>
                  <a:lnTo>
                    <a:pt x="2287" y="2430"/>
                  </a:lnTo>
                  <a:cubicBezTo>
                    <a:pt x="2084" y="2584"/>
                    <a:pt x="1811" y="2692"/>
                    <a:pt x="1537" y="2692"/>
                  </a:cubicBezTo>
                  <a:cubicBezTo>
                    <a:pt x="882" y="2692"/>
                    <a:pt x="322" y="2156"/>
                    <a:pt x="322" y="1489"/>
                  </a:cubicBezTo>
                  <a:cubicBezTo>
                    <a:pt x="322" y="822"/>
                    <a:pt x="858" y="286"/>
                    <a:pt x="1537" y="286"/>
                  </a:cubicBezTo>
                  <a:close/>
                  <a:moveTo>
                    <a:pt x="7395" y="1668"/>
                  </a:moveTo>
                  <a:cubicBezTo>
                    <a:pt x="7442" y="2049"/>
                    <a:pt x="7633" y="2406"/>
                    <a:pt x="7930" y="2668"/>
                  </a:cubicBezTo>
                  <a:cubicBezTo>
                    <a:pt x="7823" y="2763"/>
                    <a:pt x="7692" y="2799"/>
                    <a:pt x="7549" y="2799"/>
                  </a:cubicBezTo>
                  <a:lnTo>
                    <a:pt x="2858" y="2799"/>
                  </a:lnTo>
                  <a:cubicBezTo>
                    <a:pt x="2727" y="2787"/>
                    <a:pt x="2608" y="2739"/>
                    <a:pt x="2501" y="2668"/>
                  </a:cubicBezTo>
                  <a:cubicBezTo>
                    <a:pt x="2739" y="2453"/>
                    <a:pt x="2906" y="2191"/>
                    <a:pt x="2977" y="1894"/>
                  </a:cubicBezTo>
                  <a:lnTo>
                    <a:pt x="2977" y="1870"/>
                  </a:lnTo>
                  <a:cubicBezTo>
                    <a:pt x="2977" y="1858"/>
                    <a:pt x="2989" y="1846"/>
                    <a:pt x="2989" y="1810"/>
                  </a:cubicBezTo>
                  <a:cubicBezTo>
                    <a:pt x="3001" y="1775"/>
                    <a:pt x="3001" y="1727"/>
                    <a:pt x="3001" y="1668"/>
                  </a:cubicBezTo>
                  <a:close/>
                  <a:moveTo>
                    <a:pt x="1513" y="1"/>
                  </a:moveTo>
                  <a:cubicBezTo>
                    <a:pt x="680" y="1"/>
                    <a:pt x="1" y="679"/>
                    <a:pt x="1" y="1513"/>
                  </a:cubicBezTo>
                  <a:cubicBezTo>
                    <a:pt x="1" y="2346"/>
                    <a:pt x="680" y="3037"/>
                    <a:pt x="1513" y="3037"/>
                  </a:cubicBezTo>
                  <a:cubicBezTo>
                    <a:pt x="1787" y="3037"/>
                    <a:pt x="2025" y="2977"/>
                    <a:pt x="2251" y="2858"/>
                  </a:cubicBezTo>
                  <a:cubicBezTo>
                    <a:pt x="2370" y="2977"/>
                    <a:pt x="2525" y="3049"/>
                    <a:pt x="2692" y="3096"/>
                  </a:cubicBezTo>
                  <a:lnTo>
                    <a:pt x="2692" y="7216"/>
                  </a:lnTo>
                  <a:cubicBezTo>
                    <a:pt x="2692" y="7311"/>
                    <a:pt x="2763" y="7383"/>
                    <a:pt x="2858" y="7383"/>
                  </a:cubicBezTo>
                  <a:cubicBezTo>
                    <a:pt x="2942" y="7383"/>
                    <a:pt x="3025" y="7311"/>
                    <a:pt x="3025" y="7216"/>
                  </a:cubicBezTo>
                  <a:lnTo>
                    <a:pt x="3025" y="3120"/>
                  </a:lnTo>
                  <a:lnTo>
                    <a:pt x="7454" y="3120"/>
                  </a:lnTo>
                  <a:lnTo>
                    <a:pt x="7454" y="3882"/>
                  </a:lnTo>
                  <a:cubicBezTo>
                    <a:pt x="7454" y="3977"/>
                    <a:pt x="7526" y="4049"/>
                    <a:pt x="7621" y="4049"/>
                  </a:cubicBezTo>
                  <a:cubicBezTo>
                    <a:pt x="7704" y="4049"/>
                    <a:pt x="7776" y="3977"/>
                    <a:pt x="7776" y="3882"/>
                  </a:cubicBezTo>
                  <a:lnTo>
                    <a:pt x="7776" y="3108"/>
                  </a:lnTo>
                  <a:cubicBezTo>
                    <a:pt x="7966" y="3084"/>
                    <a:pt x="8121" y="2989"/>
                    <a:pt x="8264" y="2870"/>
                  </a:cubicBezTo>
                  <a:cubicBezTo>
                    <a:pt x="8466" y="2977"/>
                    <a:pt x="8704" y="3037"/>
                    <a:pt x="8954" y="3037"/>
                  </a:cubicBezTo>
                  <a:cubicBezTo>
                    <a:pt x="9788" y="3037"/>
                    <a:pt x="10478" y="2346"/>
                    <a:pt x="10478" y="1513"/>
                  </a:cubicBezTo>
                  <a:cubicBezTo>
                    <a:pt x="10443" y="1120"/>
                    <a:pt x="10300" y="727"/>
                    <a:pt x="10014" y="441"/>
                  </a:cubicBezTo>
                  <a:cubicBezTo>
                    <a:pt x="9728" y="167"/>
                    <a:pt x="9359" y="1"/>
                    <a:pt x="897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935;p83"/>
            <p:cNvSpPr/>
            <p:nvPr/>
          </p:nvSpPr>
          <p:spPr>
            <a:xfrm>
              <a:off x="7570562" y="2001667"/>
              <a:ext cx="51142" cy="51142"/>
            </a:xfrm>
            <a:custGeom>
              <a:avLst/>
              <a:gdLst/>
              <a:ahLst/>
              <a:cxnLst/>
              <a:rect l="l" t="t" r="r" b="b"/>
              <a:pathLst>
                <a:path w="1608" h="1608" extrusionOk="0">
                  <a:moveTo>
                    <a:pt x="810" y="322"/>
                  </a:moveTo>
                  <a:cubicBezTo>
                    <a:pt x="1072" y="322"/>
                    <a:pt x="1286" y="536"/>
                    <a:pt x="1286" y="798"/>
                  </a:cubicBezTo>
                  <a:cubicBezTo>
                    <a:pt x="1286" y="1060"/>
                    <a:pt x="1072" y="1274"/>
                    <a:pt x="810" y="1274"/>
                  </a:cubicBezTo>
                  <a:cubicBezTo>
                    <a:pt x="536" y="1274"/>
                    <a:pt x="334" y="1072"/>
                    <a:pt x="334" y="798"/>
                  </a:cubicBezTo>
                  <a:cubicBezTo>
                    <a:pt x="334" y="536"/>
                    <a:pt x="536" y="322"/>
                    <a:pt x="810" y="322"/>
                  </a:cubicBezTo>
                  <a:close/>
                  <a:moveTo>
                    <a:pt x="810" y="0"/>
                  </a:moveTo>
                  <a:cubicBezTo>
                    <a:pt x="358" y="0"/>
                    <a:pt x="1" y="357"/>
                    <a:pt x="1" y="798"/>
                  </a:cubicBezTo>
                  <a:cubicBezTo>
                    <a:pt x="1" y="1250"/>
                    <a:pt x="358" y="1607"/>
                    <a:pt x="810" y="1607"/>
                  </a:cubicBezTo>
                  <a:cubicBezTo>
                    <a:pt x="1251" y="1607"/>
                    <a:pt x="1608" y="1250"/>
                    <a:pt x="1608" y="798"/>
                  </a:cubicBezTo>
                  <a:cubicBezTo>
                    <a:pt x="1608" y="357"/>
                    <a:pt x="1251" y="0"/>
                    <a:pt x="81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936;p83"/>
            <p:cNvSpPr/>
            <p:nvPr/>
          </p:nvSpPr>
          <p:spPr>
            <a:xfrm>
              <a:off x="7807986" y="2001667"/>
              <a:ext cx="51174" cy="51142"/>
            </a:xfrm>
            <a:custGeom>
              <a:avLst/>
              <a:gdLst/>
              <a:ahLst/>
              <a:cxnLst/>
              <a:rect l="l" t="t" r="r" b="b"/>
              <a:pathLst>
                <a:path w="1609" h="1608" extrusionOk="0">
                  <a:moveTo>
                    <a:pt x="798" y="322"/>
                  </a:moveTo>
                  <a:cubicBezTo>
                    <a:pt x="1072" y="322"/>
                    <a:pt x="1275" y="536"/>
                    <a:pt x="1275" y="798"/>
                  </a:cubicBezTo>
                  <a:cubicBezTo>
                    <a:pt x="1275" y="1060"/>
                    <a:pt x="1072" y="1274"/>
                    <a:pt x="798" y="1274"/>
                  </a:cubicBezTo>
                  <a:cubicBezTo>
                    <a:pt x="537" y="1274"/>
                    <a:pt x="322" y="1072"/>
                    <a:pt x="322" y="798"/>
                  </a:cubicBezTo>
                  <a:cubicBezTo>
                    <a:pt x="322" y="536"/>
                    <a:pt x="537" y="322"/>
                    <a:pt x="798" y="322"/>
                  </a:cubicBezTo>
                  <a:close/>
                  <a:moveTo>
                    <a:pt x="798" y="0"/>
                  </a:moveTo>
                  <a:cubicBezTo>
                    <a:pt x="358" y="0"/>
                    <a:pt x="1" y="357"/>
                    <a:pt x="1" y="798"/>
                  </a:cubicBezTo>
                  <a:cubicBezTo>
                    <a:pt x="1" y="1250"/>
                    <a:pt x="358" y="1607"/>
                    <a:pt x="798" y="1607"/>
                  </a:cubicBezTo>
                  <a:cubicBezTo>
                    <a:pt x="1251" y="1607"/>
                    <a:pt x="1608" y="1250"/>
                    <a:pt x="1608" y="798"/>
                  </a:cubicBezTo>
                  <a:cubicBezTo>
                    <a:pt x="1608" y="357"/>
                    <a:pt x="1251" y="0"/>
                    <a:pt x="79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937;p83"/>
            <p:cNvSpPr/>
            <p:nvPr/>
          </p:nvSpPr>
          <p:spPr>
            <a:xfrm>
              <a:off x="7570180" y="2121699"/>
              <a:ext cx="288980" cy="207178"/>
            </a:xfrm>
            <a:custGeom>
              <a:avLst/>
              <a:gdLst/>
              <a:ahLst/>
              <a:cxnLst/>
              <a:rect l="l" t="t" r="r" b="b"/>
              <a:pathLst>
                <a:path w="9086" h="6514" extrusionOk="0">
                  <a:moveTo>
                    <a:pt x="7513" y="4549"/>
                  </a:moveTo>
                  <a:cubicBezTo>
                    <a:pt x="7633" y="4549"/>
                    <a:pt x="7740" y="4644"/>
                    <a:pt x="7740" y="4763"/>
                  </a:cubicBezTo>
                  <a:lnTo>
                    <a:pt x="7740" y="5203"/>
                  </a:lnTo>
                  <a:lnTo>
                    <a:pt x="1358" y="5203"/>
                  </a:lnTo>
                  <a:lnTo>
                    <a:pt x="1358" y="4763"/>
                  </a:lnTo>
                  <a:cubicBezTo>
                    <a:pt x="1358" y="4644"/>
                    <a:pt x="1465" y="4549"/>
                    <a:pt x="1584" y="4549"/>
                  </a:cubicBezTo>
                  <a:close/>
                  <a:moveTo>
                    <a:pt x="8323" y="5513"/>
                  </a:moveTo>
                  <a:cubicBezTo>
                    <a:pt x="8561" y="5513"/>
                    <a:pt x="8764" y="5703"/>
                    <a:pt x="8764" y="5953"/>
                  </a:cubicBezTo>
                  <a:lnTo>
                    <a:pt x="8764" y="6180"/>
                  </a:lnTo>
                  <a:lnTo>
                    <a:pt x="346" y="6180"/>
                  </a:lnTo>
                  <a:lnTo>
                    <a:pt x="346" y="5953"/>
                  </a:lnTo>
                  <a:cubicBezTo>
                    <a:pt x="346" y="5715"/>
                    <a:pt x="536" y="5513"/>
                    <a:pt x="786" y="5513"/>
                  </a:cubicBezTo>
                  <a:close/>
                  <a:moveTo>
                    <a:pt x="6918" y="0"/>
                  </a:moveTo>
                  <a:cubicBezTo>
                    <a:pt x="6835" y="0"/>
                    <a:pt x="6763" y="84"/>
                    <a:pt x="6763" y="167"/>
                  </a:cubicBezTo>
                  <a:lnTo>
                    <a:pt x="6763" y="4215"/>
                  </a:lnTo>
                  <a:lnTo>
                    <a:pt x="2322" y="4215"/>
                  </a:lnTo>
                  <a:lnTo>
                    <a:pt x="2322" y="3501"/>
                  </a:lnTo>
                  <a:cubicBezTo>
                    <a:pt x="2322" y="3417"/>
                    <a:pt x="2251" y="3334"/>
                    <a:pt x="2156" y="3334"/>
                  </a:cubicBezTo>
                  <a:cubicBezTo>
                    <a:pt x="2072" y="3334"/>
                    <a:pt x="2001" y="3417"/>
                    <a:pt x="2001" y="3501"/>
                  </a:cubicBezTo>
                  <a:lnTo>
                    <a:pt x="2001" y="4215"/>
                  </a:lnTo>
                  <a:lnTo>
                    <a:pt x="1560" y="4215"/>
                  </a:lnTo>
                  <a:cubicBezTo>
                    <a:pt x="1263" y="4215"/>
                    <a:pt x="1013" y="4465"/>
                    <a:pt x="1013" y="4763"/>
                  </a:cubicBezTo>
                  <a:lnTo>
                    <a:pt x="1013" y="5203"/>
                  </a:lnTo>
                  <a:lnTo>
                    <a:pt x="763" y="5203"/>
                  </a:lnTo>
                  <a:cubicBezTo>
                    <a:pt x="346" y="5203"/>
                    <a:pt x="1" y="5537"/>
                    <a:pt x="1" y="5953"/>
                  </a:cubicBezTo>
                  <a:lnTo>
                    <a:pt x="1" y="6346"/>
                  </a:lnTo>
                  <a:cubicBezTo>
                    <a:pt x="1" y="6430"/>
                    <a:pt x="72" y="6513"/>
                    <a:pt x="167" y="6513"/>
                  </a:cubicBezTo>
                  <a:lnTo>
                    <a:pt x="8906" y="6513"/>
                  </a:lnTo>
                  <a:cubicBezTo>
                    <a:pt x="8990" y="6513"/>
                    <a:pt x="9061" y="6430"/>
                    <a:pt x="9061" y="6346"/>
                  </a:cubicBezTo>
                  <a:lnTo>
                    <a:pt x="9061" y="5953"/>
                  </a:lnTo>
                  <a:cubicBezTo>
                    <a:pt x="9085" y="5537"/>
                    <a:pt x="8740" y="5203"/>
                    <a:pt x="8323" y="5203"/>
                  </a:cubicBezTo>
                  <a:lnTo>
                    <a:pt x="8073" y="5203"/>
                  </a:lnTo>
                  <a:lnTo>
                    <a:pt x="8073" y="4763"/>
                  </a:lnTo>
                  <a:cubicBezTo>
                    <a:pt x="8073" y="4465"/>
                    <a:pt x="7811" y="4215"/>
                    <a:pt x="7513" y="4215"/>
                  </a:cubicBezTo>
                  <a:lnTo>
                    <a:pt x="7085" y="4215"/>
                  </a:lnTo>
                  <a:lnTo>
                    <a:pt x="7085" y="167"/>
                  </a:lnTo>
                  <a:cubicBezTo>
                    <a:pt x="7085" y="84"/>
                    <a:pt x="7013" y="0"/>
                    <a:pt x="691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2938;p83"/>
            <p:cNvSpPr/>
            <p:nvPr/>
          </p:nvSpPr>
          <p:spPr>
            <a:xfrm>
              <a:off x="7658408" y="2088368"/>
              <a:ext cx="30342" cy="154922"/>
            </a:xfrm>
            <a:custGeom>
              <a:avLst/>
              <a:gdLst/>
              <a:ahLst/>
              <a:cxnLst/>
              <a:rect l="l" t="t" r="r" b="b"/>
              <a:pathLst>
                <a:path w="954" h="4871" extrusionOk="0">
                  <a:moveTo>
                    <a:pt x="453" y="310"/>
                  </a:moveTo>
                  <a:cubicBezTo>
                    <a:pt x="537" y="310"/>
                    <a:pt x="608" y="370"/>
                    <a:pt x="608" y="453"/>
                  </a:cubicBezTo>
                  <a:lnTo>
                    <a:pt x="608" y="4382"/>
                  </a:lnTo>
                  <a:cubicBezTo>
                    <a:pt x="608" y="4465"/>
                    <a:pt x="548" y="4537"/>
                    <a:pt x="453" y="4537"/>
                  </a:cubicBezTo>
                  <a:cubicBezTo>
                    <a:pt x="382" y="4537"/>
                    <a:pt x="310" y="4477"/>
                    <a:pt x="310" y="4382"/>
                  </a:cubicBezTo>
                  <a:lnTo>
                    <a:pt x="310" y="453"/>
                  </a:lnTo>
                  <a:cubicBezTo>
                    <a:pt x="310" y="382"/>
                    <a:pt x="370" y="310"/>
                    <a:pt x="453" y="310"/>
                  </a:cubicBezTo>
                  <a:close/>
                  <a:moveTo>
                    <a:pt x="477" y="1"/>
                  </a:moveTo>
                  <a:cubicBezTo>
                    <a:pt x="215" y="1"/>
                    <a:pt x="1" y="203"/>
                    <a:pt x="1" y="477"/>
                  </a:cubicBezTo>
                  <a:lnTo>
                    <a:pt x="1" y="4394"/>
                  </a:lnTo>
                  <a:cubicBezTo>
                    <a:pt x="1" y="4656"/>
                    <a:pt x="203" y="4870"/>
                    <a:pt x="477" y="4870"/>
                  </a:cubicBezTo>
                  <a:cubicBezTo>
                    <a:pt x="727" y="4870"/>
                    <a:pt x="953" y="4668"/>
                    <a:pt x="953" y="4394"/>
                  </a:cubicBezTo>
                  <a:lnTo>
                    <a:pt x="953" y="477"/>
                  </a:lnTo>
                  <a:cubicBezTo>
                    <a:pt x="929" y="203"/>
                    <a:pt x="727" y="1"/>
                    <a:pt x="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2939;p83"/>
            <p:cNvSpPr/>
            <p:nvPr/>
          </p:nvSpPr>
          <p:spPr>
            <a:xfrm>
              <a:off x="7700072" y="2088368"/>
              <a:ext cx="30310" cy="154922"/>
            </a:xfrm>
            <a:custGeom>
              <a:avLst/>
              <a:gdLst/>
              <a:ahLst/>
              <a:cxnLst/>
              <a:rect l="l" t="t" r="r" b="b"/>
              <a:pathLst>
                <a:path w="953" h="4871" extrusionOk="0">
                  <a:moveTo>
                    <a:pt x="453" y="310"/>
                  </a:moveTo>
                  <a:cubicBezTo>
                    <a:pt x="548" y="310"/>
                    <a:pt x="608" y="370"/>
                    <a:pt x="608" y="453"/>
                  </a:cubicBezTo>
                  <a:lnTo>
                    <a:pt x="608" y="4382"/>
                  </a:lnTo>
                  <a:cubicBezTo>
                    <a:pt x="608" y="4465"/>
                    <a:pt x="548" y="4537"/>
                    <a:pt x="453" y="4537"/>
                  </a:cubicBezTo>
                  <a:cubicBezTo>
                    <a:pt x="381" y="4537"/>
                    <a:pt x="310" y="4477"/>
                    <a:pt x="310" y="4382"/>
                  </a:cubicBezTo>
                  <a:lnTo>
                    <a:pt x="310" y="453"/>
                  </a:lnTo>
                  <a:cubicBezTo>
                    <a:pt x="310" y="382"/>
                    <a:pt x="370" y="310"/>
                    <a:pt x="453" y="310"/>
                  </a:cubicBezTo>
                  <a:close/>
                  <a:moveTo>
                    <a:pt x="477" y="1"/>
                  </a:moveTo>
                  <a:cubicBezTo>
                    <a:pt x="215" y="1"/>
                    <a:pt x="0" y="203"/>
                    <a:pt x="0" y="477"/>
                  </a:cubicBezTo>
                  <a:lnTo>
                    <a:pt x="0" y="4394"/>
                  </a:lnTo>
                  <a:cubicBezTo>
                    <a:pt x="0" y="4656"/>
                    <a:pt x="203" y="4870"/>
                    <a:pt x="477" y="4870"/>
                  </a:cubicBezTo>
                  <a:cubicBezTo>
                    <a:pt x="727" y="4870"/>
                    <a:pt x="953" y="4668"/>
                    <a:pt x="953" y="4394"/>
                  </a:cubicBezTo>
                  <a:lnTo>
                    <a:pt x="953" y="477"/>
                  </a:lnTo>
                  <a:cubicBezTo>
                    <a:pt x="929" y="203"/>
                    <a:pt x="727" y="1"/>
                    <a:pt x="47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2940;p83"/>
            <p:cNvSpPr/>
            <p:nvPr/>
          </p:nvSpPr>
          <p:spPr>
            <a:xfrm>
              <a:off x="7741737" y="2088368"/>
              <a:ext cx="30310" cy="154922"/>
            </a:xfrm>
            <a:custGeom>
              <a:avLst/>
              <a:gdLst/>
              <a:ahLst/>
              <a:cxnLst/>
              <a:rect l="l" t="t" r="r" b="b"/>
              <a:pathLst>
                <a:path w="953" h="4871" extrusionOk="0">
                  <a:moveTo>
                    <a:pt x="453" y="310"/>
                  </a:moveTo>
                  <a:cubicBezTo>
                    <a:pt x="536" y="310"/>
                    <a:pt x="607" y="370"/>
                    <a:pt x="607" y="453"/>
                  </a:cubicBezTo>
                  <a:lnTo>
                    <a:pt x="607" y="4382"/>
                  </a:lnTo>
                  <a:cubicBezTo>
                    <a:pt x="607" y="4465"/>
                    <a:pt x="548" y="4537"/>
                    <a:pt x="453" y="4537"/>
                  </a:cubicBezTo>
                  <a:cubicBezTo>
                    <a:pt x="381" y="4537"/>
                    <a:pt x="310" y="4477"/>
                    <a:pt x="310" y="4382"/>
                  </a:cubicBezTo>
                  <a:lnTo>
                    <a:pt x="310" y="453"/>
                  </a:lnTo>
                  <a:cubicBezTo>
                    <a:pt x="310" y="382"/>
                    <a:pt x="369" y="310"/>
                    <a:pt x="453" y="310"/>
                  </a:cubicBezTo>
                  <a:close/>
                  <a:moveTo>
                    <a:pt x="476" y="1"/>
                  </a:moveTo>
                  <a:cubicBezTo>
                    <a:pt x="214" y="1"/>
                    <a:pt x="0" y="203"/>
                    <a:pt x="0" y="477"/>
                  </a:cubicBezTo>
                  <a:lnTo>
                    <a:pt x="0" y="4394"/>
                  </a:lnTo>
                  <a:cubicBezTo>
                    <a:pt x="0" y="4656"/>
                    <a:pt x="203" y="4870"/>
                    <a:pt x="476" y="4870"/>
                  </a:cubicBezTo>
                  <a:cubicBezTo>
                    <a:pt x="726" y="4870"/>
                    <a:pt x="953" y="4668"/>
                    <a:pt x="953" y="4394"/>
                  </a:cubicBezTo>
                  <a:lnTo>
                    <a:pt x="953" y="477"/>
                  </a:lnTo>
                  <a:cubicBezTo>
                    <a:pt x="929" y="203"/>
                    <a:pt x="726" y="1"/>
                    <a:pt x="47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 xmlns:p14="http://schemas.microsoft.com/office/powerpoint/2010/main" val="24347971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 xmlns:p14="http://schemas.microsoft.com/office/powerpoint/2010/main" val="277990254"/>
              </p:ext>
            </p:extLst>
          </p:nvPr>
        </p:nvGraphicFramePr>
        <p:xfrm>
          <a:off x="467544" y="980728"/>
          <a:ext cx="7848872" cy="51845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5 Marcador de número de diapositiva"/>
          <p:cNvSpPr>
            <a:spLocks noGrp="1"/>
          </p:cNvSpPr>
          <p:nvPr>
            <p:ph type="sldNum" sz="quarter" idx="12"/>
          </p:nvPr>
        </p:nvSpPr>
        <p:spPr/>
        <p:txBody>
          <a:bodyPr/>
          <a:lstStyle/>
          <a:p>
            <a:fld id="{47905A6E-3428-42CC-8A3B-D0D77FE4EB92}" type="slidenum">
              <a:rPr lang="es-ES" smtClean="0"/>
              <a:pPr/>
              <a:t>5</a:t>
            </a:fld>
            <a:endParaRPr lang="es-ES" dirty="0"/>
          </a:p>
        </p:txBody>
      </p:sp>
      <p:sp>
        <p:nvSpPr>
          <p:cNvPr id="5" name="4 CuadroTexto"/>
          <p:cNvSpPr txBox="1"/>
          <p:nvPr/>
        </p:nvSpPr>
        <p:spPr>
          <a:xfrm>
            <a:off x="0" y="188640"/>
            <a:ext cx="9001156" cy="646331"/>
          </a:xfrm>
          <a:prstGeom prst="rect">
            <a:avLst/>
          </a:prstGeom>
          <a:noFill/>
        </p:spPr>
        <p:txBody>
          <a:bodyPr wrap="square" rtlCol="0">
            <a:spAutoFit/>
          </a:bodyPr>
          <a:lstStyle/>
          <a:p>
            <a:pPr algn="ctr"/>
            <a:r>
              <a:rPr lang="es-ES" sz="3600" b="1" dirty="0" smtClean="0">
                <a:solidFill>
                  <a:srgbClr val="FF0000"/>
                </a:solidFill>
              </a:rPr>
              <a:t>Naturaleza - Actos Mutuales</a:t>
            </a: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7" cstate="print"/>
          <a:srcRect/>
          <a:stretch>
            <a:fillRect/>
          </a:stretch>
        </p:blipFill>
        <p:spPr bwMode="auto">
          <a:xfrm>
            <a:off x="285720" y="6357958"/>
            <a:ext cx="1500198" cy="512630"/>
          </a:xfrm>
          <a:prstGeom prst="rect">
            <a:avLst/>
          </a:prstGeom>
          <a:noFill/>
        </p:spPr>
      </p:pic>
      <p:sp>
        <p:nvSpPr>
          <p:cNvPr id="19" name="Elipse 18"/>
          <p:cNvSpPr/>
          <p:nvPr/>
        </p:nvSpPr>
        <p:spPr>
          <a:xfrm>
            <a:off x="3635896" y="2852936"/>
            <a:ext cx="1512168" cy="158417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00" dirty="0" smtClean="0"/>
              <a:t>Ley 20.321</a:t>
            </a:r>
          </a:p>
          <a:p>
            <a:pPr algn="ctr"/>
            <a:r>
              <a:rPr lang="es-ES" sz="1700" dirty="0" smtClean="0"/>
              <a:t>Artículos</a:t>
            </a:r>
          </a:p>
          <a:p>
            <a:pPr algn="ctr"/>
            <a:r>
              <a:rPr lang="es-ES" sz="1700" dirty="0" smtClean="0"/>
              <a:t>2; 4 y 5</a:t>
            </a:r>
            <a:endParaRPr lang="en-US" sz="1700" dirty="0"/>
          </a:p>
        </p:txBody>
      </p:sp>
      <p:cxnSp>
        <p:nvCxnSpPr>
          <p:cNvPr id="21" name="Conector recto 20"/>
          <p:cNvCxnSpPr/>
          <p:nvPr/>
        </p:nvCxnSpPr>
        <p:spPr>
          <a:xfrm flipH="1">
            <a:off x="2987824" y="1772816"/>
            <a:ext cx="1080120" cy="3600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ector recto 23"/>
          <p:cNvCxnSpPr/>
          <p:nvPr/>
        </p:nvCxnSpPr>
        <p:spPr>
          <a:xfrm>
            <a:off x="4788024" y="1772816"/>
            <a:ext cx="1008112" cy="36004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25571429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número de diapositiva"/>
          <p:cNvSpPr>
            <a:spLocks noGrp="1"/>
          </p:cNvSpPr>
          <p:nvPr>
            <p:ph type="sldNum" sz="quarter" idx="12"/>
          </p:nvPr>
        </p:nvSpPr>
        <p:spPr/>
        <p:txBody>
          <a:bodyPr/>
          <a:lstStyle/>
          <a:p>
            <a:fld id="{47905A6E-3428-42CC-8A3B-D0D77FE4EB92}" type="slidenum">
              <a:rPr lang="es-ES" smtClean="0"/>
              <a:pPr/>
              <a:t>6</a:t>
            </a:fld>
            <a:endParaRPr lang="es-ES" dirty="0"/>
          </a:p>
        </p:txBody>
      </p:sp>
      <p:sp>
        <p:nvSpPr>
          <p:cNvPr id="7" name="6 CuadroTexto"/>
          <p:cNvSpPr txBox="1"/>
          <p:nvPr/>
        </p:nvSpPr>
        <p:spPr>
          <a:xfrm>
            <a:off x="214314" y="71414"/>
            <a:ext cx="9001156" cy="646331"/>
          </a:xfrm>
          <a:prstGeom prst="rect">
            <a:avLst/>
          </a:prstGeom>
          <a:noFill/>
        </p:spPr>
        <p:txBody>
          <a:bodyPr wrap="square" rtlCol="0">
            <a:spAutoFit/>
          </a:bodyPr>
          <a:lstStyle/>
          <a:p>
            <a:pPr algn="ctr"/>
            <a:r>
              <a:rPr lang="es-ES" sz="3600" b="1" dirty="0" smtClean="0">
                <a:solidFill>
                  <a:srgbClr val="FF0000"/>
                </a:solidFill>
              </a:rPr>
              <a:t>Legislación </a:t>
            </a:r>
            <a:endParaRPr lang="es-ES" sz="3600" b="1" dirty="0">
              <a:solidFill>
                <a:srgbClr val="FF0000"/>
              </a:solidFill>
            </a:endParaRPr>
          </a:p>
        </p:txBody>
      </p:sp>
      <p:pic>
        <p:nvPicPr>
          <p:cNvPr id="8"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graphicFrame>
        <p:nvGraphicFramePr>
          <p:cNvPr id="10" name="9 Diagrama"/>
          <p:cNvGraphicFramePr/>
          <p:nvPr/>
        </p:nvGraphicFramePr>
        <p:xfrm>
          <a:off x="928662" y="928670"/>
          <a:ext cx="7643866" cy="50720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número de diapositiva"/>
          <p:cNvSpPr>
            <a:spLocks noGrp="1"/>
          </p:cNvSpPr>
          <p:nvPr>
            <p:ph type="sldNum" sz="quarter" idx="12"/>
          </p:nvPr>
        </p:nvSpPr>
        <p:spPr/>
        <p:txBody>
          <a:bodyPr/>
          <a:lstStyle/>
          <a:p>
            <a:fld id="{47905A6E-3428-42CC-8A3B-D0D77FE4EB92}" type="slidenum">
              <a:rPr lang="es-ES" smtClean="0"/>
              <a:pPr/>
              <a:t>7</a:t>
            </a:fld>
            <a:endParaRPr lang="es-ES" dirty="0"/>
          </a:p>
        </p:txBody>
      </p:sp>
      <p:sp>
        <p:nvSpPr>
          <p:cNvPr id="7" name="6 CuadroTexto"/>
          <p:cNvSpPr txBox="1"/>
          <p:nvPr/>
        </p:nvSpPr>
        <p:spPr>
          <a:xfrm>
            <a:off x="-85756" y="-71462"/>
            <a:ext cx="9001156" cy="646331"/>
          </a:xfrm>
          <a:prstGeom prst="rect">
            <a:avLst/>
          </a:prstGeom>
          <a:noFill/>
        </p:spPr>
        <p:txBody>
          <a:bodyPr wrap="square" rtlCol="0">
            <a:spAutoFit/>
          </a:bodyPr>
          <a:lstStyle/>
          <a:p>
            <a:pPr algn="ctr"/>
            <a:r>
              <a:rPr lang="es-ES" sz="3600" b="1" dirty="0" smtClean="0">
                <a:solidFill>
                  <a:srgbClr val="FF0000"/>
                </a:solidFill>
              </a:rPr>
              <a:t>Jurisprudencia</a:t>
            </a:r>
            <a:endParaRPr lang="es-ES" sz="3600" b="1" dirty="0">
              <a:solidFill>
                <a:srgbClr val="FF0000"/>
              </a:solidFill>
            </a:endParaRPr>
          </a:p>
        </p:txBody>
      </p:sp>
      <p:pic>
        <p:nvPicPr>
          <p:cNvPr id="8"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1000100" y="6357958"/>
            <a:ext cx="1500198" cy="512630"/>
          </a:xfrm>
          <a:prstGeom prst="rect">
            <a:avLst/>
          </a:prstGeom>
          <a:noFill/>
        </p:spPr>
      </p:pic>
      <p:graphicFrame>
        <p:nvGraphicFramePr>
          <p:cNvPr id="12" name="11 Marcador de contenido"/>
          <p:cNvGraphicFramePr>
            <a:graphicFrameLocks noGrp="1"/>
          </p:cNvGraphicFramePr>
          <p:nvPr>
            <p:ph idx="1"/>
          </p:nvPr>
        </p:nvGraphicFramePr>
        <p:xfrm>
          <a:off x="0" y="500042"/>
          <a:ext cx="9144000" cy="57150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3" name="12 Almacenamiento de acceso secuencial"/>
          <p:cNvSpPr/>
          <p:nvPr/>
        </p:nvSpPr>
        <p:spPr>
          <a:xfrm>
            <a:off x="3286116" y="5286388"/>
            <a:ext cx="1357322" cy="1000132"/>
          </a:xfrm>
          <a:prstGeom prst="flowChartMagneticTap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solidFill>
                  <a:schemeClr val="tx1"/>
                </a:solidFill>
              </a:rPr>
              <a:t>SIN FIN DE LUCRO </a:t>
            </a:r>
            <a:endParaRPr lang="es-ES" dirty="0">
              <a:solidFill>
                <a:schemeClr val="tx1"/>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 y="428604"/>
            <a:ext cx="9072626" cy="5715040"/>
          </a:xfrm>
        </p:spPr>
        <p:txBody>
          <a:bodyPr>
            <a:noAutofit/>
          </a:bodyPr>
          <a:lstStyle/>
          <a:p>
            <a:pPr algn="just">
              <a:lnSpc>
                <a:spcPct val="170000"/>
              </a:lnSpc>
            </a:pPr>
            <a:r>
              <a:rPr lang="es-ES" sz="1400" b="1" dirty="0" smtClean="0"/>
              <a:t>“Asociación Mutual Sancor c/AFIP DGI”</a:t>
            </a:r>
            <a:r>
              <a:rPr lang="es-ES" sz="1400" dirty="0" smtClean="0"/>
              <a:t>, </a:t>
            </a:r>
            <a:r>
              <a:rPr lang="es-ES" sz="1400" b="1" dirty="0" smtClean="0"/>
              <a:t>CSJN, 14/04/2015</a:t>
            </a:r>
            <a:r>
              <a:rPr lang="es-ES" sz="1400" dirty="0" smtClean="0"/>
              <a:t>, expresa:</a:t>
            </a:r>
          </a:p>
          <a:p>
            <a:pPr algn="just">
              <a:lnSpc>
                <a:spcPct val="170000"/>
              </a:lnSpc>
              <a:buNone/>
            </a:pPr>
            <a:r>
              <a:rPr lang="es-ES" sz="1400" dirty="0" smtClean="0"/>
              <a:t> “15. Que a la luz de tales pautas interpretativas y del claro texto del artículo 29 de la ley orgánica 20.321 se infiere, sin hesitación, que el principio general </a:t>
            </a:r>
            <a:r>
              <a:rPr lang="es-ES" sz="1400" u="sng" dirty="0" smtClean="0"/>
              <a:t>reposa en el elevado fin social que persiguen las asociaciones mutualistas</a:t>
            </a:r>
            <a:r>
              <a:rPr lang="es-ES" sz="1400" dirty="0" smtClean="0"/>
              <a:t>, cuya característica principal es el </a:t>
            </a:r>
            <a:r>
              <a:rPr lang="es-ES" sz="1400" u="sng" dirty="0" smtClean="0"/>
              <a:t>espíritu de solidaridad y ayuda recíproca</a:t>
            </a:r>
            <a:r>
              <a:rPr lang="es-ES" sz="1400" dirty="0" smtClean="0"/>
              <a:t>. </a:t>
            </a:r>
            <a:r>
              <a:rPr lang="es-ES" sz="1400" u="sng" dirty="0" smtClean="0"/>
              <a:t>En salvaguardia del sentido social de este tipo de organizaciones y para evitar que este pueda verse frustrado</a:t>
            </a:r>
            <a:r>
              <a:rPr lang="es-ES" sz="1400" dirty="0" smtClean="0"/>
              <a:t> es que la ley orgánica ha establecido, en el citado artículo, </a:t>
            </a:r>
            <a:r>
              <a:rPr lang="es-ES" sz="1400" u="sng" dirty="0" smtClean="0"/>
              <a:t>la exención de todo tipo de impuesto, tasa o contribución de mejoras</a:t>
            </a:r>
            <a:r>
              <a:rPr lang="es-ES" sz="1400" dirty="0" smtClean="0"/>
              <a:t>. Esta previsión respondió a la propia esencia de aquellas y a la declarada necesidad de fomento (confr. Nota Poder Ejecutivo que acompañó al proyecto de la ley 20321)”.</a:t>
            </a:r>
          </a:p>
          <a:p>
            <a:pPr algn="just">
              <a:lnSpc>
                <a:spcPct val="170000"/>
              </a:lnSpc>
            </a:pPr>
            <a:r>
              <a:rPr lang="es-AR" sz="1400" b="1" dirty="0" smtClean="0"/>
              <a:t>“</a:t>
            </a:r>
            <a:r>
              <a:rPr lang="es-AR" sz="1400" b="1" dirty="0" err="1" smtClean="0"/>
              <a:t>Asoc</a:t>
            </a:r>
            <a:r>
              <a:rPr lang="es-AR" sz="1400" b="1" dirty="0" smtClean="0"/>
              <a:t>. Mutual Personal </a:t>
            </a:r>
            <a:r>
              <a:rPr lang="es-AR" sz="1400" b="1" dirty="0" err="1" smtClean="0"/>
              <a:t>Sancor</a:t>
            </a:r>
            <a:r>
              <a:rPr lang="es-AR" sz="1400" b="1" dirty="0" smtClean="0"/>
              <a:t> s/</a:t>
            </a:r>
            <a:r>
              <a:rPr lang="es-AR" sz="1400" b="1" dirty="0" err="1" smtClean="0"/>
              <a:t>apel</a:t>
            </a:r>
            <a:r>
              <a:rPr lang="es-AR" sz="1400" b="1" dirty="0" smtClean="0"/>
              <a:t>. por denegatoria </a:t>
            </a:r>
            <a:r>
              <a:rPr lang="es-AR" sz="1400" b="1" dirty="0" err="1" smtClean="0"/>
              <a:t>rep</a:t>
            </a:r>
            <a:r>
              <a:rPr lang="es-AR" sz="1400" b="1" dirty="0" smtClean="0"/>
              <a:t>.”. TFN. Sala C. 25/08/22</a:t>
            </a:r>
            <a:r>
              <a:rPr lang="es-AR" sz="1400" dirty="0" smtClean="0"/>
              <a:t>, resolvió: </a:t>
            </a:r>
            <a:r>
              <a:rPr lang="es-ES" sz="1400" dirty="0" smtClean="0"/>
              <a:t>Que la ley 20321 define a las asociaciones mutuales como aquellas </a:t>
            </a:r>
            <a:r>
              <a:rPr lang="es-ES" sz="1400" u="sng" dirty="0" smtClean="0"/>
              <a:t>constituidas libremente sin fines de lucro por personas inspiradas en la solidaridad</a:t>
            </a:r>
            <a:r>
              <a:rPr lang="es-ES" sz="1400" dirty="0" smtClean="0"/>
              <a:t>, con el objeto de brindarse ayuda recíproca frente a riesgos eventuales o de concurrir a su bienestar material y espiritual, mediante una contribución periódica. </a:t>
            </a:r>
          </a:p>
          <a:p>
            <a:pPr algn="just">
              <a:lnSpc>
                <a:spcPct val="170000"/>
              </a:lnSpc>
            </a:pPr>
            <a:r>
              <a:rPr lang="es-ES" sz="1400" b="1" dirty="0" smtClean="0"/>
              <a:t>Asociación Mutual Personal </a:t>
            </a:r>
            <a:r>
              <a:rPr lang="es-ES" sz="1400" b="1" dirty="0" err="1" smtClean="0"/>
              <a:t>Sancor</a:t>
            </a:r>
            <a:r>
              <a:rPr lang="es-ES" sz="1400" b="1" dirty="0" smtClean="0"/>
              <a:t> (TF 48853-I) c/Dirección General Impositiva s/Recurso Directo de Organismo Externo”. </a:t>
            </a:r>
            <a:r>
              <a:rPr lang="es-ES" sz="1400" b="1" dirty="0" err="1" smtClean="0"/>
              <a:t>Cám</a:t>
            </a:r>
            <a:r>
              <a:rPr lang="es-ES" sz="1400" b="1" dirty="0" smtClean="0"/>
              <a:t>. </a:t>
            </a:r>
            <a:r>
              <a:rPr lang="es-ES" sz="1400" b="1" dirty="0" err="1" smtClean="0"/>
              <a:t>Nac</a:t>
            </a:r>
            <a:r>
              <a:rPr lang="es-ES" sz="1400" b="1" dirty="0" smtClean="0"/>
              <a:t>. Cont. </a:t>
            </a:r>
            <a:r>
              <a:rPr lang="es-ES" sz="1400" b="1" dirty="0" err="1" smtClean="0"/>
              <a:t>Adm</a:t>
            </a:r>
            <a:r>
              <a:rPr lang="es-ES" sz="1400" b="1" dirty="0" smtClean="0"/>
              <a:t>. Fed. -  Sala I. 26/12/2023. </a:t>
            </a:r>
            <a:r>
              <a:rPr lang="es-ES" sz="1400" dirty="0" smtClean="0"/>
              <a:t>Confirmó el fallo del TFN.</a:t>
            </a:r>
            <a:r>
              <a:rPr lang="es-ES" sz="1400" b="1" dirty="0" smtClean="0"/>
              <a:t> </a:t>
            </a:r>
            <a:r>
              <a:rPr lang="es-ES" sz="1400" dirty="0" smtClean="0"/>
              <a:t>Es claro, en ese contexto normativo, que la finalidad de las asociaciones mutuales es </a:t>
            </a:r>
            <a:r>
              <a:rPr lang="es-ES" sz="1400" u="sng" dirty="0" smtClean="0"/>
              <a:t>netamente social y no lucrativa</a:t>
            </a:r>
            <a:r>
              <a:rPr lang="es-ES" sz="1400" dirty="0" smtClean="0"/>
              <a:t>, asentada sobre los principios de solidaridad y de ayuda mutua. </a:t>
            </a:r>
            <a:r>
              <a:rPr lang="es-ES" sz="1400" b="1" dirty="0" smtClean="0"/>
              <a:t>(La Cámara concedió al Fisco el Recurso Ext. Ante la CSJN el 11/04/24).</a:t>
            </a:r>
            <a:endParaRPr lang="es-AR" sz="1400" b="1" dirty="0" smtClean="0"/>
          </a:p>
        </p:txBody>
      </p:sp>
      <p:sp>
        <p:nvSpPr>
          <p:cNvPr id="5" name="4 Marcador de número de diapositiva"/>
          <p:cNvSpPr>
            <a:spLocks noGrp="1"/>
          </p:cNvSpPr>
          <p:nvPr>
            <p:ph type="sldNum" sz="quarter" idx="12"/>
          </p:nvPr>
        </p:nvSpPr>
        <p:spPr/>
        <p:txBody>
          <a:bodyPr/>
          <a:lstStyle/>
          <a:p>
            <a:fld id="{47905A6E-3428-42CC-8A3B-D0D77FE4EB92}" type="slidenum">
              <a:rPr lang="es-ES" smtClean="0"/>
              <a:pPr/>
              <a:t>8</a:t>
            </a:fld>
            <a:endParaRPr lang="es-ES" dirty="0"/>
          </a:p>
        </p:txBody>
      </p:sp>
      <p:sp>
        <p:nvSpPr>
          <p:cNvPr id="7" name="6 CuadroTexto"/>
          <p:cNvSpPr txBox="1"/>
          <p:nvPr/>
        </p:nvSpPr>
        <p:spPr>
          <a:xfrm>
            <a:off x="-85756" y="-71462"/>
            <a:ext cx="9001156" cy="646331"/>
          </a:xfrm>
          <a:prstGeom prst="rect">
            <a:avLst/>
          </a:prstGeom>
          <a:noFill/>
        </p:spPr>
        <p:txBody>
          <a:bodyPr wrap="square" rtlCol="0">
            <a:spAutoFit/>
          </a:bodyPr>
          <a:lstStyle/>
          <a:p>
            <a:pPr algn="ctr"/>
            <a:r>
              <a:rPr lang="es-ES" sz="3600" b="1" dirty="0" smtClean="0">
                <a:solidFill>
                  <a:srgbClr val="FF0000"/>
                </a:solidFill>
              </a:rPr>
              <a:t>Jurisprudencia (I)</a:t>
            </a:r>
            <a:endParaRPr lang="es-ES" sz="3600" b="1" dirty="0">
              <a:solidFill>
                <a:srgbClr val="FF0000"/>
              </a:solidFill>
            </a:endParaRPr>
          </a:p>
        </p:txBody>
      </p:sp>
      <p:pic>
        <p:nvPicPr>
          <p:cNvPr id="8"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51520" y="384144"/>
            <a:ext cx="8496944" cy="5616624"/>
          </a:xfrm>
        </p:spPr>
        <p:txBody>
          <a:bodyPr>
            <a:noAutofit/>
          </a:bodyPr>
          <a:lstStyle/>
          <a:p>
            <a:pPr>
              <a:lnSpc>
                <a:spcPct val="170000"/>
              </a:lnSpc>
              <a:buNone/>
            </a:pPr>
            <a:endParaRPr lang="es-ES" sz="1300" b="1" dirty="0" smtClean="0"/>
          </a:p>
          <a:p>
            <a:pPr algn="just">
              <a:lnSpc>
                <a:spcPct val="170000"/>
              </a:lnSpc>
              <a:buNone/>
            </a:pPr>
            <a:r>
              <a:rPr lang="es-ES" sz="1400" b="1" dirty="0" smtClean="0"/>
              <a:t>“FATA Sociedad de Seguros Mutuos s/apelación  (por </a:t>
            </a:r>
            <a:r>
              <a:rPr lang="es-ES" sz="1400" b="1" dirty="0" err="1" smtClean="0"/>
              <a:t>deneg</a:t>
            </a:r>
            <a:r>
              <a:rPr lang="es-ES" sz="1400" b="1" dirty="0" smtClean="0"/>
              <a:t>. de </a:t>
            </a:r>
            <a:r>
              <a:rPr lang="es-ES" sz="1400" b="1" dirty="0" err="1" smtClean="0"/>
              <a:t>rep</a:t>
            </a:r>
            <a:r>
              <a:rPr lang="es-ES" sz="1400" b="1" dirty="0" smtClean="0"/>
              <a:t>.) –ganancias capitales-”</a:t>
            </a:r>
            <a:r>
              <a:rPr lang="es-ES" sz="1400" dirty="0" smtClean="0"/>
              <a:t>. </a:t>
            </a:r>
            <a:r>
              <a:rPr lang="es-ES" sz="1400" b="1" dirty="0" smtClean="0"/>
              <a:t>CSJN, 11/02/1992</a:t>
            </a:r>
            <a:r>
              <a:rPr lang="es-ES" sz="1400" dirty="0" smtClean="0"/>
              <a:t>. “…10) Que las asociaciones mutualistas son personas inspiradas en la </a:t>
            </a:r>
            <a:r>
              <a:rPr lang="es-ES" sz="1400" u="sng" dirty="0" smtClean="0"/>
              <a:t>solidaridad y sin fines de lucro</a:t>
            </a:r>
            <a:r>
              <a:rPr lang="es-ES" sz="1400" dirty="0" smtClean="0"/>
              <a:t> , se reúnen con el objeto de </a:t>
            </a:r>
            <a:r>
              <a:rPr lang="es-ES" sz="1400" u="sng" dirty="0" smtClean="0"/>
              <a:t>brindarse ayuda recíproca </a:t>
            </a:r>
            <a:r>
              <a:rPr lang="es-ES" sz="1400" dirty="0" smtClean="0"/>
              <a:t>frente a riesgos eventuales como para </a:t>
            </a:r>
            <a:r>
              <a:rPr lang="es-ES" sz="1400" u="sng" dirty="0" smtClean="0"/>
              <a:t>concurrir a su bienestar material, espiritual e históricamente han tenido un tratamiento tributario de excepción </a:t>
            </a:r>
            <a:r>
              <a:rPr lang="es-ES" sz="1400" dirty="0" smtClean="0"/>
              <a:t>(confr. Ley 20.321, art. 2…)”.</a:t>
            </a:r>
          </a:p>
          <a:p>
            <a:pPr algn="just">
              <a:lnSpc>
                <a:spcPct val="170000"/>
              </a:lnSpc>
              <a:buNone/>
            </a:pPr>
            <a:r>
              <a:rPr lang="es-ES" sz="1400" b="1" dirty="0" smtClean="0"/>
              <a:t>“Asociación Mutualista del Docente de la Provincia de Córdoba c/Municipalidad de Córdoba – plena jurisdicción –recurso de casación “ </a:t>
            </a:r>
            <a:r>
              <a:rPr lang="es-ES" sz="1400" dirty="0" smtClean="0"/>
              <a:t>(</a:t>
            </a:r>
            <a:r>
              <a:rPr lang="es-ES" sz="1400" b="1" dirty="0" smtClean="0"/>
              <a:t>TSJ </a:t>
            </a:r>
            <a:r>
              <a:rPr lang="es-ES" sz="1400" b="1" dirty="0" err="1" smtClean="0"/>
              <a:t>Cba</a:t>
            </a:r>
            <a:r>
              <a:rPr lang="es-ES" sz="1400" b="1" dirty="0" smtClean="0"/>
              <a:t> -27/10/2015</a:t>
            </a:r>
            <a:r>
              <a:rPr lang="es-ES" sz="1400" dirty="0" smtClean="0"/>
              <a:t>).</a:t>
            </a:r>
            <a:r>
              <a:rPr lang="es-AR" sz="1400" dirty="0" smtClean="0"/>
              <a:t> “… no puede sostenerse que la Asociación Mutualista del Docente de la Provincia de Córdoba realice actividades financieras, habida cuenta que la actora </a:t>
            </a:r>
            <a:r>
              <a:rPr lang="es-AR" sz="1400" u="sng" dirty="0" smtClean="0"/>
              <a:t>desarrolla una actividad sin fines de lucro inspirada en la solidaridad con el objeto de brindar ayuda recíproca</a:t>
            </a:r>
            <a:r>
              <a:rPr lang="es-AR" sz="1400" dirty="0" smtClean="0"/>
              <a:t> entre los socios frente a riesgos eventuales (art. 2 Ley 20.321)…”.</a:t>
            </a:r>
          </a:p>
          <a:p>
            <a:pPr algn="just">
              <a:lnSpc>
                <a:spcPct val="170000"/>
              </a:lnSpc>
              <a:buNone/>
            </a:pPr>
            <a:r>
              <a:rPr lang="es-ES" sz="1400" b="1" dirty="0" smtClean="0"/>
              <a:t>“Federación Entidades Mutualistas Brigadier Estanislao López y otras c/ BCRA s/ acción meramente declarativa de inconstitucionalidad “. CSJN, 14/07/2015</a:t>
            </a:r>
            <a:r>
              <a:rPr lang="es-ES" sz="1400" dirty="0" smtClean="0"/>
              <a:t>. El máximo tribunal declaró inadmisible el recurso del BCRA en relación a los fallos de las instancias anteriores en las cuales se declararon inconstitucionales el </a:t>
            </a:r>
            <a:r>
              <a:rPr lang="es-ES" sz="1400" dirty="0" err="1" smtClean="0"/>
              <a:t>Dec</a:t>
            </a:r>
            <a:r>
              <a:rPr lang="es-ES" sz="1400" dirty="0" smtClean="0"/>
              <a:t>. 1367/93 y Com. BCRA cuya pretensión era regular, supervisar y fiscalizar a las mutuales que operaban el servicio de ayuda económica.</a:t>
            </a:r>
            <a:endParaRPr lang="es-AR" sz="1400" dirty="0" smtClean="0"/>
          </a:p>
          <a:p>
            <a:pPr algn="just">
              <a:lnSpc>
                <a:spcPct val="170000"/>
              </a:lnSpc>
              <a:buNone/>
            </a:pPr>
            <a:endParaRPr lang="es-AR" sz="1200" dirty="0" smtClean="0"/>
          </a:p>
        </p:txBody>
      </p:sp>
      <p:sp>
        <p:nvSpPr>
          <p:cNvPr id="5" name="4 Marcador de número de diapositiva"/>
          <p:cNvSpPr>
            <a:spLocks noGrp="1"/>
          </p:cNvSpPr>
          <p:nvPr>
            <p:ph type="sldNum" sz="quarter" idx="12"/>
          </p:nvPr>
        </p:nvSpPr>
        <p:spPr/>
        <p:txBody>
          <a:bodyPr/>
          <a:lstStyle/>
          <a:p>
            <a:fld id="{47905A6E-3428-42CC-8A3B-D0D77FE4EB92}" type="slidenum">
              <a:rPr lang="es-ES" smtClean="0"/>
              <a:pPr/>
              <a:t>9</a:t>
            </a:fld>
            <a:endParaRPr lang="es-ES" dirty="0"/>
          </a:p>
        </p:txBody>
      </p:sp>
      <p:sp>
        <p:nvSpPr>
          <p:cNvPr id="7" name="6 CuadroTexto"/>
          <p:cNvSpPr txBox="1"/>
          <p:nvPr/>
        </p:nvSpPr>
        <p:spPr>
          <a:xfrm>
            <a:off x="251520" y="188640"/>
            <a:ext cx="9001156" cy="646331"/>
          </a:xfrm>
          <a:prstGeom prst="rect">
            <a:avLst/>
          </a:prstGeom>
          <a:noFill/>
        </p:spPr>
        <p:txBody>
          <a:bodyPr wrap="square" rtlCol="0">
            <a:spAutoFit/>
          </a:bodyPr>
          <a:lstStyle/>
          <a:p>
            <a:pPr algn="ctr"/>
            <a:r>
              <a:rPr lang="es-ES" sz="3600" b="1" dirty="0" smtClean="0">
                <a:solidFill>
                  <a:srgbClr val="FF0000"/>
                </a:solidFill>
              </a:rPr>
              <a:t>Jurisprudencia (II)</a:t>
            </a:r>
            <a:endParaRPr lang="es-ES" sz="3600" b="1" dirty="0">
              <a:solidFill>
                <a:srgbClr val="FF0000"/>
              </a:solidFill>
            </a:endParaRPr>
          </a:p>
        </p:txBody>
      </p:sp>
      <p:pic>
        <p:nvPicPr>
          <p:cNvPr id="8"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1876" y="476672"/>
            <a:ext cx="9001156" cy="5616624"/>
          </a:xfrm>
        </p:spPr>
        <p:txBody>
          <a:bodyPr>
            <a:noAutofit/>
          </a:bodyPr>
          <a:lstStyle/>
          <a:p>
            <a:pPr algn="just">
              <a:lnSpc>
                <a:spcPct val="170000"/>
              </a:lnSpc>
              <a:buNone/>
            </a:pPr>
            <a:r>
              <a:rPr lang="es-ES" sz="1400" b="1" dirty="0" smtClean="0"/>
              <a:t>“Asociación Transportistas Unidos de </a:t>
            </a:r>
            <a:r>
              <a:rPr lang="es-ES" sz="1400" b="1" dirty="0" err="1" smtClean="0"/>
              <a:t>Elortondo</a:t>
            </a:r>
            <a:r>
              <a:rPr lang="es-ES" sz="1400" b="1" dirty="0" smtClean="0"/>
              <a:t> c/Provincia de Santa Fe –recurso contencioso administrativo –s/queja por denegación del recurso de inconstitucionalidad”. CSJ Santa Fe. 23/12/2019</a:t>
            </a:r>
            <a:r>
              <a:rPr lang="es-ES" sz="1400" dirty="0" smtClean="0"/>
              <a:t>. No encuadró a la Entidad como de “beneficio público” por considerar “… que el único fin perseguido por el ente sea el beneficio de sus propios integrantes…”. </a:t>
            </a:r>
            <a:r>
              <a:rPr lang="es-ES" sz="1400" u="sng" dirty="0" smtClean="0"/>
              <a:t>No atendió al argumento de la falta de lucro previsto en la Ley 23.548 por considerar que el mismo no fue objeto de anterior alegación</a:t>
            </a:r>
            <a:r>
              <a:rPr lang="es-ES" sz="1400" dirty="0" smtClean="0"/>
              <a:t>. </a:t>
            </a:r>
            <a:endParaRPr lang="es-AR" sz="1400" dirty="0" smtClean="0"/>
          </a:p>
          <a:p>
            <a:pPr algn="just">
              <a:lnSpc>
                <a:spcPct val="170000"/>
              </a:lnSpc>
              <a:buNone/>
            </a:pPr>
            <a:r>
              <a:rPr lang="es-ES" sz="1400" dirty="0" smtClean="0"/>
              <a:t>“</a:t>
            </a:r>
            <a:r>
              <a:rPr lang="es-ES" sz="1400" b="1" dirty="0" smtClean="0"/>
              <a:t>Asociación Mutual Consejeros de los Arroyos </a:t>
            </a:r>
            <a:r>
              <a:rPr lang="es-ES" sz="1400" b="1" dirty="0" err="1" smtClean="0"/>
              <a:t>Coop</a:t>
            </a:r>
            <a:r>
              <a:rPr lang="es-ES" sz="1400" b="1" dirty="0" smtClean="0"/>
              <a:t>. </a:t>
            </a:r>
            <a:r>
              <a:rPr lang="es-ES" sz="1400" b="1" dirty="0" err="1" smtClean="0"/>
              <a:t>Emp</a:t>
            </a:r>
            <a:r>
              <a:rPr lang="es-ES" sz="1400" b="1" dirty="0" smtClean="0"/>
              <a:t>. </a:t>
            </a:r>
            <a:r>
              <a:rPr lang="es-ES" sz="1400" b="1" dirty="0" err="1" smtClean="0"/>
              <a:t>Mult</a:t>
            </a:r>
            <a:r>
              <a:rPr lang="es-ES" sz="1400" b="1" dirty="0" smtClean="0"/>
              <a:t>. c/PE s/ Declarativa de Certeza. Conf. de Competencia art. 7, inc. 1 Ley 12.008”</a:t>
            </a:r>
            <a:r>
              <a:rPr lang="es-AR" sz="1400" dirty="0" smtClean="0"/>
              <a:t>. </a:t>
            </a:r>
            <a:r>
              <a:rPr lang="es-AR" sz="1400" b="1" dirty="0" smtClean="0"/>
              <a:t>SCPBA. 13/02/2019</a:t>
            </a:r>
            <a:r>
              <a:rPr lang="es-AR" sz="1400" dirty="0" smtClean="0"/>
              <a:t>. Rechazó el planteo de inconstitucionalidad  (Ley 23.548) por extemporáneo.</a:t>
            </a:r>
          </a:p>
          <a:p>
            <a:pPr lvl="0" algn="just">
              <a:lnSpc>
                <a:spcPct val="170000"/>
              </a:lnSpc>
              <a:buNone/>
            </a:pPr>
            <a:r>
              <a:rPr lang="es-AR" sz="1400" b="1" dirty="0" smtClean="0"/>
              <a:t> “</a:t>
            </a:r>
            <a:r>
              <a:rPr lang="es-AR" sz="1400" b="1" dirty="0" err="1" smtClean="0"/>
              <a:t>Asoc</a:t>
            </a:r>
            <a:r>
              <a:rPr lang="es-AR" sz="1400" b="1" dirty="0" smtClean="0"/>
              <a:t>. </a:t>
            </a:r>
            <a:r>
              <a:rPr lang="es-AR" sz="1400" b="1" dirty="0" err="1" smtClean="0"/>
              <a:t>Mut</a:t>
            </a:r>
            <a:r>
              <a:rPr lang="es-AR" sz="1400" b="1" dirty="0" smtClean="0"/>
              <a:t>. </a:t>
            </a:r>
            <a:r>
              <a:rPr lang="es-AR" sz="1400" b="1" dirty="0" err="1" smtClean="0"/>
              <a:t>Ferrov</a:t>
            </a:r>
            <a:r>
              <a:rPr lang="es-AR" sz="1400" b="1" dirty="0" smtClean="0"/>
              <a:t>. Pergamino F.C. Mitre. </a:t>
            </a:r>
            <a:r>
              <a:rPr lang="es-AR" sz="1400" b="1" dirty="0" err="1" smtClean="0"/>
              <a:t>Decl</a:t>
            </a:r>
            <a:r>
              <a:rPr lang="es-AR" sz="1400" b="1" dirty="0" smtClean="0"/>
              <a:t>. Certeza”. </a:t>
            </a:r>
            <a:r>
              <a:rPr lang="es-AR" sz="1400" dirty="0" smtClean="0"/>
              <a:t>CA San Nicolás.  25/08/20.  Planteó declarativa de certeza. Sostiene Exención; inconstitucionalidad del CF respecto art. 41 C. Prov. y la Ley 14.650;  en subsidio la imposibilidad de realizar </a:t>
            </a:r>
            <a:r>
              <a:rPr lang="es-AR" sz="1400" dirty="0" err="1" smtClean="0"/>
              <a:t>act</a:t>
            </a:r>
            <a:r>
              <a:rPr lang="es-AR" sz="1400" dirty="0" smtClean="0"/>
              <a:t>. financieras;  e </a:t>
            </a:r>
            <a:r>
              <a:rPr lang="es-AR" sz="1400" dirty="0" err="1" smtClean="0"/>
              <a:t>inconst</a:t>
            </a:r>
            <a:r>
              <a:rPr lang="es-AR" sz="1400" dirty="0" smtClean="0"/>
              <a:t>. Ley </a:t>
            </a:r>
            <a:r>
              <a:rPr lang="es-AR" sz="1400" dirty="0" err="1" smtClean="0"/>
              <a:t>Copart</a:t>
            </a:r>
            <a:r>
              <a:rPr lang="es-AR" sz="1400" dirty="0" smtClean="0"/>
              <a:t>. La primera instancia aceptó formalmente la acción declarativa pero luego del análisis rechazó la demanda de la Mutual. No aceptó la </a:t>
            </a:r>
            <a:r>
              <a:rPr lang="es-AR" sz="1400" dirty="0" err="1" smtClean="0"/>
              <a:t>inconst</a:t>
            </a:r>
            <a:r>
              <a:rPr lang="es-AR" sz="1400" dirty="0" smtClean="0"/>
              <a:t>. La Cámara por mayoría ratificó el fallo 1° </a:t>
            </a:r>
            <a:r>
              <a:rPr lang="es-AR" sz="1400" dirty="0" err="1" smtClean="0"/>
              <a:t>inst</a:t>
            </a:r>
            <a:r>
              <a:rPr lang="es-AR" sz="1400" dirty="0" smtClean="0"/>
              <a:t>. </a:t>
            </a:r>
          </a:p>
          <a:p>
            <a:pPr lvl="0" algn="just">
              <a:lnSpc>
                <a:spcPct val="170000"/>
              </a:lnSpc>
              <a:buNone/>
            </a:pPr>
            <a:r>
              <a:rPr lang="es-AR" sz="1400" b="1" dirty="0" smtClean="0"/>
              <a:t> “Centro </a:t>
            </a:r>
            <a:r>
              <a:rPr lang="es-AR" sz="1400" b="1" dirty="0" err="1" smtClean="0"/>
              <a:t>Empl</a:t>
            </a:r>
            <a:r>
              <a:rPr lang="es-AR" sz="1400" b="1" dirty="0" smtClean="0"/>
              <a:t>. Comercio Gral. </a:t>
            </a:r>
            <a:r>
              <a:rPr lang="es-AR" sz="1400" b="1" dirty="0" err="1" smtClean="0"/>
              <a:t>Rodriguez</a:t>
            </a:r>
            <a:r>
              <a:rPr lang="es-AR" sz="1400" b="1" dirty="0" smtClean="0"/>
              <a:t> c/ATER”. </a:t>
            </a:r>
            <a:r>
              <a:rPr lang="es-AR" sz="1400" dirty="0" smtClean="0"/>
              <a:t>CSJN.  29/05/18. Ante el planteo de </a:t>
            </a:r>
            <a:r>
              <a:rPr lang="es-AR" sz="1400" dirty="0" err="1" smtClean="0"/>
              <a:t>inconst</a:t>
            </a:r>
            <a:r>
              <a:rPr lang="es-AR" sz="1400" dirty="0" smtClean="0"/>
              <a:t>. En la justicia federal, la 1° entendió que era competencia de la CSJN. La corte sostuvo que era competencia provincial. El TSJ ER (3/12/19) sostuvo que era competencia de CCA N° 1.</a:t>
            </a:r>
            <a:endParaRPr lang="es-ES" sz="1400" dirty="0" smtClean="0"/>
          </a:p>
          <a:p>
            <a:pPr algn="just">
              <a:lnSpc>
                <a:spcPct val="170000"/>
              </a:lnSpc>
              <a:buNone/>
            </a:pPr>
            <a:endParaRPr lang="es-AR" sz="1500" dirty="0" smtClean="0"/>
          </a:p>
          <a:p>
            <a:pPr algn="just">
              <a:lnSpc>
                <a:spcPct val="170000"/>
              </a:lnSpc>
              <a:buNone/>
            </a:pPr>
            <a:endParaRPr lang="es-AR" sz="1400" dirty="0" smtClean="0"/>
          </a:p>
        </p:txBody>
      </p:sp>
      <p:sp>
        <p:nvSpPr>
          <p:cNvPr id="5" name="4 Marcador de número de diapositiva"/>
          <p:cNvSpPr>
            <a:spLocks noGrp="1"/>
          </p:cNvSpPr>
          <p:nvPr>
            <p:ph type="sldNum" sz="quarter" idx="12"/>
          </p:nvPr>
        </p:nvSpPr>
        <p:spPr>
          <a:xfrm>
            <a:off x="8647272" y="6448251"/>
            <a:ext cx="365760" cy="365125"/>
          </a:xfrm>
        </p:spPr>
        <p:txBody>
          <a:bodyPr/>
          <a:lstStyle/>
          <a:p>
            <a:fld id="{47905A6E-3428-42CC-8A3B-D0D77FE4EB92}" type="slidenum">
              <a:rPr lang="es-ES" smtClean="0"/>
              <a:pPr/>
              <a:t>10</a:t>
            </a:fld>
            <a:endParaRPr lang="es-ES" dirty="0"/>
          </a:p>
        </p:txBody>
      </p:sp>
      <p:sp>
        <p:nvSpPr>
          <p:cNvPr id="7" name="6 CuadroTexto"/>
          <p:cNvSpPr txBox="1"/>
          <p:nvPr/>
        </p:nvSpPr>
        <p:spPr>
          <a:xfrm>
            <a:off x="251520" y="46365"/>
            <a:ext cx="9001156" cy="646331"/>
          </a:xfrm>
          <a:prstGeom prst="rect">
            <a:avLst/>
          </a:prstGeom>
          <a:noFill/>
        </p:spPr>
        <p:txBody>
          <a:bodyPr wrap="square" rtlCol="0">
            <a:spAutoFit/>
          </a:bodyPr>
          <a:lstStyle/>
          <a:p>
            <a:pPr algn="ctr"/>
            <a:r>
              <a:rPr lang="es-ES" sz="3600" b="1" dirty="0" smtClean="0">
                <a:solidFill>
                  <a:srgbClr val="FF0000"/>
                </a:solidFill>
              </a:rPr>
              <a:t>Jurisprudencia (III)</a:t>
            </a:r>
            <a:endParaRPr lang="es-ES" sz="3600" b="1" dirty="0">
              <a:solidFill>
                <a:srgbClr val="FF0000"/>
              </a:solidFill>
            </a:endParaRPr>
          </a:p>
        </p:txBody>
      </p:sp>
      <p:pic>
        <p:nvPicPr>
          <p:cNvPr id="8"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número de diapositiva"/>
          <p:cNvSpPr>
            <a:spLocks noGrp="1"/>
          </p:cNvSpPr>
          <p:nvPr>
            <p:ph type="sldNum" sz="quarter" idx="12"/>
          </p:nvPr>
        </p:nvSpPr>
        <p:spPr/>
        <p:txBody>
          <a:bodyPr/>
          <a:lstStyle/>
          <a:p>
            <a:fld id="{47905A6E-3428-42CC-8A3B-D0D77FE4EB92}" type="slidenum">
              <a:rPr lang="es-ES" smtClean="0"/>
              <a:pPr/>
              <a:t>11</a:t>
            </a:fld>
            <a:endParaRPr lang="es-ES" dirty="0"/>
          </a:p>
        </p:txBody>
      </p:sp>
      <p:sp>
        <p:nvSpPr>
          <p:cNvPr id="7" name="6 CuadroTexto"/>
          <p:cNvSpPr txBox="1"/>
          <p:nvPr/>
        </p:nvSpPr>
        <p:spPr>
          <a:xfrm>
            <a:off x="-108520" y="46365"/>
            <a:ext cx="9001156" cy="646331"/>
          </a:xfrm>
          <a:prstGeom prst="rect">
            <a:avLst/>
          </a:prstGeom>
          <a:noFill/>
        </p:spPr>
        <p:txBody>
          <a:bodyPr wrap="square" rtlCol="0">
            <a:spAutoFit/>
          </a:bodyPr>
          <a:lstStyle/>
          <a:p>
            <a:pPr algn="ctr"/>
            <a:r>
              <a:rPr lang="es-ES" sz="3600" b="1" dirty="0" smtClean="0">
                <a:solidFill>
                  <a:srgbClr val="FF0000"/>
                </a:solidFill>
              </a:rPr>
              <a:t>RG 4860/2020 AFIP - INAES</a:t>
            </a:r>
            <a:endParaRPr lang="es-ES" sz="3600" b="1" dirty="0">
              <a:solidFill>
                <a:srgbClr val="FF0000"/>
              </a:solidFill>
            </a:endParaRPr>
          </a:p>
        </p:txBody>
      </p:sp>
      <p:pic>
        <p:nvPicPr>
          <p:cNvPr id="8"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
        <p:nvSpPr>
          <p:cNvPr id="4" name="CuadroTexto 3"/>
          <p:cNvSpPr txBox="1"/>
          <p:nvPr/>
        </p:nvSpPr>
        <p:spPr>
          <a:xfrm>
            <a:off x="1979712" y="674693"/>
            <a:ext cx="5688632" cy="954107"/>
          </a:xfrm>
          <a:prstGeom prst="rect">
            <a:avLst/>
          </a:prstGeom>
          <a:noFill/>
        </p:spPr>
        <p:txBody>
          <a:bodyPr wrap="square" rtlCol="0">
            <a:spAutoFit/>
          </a:bodyPr>
          <a:lstStyle/>
          <a:p>
            <a:pPr algn="ctr"/>
            <a:r>
              <a:rPr lang="es-ES" sz="2800" b="1" dirty="0" smtClean="0">
                <a:solidFill>
                  <a:srgbClr val="163F9A"/>
                </a:solidFill>
              </a:rPr>
              <a:t>Constitución e Inscripción</a:t>
            </a:r>
          </a:p>
          <a:p>
            <a:pPr algn="ctr"/>
            <a:r>
              <a:rPr lang="es-ES" sz="2800" b="1" dirty="0" smtClean="0">
                <a:solidFill>
                  <a:srgbClr val="163F9A"/>
                </a:solidFill>
              </a:rPr>
              <a:t>- CUIT -</a:t>
            </a:r>
            <a:endParaRPr lang="en-US" sz="2800" dirty="0"/>
          </a:p>
        </p:txBody>
      </p:sp>
      <p:sp>
        <p:nvSpPr>
          <p:cNvPr id="6" name="Rectángulo redondeado 5"/>
          <p:cNvSpPr/>
          <p:nvPr/>
        </p:nvSpPr>
        <p:spPr>
          <a:xfrm>
            <a:off x="251520" y="1988840"/>
            <a:ext cx="2232248" cy="108012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s-ES" dirty="0" smtClean="0">
                <a:solidFill>
                  <a:srgbClr val="FF0000"/>
                </a:solidFill>
              </a:rPr>
              <a:t>La inscripción se inicia digitalmente en el INAES</a:t>
            </a:r>
          </a:p>
        </p:txBody>
      </p:sp>
      <p:sp>
        <p:nvSpPr>
          <p:cNvPr id="9" name="Rectángulo redondeado 8"/>
          <p:cNvSpPr/>
          <p:nvPr/>
        </p:nvSpPr>
        <p:spPr>
          <a:xfrm>
            <a:off x="3059832" y="1844824"/>
            <a:ext cx="5855568" cy="1512168"/>
          </a:xfrm>
          <a:prstGeom prst="round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 dirty="0" smtClean="0">
                <a:solidFill>
                  <a:schemeClr val="tx1"/>
                </a:solidFill>
              </a:rPr>
              <a:t>Acta </a:t>
            </a:r>
            <a:r>
              <a:rPr lang="es-ES" dirty="0">
                <a:solidFill>
                  <a:schemeClr val="tx1"/>
                </a:solidFill>
              </a:rPr>
              <a:t>de distribución de cargos e integrantes del consejo directivo, domicilio fiscal de la entidad; adhesión al domicilio fiscal electrónico y administrador de relaciones</a:t>
            </a:r>
            <a:endParaRPr lang="en-US" dirty="0">
              <a:solidFill>
                <a:schemeClr val="tx1"/>
              </a:solidFill>
            </a:endParaRPr>
          </a:p>
        </p:txBody>
      </p:sp>
      <p:sp>
        <p:nvSpPr>
          <p:cNvPr id="10" name="Rectángulo 9"/>
          <p:cNvSpPr/>
          <p:nvPr/>
        </p:nvSpPr>
        <p:spPr>
          <a:xfrm>
            <a:off x="285720" y="3774541"/>
            <a:ext cx="4214272" cy="11521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ES" dirty="0" smtClean="0">
                <a:solidFill>
                  <a:srgbClr val="163F9A"/>
                </a:solidFill>
              </a:rPr>
              <a:t>Resolución y matrícula.</a:t>
            </a:r>
          </a:p>
          <a:p>
            <a:pPr algn="ctr"/>
            <a:r>
              <a:rPr lang="es-ES" dirty="0" smtClean="0">
                <a:solidFill>
                  <a:srgbClr val="163F9A"/>
                </a:solidFill>
              </a:rPr>
              <a:t>Remite a AFIP documentación con pedido de CUIT </a:t>
            </a:r>
            <a:endParaRPr lang="en-US" dirty="0">
              <a:solidFill>
                <a:srgbClr val="163F9A"/>
              </a:solidFill>
            </a:endParaRPr>
          </a:p>
        </p:txBody>
      </p:sp>
      <p:sp>
        <p:nvSpPr>
          <p:cNvPr id="11" name="Rectángulo redondeado 10"/>
          <p:cNvSpPr/>
          <p:nvPr/>
        </p:nvSpPr>
        <p:spPr>
          <a:xfrm>
            <a:off x="5076056" y="3825044"/>
            <a:ext cx="3528392" cy="936104"/>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s-ES" dirty="0" smtClean="0"/>
              <a:t>AFIP valida y otorga CUIT si corresponde. </a:t>
            </a:r>
          </a:p>
          <a:p>
            <a:pPr algn="ctr"/>
            <a:r>
              <a:rPr lang="es-ES" dirty="0" smtClean="0"/>
              <a:t>Comunica a INAES</a:t>
            </a:r>
            <a:endParaRPr lang="en-US" dirty="0"/>
          </a:p>
        </p:txBody>
      </p:sp>
      <p:sp>
        <p:nvSpPr>
          <p:cNvPr id="12" name="Elipse 11"/>
          <p:cNvSpPr/>
          <p:nvPr/>
        </p:nvSpPr>
        <p:spPr>
          <a:xfrm>
            <a:off x="5436096" y="5373216"/>
            <a:ext cx="3024336" cy="1296144"/>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ES" dirty="0" smtClean="0">
                <a:solidFill>
                  <a:schemeClr val="tx1"/>
                </a:solidFill>
              </a:rPr>
              <a:t>INAES notifica al solicitante la resolución de AFIP</a:t>
            </a:r>
            <a:endParaRPr lang="en-US" dirty="0">
              <a:solidFill>
                <a:schemeClr val="tx1"/>
              </a:solidFill>
            </a:endParaRPr>
          </a:p>
        </p:txBody>
      </p:sp>
      <p:sp>
        <p:nvSpPr>
          <p:cNvPr id="13" name="Flecha derecha 12"/>
          <p:cNvSpPr/>
          <p:nvPr/>
        </p:nvSpPr>
        <p:spPr>
          <a:xfrm>
            <a:off x="2555776" y="2420888"/>
            <a:ext cx="432048" cy="216024"/>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echa derecha 13"/>
          <p:cNvSpPr/>
          <p:nvPr/>
        </p:nvSpPr>
        <p:spPr>
          <a:xfrm>
            <a:off x="4576643" y="4185084"/>
            <a:ext cx="432048" cy="216024"/>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echa derecha 14"/>
          <p:cNvSpPr/>
          <p:nvPr/>
        </p:nvSpPr>
        <p:spPr>
          <a:xfrm rot="5400000">
            <a:off x="6696236" y="4977172"/>
            <a:ext cx="432048" cy="216024"/>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echa derecha 15"/>
          <p:cNvSpPr/>
          <p:nvPr/>
        </p:nvSpPr>
        <p:spPr>
          <a:xfrm rot="5400000">
            <a:off x="1477357" y="3320988"/>
            <a:ext cx="432048" cy="216024"/>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8610988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500066" y="404664"/>
            <a:ext cx="8501090" cy="646331"/>
          </a:xfrm>
          <a:prstGeom prst="rect">
            <a:avLst/>
          </a:prstGeom>
          <a:noFill/>
        </p:spPr>
        <p:txBody>
          <a:bodyPr wrap="square" rtlCol="0">
            <a:spAutoFit/>
          </a:bodyPr>
          <a:lstStyle/>
          <a:p>
            <a:pPr algn="ctr"/>
            <a:r>
              <a:rPr lang="es-AR" sz="3500" b="1" dirty="0" smtClean="0">
                <a:solidFill>
                  <a:srgbClr val="FF0000"/>
                </a:solidFill>
              </a:rPr>
              <a:t>IMPUESTO AL VALOR AGREGADO (I)</a:t>
            </a:r>
            <a:endParaRPr lang="es-ES" sz="3500" b="1" dirty="0">
              <a:solidFill>
                <a:srgbClr val="FF0000"/>
              </a:solidFill>
            </a:endParaRPr>
          </a:p>
        </p:txBody>
      </p:sp>
      <p:sp>
        <p:nvSpPr>
          <p:cNvPr id="7" name="6 Rectángulo redondeado"/>
          <p:cNvSpPr/>
          <p:nvPr/>
        </p:nvSpPr>
        <p:spPr>
          <a:xfrm>
            <a:off x="357158" y="2000240"/>
            <a:ext cx="3357586" cy="162878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2400" b="1" dirty="0" smtClean="0">
                <a:solidFill>
                  <a:schemeClr val="tx1"/>
                </a:solidFill>
              </a:rPr>
              <a:t>Exenciones genéricas de impuestos</a:t>
            </a:r>
          </a:p>
          <a:p>
            <a:pPr algn="ctr"/>
            <a:r>
              <a:rPr lang="es-ES" sz="2400" b="1" dirty="0" smtClean="0">
                <a:solidFill>
                  <a:schemeClr val="tx1"/>
                </a:solidFill>
              </a:rPr>
              <a:t>Ley 20.321</a:t>
            </a:r>
            <a:endParaRPr lang="es-AR" sz="2400" b="1" dirty="0">
              <a:solidFill>
                <a:schemeClr val="tx1"/>
              </a:solidFill>
            </a:endParaRPr>
          </a:p>
        </p:txBody>
      </p:sp>
      <p:sp>
        <p:nvSpPr>
          <p:cNvPr id="10" name="9 Rectángulo redondeado"/>
          <p:cNvSpPr/>
          <p:nvPr/>
        </p:nvSpPr>
        <p:spPr>
          <a:xfrm>
            <a:off x="5143504" y="2000240"/>
            <a:ext cx="3500462" cy="1714512"/>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s-ES" sz="2400" b="1" dirty="0" smtClean="0">
                <a:solidFill>
                  <a:schemeClr val="tx1"/>
                </a:solidFill>
              </a:rPr>
              <a:t>Exenciones </a:t>
            </a:r>
          </a:p>
          <a:p>
            <a:pPr algn="ctr"/>
            <a:r>
              <a:rPr lang="es-ES" sz="2400" b="1" dirty="0" smtClean="0">
                <a:solidFill>
                  <a:schemeClr val="tx1"/>
                </a:solidFill>
              </a:rPr>
              <a:t>Ley </a:t>
            </a:r>
            <a:r>
              <a:rPr lang="es-ES" sz="2400" b="1" dirty="0" err="1" smtClean="0">
                <a:solidFill>
                  <a:schemeClr val="tx1"/>
                </a:solidFill>
              </a:rPr>
              <a:t>Iva</a:t>
            </a:r>
            <a:endParaRPr lang="es-ES" sz="2400" b="1" dirty="0" smtClean="0">
              <a:solidFill>
                <a:schemeClr val="tx1"/>
              </a:solidFill>
            </a:endParaRPr>
          </a:p>
          <a:p>
            <a:pPr algn="ctr"/>
            <a:endParaRPr lang="es-AR" dirty="0"/>
          </a:p>
        </p:txBody>
      </p:sp>
      <p:sp>
        <p:nvSpPr>
          <p:cNvPr id="11" name="10 CuadroTexto"/>
          <p:cNvSpPr txBox="1"/>
          <p:nvPr/>
        </p:nvSpPr>
        <p:spPr>
          <a:xfrm>
            <a:off x="3904871" y="2643182"/>
            <a:ext cx="1024319" cy="461665"/>
          </a:xfrm>
          <a:prstGeom prst="rect">
            <a:avLst/>
          </a:prstGeom>
          <a:noFill/>
        </p:spPr>
        <p:txBody>
          <a:bodyPr wrap="none" rtlCol="0">
            <a:spAutoFit/>
          </a:bodyPr>
          <a:lstStyle/>
          <a:p>
            <a:pPr algn="ctr"/>
            <a:r>
              <a:rPr lang="es-ES" sz="2400" b="1" dirty="0" smtClean="0"/>
              <a:t>Versus</a:t>
            </a:r>
            <a:endParaRPr lang="es-AR" sz="2400" b="1" dirty="0"/>
          </a:p>
        </p:txBody>
      </p:sp>
      <p:sp>
        <p:nvSpPr>
          <p:cNvPr id="8" name="7 CuadroTexto"/>
          <p:cNvSpPr txBox="1"/>
          <p:nvPr/>
        </p:nvSpPr>
        <p:spPr>
          <a:xfrm>
            <a:off x="611560" y="1071546"/>
            <a:ext cx="7848872" cy="923330"/>
          </a:xfrm>
          <a:prstGeom prst="rect">
            <a:avLst/>
          </a:prstGeom>
          <a:noFill/>
        </p:spPr>
        <p:txBody>
          <a:bodyPr wrap="square" rtlCol="0">
            <a:spAutoFit/>
          </a:bodyPr>
          <a:lstStyle/>
          <a:p>
            <a:pPr algn="just"/>
            <a:r>
              <a:rPr lang="es-AR" b="1" i="1" dirty="0" smtClean="0"/>
              <a:t>“El impuesto al Valor Agregado es un impuesto indirecto que grava la venta de cosas muebles, las obras, locaciones y prestaciones de servicios, las importaciones definitivas de cosas muebles y…”</a:t>
            </a:r>
            <a:endParaRPr lang="es-AR" b="1" i="1" dirty="0"/>
          </a:p>
        </p:txBody>
      </p:sp>
      <p:pic>
        <p:nvPicPr>
          <p:cNvPr id="9"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12" name="11 Marcador de número de diapositiva"/>
          <p:cNvSpPr>
            <a:spLocks noGrp="1"/>
          </p:cNvSpPr>
          <p:nvPr>
            <p:ph type="sldNum" sz="quarter" idx="12"/>
          </p:nvPr>
        </p:nvSpPr>
        <p:spPr/>
        <p:txBody>
          <a:bodyPr/>
          <a:lstStyle/>
          <a:p>
            <a:fld id="{47905A6E-3428-42CC-8A3B-D0D77FE4EB92}" type="slidenum">
              <a:rPr lang="es-ES" smtClean="0"/>
              <a:pPr/>
              <a:t>12</a:t>
            </a:fld>
            <a:endParaRPr lang="es-ES" dirty="0"/>
          </a:p>
        </p:txBody>
      </p:sp>
      <p:sp>
        <p:nvSpPr>
          <p:cNvPr id="13" name="12 CuadroTexto"/>
          <p:cNvSpPr txBox="1"/>
          <p:nvPr/>
        </p:nvSpPr>
        <p:spPr>
          <a:xfrm>
            <a:off x="5286380" y="3786190"/>
            <a:ext cx="3071834" cy="877163"/>
          </a:xfrm>
          <a:prstGeom prst="rect">
            <a:avLst/>
          </a:prstGeom>
          <a:noFill/>
        </p:spPr>
        <p:txBody>
          <a:bodyPr wrap="square" rtlCol="0">
            <a:spAutoFit/>
          </a:bodyPr>
          <a:lstStyle/>
          <a:p>
            <a:pPr algn="ctr"/>
            <a:r>
              <a:rPr lang="es-ES" sz="1700" b="1" dirty="0" smtClean="0"/>
              <a:t>La ley de </a:t>
            </a:r>
            <a:r>
              <a:rPr lang="es-ES" sz="1700" b="1" dirty="0" err="1" smtClean="0"/>
              <a:t>Iva</a:t>
            </a:r>
            <a:r>
              <a:rPr lang="es-ES" sz="1700" b="1" dirty="0" smtClean="0"/>
              <a:t> </a:t>
            </a:r>
            <a:r>
              <a:rPr lang="es-ES" sz="1700" dirty="0" smtClean="0"/>
              <a:t>limita la exención a determinadas actividades (art. 3, inc. e), </a:t>
            </a:r>
            <a:r>
              <a:rPr lang="es-ES" sz="1700" dirty="0" err="1" smtClean="0"/>
              <a:t>pto</a:t>
            </a:r>
            <a:r>
              <a:rPr lang="es-ES" sz="1700" dirty="0" smtClean="0"/>
              <a:t> 21 ley </a:t>
            </a:r>
            <a:r>
              <a:rPr lang="es-ES" sz="1700" dirty="0" err="1" smtClean="0"/>
              <a:t>Iva</a:t>
            </a:r>
            <a:r>
              <a:rPr lang="es-ES" sz="1700" dirty="0" smtClean="0"/>
              <a:t>).</a:t>
            </a:r>
            <a:endParaRPr lang="es-AR" sz="1700" dirty="0"/>
          </a:p>
        </p:txBody>
      </p:sp>
      <p:sp>
        <p:nvSpPr>
          <p:cNvPr id="14" name="13 CuadroTexto"/>
          <p:cNvSpPr txBox="1"/>
          <p:nvPr/>
        </p:nvSpPr>
        <p:spPr>
          <a:xfrm>
            <a:off x="500066" y="3786190"/>
            <a:ext cx="2786050" cy="1400383"/>
          </a:xfrm>
          <a:prstGeom prst="rect">
            <a:avLst/>
          </a:prstGeom>
          <a:noFill/>
        </p:spPr>
        <p:txBody>
          <a:bodyPr wrap="square" rtlCol="0">
            <a:spAutoFit/>
          </a:bodyPr>
          <a:lstStyle/>
          <a:p>
            <a:pPr algn="ctr"/>
            <a:r>
              <a:rPr lang="es-ES" sz="1700" b="1" dirty="0" smtClean="0"/>
              <a:t>Inst. </a:t>
            </a:r>
            <a:r>
              <a:rPr lang="es-ES" sz="1700" b="1" dirty="0" err="1" smtClean="0"/>
              <a:t>Gral</a:t>
            </a:r>
            <a:r>
              <a:rPr lang="es-ES" sz="1700" b="1" dirty="0" smtClean="0"/>
              <a:t> (DGI) 28/1995. </a:t>
            </a:r>
            <a:r>
              <a:rPr lang="es-ES" sz="1700" dirty="0" smtClean="0"/>
              <a:t>Resolvió el conflicto estableciendo que la Ley 20.321 prevalece sobre la ley de </a:t>
            </a:r>
            <a:r>
              <a:rPr lang="es-ES" sz="1700" dirty="0" err="1" smtClean="0"/>
              <a:t>Iva</a:t>
            </a:r>
            <a:r>
              <a:rPr lang="es-ES" sz="1700" dirty="0" smtClean="0"/>
              <a:t>.</a:t>
            </a:r>
            <a:endParaRPr lang="es-AR" sz="1700" dirty="0"/>
          </a:p>
        </p:txBody>
      </p:sp>
      <p:sp>
        <p:nvSpPr>
          <p:cNvPr id="15" name="14 CuadroTexto"/>
          <p:cNvSpPr txBox="1"/>
          <p:nvPr/>
        </p:nvSpPr>
        <p:spPr>
          <a:xfrm>
            <a:off x="571472" y="5363190"/>
            <a:ext cx="2643206" cy="615553"/>
          </a:xfrm>
          <a:prstGeom prst="rect">
            <a:avLst/>
          </a:prstGeom>
          <a:noFill/>
        </p:spPr>
        <p:txBody>
          <a:bodyPr wrap="square" rtlCol="0">
            <a:spAutoFit/>
          </a:bodyPr>
          <a:lstStyle/>
          <a:p>
            <a:pPr algn="ctr"/>
            <a:r>
              <a:rPr lang="es-ES" sz="1700" b="1" dirty="0" smtClean="0"/>
              <a:t>Inst. </a:t>
            </a:r>
            <a:r>
              <a:rPr lang="es-ES" sz="1700" b="1" dirty="0" err="1" smtClean="0"/>
              <a:t>Gral</a:t>
            </a:r>
            <a:r>
              <a:rPr lang="es-ES" sz="1700" b="1" dirty="0" smtClean="0"/>
              <a:t> (DGI) 6/2004. </a:t>
            </a:r>
            <a:r>
              <a:rPr lang="es-ES" sz="1700" dirty="0" smtClean="0"/>
              <a:t>Ratifica el criterio anterior.</a:t>
            </a:r>
            <a:endParaRPr lang="es-AR" sz="1700" dirty="0"/>
          </a:p>
        </p:txBody>
      </p:sp>
      <p:sp>
        <p:nvSpPr>
          <p:cNvPr id="16" name="15 CuadroTexto"/>
          <p:cNvSpPr txBox="1"/>
          <p:nvPr/>
        </p:nvSpPr>
        <p:spPr>
          <a:xfrm>
            <a:off x="5000628" y="4714884"/>
            <a:ext cx="4000528" cy="1923604"/>
          </a:xfrm>
          <a:prstGeom prst="rect">
            <a:avLst/>
          </a:prstGeom>
          <a:noFill/>
        </p:spPr>
        <p:txBody>
          <a:bodyPr wrap="square" rtlCol="0">
            <a:spAutoFit/>
          </a:bodyPr>
          <a:lstStyle/>
          <a:p>
            <a:pPr algn="ctr"/>
            <a:r>
              <a:rPr lang="es-ES" sz="1700" b="1" dirty="0" smtClean="0"/>
              <a:t>Ley 25.920. (B.O. 9/09/2004). </a:t>
            </a:r>
            <a:r>
              <a:rPr lang="es-ES" sz="1700" dirty="0" smtClean="0"/>
              <a:t>Por un lado reafirma la posición mencionada: la ley 20.321 mantiene supremacía por tener vigencia anterior al dictado de la ley 25.920, pero abrió la puerta a un conflicto por dejar fuera de dicha exención a la actividad de salud.</a:t>
            </a:r>
            <a:endParaRPr lang="es-AR" sz="1700" dirty="0"/>
          </a:p>
        </p:txBody>
      </p:sp>
      <p:sp>
        <p:nvSpPr>
          <p:cNvPr id="17" name="16 Flecha derecha"/>
          <p:cNvSpPr/>
          <p:nvPr/>
        </p:nvSpPr>
        <p:spPr>
          <a:xfrm>
            <a:off x="214282" y="4071942"/>
            <a:ext cx="357190" cy="41319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17 Flecha derecha"/>
          <p:cNvSpPr/>
          <p:nvPr/>
        </p:nvSpPr>
        <p:spPr>
          <a:xfrm>
            <a:off x="214282" y="5357826"/>
            <a:ext cx="428628" cy="496076"/>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9" name="18 Flecha derecha"/>
          <p:cNvSpPr/>
          <p:nvPr/>
        </p:nvSpPr>
        <p:spPr>
          <a:xfrm>
            <a:off x="4643438" y="3929066"/>
            <a:ext cx="428628" cy="484632"/>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0" name="19 Flecha derecha"/>
          <p:cNvSpPr/>
          <p:nvPr/>
        </p:nvSpPr>
        <p:spPr>
          <a:xfrm>
            <a:off x="4643438" y="5143512"/>
            <a:ext cx="461118" cy="484632"/>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395536" y="188640"/>
            <a:ext cx="8715404" cy="615553"/>
          </a:xfrm>
          <a:prstGeom prst="rect">
            <a:avLst/>
          </a:prstGeom>
          <a:noFill/>
        </p:spPr>
        <p:txBody>
          <a:bodyPr wrap="square" rtlCol="0">
            <a:spAutoFit/>
          </a:bodyPr>
          <a:lstStyle/>
          <a:p>
            <a:pPr algn="ctr"/>
            <a:r>
              <a:rPr lang="es-AR" sz="3400" b="1" dirty="0" smtClean="0">
                <a:solidFill>
                  <a:srgbClr val="FF0000"/>
                </a:solidFill>
              </a:rPr>
              <a:t>IMPUESTO AL VALOR AGREGADO (II)</a:t>
            </a:r>
            <a:endParaRPr lang="es-ES" sz="3400" b="1" dirty="0">
              <a:solidFill>
                <a:srgbClr val="FF0000"/>
              </a:solidFill>
            </a:endParaRPr>
          </a:p>
        </p:txBody>
      </p:sp>
      <p:pic>
        <p:nvPicPr>
          <p:cNvPr id="1028" name="Picture 4" descr="Lifting Trophy Drawing royalty-free lifting trophy drawing stock vector art &amp;amp; more images of achievement"/>
          <p:cNvPicPr>
            <a:picLocks noChangeAspect="1" noChangeArrowheads="1"/>
          </p:cNvPicPr>
          <p:nvPr/>
        </p:nvPicPr>
        <p:blipFill>
          <a:blip r:embed="rId2" cstate="print"/>
          <a:srcRect/>
          <a:stretch>
            <a:fillRect/>
          </a:stretch>
        </p:blipFill>
        <p:spPr bwMode="auto">
          <a:xfrm>
            <a:off x="2857487" y="1052736"/>
            <a:ext cx="3571901" cy="4725616"/>
          </a:xfrm>
          <a:prstGeom prst="rect">
            <a:avLst/>
          </a:prstGeom>
          <a:noFill/>
        </p:spPr>
      </p:pic>
      <p:sp>
        <p:nvSpPr>
          <p:cNvPr id="14" name="13 CuadroTexto"/>
          <p:cNvSpPr txBox="1"/>
          <p:nvPr/>
        </p:nvSpPr>
        <p:spPr>
          <a:xfrm>
            <a:off x="3000364" y="2428868"/>
            <a:ext cx="1785950" cy="954107"/>
          </a:xfrm>
          <a:prstGeom prst="rect">
            <a:avLst/>
          </a:prstGeom>
          <a:noFill/>
        </p:spPr>
        <p:txBody>
          <a:bodyPr wrap="square" rtlCol="0">
            <a:spAutoFit/>
          </a:bodyPr>
          <a:lstStyle/>
          <a:p>
            <a:pPr algn="ctr"/>
            <a:r>
              <a:rPr lang="es-ES" sz="1400" b="1" dirty="0" smtClean="0">
                <a:solidFill>
                  <a:srgbClr val="163F9A"/>
                </a:solidFill>
              </a:rPr>
              <a:t>EXENCIONES GENÉRICAS DE IMPUESTOS</a:t>
            </a:r>
          </a:p>
          <a:p>
            <a:pPr algn="ctr"/>
            <a:r>
              <a:rPr lang="es-ES" sz="1400" b="1" dirty="0" smtClean="0">
                <a:solidFill>
                  <a:srgbClr val="163F9A"/>
                </a:solidFill>
              </a:rPr>
              <a:t>Ley 20.321</a:t>
            </a:r>
            <a:endParaRPr lang="es-AR" sz="1400" b="1" dirty="0">
              <a:solidFill>
                <a:srgbClr val="163F9A"/>
              </a:solidFill>
            </a:endParaRPr>
          </a:p>
        </p:txBody>
      </p:sp>
      <p:sp>
        <p:nvSpPr>
          <p:cNvPr id="15" name="14 Rectángulo"/>
          <p:cNvSpPr/>
          <p:nvPr/>
        </p:nvSpPr>
        <p:spPr>
          <a:xfrm>
            <a:off x="2214546" y="5157192"/>
            <a:ext cx="5072098" cy="1154162"/>
          </a:xfrm>
          <a:prstGeom prst="rect">
            <a:avLst/>
          </a:prstGeom>
          <a:solidFill>
            <a:schemeClr val="bg1"/>
          </a:solidFill>
        </p:spPr>
        <p:txBody>
          <a:bodyPr wrap="square">
            <a:spAutoFit/>
          </a:bodyPr>
          <a:lstStyle/>
          <a:p>
            <a:pPr algn="ctr"/>
            <a:r>
              <a:rPr lang="es-ES" b="1" dirty="0" smtClean="0">
                <a:solidFill>
                  <a:srgbClr val="163F9A"/>
                </a:solidFill>
              </a:rPr>
              <a:t>Fallo CSJN:“Asociación Mutual Sancor c/AFIP DGI”, del 14/04/2015</a:t>
            </a:r>
          </a:p>
          <a:p>
            <a:pPr algn="ctr"/>
            <a:endParaRPr lang="es-ES" b="1" dirty="0" smtClean="0">
              <a:solidFill>
                <a:srgbClr val="163F9A"/>
              </a:solidFill>
            </a:endParaRPr>
          </a:p>
          <a:p>
            <a:pPr algn="ctr"/>
            <a:r>
              <a:rPr lang="es-ES" sz="1500" b="1" dirty="0" smtClean="0">
                <a:solidFill>
                  <a:srgbClr val="163F9A"/>
                </a:solidFill>
              </a:rPr>
              <a:t>(Resolución Nº 19/17 (SDG TLI) 28/04/17)</a:t>
            </a:r>
            <a:endParaRPr lang="es-AR" sz="1500" b="1" dirty="0">
              <a:solidFill>
                <a:srgbClr val="163F9A"/>
              </a:solidFill>
            </a:endParaRPr>
          </a:p>
        </p:txBody>
      </p:sp>
      <p:sp>
        <p:nvSpPr>
          <p:cNvPr id="64516" name="AutoShape 4" descr="Confederación Argentina de Mutualidades - Wikipedia, la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AR"/>
          </a:p>
        </p:txBody>
      </p:sp>
      <p:sp>
        <p:nvSpPr>
          <p:cNvPr id="64518" name="AutoShape 6" descr="Confederación Argentina de Mutualidades - Wikipedia, la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AR"/>
          </a:p>
        </p:txBody>
      </p:sp>
      <p:sp>
        <p:nvSpPr>
          <p:cNvPr id="64520" name="AutoShape 8" descr="Confederación Argentina de Mutualidades - Wikipedia, la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AR"/>
          </a:p>
        </p:txBody>
      </p:sp>
      <p:pic>
        <p:nvPicPr>
          <p:cNvPr id="64526"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
        <p:nvSpPr>
          <p:cNvPr id="10" name="9 Marcador de número de diapositiva"/>
          <p:cNvSpPr>
            <a:spLocks noGrp="1"/>
          </p:cNvSpPr>
          <p:nvPr>
            <p:ph type="sldNum" sz="quarter" idx="12"/>
          </p:nvPr>
        </p:nvSpPr>
        <p:spPr/>
        <p:txBody>
          <a:bodyPr/>
          <a:lstStyle/>
          <a:p>
            <a:fld id="{47905A6E-3428-42CC-8A3B-D0D77FE4EB92}" type="slidenum">
              <a:rPr lang="es-ES" smtClean="0"/>
              <a:pPr/>
              <a:t>13</a:t>
            </a:fld>
            <a:endParaRPr lang="es-E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285720" y="500042"/>
            <a:ext cx="8715372" cy="630942"/>
          </a:xfrm>
          <a:prstGeom prst="rect">
            <a:avLst/>
          </a:prstGeom>
          <a:noFill/>
        </p:spPr>
        <p:txBody>
          <a:bodyPr wrap="square" rtlCol="0">
            <a:spAutoFit/>
          </a:bodyPr>
          <a:lstStyle/>
          <a:p>
            <a:pPr algn="ctr"/>
            <a:r>
              <a:rPr lang="es-AR" sz="3500" b="1" dirty="0" smtClean="0">
                <a:solidFill>
                  <a:srgbClr val="FF0000"/>
                </a:solidFill>
              </a:rPr>
              <a:t>IMPUESTO AL VALOR AGREGADO (III)</a:t>
            </a:r>
            <a:endParaRPr lang="es-ES" sz="3500" b="1" dirty="0">
              <a:solidFill>
                <a:srgbClr val="FF0000"/>
              </a:solidFill>
            </a:endParaRPr>
          </a:p>
        </p:txBody>
      </p:sp>
      <p:sp>
        <p:nvSpPr>
          <p:cNvPr id="8" name="7 CuadroTexto"/>
          <p:cNvSpPr txBox="1"/>
          <p:nvPr/>
        </p:nvSpPr>
        <p:spPr>
          <a:xfrm>
            <a:off x="107504" y="1268760"/>
            <a:ext cx="7929617" cy="4154984"/>
          </a:xfrm>
          <a:prstGeom prst="rect">
            <a:avLst/>
          </a:prstGeom>
          <a:noFill/>
        </p:spPr>
        <p:txBody>
          <a:bodyPr wrap="square" rtlCol="0">
            <a:spAutoFit/>
          </a:bodyPr>
          <a:lstStyle/>
          <a:p>
            <a:r>
              <a:rPr lang="es-ES" sz="2400" dirty="0" smtClean="0"/>
              <a:t>El Máximo tribunal expresó:</a:t>
            </a:r>
          </a:p>
          <a:p>
            <a:endParaRPr lang="es-ES" sz="2400" dirty="0" smtClean="0"/>
          </a:p>
          <a:p>
            <a:pPr algn="just"/>
            <a:r>
              <a:rPr lang="es-ES" sz="2400" dirty="0" smtClean="0"/>
              <a:t>“…19) Que en tales condiciones, toda vez que la ley 25.920 dispuso la aplicabilidad de las exenciones establecidas en las leyes entonces vigentes – como lo es la prevista en el artículo 29 de la ley 20.321 – y </a:t>
            </a:r>
            <a:r>
              <a:rPr lang="es-ES" sz="2400" b="1" u="sng" dirty="0" smtClean="0"/>
              <a:t>no efectúa distingos en razón de la actividad</a:t>
            </a:r>
            <a:r>
              <a:rPr lang="es-ES" sz="2400" dirty="0" smtClean="0"/>
              <a:t>, corresponde </a:t>
            </a:r>
            <a:r>
              <a:rPr lang="es-ES" sz="2400" b="1" u="sng" dirty="0" smtClean="0"/>
              <a:t>concluir que la exención establecida por el citado artículo 29 para las asociaciones mutuales alcanza también al </a:t>
            </a:r>
            <a:r>
              <a:rPr lang="es-ES" sz="2400" b="1" u="sng" dirty="0" err="1" smtClean="0"/>
              <a:t>iva</a:t>
            </a:r>
            <a:r>
              <a:rPr lang="es-ES" sz="2400" b="1" u="sng" dirty="0" smtClean="0"/>
              <a:t> </a:t>
            </a:r>
            <a:r>
              <a:rPr lang="es-ES" sz="2400" dirty="0" smtClean="0"/>
              <a:t>en los servicios de salud que prestan tales entidades…”. </a:t>
            </a:r>
            <a:endParaRPr lang="es-AR" sz="2400" dirty="0"/>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6" name="5 Marcador de número de diapositiva"/>
          <p:cNvSpPr>
            <a:spLocks noGrp="1"/>
          </p:cNvSpPr>
          <p:nvPr>
            <p:ph type="sldNum" sz="quarter" idx="12"/>
          </p:nvPr>
        </p:nvSpPr>
        <p:spPr/>
        <p:txBody>
          <a:bodyPr/>
          <a:lstStyle/>
          <a:p>
            <a:fld id="{47905A6E-3428-42CC-8A3B-D0D77FE4EB92}" type="slidenum">
              <a:rPr lang="es-ES" smtClean="0"/>
              <a:pPr/>
              <a:t>14</a:t>
            </a:fld>
            <a:endParaRPr lang="es-E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285720" y="142852"/>
            <a:ext cx="8715372" cy="630942"/>
          </a:xfrm>
          <a:prstGeom prst="rect">
            <a:avLst/>
          </a:prstGeom>
          <a:noFill/>
        </p:spPr>
        <p:txBody>
          <a:bodyPr wrap="square" rtlCol="0">
            <a:spAutoFit/>
          </a:bodyPr>
          <a:lstStyle/>
          <a:p>
            <a:pPr algn="ctr"/>
            <a:r>
              <a:rPr lang="es-AR" sz="3500" b="1" dirty="0" smtClean="0">
                <a:solidFill>
                  <a:srgbClr val="FF0000"/>
                </a:solidFill>
              </a:rPr>
              <a:t>IMPUESTO AL VALOR AGREGADO (IV)</a:t>
            </a:r>
            <a:endParaRPr lang="es-ES" sz="35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6" name="5 Marcador de número de diapositiva"/>
          <p:cNvSpPr>
            <a:spLocks noGrp="1"/>
          </p:cNvSpPr>
          <p:nvPr>
            <p:ph type="sldNum" sz="quarter" idx="12"/>
          </p:nvPr>
        </p:nvSpPr>
        <p:spPr/>
        <p:txBody>
          <a:bodyPr/>
          <a:lstStyle/>
          <a:p>
            <a:fld id="{47905A6E-3428-42CC-8A3B-D0D77FE4EB92}" type="slidenum">
              <a:rPr lang="es-ES" smtClean="0"/>
              <a:pPr/>
              <a:t>15</a:t>
            </a:fld>
            <a:endParaRPr lang="es-ES" dirty="0"/>
          </a:p>
        </p:txBody>
      </p:sp>
      <p:graphicFrame>
        <p:nvGraphicFramePr>
          <p:cNvPr id="9" name="8 Diagrama"/>
          <p:cNvGraphicFramePr/>
          <p:nvPr/>
        </p:nvGraphicFramePr>
        <p:xfrm>
          <a:off x="285720" y="1000108"/>
          <a:ext cx="8786874" cy="5286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7 CuadroTexto"/>
          <p:cNvSpPr txBox="1"/>
          <p:nvPr/>
        </p:nvSpPr>
        <p:spPr>
          <a:xfrm>
            <a:off x="2357422" y="5214950"/>
            <a:ext cx="5286412" cy="553998"/>
          </a:xfrm>
          <a:prstGeom prst="rect">
            <a:avLst/>
          </a:prstGeom>
          <a:noFill/>
        </p:spPr>
        <p:txBody>
          <a:bodyPr wrap="square" rtlCol="0">
            <a:spAutoFit/>
          </a:bodyPr>
          <a:lstStyle/>
          <a:p>
            <a:pPr>
              <a:buFont typeface="Arial" pitchFamily="34" charset="0"/>
              <a:buChar char="•"/>
            </a:pPr>
            <a:r>
              <a:rPr lang="es-ES" sz="1500" dirty="0" smtClean="0"/>
              <a:t> Concedió el Recurso Extraordinario ante la Corte Suprema de Justicia de la Nación solicitado por el Fisco.</a:t>
            </a:r>
            <a:endParaRPr lang="es-ES" sz="15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285720" y="500042"/>
            <a:ext cx="8715372" cy="630942"/>
          </a:xfrm>
          <a:prstGeom prst="rect">
            <a:avLst/>
          </a:prstGeom>
          <a:noFill/>
        </p:spPr>
        <p:txBody>
          <a:bodyPr wrap="square" rtlCol="0">
            <a:spAutoFit/>
          </a:bodyPr>
          <a:lstStyle/>
          <a:p>
            <a:pPr algn="ctr"/>
            <a:r>
              <a:rPr lang="es-AR" sz="3500" b="1" dirty="0" smtClean="0">
                <a:solidFill>
                  <a:srgbClr val="FF0000"/>
                </a:solidFill>
              </a:rPr>
              <a:t>IMPUESTO AL VALOR AGREGADO (V)</a:t>
            </a:r>
            <a:endParaRPr lang="es-ES" sz="35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6" name="5 Marcador de número de diapositiva"/>
          <p:cNvSpPr>
            <a:spLocks noGrp="1"/>
          </p:cNvSpPr>
          <p:nvPr>
            <p:ph type="sldNum" sz="quarter" idx="12"/>
          </p:nvPr>
        </p:nvSpPr>
        <p:spPr/>
        <p:txBody>
          <a:bodyPr/>
          <a:lstStyle/>
          <a:p>
            <a:fld id="{47905A6E-3428-42CC-8A3B-D0D77FE4EB92}" type="slidenum">
              <a:rPr lang="es-ES" smtClean="0"/>
              <a:pPr/>
              <a:t>16</a:t>
            </a:fld>
            <a:endParaRPr lang="es-ES" dirty="0"/>
          </a:p>
        </p:txBody>
      </p:sp>
      <p:sp>
        <p:nvSpPr>
          <p:cNvPr id="9" name="8 CuadroTexto"/>
          <p:cNvSpPr txBox="1"/>
          <p:nvPr/>
        </p:nvSpPr>
        <p:spPr>
          <a:xfrm>
            <a:off x="683568" y="1515556"/>
            <a:ext cx="7488832" cy="3785652"/>
          </a:xfrm>
          <a:prstGeom prst="rect">
            <a:avLst/>
          </a:prstGeom>
          <a:noFill/>
        </p:spPr>
        <p:txBody>
          <a:bodyPr wrap="square" rtlCol="0">
            <a:spAutoFit/>
          </a:bodyPr>
          <a:lstStyle/>
          <a:p>
            <a:pPr algn="ctr"/>
            <a:r>
              <a:rPr lang="es-AR" b="1" dirty="0" smtClean="0"/>
              <a:t>DEBE GESTIONARSE EL CERTIFICADO DE EXENCIÓN EN IVA ???</a:t>
            </a:r>
          </a:p>
          <a:p>
            <a:endParaRPr lang="es-AR" dirty="0" smtClean="0"/>
          </a:p>
          <a:p>
            <a:pPr algn="ctr"/>
            <a:r>
              <a:rPr lang="es-AR" sz="2400" b="1" dirty="0" smtClean="0">
                <a:solidFill>
                  <a:srgbClr val="FF0000"/>
                </a:solidFill>
              </a:rPr>
              <a:t>NO</a:t>
            </a:r>
          </a:p>
          <a:p>
            <a:pPr>
              <a:buFont typeface="Arial" pitchFamily="34" charset="0"/>
              <a:buChar char="•"/>
            </a:pPr>
            <a:endParaRPr lang="es-AR" dirty="0" smtClean="0"/>
          </a:p>
          <a:p>
            <a:pPr algn="just">
              <a:buFont typeface="Arial" pitchFamily="34" charset="0"/>
              <a:buChar char="•"/>
            </a:pPr>
            <a:r>
              <a:rPr lang="es-AR" dirty="0" smtClean="0"/>
              <a:t> Realizar el alta de impuesto como IVA EXENTO</a:t>
            </a:r>
          </a:p>
          <a:p>
            <a:pPr algn="just">
              <a:buFont typeface="Arial" pitchFamily="34" charset="0"/>
              <a:buChar char="•"/>
            </a:pPr>
            <a:endParaRPr lang="es-AR" dirty="0" smtClean="0"/>
          </a:p>
          <a:p>
            <a:pPr algn="just">
              <a:buFont typeface="Arial" pitchFamily="34" charset="0"/>
              <a:buChar char="•"/>
            </a:pPr>
            <a:r>
              <a:rPr lang="es-AR" dirty="0" smtClean="0"/>
              <a:t> Visualización en la respectiva Constancia de Inscripción.</a:t>
            </a:r>
          </a:p>
          <a:p>
            <a:pPr>
              <a:buFont typeface="Arial" pitchFamily="34" charset="0"/>
              <a:buChar char="•"/>
            </a:pPr>
            <a:endParaRPr lang="es-AR" dirty="0" smtClean="0"/>
          </a:p>
          <a:p>
            <a:pPr>
              <a:buFont typeface="Arial" pitchFamily="34" charset="0"/>
              <a:buChar char="•"/>
            </a:pPr>
            <a:endParaRPr lang="es-AR" dirty="0" smtClean="0"/>
          </a:p>
          <a:p>
            <a:pPr>
              <a:buFont typeface="Arial" pitchFamily="34" charset="0"/>
              <a:buChar char="•"/>
            </a:pPr>
            <a:endParaRPr lang="es-AR" dirty="0" smtClean="0"/>
          </a:p>
          <a:p>
            <a:pPr>
              <a:buFont typeface="Arial" pitchFamily="34" charset="0"/>
              <a:buChar char="•"/>
            </a:pPr>
            <a:endParaRPr lang="es-AR" dirty="0" smtClean="0"/>
          </a:p>
          <a:p>
            <a:pPr>
              <a:buFont typeface="Arial" pitchFamily="34" charset="0"/>
              <a:buChar char="•"/>
            </a:pPr>
            <a:endParaRPr lang="es-AR" dirty="0" smtClean="0"/>
          </a:p>
          <a:p>
            <a:pPr>
              <a:buFont typeface="Arial" pitchFamily="34" charset="0"/>
              <a:buChar char="•"/>
            </a:pPr>
            <a:endParaRPr lang="es-ES" dirty="0"/>
          </a:p>
        </p:txBody>
      </p:sp>
      <p:sp>
        <p:nvSpPr>
          <p:cNvPr id="10" name="9 CuadroTexto"/>
          <p:cNvSpPr txBox="1"/>
          <p:nvPr/>
        </p:nvSpPr>
        <p:spPr>
          <a:xfrm>
            <a:off x="971600" y="4149080"/>
            <a:ext cx="7286676" cy="923330"/>
          </a:xfrm>
          <a:prstGeom prst="rect">
            <a:avLst/>
          </a:prstGeom>
          <a:noFill/>
        </p:spPr>
        <p:txBody>
          <a:bodyPr wrap="square" rtlCol="0">
            <a:spAutoFit/>
          </a:bodyPr>
          <a:lstStyle/>
          <a:p>
            <a:pPr algn="just"/>
            <a:r>
              <a:rPr lang="es-AR" dirty="0" smtClean="0"/>
              <a:t>“Asociación Mutual Argentina de Azul SASMA s/ recurso de amparo”. TFN. Sala A. 12/10/2017. Hizo lugar para que AFIP se expida sobre procedencia exención IVA. Amparo ante TFN.</a:t>
            </a:r>
            <a:endParaRPr lang="es-A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número de diapositiva"/>
          <p:cNvSpPr>
            <a:spLocks noGrp="1"/>
          </p:cNvSpPr>
          <p:nvPr>
            <p:ph type="sldNum" sz="quarter" idx="12"/>
          </p:nvPr>
        </p:nvSpPr>
        <p:spPr/>
        <p:txBody>
          <a:bodyPr/>
          <a:lstStyle/>
          <a:p>
            <a:fld id="{47905A6E-3428-42CC-8A3B-D0D77FE4EB92}" type="slidenum">
              <a:rPr lang="es-ES" smtClean="0"/>
              <a:pPr/>
              <a:t>17</a:t>
            </a:fld>
            <a:endParaRPr lang="es-ES" dirty="0"/>
          </a:p>
        </p:txBody>
      </p:sp>
      <p:sp>
        <p:nvSpPr>
          <p:cNvPr id="7" name="6 CuadroTexto"/>
          <p:cNvSpPr txBox="1"/>
          <p:nvPr/>
        </p:nvSpPr>
        <p:spPr>
          <a:xfrm>
            <a:off x="251520" y="46365"/>
            <a:ext cx="9001156" cy="646331"/>
          </a:xfrm>
          <a:prstGeom prst="rect">
            <a:avLst/>
          </a:prstGeom>
          <a:noFill/>
        </p:spPr>
        <p:txBody>
          <a:bodyPr wrap="square" rtlCol="0">
            <a:spAutoFit/>
          </a:bodyPr>
          <a:lstStyle/>
          <a:p>
            <a:pPr algn="ctr"/>
            <a:r>
              <a:rPr lang="es-ES" sz="3600" b="1" dirty="0" smtClean="0">
                <a:solidFill>
                  <a:srgbClr val="FF0000"/>
                </a:solidFill>
              </a:rPr>
              <a:t>Régimen de Facturación y Registración</a:t>
            </a:r>
            <a:endParaRPr lang="es-ES" sz="3600" b="1" dirty="0">
              <a:solidFill>
                <a:srgbClr val="FF0000"/>
              </a:solidFill>
            </a:endParaRPr>
          </a:p>
        </p:txBody>
      </p:sp>
      <p:pic>
        <p:nvPicPr>
          <p:cNvPr id="8"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
        <p:nvSpPr>
          <p:cNvPr id="4" name="CuadroTexto 3"/>
          <p:cNvSpPr txBox="1"/>
          <p:nvPr/>
        </p:nvSpPr>
        <p:spPr>
          <a:xfrm>
            <a:off x="1043608" y="674693"/>
            <a:ext cx="7416824" cy="523220"/>
          </a:xfrm>
          <a:prstGeom prst="rect">
            <a:avLst/>
          </a:prstGeom>
          <a:noFill/>
        </p:spPr>
        <p:txBody>
          <a:bodyPr wrap="square" rtlCol="0">
            <a:spAutoFit/>
          </a:bodyPr>
          <a:lstStyle/>
          <a:p>
            <a:pPr algn="ctr"/>
            <a:r>
              <a:rPr lang="en-US" sz="2800" b="1" dirty="0" smtClean="0">
                <a:solidFill>
                  <a:schemeClr val="tx2"/>
                </a:solidFill>
              </a:rPr>
              <a:t>RG 1415/2003 (art. 5) y </a:t>
            </a:r>
            <a:r>
              <a:rPr lang="en-US" sz="2800" b="1" dirty="0" err="1" smtClean="0">
                <a:solidFill>
                  <a:schemeClr val="tx2"/>
                </a:solidFill>
              </a:rPr>
              <a:t>Modificatorias</a:t>
            </a:r>
            <a:endParaRPr lang="en-US" sz="2800" b="1" dirty="0">
              <a:solidFill>
                <a:schemeClr val="tx2"/>
              </a:solidFill>
            </a:endParaRPr>
          </a:p>
        </p:txBody>
      </p:sp>
      <p:sp>
        <p:nvSpPr>
          <p:cNvPr id="17" name="16 CuadroTexto"/>
          <p:cNvSpPr txBox="1"/>
          <p:nvPr/>
        </p:nvSpPr>
        <p:spPr>
          <a:xfrm>
            <a:off x="251520" y="1142984"/>
            <a:ext cx="8321008" cy="5509200"/>
          </a:xfrm>
          <a:prstGeom prst="rect">
            <a:avLst/>
          </a:prstGeom>
          <a:noFill/>
        </p:spPr>
        <p:txBody>
          <a:bodyPr wrap="square" rtlCol="0">
            <a:spAutoFit/>
          </a:bodyPr>
          <a:lstStyle/>
          <a:p>
            <a:pPr algn="just">
              <a:buFont typeface="Arial" pitchFamily="34" charset="0"/>
              <a:buChar char="•"/>
            </a:pPr>
            <a:r>
              <a:rPr lang="es-AR" u="sng" dirty="0" smtClean="0"/>
              <a:t> </a:t>
            </a:r>
            <a:r>
              <a:rPr lang="es-AR" b="1" u="sng" dirty="0" smtClean="0"/>
              <a:t>Exceptuados de emitir comprobantes </a:t>
            </a:r>
            <a:r>
              <a:rPr lang="es-AR" dirty="0" smtClean="0"/>
              <a:t>con los requisitos previstos en la RG y/o RG 100. Salvo operaciones que deba utilizar controlador fiscal según RG 4104 y </a:t>
            </a:r>
            <a:r>
              <a:rPr lang="es-AR" dirty="0" err="1" smtClean="0"/>
              <a:t>modif</a:t>
            </a:r>
            <a:r>
              <a:rPr lang="es-AR" dirty="0" smtClean="0"/>
              <a:t>. (Anexo I. Apartado A. inc. k) </a:t>
            </a:r>
          </a:p>
          <a:p>
            <a:pPr algn="just">
              <a:buFont typeface="Arial" pitchFamily="34" charset="0"/>
              <a:buChar char="•"/>
            </a:pPr>
            <a:endParaRPr lang="es-AR" dirty="0" smtClean="0"/>
          </a:p>
          <a:p>
            <a:pPr algn="just">
              <a:buFont typeface="Arial" pitchFamily="34" charset="0"/>
              <a:buChar char="•"/>
            </a:pPr>
            <a:r>
              <a:rPr lang="es-AR" dirty="0" smtClean="0"/>
              <a:t> </a:t>
            </a:r>
            <a:r>
              <a:rPr lang="es-AR" b="1" u="sng" dirty="0" smtClean="0"/>
              <a:t>Salvo que (Apartado B. inc. d)</a:t>
            </a:r>
            <a:r>
              <a:rPr lang="es-AR" dirty="0" smtClean="0"/>
              <a:t>: </a:t>
            </a:r>
          </a:p>
          <a:p>
            <a:pPr algn="just">
              <a:buFont typeface="Arial" pitchFamily="34" charset="0"/>
              <a:buChar char="•"/>
            </a:pPr>
            <a:endParaRPr lang="es-AR" dirty="0" smtClean="0"/>
          </a:p>
          <a:p>
            <a:pPr lvl="4" algn="just">
              <a:buFont typeface="Arial" pitchFamily="34" charset="0"/>
              <a:buChar char="•"/>
            </a:pPr>
            <a:r>
              <a:rPr lang="es-AR" dirty="0" smtClean="0"/>
              <a:t> El adquirente, prestatario o locatario lo requiera;</a:t>
            </a:r>
          </a:p>
          <a:p>
            <a:pPr lvl="4" algn="just">
              <a:buFont typeface="Arial" pitchFamily="34" charset="0"/>
              <a:buChar char="•"/>
            </a:pPr>
            <a:endParaRPr lang="es-AR" dirty="0" smtClean="0"/>
          </a:p>
          <a:p>
            <a:pPr lvl="4" algn="just">
              <a:buFont typeface="Arial" pitchFamily="34" charset="0"/>
              <a:buChar char="•"/>
            </a:pPr>
            <a:r>
              <a:rPr lang="es-AR" dirty="0" smtClean="0"/>
              <a:t> La operación se encuentre alcanzada por el IVA.</a:t>
            </a:r>
          </a:p>
          <a:p>
            <a:pPr algn="just">
              <a:buFont typeface="Arial" pitchFamily="34" charset="0"/>
              <a:buChar char="•"/>
            </a:pPr>
            <a:r>
              <a:rPr lang="es-AR" dirty="0" smtClean="0"/>
              <a:t> </a:t>
            </a:r>
            <a:r>
              <a:rPr lang="es-AR" b="1" u="sng" dirty="0" smtClean="0"/>
              <a:t>Situaciones especiales</a:t>
            </a:r>
            <a:r>
              <a:rPr lang="es-AR" u="sng" dirty="0" smtClean="0"/>
              <a:t>:</a:t>
            </a:r>
            <a:r>
              <a:rPr lang="es-AR" dirty="0" smtClean="0"/>
              <a:t> Los cupones o recibos que se emiten como constancias de pago y comprobantes habilitados para la utilización de servicios. (Anexo IV. Apartado B, </a:t>
            </a:r>
            <a:r>
              <a:rPr lang="es-AR" dirty="0" err="1" smtClean="0"/>
              <a:t>pto</a:t>
            </a:r>
            <a:r>
              <a:rPr lang="es-AR" dirty="0" smtClean="0"/>
              <a:t> 6).</a:t>
            </a:r>
          </a:p>
          <a:p>
            <a:pPr algn="just">
              <a:buFont typeface="Arial" pitchFamily="34" charset="0"/>
              <a:buChar char="•"/>
            </a:pPr>
            <a:endParaRPr lang="es-AR" dirty="0" smtClean="0"/>
          </a:p>
          <a:p>
            <a:pPr algn="just">
              <a:buFont typeface="Arial" pitchFamily="34" charset="0"/>
              <a:buChar char="•"/>
            </a:pPr>
            <a:r>
              <a:rPr lang="es-AR" dirty="0" smtClean="0"/>
              <a:t> </a:t>
            </a:r>
            <a:r>
              <a:rPr lang="es-AR" b="1" dirty="0" smtClean="0"/>
              <a:t>Factura C</a:t>
            </a:r>
          </a:p>
          <a:p>
            <a:pPr algn="just">
              <a:buFont typeface="Arial" pitchFamily="34" charset="0"/>
              <a:buChar char="•"/>
            </a:pPr>
            <a:endParaRPr lang="es-AR" b="1" dirty="0" smtClean="0"/>
          </a:p>
          <a:p>
            <a:pPr algn="ctr"/>
            <a:r>
              <a:rPr lang="en-US" sz="2800" b="1" dirty="0" smtClean="0">
                <a:solidFill>
                  <a:schemeClr val="tx2"/>
                </a:solidFill>
              </a:rPr>
              <a:t>RG 4597/2019 y </a:t>
            </a:r>
            <a:r>
              <a:rPr lang="en-US" sz="2800" b="1" dirty="0" err="1" smtClean="0">
                <a:solidFill>
                  <a:schemeClr val="tx2"/>
                </a:solidFill>
              </a:rPr>
              <a:t>modif</a:t>
            </a:r>
            <a:r>
              <a:rPr lang="en-US" sz="2800" b="1" dirty="0" smtClean="0">
                <a:solidFill>
                  <a:schemeClr val="tx2"/>
                </a:solidFill>
              </a:rPr>
              <a:t>.</a:t>
            </a:r>
          </a:p>
          <a:p>
            <a:pPr>
              <a:buFont typeface="Arial" pitchFamily="34" charset="0"/>
              <a:buChar char="•"/>
            </a:pPr>
            <a:r>
              <a:rPr lang="en-US" b="1" dirty="0" smtClean="0"/>
              <a:t> </a:t>
            </a:r>
            <a:r>
              <a:rPr lang="en-US" dirty="0" smtClean="0"/>
              <a:t>No </a:t>
            </a:r>
            <a:r>
              <a:rPr lang="en-US" dirty="0" err="1" smtClean="0"/>
              <a:t>obligadas</a:t>
            </a:r>
            <a:r>
              <a:rPr lang="en-US" dirty="0" smtClean="0"/>
              <a:t> a registrar </a:t>
            </a:r>
            <a:r>
              <a:rPr lang="en-US" dirty="0" err="1" smtClean="0"/>
              <a:t>electrónicamente</a:t>
            </a:r>
            <a:r>
              <a:rPr lang="en-US" dirty="0" smtClean="0"/>
              <a:t> </a:t>
            </a:r>
            <a:r>
              <a:rPr lang="en-US" dirty="0" err="1" smtClean="0"/>
              <a:t>sus</a:t>
            </a:r>
            <a:r>
              <a:rPr lang="en-US" dirty="0" smtClean="0"/>
              <a:t> </a:t>
            </a:r>
            <a:r>
              <a:rPr lang="en-US" dirty="0" err="1" smtClean="0"/>
              <a:t>operaciones</a:t>
            </a:r>
            <a:r>
              <a:rPr lang="en-US" dirty="0" smtClean="0"/>
              <a:t> en </a:t>
            </a:r>
            <a:r>
              <a:rPr lang="en-US" dirty="0" err="1" smtClean="0"/>
              <a:t>Libro</a:t>
            </a:r>
            <a:r>
              <a:rPr lang="en-US" dirty="0" smtClean="0"/>
              <a:t> de Iva Digital. </a:t>
            </a:r>
            <a:r>
              <a:rPr lang="en-US" b="1" dirty="0" smtClean="0"/>
              <a:t>(art. 2, inc. 2).</a:t>
            </a:r>
            <a:endParaRPr lang="es-AR" dirty="0" smtClean="0"/>
          </a:p>
          <a:p>
            <a:pPr algn="just">
              <a:buFont typeface="Arial" pitchFamily="34" charset="0"/>
              <a:buChar char="•"/>
            </a:pPr>
            <a:endParaRPr lang="es-ES" dirty="0"/>
          </a:p>
        </p:txBody>
      </p:sp>
    </p:spTree>
    <p:extLst>
      <p:ext uri="{BB962C8B-B14F-4D97-AF65-F5344CB8AC3E}">
        <p14:creationId xmlns:p14="http://schemas.microsoft.com/office/powerpoint/2010/main" xmlns="" val="38610988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357158" y="-24"/>
            <a:ext cx="8501090" cy="646331"/>
          </a:xfrm>
          <a:prstGeom prst="rect">
            <a:avLst/>
          </a:prstGeom>
          <a:noFill/>
        </p:spPr>
        <p:txBody>
          <a:bodyPr wrap="square" rtlCol="0">
            <a:spAutoFit/>
          </a:bodyPr>
          <a:lstStyle/>
          <a:p>
            <a:pPr algn="ctr"/>
            <a:r>
              <a:rPr lang="es-AR" sz="3600" b="1" dirty="0" smtClean="0">
                <a:solidFill>
                  <a:srgbClr val="FF0000"/>
                </a:solidFill>
              </a:rPr>
              <a:t>IMPUESTO A LAS GANANCIAS </a:t>
            </a: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6" name="5 Marcador de número de diapositiva"/>
          <p:cNvSpPr>
            <a:spLocks noGrp="1"/>
          </p:cNvSpPr>
          <p:nvPr>
            <p:ph type="sldNum" sz="quarter" idx="12"/>
          </p:nvPr>
        </p:nvSpPr>
        <p:spPr/>
        <p:txBody>
          <a:bodyPr/>
          <a:lstStyle/>
          <a:p>
            <a:fld id="{47905A6E-3428-42CC-8A3B-D0D77FE4EB92}" type="slidenum">
              <a:rPr lang="es-ES" smtClean="0"/>
              <a:pPr/>
              <a:t>18</a:t>
            </a:fld>
            <a:endParaRPr lang="es-ES" dirty="0"/>
          </a:p>
        </p:txBody>
      </p:sp>
      <p:pic>
        <p:nvPicPr>
          <p:cNvPr id="14" name="13 Imagen" descr="Presupuesto 2024.jpg"/>
          <p:cNvPicPr>
            <a:picLocks noChangeAspect="1"/>
          </p:cNvPicPr>
          <p:nvPr/>
        </p:nvPicPr>
        <p:blipFill>
          <a:blip r:embed="rId3" cstate="print"/>
          <a:stretch>
            <a:fillRect/>
          </a:stretch>
        </p:blipFill>
        <p:spPr>
          <a:xfrm>
            <a:off x="2428860" y="1308795"/>
            <a:ext cx="4799152" cy="5334915"/>
          </a:xfrm>
          <a:prstGeom prst="rect">
            <a:avLst/>
          </a:prstGeom>
        </p:spPr>
      </p:pic>
      <p:sp>
        <p:nvSpPr>
          <p:cNvPr id="15" name="14 CuadroTexto"/>
          <p:cNvSpPr txBox="1"/>
          <p:nvPr/>
        </p:nvSpPr>
        <p:spPr>
          <a:xfrm>
            <a:off x="1285852" y="571480"/>
            <a:ext cx="6861366" cy="600164"/>
          </a:xfrm>
          <a:prstGeom prst="rect">
            <a:avLst/>
          </a:prstGeom>
          <a:noFill/>
        </p:spPr>
        <p:txBody>
          <a:bodyPr wrap="none" rtlCol="0">
            <a:spAutoFit/>
          </a:bodyPr>
          <a:lstStyle/>
          <a:p>
            <a:r>
              <a:rPr lang="es-ES" dirty="0" smtClean="0"/>
              <a:t>Mensaje de Elevación Proyecto de Ley de Presupuesto 2024 (15/09/23)</a:t>
            </a:r>
          </a:p>
          <a:p>
            <a:pPr algn="ctr"/>
            <a:r>
              <a:rPr lang="es-ES" sz="1500" dirty="0" smtClean="0"/>
              <a:t> </a:t>
            </a:r>
            <a:r>
              <a:rPr lang="es-ES" sz="1500" u="sng" dirty="0" smtClean="0"/>
              <a:t>Fuente</a:t>
            </a:r>
            <a:r>
              <a:rPr lang="es-ES" sz="1500" dirty="0" smtClean="0"/>
              <a:t>: Ministerio de Economía</a:t>
            </a:r>
            <a:endParaRPr lang="es-ES" sz="15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357158" y="-24"/>
            <a:ext cx="8501090" cy="646331"/>
          </a:xfrm>
          <a:prstGeom prst="rect">
            <a:avLst/>
          </a:prstGeom>
          <a:noFill/>
        </p:spPr>
        <p:txBody>
          <a:bodyPr wrap="square" rtlCol="0">
            <a:spAutoFit/>
          </a:bodyPr>
          <a:lstStyle/>
          <a:p>
            <a:pPr algn="ctr"/>
            <a:r>
              <a:rPr lang="es-AR" sz="3600" b="1" dirty="0" smtClean="0">
                <a:solidFill>
                  <a:srgbClr val="FF0000"/>
                </a:solidFill>
              </a:rPr>
              <a:t>IMPUESTO A LAS GANANCIAS </a:t>
            </a: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6" name="5 Marcador de número de diapositiva"/>
          <p:cNvSpPr>
            <a:spLocks noGrp="1"/>
          </p:cNvSpPr>
          <p:nvPr>
            <p:ph type="sldNum" sz="quarter" idx="12"/>
          </p:nvPr>
        </p:nvSpPr>
        <p:spPr/>
        <p:txBody>
          <a:bodyPr/>
          <a:lstStyle/>
          <a:p>
            <a:fld id="{47905A6E-3428-42CC-8A3B-D0D77FE4EB92}" type="slidenum">
              <a:rPr lang="es-ES" smtClean="0"/>
              <a:pPr/>
              <a:t>19</a:t>
            </a:fld>
            <a:endParaRPr lang="es-ES" dirty="0"/>
          </a:p>
        </p:txBody>
      </p:sp>
      <p:sp>
        <p:nvSpPr>
          <p:cNvPr id="15" name="14 CuadroTexto"/>
          <p:cNvSpPr txBox="1"/>
          <p:nvPr/>
        </p:nvSpPr>
        <p:spPr>
          <a:xfrm>
            <a:off x="1285852" y="571480"/>
            <a:ext cx="6861366" cy="600164"/>
          </a:xfrm>
          <a:prstGeom prst="rect">
            <a:avLst/>
          </a:prstGeom>
          <a:noFill/>
        </p:spPr>
        <p:txBody>
          <a:bodyPr wrap="none" rtlCol="0">
            <a:spAutoFit/>
          </a:bodyPr>
          <a:lstStyle/>
          <a:p>
            <a:r>
              <a:rPr lang="es-ES" dirty="0" smtClean="0"/>
              <a:t>Mensaje de Elevación Proyecto de Ley de Presupuesto 2025 (15/09/24)</a:t>
            </a:r>
          </a:p>
          <a:p>
            <a:pPr algn="ctr"/>
            <a:r>
              <a:rPr lang="es-ES" sz="1500" dirty="0" smtClean="0"/>
              <a:t> </a:t>
            </a:r>
            <a:r>
              <a:rPr lang="es-ES" sz="1500" u="sng" dirty="0" smtClean="0"/>
              <a:t>Fuente</a:t>
            </a:r>
            <a:r>
              <a:rPr lang="es-ES" sz="1500" dirty="0" smtClean="0"/>
              <a:t>: Ministerio de Economía</a:t>
            </a:r>
            <a:endParaRPr lang="es-ES" sz="1500" dirty="0"/>
          </a:p>
        </p:txBody>
      </p:sp>
      <p:pic>
        <p:nvPicPr>
          <p:cNvPr id="8" name="7 Imagen" descr="Pres 2025.jpg"/>
          <p:cNvPicPr>
            <a:picLocks noChangeAspect="1"/>
          </p:cNvPicPr>
          <p:nvPr/>
        </p:nvPicPr>
        <p:blipFill>
          <a:blip r:embed="rId3" cstate="print"/>
          <a:stretch>
            <a:fillRect/>
          </a:stretch>
        </p:blipFill>
        <p:spPr>
          <a:xfrm>
            <a:off x="642942" y="1142984"/>
            <a:ext cx="8358214" cy="2357453"/>
          </a:xfrm>
          <a:prstGeom prst="rect">
            <a:avLst/>
          </a:prstGeom>
        </p:spPr>
      </p:pic>
      <p:pic>
        <p:nvPicPr>
          <p:cNvPr id="9" name="8 Imagen" descr="Pres hoja 2 2025.jpg"/>
          <p:cNvPicPr>
            <a:picLocks noChangeAspect="1"/>
          </p:cNvPicPr>
          <p:nvPr/>
        </p:nvPicPr>
        <p:blipFill>
          <a:blip r:embed="rId4" cstate="print"/>
          <a:stretch>
            <a:fillRect/>
          </a:stretch>
        </p:blipFill>
        <p:spPr>
          <a:xfrm>
            <a:off x="785818" y="3357562"/>
            <a:ext cx="8215338" cy="3071834"/>
          </a:xfrm>
          <a:prstGeom prst="rect">
            <a:avLst/>
          </a:prstGeom>
        </p:spPr>
      </p:pic>
      <p:sp>
        <p:nvSpPr>
          <p:cNvPr id="10" name="9 Flecha derecha"/>
          <p:cNvSpPr/>
          <p:nvPr/>
        </p:nvSpPr>
        <p:spPr>
          <a:xfrm>
            <a:off x="285720" y="5786454"/>
            <a:ext cx="785818" cy="2143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2" name="11 Conector recto"/>
          <p:cNvCxnSpPr/>
          <p:nvPr/>
        </p:nvCxnSpPr>
        <p:spPr>
          <a:xfrm>
            <a:off x="3071802" y="2857496"/>
            <a:ext cx="528641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a:off x="1142976" y="3071810"/>
            <a:ext cx="721523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a:off x="1214414" y="3286124"/>
            <a:ext cx="2786082" cy="1588"/>
          </a:xfrm>
          <a:prstGeom prst="line">
            <a:avLst/>
          </a:prstGeom>
        </p:spPr>
        <p:style>
          <a:lnRef idx="1">
            <a:schemeClr val="accent1"/>
          </a:lnRef>
          <a:fillRef idx="0">
            <a:schemeClr val="accent1"/>
          </a:fillRef>
          <a:effectRef idx="0">
            <a:schemeClr val="accent1"/>
          </a:effectRef>
          <a:fontRef idx="minor">
            <a:schemeClr val="tx1"/>
          </a:fontRef>
        </p:style>
      </p:cxnSp>
      <p:sp>
        <p:nvSpPr>
          <p:cNvPr id="19" name="18 Elipse"/>
          <p:cNvSpPr/>
          <p:nvPr/>
        </p:nvSpPr>
        <p:spPr>
          <a:xfrm>
            <a:off x="7286644" y="5715016"/>
            <a:ext cx="1285884" cy="4286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1" name="20 Conector recto"/>
          <p:cNvCxnSpPr/>
          <p:nvPr/>
        </p:nvCxnSpPr>
        <p:spPr>
          <a:xfrm>
            <a:off x="4500562" y="1928802"/>
            <a:ext cx="38576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26 Conector recto"/>
          <p:cNvCxnSpPr/>
          <p:nvPr/>
        </p:nvCxnSpPr>
        <p:spPr>
          <a:xfrm>
            <a:off x="1142976" y="2143116"/>
            <a:ext cx="721523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28 Conector recto"/>
          <p:cNvCxnSpPr/>
          <p:nvPr/>
        </p:nvCxnSpPr>
        <p:spPr>
          <a:xfrm>
            <a:off x="1142976" y="2357430"/>
            <a:ext cx="7215238"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30 Conector recto"/>
          <p:cNvCxnSpPr/>
          <p:nvPr/>
        </p:nvCxnSpPr>
        <p:spPr>
          <a:xfrm>
            <a:off x="1142976" y="2643182"/>
            <a:ext cx="7143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32 Conector recto"/>
          <p:cNvCxnSpPr/>
          <p:nvPr/>
        </p:nvCxnSpPr>
        <p:spPr>
          <a:xfrm>
            <a:off x="1214414" y="2857496"/>
            <a:ext cx="1643074"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357158" y="357166"/>
            <a:ext cx="8501090" cy="646331"/>
          </a:xfrm>
          <a:prstGeom prst="rect">
            <a:avLst/>
          </a:prstGeom>
          <a:noFill/>
        </p:spPr>
        <p:txBody>
          <a:bodyPr wrap="square" rtlCol="0">
            <a:spAutoFit/>
          </a:bodyPr>
          <a:lstStyle/>
          <a:p>
            <a:pPr algn="ctr"/>
            <a:r>
              <a:rPr lang="es-AR" sz="3600" b="1" dirty="0" smtClean="0">
                <a:solidFill>
                  <a:srgbClr val="FF0000"/>
                </a:solidFill>
              </a:rPr>
              <a:t>IMPUESTO A LAS GANANCIAS </a:t>
            </a: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6" name="5 Marcador de número de diapositiva"/>
          <p:cNvSpPr>
            <a:spLocks noGrp="1"/>
          </p:cNvSpPr>
          <p:nvPr>
            <p:ph type="sldNum" sz="quarter" idx="12"/>
          </p:nvPr>
        </p:nvSpPr>
        <p:spPr/>
        <p:txBody>
          <a:bodyPr/>
          <a:lstStyle/>
          <a:p>
            <a:fld id="{47905A6E-3428-42CC-8A3B-D0D77FE4EB92}" type="slidenum">
              <a:rPr lang="es-ES" smtClean="0"/>
              <a:pPr/>
              <a:t>20</a:t>
            </a:fld>
            <a:endParaRPr lang="es-ES" dirty="0"/>
          </a:p>
        </p:txBody>
      </p:sp>
      <p:sp>
        <p:nvSpPr>
          <p:cNvPr id="9" name="8 Rectángulo"/>
          <p:cNvSpPr/>
          <p:nvPr/>
        </p:nvSpPr>
        <p:spPr>
          <a:xfrm>
            <a:off x="285720" y="1428736"/>
            <a:ext cx="3500462" cy="3429024"/>
          </a:xfrm>
          <a:prstGeom prst="rect">
            <a:avLst/>
          </a:prstGeom>
          <a:effectLst>
            <a:glow rad="228600">
              <a:schemeClr val="accent1">
                <a:satMod val="175000"/>
                <a:alpha val="40000"/>
              </a:schemeClr>
            </a:glow>
            <a:outerShdw blurRad="50800" dist="38100" dir="5400000" rotWithShape="0">
              <a:srgbClr val="000000">
                <a:alpha val="35000"/>
              </a:srgb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s-AR" dirty="0" smtClean="0"/>
          </a:p>
          <a:p>
            <a:pPr algn="ctr"/>
            <a:endParaRPr lang="es-AR" dirty="0" smtClean="0"/>
          </a:p>
          <a:p>
            <a:pPr algn="ctr"/>
            <a:r>
              <a:rPr lang="es-AR" sz="2000" b="1" dirty="0" smtClean="0"/>
              <a:t>Ley 20.628</a:t>
            </a:r>
          </a:p>
          <a:p>
            <a:pPr algn="ctr"/>
            <a:endParaRPr lang="es-AR" dirty="0" smtClean="0"/>
          </a:p>
          <a:p>
            <a:pPr algn="ctr"/>
            <a:r>
              <a:rPr lang="es-AR" u="sng" dirty="0" smtClean="0"/>
              <a:t>Hecho Imponible</a:t>
            </a:r>
            <a:r>
              <a:rPr lang="es-AR" dirty="0" smtClean="0"/>
              <a:t>: (art. 1 y 2)</a:t>
            </a:r>
          </a:p>
          <a:p>
            <a:pPr algn="ctr"/>
            <a:endParaRPr lang="es-AR" dirty="0" smtClean="0"/>
          </a:p>
          <a:p>
            <a:pPr algn="ctr"/>
            <a:r>
              <a:rPr lang="es-AR" dirty="0" smtClean="0"/>
              <a:t>Ganancias/Rentas/Beneficios</a:t>
            </a:r>
          </a:p>
          <a:p>
            <a:pPr algn="ctr"/>
            <a:endParaRPr lang="es-AR" dirty="0" smtClean="0"/>
          </a:p>
          <a:p>
            <a:pPr algn="ctr"/>
            <a:r>
              <a:rPr lang="es-AR" u="sng" dirty="0" smtClean="0"/>
              <a:t>Sujeto</a:t>
            </a:r>
            <a:r>
              <a:rPr lang="es-AR" dirty="0" smtClean="0"/>
              <a:t>: </a:t>
            </a:r>
          </a:p>
          <a:p>
            <a:pPr algn="ctr"/>
            <a:endParaRPr lang="es-AR" dirty="0" smtClean="0"/>
          </a:p>
          <a:p>
            <a:pPr algn="ctr"/>
            <a:r>
              <a:rPr lang="es-AR" dirty="0" smtClean="0"/>
              <a:t>3° Categoría. Sociedades de Capital</a:t>
            </a:r>
          </a:p>
          <a:p>
            <a:pPr algn="ctr"/>
            <a:endParaRPr lang="es-AR" dirty="0" smtClean="0"/>
          </a:p>
          <a:p>
            <a:pPr algn="ctr"/>
            <a:r>
              <a:rPr lang="es-AR" dirty="0" smtClean="0"/>
              <a:t>Art. 73, inc. a), </a:t>
            </a:r>
            <a:r>
              <a:rPr lang="es-AR" dirty="0" err="1" smtClean="0"/>
              <a:t>pto</a:t>
            </a:r>
            <a:r>
              <a:rPr lang="es-AR" dirty="0" smtClean="0"/>
              <a:t>. 3 </a:t>
            </a:r>
          </a:p>
          <a:p>
            <a:pPr algn="ctr"/>
            <a:endParaRPr lang="es-ES" dirty="0"/>
          </a:p>
        </p:txBody>
      </p:sp>
      <p:sp>
        <p:nvSpPr>
          <p:cNvPr id="10" name="9 Distinto de"/>
          <p:cNvSpPr/>
          <p:nvPr/>
        </p:nvSpPr>
        <p:spPr>
          <a:xfrm>
            <a:off x="3857620" y="2714620"/>
            <a:ext cx="1785950" cy="928694"/>
          </a:xfrm>
          <a:prstGeom prst="mathNotEqual">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1" name="10 Rectángulo"/>
          <p:cNvSpPr/>
          <p:nvPr/>
        </p:nvSpPr>
        <p:spPr>
          <a:xfrm>
            <a:off x="5643570" y="1428736"/>
            <a:ext cx="3286148" cy="3500462"/>
          </a:xfrm>
          <a:prstGeom prst="rect">
            <a:avLst/>
          </a:prstGeom>
          <a:effectLst>
            <a:glow rad="228600">
              <a:schemeClr val="accent2">
                <a:satMod val="175000"/>
                <a:alpha val="40000"/>
              </a:schemeClr>
            </a:glow>
            <a:outerShdw blurRad="50800" dist="38100" dir="5400000" rotWithShape="0">
              <a:srgbClr val="000000">
                <a:alpha val="35000"/>
              </a:srgb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lang="es-AR" dirty="0" smtClean="0"/>
          </a:p>
          <a:p>
            <a:pPr algn="ctr"/>
            <a:endParaRPr lang="es-AR" dirty="0" smtClean="0"/>
          </a:p>
          <a:p>
            <a:pPr algn="ctr"/>
            <a:r>
              <a:rPr lang="es-AR" sz="2000" b="1" dirty="0" smtClean="0"/>
              <a:t>Naturaleza Actos Mutuales</a:t>
            </a:r>
          </a:p>
          <a:p>
            <a:pPr algn="ctr"/>
            <a:endParaRPr lang="es-AR" dirty="0" smtClean="0"/>
          </a:p>
          <a:p>
            <a:pPr>
              <a:buFont typeface="Arial" pitchFamily="34" charset="0"/>
              <a:buChar char="•"/>
            </a:pPr>
            <a:r>
              <a:rPr lang="es-AR" dirty="0" smtClean="0"/>
              <a:t> SIN FIN DE LUCRO.</a:t>
            </a:r>
          </a:p>
          <a:p>
            <a:pPr>
              <a:buFont typeface="Arial" pitchFamily="34" charset="0"/>
              <a:buChar char="•"/>
            </a:pPr>
            <a:r>
              <a:rPr lang="es-AR" dirty="0" smtClean="0"/>
              <a:t> CARECE FIN ESPECULATIVO.</a:t>
            </a:r>
          </a:p>
          <a:p>
            <a:pPr>
              <a:buFont typeface="Arial" pitchFamily="34" charset="0"/>
              <a:buChar char="•"/>
            </a:pPr>
            <a:r>
              <a:rPr lang="es-AR" dirty="0" smtClean="0"/>
              <a:t> SOLIDARIDAD.</a:t>
            </a:r>
          </a:p>
          <a:p>
            <a:pPr>
              <a:buFont typeface="Arial" pitchFamily="34" charset="0"/>
              <a:buChar char="•"/>
            </a:pPr>
            <a:r>
              <a:rPr lang="es-AR" dirty="0" smtClean="0"/>
              <a:t> AYUDA RECÍPROCA.</a:t>
            </a:r>
          </a:p>
          <a:p>
            <a:pPr>
              <a:buFont typeface="Arial" pitchFamily="34" charset="0"/>
              <a:buChar char="•"/>
            </a:pPr>
            <a:r>
              <a:rPr lang="es-AR" dirty="0" smtClean="0"/>
              <a:t> NO DISTRIBUYEN EXCEDENTES.</a:t>
            </a:r>
          </a:p>
          <a:p>
            <a:pPr>
              <a:buFont typeface="Arial" pitchFamily="34" charset="0"/>
              <a:buChar char="•"/>
            </a:pPr>
            <a:r>
              <a:rPr lang="es-AR" dirty="0" smtClean="0"/>
              <a:t> NO REINTEGRO POR LIQUIDACIÓN.</a:t>
            </a:r>
          </a:p>
          <a:p>
            <a:pPr>
              <a:buFont typeface="Arial" pitchFamily="34" charset="0"/>
              <a:buChar char="•"/>
            </a:pPr>
            <a:r>
              <a:rPr lang="es-AR" dirty="0" smtClean="0"/>
              <a:t> NO SON SOCIEDADES DE CAPITAL.</a:t>
            </a:r>
          </a:p>
          <a:p>
            <a:endParaRPr lang="es-AR" dirty="0" smtClean="0"/>
          </a:p>
          <a:p>
            <a:pPr algn="ctr"/>
            <a:endParaRPr lang="es-ES" dirty="0"/>
          </a:p>
        </p:txBody>
      </p:sp>
      <p:sp>
        <p:nvSpPr>
          <p:cNvPr id="12" name="11 Cerrar llave"/>
          <p:cNvSpPr/>
          <p:nvPr/>
        </p:nvSpPr>
        <p:spPr>
          <a:xfrm rot="5400000">
            <a:off x="4125511" y="2339571"/>
            <a:ext cx="607225" cy="5857915"/>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3" name="12 Bisel"/>
          <p:cNvSpPr/>
          <p:nvPr/>
        </p:nvSpPr>
        <p:spPr>
          <a:xfrm>
            <a:off x="2285984" y="5500702"/>
            <a:ext cx="4500594" cy="785818"/>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smtClean="0">
                <a:solidFill>
                  <a:schemeClr val="tx1"/>
                </a:solidFill>
              </a:rPr>
              <a:t>NO SUJECCIÓN DE LAS MUTUALES </a:t>
            </a:r>
            <a:endParaRPr lang="es-ES" b="1" dirty="0">
              <a:solidFill>
                <a:schemeClr val="tx1"/>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980728"/>
            <a:ext cx="8892480" cy="5328592"/>
          </a:xfrm>
        </p:spPr>
        <p:txBody>
          <a:bodyPr>
            <a:normAutofit fontScale="25000" lnSpcReduction="20000"/>
          </a:bodyPr>
          <a:lstStyle/>
          <a:p>
            <a:pPr algn="ctr">
              <a:buNone/>
            </a:pPr>
            <a:endParaRPr lang="es-ES" dirty="0" smtClean="0"/>
          </a:p>
          <a:p>
            <a:pPr algn="just">
              <a:lnSpc>
                <a:spcPct val="170000"/>
              </a:lnSpc>
              <a:buNone/>
            </a:pPr>
            <a:r>
              <a:rPr lang="es-ES" sz="3800" dirty="0" smtClean="0"/>
              <a:t>    	</a:t>
            </a:r>
            <a:r>
              <a:rPr lang="es-ES" sz="6400" b="1" dirty="0" smtClean="0"/>
              <a:t>Artículo 26, inciso g</a:t>
            </a:r>
            <a:r>
              <a:rPr lang="es-ES" sz="6400" dirty="0" smtClean="0"/>
              <a:t>) ”…</a:t>
            </a:r>
            <a:r>
              <a:rPr lang="es-AR" sz="6400" dirty="0" smtClean="0"/>
              <a:t> Las ganancias de las entidades mutualistas que cumplan las exigencias de las normas legales y reglamentarias pertinentes y los beneficios que éstas proporcionen a sus asociados…”</a:t>
            </a:r>
          </a:p>
          <a:p>
            <a:pPr algn="just">
              <a:buNone/>
            </a:pPr>
            <a:endParaRPr lang="es-AR" sz="6400" dirty="0" smtClean="0"/>
          </a:p>
          <a:p>
            <a:pPr algn="just">
              <a:lnSpc>
                <a:spcPct val="170000"/>
              </a:lnSpc>
              <a:buNone/>
            </a:pPr>
            <a:r>
              <a:rPr lang="es-AR" sz="6400" dirty="0" smtClean="0"/>
              <a:t>	</a:t>
            </a:r>
            <a:r>
              <a:rPr lang="es-AR" sz="6400" b="1" dirty="0" smtClean="0"/>
              <a:t>Último párrafo</a:t>
            </a:r>
            <a:r>
              <a:rPr lang="es-AR" sz="6400" dirty="0" smtClean="0"/>
              <a:t>: “La exención prevista en los incisos f), g) y l) no será de aplicación para aquellas instituciones comprendidas en los mismos que durante el período fiscal abonen a cualquiera de las personas que formen parte de los elencos directivos, ejecutivos y de contralor de las mismas (directores, consejeros, síndicos, revisores de cuentas, etcétera), cualquiera fuere su denominación, un importe por todo concepto, incluido los gastos de representación y similares, superior en un CINCUENTA POR CIENTO (50 %) al promedio anual de las TRES (3) mejores remuneraciones del personal administrativo. Tampoco serán de aplicación las citadas exenciones, cualquiera sea el monto de la retribución, para aquellas entidades que tengan vedado el pago de las mismas por las normas que rijan su constitución y funcionamiento”. </a:t>
            </a:r>
            <a:r>
              <a:rPr lang="es-AR" sz="6400" b="1" dirty="0" smtClean="0"/>
              <a:t>(Dictamen DAT 19/1997).</a:t>
            </a:r>
            <a:endParaRPr lang="es-ES" sz="6400" b="1" dirty="0" smtClean="0"/>
          </a:p>
          <a:p>
            <a:pPr>
              <a:buNone/>
            </a:pPr>
            <a:endParaRPr lang="es-AR"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21</a:t>
            </a:fld>
            <a:endParaRPr lang="es-ES" dirty="0"/>
          </a:p>
        </p:txBody>
      </p:sp>
      <p:sp>
        <p:nvSpPr>
          <p:cNvPr id="5" name="4 CuadroTexto"/>
          <p:cNvSpPr txBox="1"/>
          <p:nvPr/>
        </p:nvSpPr>
        <p:spPr>
          <a:xfrm>
            <a:off x="319382" y="44624"/>
            <a:ext cx="8501090" cy="1585049"/>
          </a:xfrm>
          <a:prstGeom prst="rect">
            <a:avLst/>
          </a:prstGeom>
          <a:noFill/>
        </p:spPr>
        <p:txBody>
          <a:bodyPr wrap="square" rtlCol="0">
            <a:spAutoFit/>
          </a:bodyPr>
          <a:lstStyle/>
          <a:p>
            <a:pPr algn="ctr"/>
            <a:r>
              <a:rPr lang="es-AR" sz="3600" b="1" dirty="0" smtClean="0">
                <a:solidFill>
                  <a:srgbClr val="FF0000"/>
                </a:solidFill>
              </a:rPr>
              <a:t>IMPUESTO A LAS GANANCIAS (I)</a:t>
            </a:r>
          </a:p>
          <a:p>
            <a:pPr algn="ctr"/>
            <a:r>
              <a:rPr lang="es-ES" sz="2500" b="1" u="sng" dirty="0" smtClean="0">
                <a:solidFill>
                  <a:srgbClr val="163F9A"/>
                </a:solidFill>
              </a:rPr>
              <a:t>Exención (Ley)</a:t>
            </a:r>
          </a:p>
          <a:p>
            <a:pPr algn="ct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980728"/>
            <a:ext cx="8892480" cy="5376660"/>
          </a:xfrm>
        </p:spPr>
        <p:txBody>
          <a:bodyPr>
            <a:normAutofit fontScale="25000" lnSpcReduction="20000"/>
          </a:bodyPr>
          <a:lstStyle/>
          <a:p>
            <a:pPr algn="ctr">
              <a:buNone/>
            </a:pPr>
            <a:endParaRPr lang="es-ES" dirty="0" smtClean="0"/>
          </a:p>
          <a:p>
            <a:pPr algn="just">
              <a:lnSpc>
                <a:spcPct val="170000"/>
              </a:lnSpc>
              <a:buNone/>
            </a:pPr>
            <a:r>
              <a:rPr lang="es-ES" sz="7200" b="1" u="sng" dirty="0" smtClean="0"/>
              <a:t>Artículo 77.</a:t>
            </a:r>
            <a:r>
              <a:rPr lang="es-ES" sz="7200" dirty="0" smtClean="0"/>
              <a:t> </a:t>
            </a:r>
            <a:r>
              <a:rPr lang="es-AR" sz="7200" dirty="0" smtClean="0"/>
              <a:t>La exención que establece el artículo 20, incisos b), d), e), f), </a:t>
            </a:r>
            <a:r>
              <a:rPr lang="es-AR" sz="7200" b="1" u="sng" dirty="0" smtClean="0"/>
              <a:t>g)</a:t>
            </a:r>
            <a:r>
              <a:rPr lang="es-AR" sz="7200" dirty="0" smtClean="0"/>
              <a:t>, m) y r) de la ley, se otorgará a pedido de los interesados, quienes con tal fin presentarán los estatutos o normas que rijan su funcionamiento y todo otro elemento de juicio que exija la A.F.I.P.</a:t>
            </a:r>
          </a:p>
          <a:p>
            <a:pPr algn="just">
              <a:lnSpc>
                <a:spcPct val="170000"/>
              </a:lnSpc>
              <a:buNone/>
            </a:pPr>
            <a:r>
              <a:rPr lang="es-AR" sz="7200" dirty="0" smtClean="0"/>
              <a:t>    Cualquier modificación posterior deberá ponerse en su conocimiento dentro del mes siguiente a aquel en el cual hubiera tenido lugar.</a:t>
            </a:r>
          </a:p>
          <a:p>
            <a:pPr algn="just">
              <a:lnSpc>
                <a:spcPct val="170000"/>
              </a:lnSpc>
              <a:buNone/>
            </a:pPr>
            <a:r>
              <a:rPr lang="es-AR" sz="7200" dirty="0" smtClean="0"/>
              <a:t>    Las entidades a las que se haya acordado la exención, no estarán sujetas a la retención del gravamen.</a:t>
            </a:r>
          </a:p>
          <a:p>
            <a:pPr algn="just">
              <a:lnSpc>
                <a:spcPct val="170000"/>
              </a:lnSpc>
              <a:buNone/>
            </a:pPr>
            <a:r>
              <a:rPr lang="es-AR" sz="7200" b="1" u="sng" dirty="0" smtClean="0"/>
              <a:t>Artículo 95.- </a:t>
            </a:r>
            <a:r>
              <a:rPr lang="es-AR" sz="7200" dirty="0" smtClean="0"/>
              <a:t>La limitación establecida en el último párrafo del artículo 26 de la ley, referida a las remuneraciones de los elencos directivos y de contralor de instituciones comprendidas en sus incisos f), g) y l), no será aplicable respecto de aquellas que retribuyan una función de naturaleza distinta efectivamente ejecutada por éstos. </a:t>
            </a:r>
            <a:r>
              <a:rPr lang="es-AR" sz="7200" b="1" dirty="0" smtClean="0"/>
              <a:t>(Dictamen N° 45/2001 – DI ATEC) .</a:t>
            </a:r>
          </a:p>
          <a:p>
            <a:pPr algn="just">
              <a:lnSpc>
                <a:spcPct val="170000"/>
              </a:lnSpc>
              <a:buNone/>
            </a:pPr>
            <a:endParaRPr lang="es-AR" sz="64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22</a:t>
            </a:fld>
            <a:endParaRPr lang="es-ES" dirty="0"/>
          </a:p>
        </p:txBody>
      </p:sp>
      <p:sp>
        <p:nvSpPr>
          <p:cNvPr id="5" name="4 CuadroTexto"/>
          <p:cNvSpPr txBox="1"/>
          <p:nvPr/>
        </p:nvSpPr>
        <p:spPr>
          <a:xfrm>
            <a:off x="391390" y="-27384"/>
            <a:ext cx="8501090" cy="1585049"/>
          </a:xfrm>
          <a:prstGeom prst="rect">
            <a:avLst/>
          </a:prstGeom>
          <a:noFill/>
        </p:spPr>
        <p:txBody>
          <a:bodyPr wrap="square" rtlCol="0">
            <a:spAutoFit/>
          </a:bodyPr>
          <a:lstStyle/>
          <a:p>
            <a:pPr algn="ctr"/>
            <a:r>
              <a:rPr lang="es-AR" sz="3600" b="1" dirty="0" smtClean="0">
                <a:solidFill>
                  <a:srgbClr val="FF0000"/>
                </a:solidFill>
              </a:rPr>
              <a:t>IMPUESTO A LAS GANANCIAS (II)</a:t>
            </a:r>
          </a:p>
          <a:p>
            <a:pPr algn="ctr"/>
            <a:r>
              <a:rPr lang="es-ES" sz="2500" b="1" u="sng" dirty="0" smtClean="0">
                <a:solidFill>
                  <a:srgbClr val="163F9A"/>
                </a:solidFill>
              </a:rPr>
              <a:t>Solicitud de Exención (Decreto Reglamentario)</a:t>
            </a:r>
          </a:p>
          <a:p>
            <a:pPr algn="ct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571480"/>
            <a:ext cx="9144000" cy="5929354"/>
          </a:xfrm>
        </p:spPr>
        <p:txBody>
          <a:bodyPr>
            <a:normAutofit fontScale="25000" lnSpcReduction="20000"/>
          </a:bodyPr>
          <a:lstStyle/>
          <a:p>
            <a:pPr algn="ctr">
              <a:buNone/>
            </a:pPr>
            <a:r>
              <a:rPr lang="es-ES" sz="8000" b="1" u="sng" dirty="0" smtClean="0">
                <a:solidFill>
                  <a:srgbClr val="163F9A"/>
                </a:solidFill>
              </a:rPr>
              <a:t>Solicitud de Exención</a:t>
            </a:r>
          </a:p>
          <a:p>
            <a:pPr algn="just">
              <a:lnSpc>
                <a:spcPct val="170000"/>
              </a:lnSpc>
              <a:buFont typeface="Wingdings" pitchFamily="2" charset="2"/>
              <a:buChar char="Ø"/>
            </a:pPr>
            <a:r>
              <a:rPr lang="es-AR" sz="6400" b="1" dirty="0" smtClean="0"/>
              <a:t>Espacio de diálogo AFIP – Cámaras Empresarias. Acta N° 13. 11/07/2018.</a:t>
            </a:r>
          </a:p>
          <a:p>
            <a:pPr algn="just">
              <a:lnSpc>
                <a:spcPct val="170000"/>
              </a:lnSpc>
              <a:buFont typeface="Wingdings" pitchFamily="2" charset="2"/>
              <a:buChar char="Ø"/>
            </a:pPr>
            <a:r>
              <a:rPr lang="es-AR" sz="6400" b="1" dirty="0" smtClean="0"/>
              <a:t>“Asociación Mutual de Socios </a:t>
            </a:r>
            <a:r>
              <a:rPr lang="es-AR" sz="6400" b="1" dirty="0" err="1" smtClean="0"/>
              <a:t>Credivico</a:t>
            </a:r>
            <a:r>
              <a:rPr lang="es-AR" sz="6400" b="1" dirty="0" smtClean="0"/>
              <a:t>”. CSJN. 2/03/2011. </a:t>
            </a:r>
            <a:r>
              <a:rPr lang="es-AR" sz="6400" dirty="0" smtClean="0"/>
              <a:t>Destacó que el carácter de sujeto exento está dado por el encuadramiento de la entidad actora en las previsiones de dichas normas y no por la circunstancia de que cuente o deje de contar con una resolución del ente recaudador que declare explícitamente que reviste esa calidad.</a:t>
            </a:r>
          </a:p>
          <a:p>
            <a:pPr algn="just">
              <a:lnSpc>
                <a:spcPct val="170000"/>
              </a:lnSpc>
              <a:buFont typeface="Wingdings" pitchFamily="2" charset="2"/>
              <a:buChar char="Ø"/>
            </a:pPr>
            <a:r>
              <a:rPr lang="es-AR" sz="6400" b="1" dirty="0" smtClean="0"/>
              <a:t>“Asociación Mutual Actividades Crediticias (AMACRED) c/ – AFIP – DGI s/ DGI”. </a:t>
            </a:r>
            <a:r>
              <a:rPr lang="es-AR" sz="6400" b="1" dirty="0" err="1" smtClean="0"/>
              <a:t>Cám</a:t>
            </a:r>
            <a:r>
              <a:rPr lang="es-AR" sz="6400" b="1" dirty="0" smtClean="0"/>
              <a:t>. </a:t>
            </a:r>
            <a:r>
              <a:rPr lang="es-AR" sz="6400" b="1" dirty="0" err="1" smtClean="0"/>
              <a:t>Nac</a:t>
            </a:r>
            <a:r>
              <a:rPr lang="es-AR" sz="6400" b="1" dirty="0" smtClean="0"/>
              <a:t>. Cont. </a:t>
            </a:r>
            <a:r>
              <a:rPr lang="es-AR" sz="6400" b="1" dirty="0" err="1" smtClean="0"/>
              <a:t>Adm</a:t>
            </a:r>
            <a:r>
              <a:rPr lang="es-AR" sz="6400" b="1" dirty="0" smtClean="0"/>
              <a:t>. Fed. Sala I. 11/09/2018</a:t>
            </a:r>
            <a:r>
              <a:rPr lang="es-AR" sz="6400" dirty="0" smtClean="0"/>
              <a:t>. </a:t>
            </a:r>
            <a:r>
              <a:rPr lang="es-ES" sz="6400" dirty="0" smtClean="0"/>
              <a:t>El Fisco demostró que la mutual sólo cambiaba cheques y actuaba como una financiera. La exención no opera automáticamente por sólo hecho de obtener la matrícula. El Fisco mantiene las facultades de fiscalización para determinar si existen trasgresiones que invaliden la franquicia tributaria. </a:t>
            </a:r>
            <a:endParaRPr lang="es-AR" sz="6400" dirty="0" smtClean="0"/>
          </a:p>
          <a:p>
            <a:pPr algn="just">
              <a:lnSpc>
                <a:spcPct val="170000"/>
              </a:lnSpc>
              <a:buFont typeface="Wingdings" pitchFamily="2" charset="2"/>
              <a:buChar char="Ø"/>
            </a:pPr>
            <a:r>
              <a:rPr lang="es-AR" sz="6400" b="1" dirty="0" smtClean="0"/>
              <a:t>“Asociación Mutual de Comerciantes Bartolomé Mitre”. </a:t>
            </a:r>
            <a:r>
              <a:rPr lang="es-AR" sz="6400" b="1" dirty="0" err="1" smtClean="0"/>
              <a:t>Cám</a:t>
            </a:r>
            <a:r>
              <a:rPr lang="es-AR" sz="6400" b="1" dirty="0" smtClean="0"/>
              <a:t>. </a:t>
            </a:r>
            <a:r>
              <a:rPr lang="es-AR" sz="6400" b="1" dirty="0" err="1" smtClean="0"/>
              <a:t>Nac</a:t>
            </a:r>
            <a:r>
              <a:rPr lang="es-AR" sz="6400" b="1" dirty="0" smtClean="0"/>
              <a:t>. </a:t>
            </a:r>
            <a:r>
              <a:rPr lang="es-AR" sz="6400" b="1" dirty="0" err="1" smtClean="0"/>
              <a:t>Contenc</a:t>
            </a:r>
            <a:r>
              <a:rPr lang="es-AR" sz="6400" b="1" dirty="0" smtClean="0"/>
              <a:t>. </a:t>
            </a:r>
            <a:r>
              <a:rPr lang="es-AR" sz="6400" b="1" dirty="0" err="1" smtClean="0"/>
              <a:t>Adm</a:t>
            </a:r>
            <a:r>
              <a:rPr lang="es-AR" sz="6400" b="1" dirty="0" smtClean="0"/>
              <a:t>. Federal. Sala I. 19/12/2017</a:t>
            </a:r>
            <a:r>
              <a:rPr lang="es-AR" sz="6400" dirty="0" smtClean="0"/>
              <a:t>. “… Es decir que para acordar a una entidad los beneficios fiscales previstos por el legislador, lo esencial no es su reconocimiento formal como persona exenta sino su adecuación sustancial a las previsiones de las leyes que establecen esos beneficios…”.</a:t>
            </a:r>
          </a:p>
          <a:p>
            <a:pPr algn="just">
              <a:lnSpc>
                <a:spcPct val="170000"/>
              </a:lnSpc>
              <a:buNone/>
            </a:pPr>
            <a:r>
              <a:rPr lang="es-ES" sz="6400" dirty="0" smtClean="0"/>
              <a:t> </a:t>
            </a:r>
            <a:endParaRPr lang="es-AR" sz="6400" b="1" dirty="0" smtClean="0"/>
          </a:p>
          <a:p>
            <a:pPr algn="just">
              <a:lnSpc>
                <a:spcPct val="170000"/>
              </a:lnSpc>
              <a:buFont typeface="Wingdings" pitchFamily="2" charset="2"/>
              <a:buChar char="Ø"/>
            </a:pPr>
            <a:endParaRPr lang="es-AR" sz="6000" dirty="0" smtClean="0"/>
          </a:p>
          <a:p>
            <a:pPr algn="just">
              <a:lnSpc>
                <a:spcPct val="170000"/>
              </a:lnSpc>
              <a:buNone/>
            </a:pPr>
            <a:endParaRPr lang="es-AR" sz="6400" dirty="0" smtClean="0"/>
          </a:p>
          <a:p>
            <a:pPr algn="just">
              <a:lnSpc>
                <a:spcPct val="170000"/>
              </a:lnSpc>
              <a:buNone/>
            </a:pPr>
            <a:endParaRPr lang="es-AR" sz="64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23</a:t>
            </a:fld>
            <a:endParaRPr lang="es-ES" dirty="0"/>
          </a:p>
        </p:txBody>
      </p:sp>
      <p:sp>
        <p:nvSpPr>
          <p:cNvPr id="5" name="4 CuadroTexto"/>
          <p:cNvSpPr txBox="1"/>
          <p:nvPr/>
        </p:nvSpPr>
        <p:spPr>
          <a:xfrm>
            <a:off x="285752" y="-71462"/>
            <a:ext cx="8501090" cy="646331"/>
          </a:xfrm>
          <a:prstGeom prst="rect">
            <a:avLst/>
          </a:prstGeom>
          <a:noFill/>
        </p:spPr>
        <p:txBody>
          <a:bodyPr wrap="square" rtlCol="0">
            <a:spAutoFit/>
          </a:bodyPr>
          <a:lstStyle/>
          <a:p>
            <a:pPr algn="ctr"/>
            <a:r>
              <a:rPr lang="es-AR" sz="3600" b="1" dirty="0" smtClean="0">
                <a:solidFill>
                  <a:srgbClr val="FF0000"/>
                </a:solidFill>
              </a:rPr>
              <a:t>IMPUESTO A LAS GANANCIAS (III)</a:t>
            </a: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714356"/>
            <a:ext cx="8858280" cy="5878436"/>
          </a:xfrm>
        </p:spPr>
        <p:txBody>
          <a:bodyPr>
            <a:normAutofit fontScale="32500" lnSpcReduction="20000"/>
          </a:bodyPr>
          <a:lstStyle/>
          <a:p>
            <a:pPr algn="ctr">
              <a:buNone/>
            </a:pPr>
            <a:r>
              <a:rPr lang="es-ES" sz="5000" b="1" u="sng" dirty="0" smtClean="0">
                <a:solidFill>
                  <a:srgbClr val="163F9A"/>
                </a:solidFill>
              </a:rPr>
              <a:t>Solicitud de Exención</a:t>
            </a:r>
          </a:p>
          <a:p>
            <a:pPr algn="just">
              <a:lnSpc>
                <a:spcPct val="170000"/>
              </a:lnSpc>
              <a:buFont typeface="Wingdings" pitchFamily="2" charset="2"/>
              <a:buChar char="Ø"/>
            </a:pPr>
            <a:r>
              <a:rPr lang="es-AR" sz="4300" b="1" dirty="0" smtClean="0"/>
              <a:t>“Asociación Mutual Tropea”. TFN. Sala D. 27/08/2019</a:t>
            </a:r>
            <a:r>
              <a:rPr lang="es-AR" sz="4300" dirty="0" smtClean="0"/>
              <a:t>. Para otorgar la exención no es suficiente el examen jurídico formal, sino que debe integrarse con una valoración de índole tributaria y de su realidad económica. Se basó en el Informe del INAES; informe de inspección y denuncia penal de </a:t>
            </a:r>
            <a:r>
              <a:rPr lang="es-AR" sz="4300" dirty="0" err="1" smtClean="0"/>
              <a:t>Procelac</a:t>
            </a:r>
            <a:r>
              <a:rPr lang="es-AR" sz="4300" dirty="0" smtClean="0"/>
              <a:t>.</a:t>
            </a:r>
          </a:p>
          <a:p>
            <a:pPr algn="just">
              <a:lnSpc>
                <a:spcPct val="170000"/>
              </a:lnSpc>
              <a:buFont typeface="Wingdings" pitchFamily="2" charset="2"/>
              <a:buChar char="Ø"/>
            </a:pPr>
            <a:r>
              <a:rPr lang="es-AR" sz="4300" b="1" dirty="0" smtClean="0"/>
              <a:t>“Asociación Mutual Amparen”. TFN. Sala A. 25/08/2023. </a:t>
            </a:r>
            <a:r>
              <a:rPr lang="es-AR" sz="4300" dirty="0" smtClean="0"/>
              <a:t>Por mayoría dio la razón a AFIP, por entender que la Entidad realizaba actividad financiera no autorizada que fue constatada por el INAES y la fiscalización actuante. Voto en disidencia por considerar que sí tenía aprobada el </a:t>
            </a:r>
            <a:r>
              <a:rPr lang="es-AR" sz="4300" dirty="0" err="1" smtClean="0"/>
              <a:t>Regl</a:t>
            </a:r>
            <a:r>
              <a:rPr lang="es-AR" sz="4300" dirty="0" smtClean="0"/>
              <a:t>. Gestión de Préstamos.</a:t>
            </a:r>
          </a:p>
          <a:p>
            <a:pPr algn="just">
              <a:lnSpc>
                <a:spcPct val="170000"/>
              </a:lnSpc>
              <a:buFont typeface="Wingdings" pitchFamily="2" charset="2"/>
              <a:buChar char="Ø"/>
            </a:pPr>
            <a:r>
              <a:rPr lang="es-AR" sz="4300" b="1" dirty="0" smtClean="0"/>
              <a:t>“Asociación Mutual Sportivo Belgrano”. TFN. Sala C. 20/09/2023.</a:t>
            </a:r>
            <a:r>
              <a:rPr lang="es-AR" sz="4300" dirty="0" smtClean="0"/>
              <a:t> Por mayoría revocó la D.O. por existir fallo de CSJN (23/08/2011) que dejó firme el fallo de la Sala B de la Cámara de Córdoba (desestimó </a:t>
            </a:r>
            <a:r>
              <a:rPr lang="es-AR" sz="4300" dirty="0" err="1" smtClean="0"/>
              <a:t>Rec</a:t>
            </a:r>
            <a:r>
              <a:rPr lang="es-AR" sz="4300" dirty="0" smtClean="0"/>
              <a:t>. Ext.), el cuál había confirmado la exención de la mutual. El Fisco cuestionaba determinadas deducciones de gastos e incobrables.</a:t>
            </a:r>
          </a:p>
          <a:p>
            <a:pPr algn="just">
              <a:lnSpc>
                <a:spcPct val="170000"/>
              </a:lnSpc>
              <a:buFont typeface="Wingdings" pitchFamily="2" charset="2"/>
              <a:buChar char="Ø"/>
            </a:pPr>
            <a:r>
              <a:rPr lang="es-ES" sz="4300" b="1" dirty="0" smtClean="0"/>
              <a:t>“Asociación Mutual Metropolitana c/AFIP-DGI- Contencioso Administrativo”. </a:t>
            </a:r>
            <a:r>
              <a:rPr lang="es-ES" sz="4300" b="1" dirty="0" err="1" smtClean="0"/>
              <a:t>CAFed</a:t>
            </a:r>
            <a:r>
              <a:rPr lang="es-ES" sz="4300" b="1" dirty="0" smtClean="0"/>
              <a:t>. Córdoba. Sala B. 26/10/23. </a:t>
            </a:r>
            <a:r>
              <a:rPr lang="es-ES" sz="4300" dirty="0" smtClean="0"/>
              <a:t>1° instancia revocó la DO por sostener que no se respetó la intervención del INAES. La Alzada sostuvo que el Fisco actuó en el marco de sus competencias. El Fisco detectó contribuyentes en base </a:t>
            </a:r>
            <a:r>
              <a:rPr lang="es-ES" sz="4300" dirty="0" err="1" smtClean="0"/>
              <a:t>apoc</a:t>
            </a:r>
            <a:r>
              <a:rPr lang="es-ES" sz="4300" dirty="0" smtClean="0"/>
              <a:t> que pasaban operaciones de cheques por la Entidad. Puso en conocimiento de INAES y éste inicio sumario y suspensión de actividades. Además inicio denuncia penal a sus directivos. Revocó sentencia de 1° instancia.</a:t>
            </a:r>
          </a:p>
          <a:p>
            <a:pPr algn="just">
              <a:lnSpc>
                <a:spcPct val="170000"/>
              </a:lnSpc>
              <a:buFont typeface="Wingdings" pitchFamily="2" charset="2"/>
              <a:buChar char="Ø"/>
            </a:pPr>
            <a:r>
              <a:rPr lang="es-ES" sz="4300" b="1" dirty="0" smtClean="0"/>
              <a:t>“Asociación Mutual Metropolitana c/AFIP-DGI”. TFN. 22/04/24. </a:t>
            </a:r>
            <a:r>
              <a:rPr lang="es-ES" sz="4300" dirty="0" smtClean="0"/>
              <a:t>El tribunal consideró que el Fisco puede revocar la exención sin dar intervención previamente intervención al INAES. Tuvo en cuenta la decisión judicial de la Cámara.</a:t>
            </a:r>
          </a:p>
          <a:p>
            <a:pPr algn="just">
              <a:lnSpc>
                <a:spcPct val="170000"/>
              </a:lnSpc>
              <a:buFont typeface="Wingdings" pitchFamily="2" charset="2"/>
              <a:buChar char="Ø"/>
            </a:pPr>
            <a:endParaRPr lang="es-AR" sz="3800" b="1" dirty="0" smtClean="0"/>
          </a:p>
          <a:p>
            <a:pPr algn="just">
              <a:lnSpc>
                <a:spcPct val="170000"/>
              </a:lnSpc>
              <a:buFont typeface="Wingdings" pitchFamily="2" charset="2"/>
              <a:buChar char="Ø"/>
            </a:pPr>
            <a:endParaRPr lang="es-AR" sz="5600" dirty="0" smtClean="0"/>
          </a:p>
          <a:p>
            <a:pPr algn="just">
              <a:lnSpc>
                <a:spcPct val="170000"/>
              </a:lnSpc>
              <a:buFont typeface="Wingdings" pitchFamily="2" charset="2"/>
              <a:buChar char="Ø"/>
            </a:pPr>
            <a:endParaRPr lang="es-AR" sz="5600" dirty="0" smtClean="0"/>
          </a:p>
          <a:p>
            <a:pPr algn="just">
              <a:lnSpc>
                <a:spcPct val="170000"/>
              </a:lnSpc>
              <a:buNone/>
            </a:pPr>
            <a:endParaRPr lang="es-AR" sz="6400" dirty="0" smtClean="0"/>
          </a:p>
          <a:p>
            <a:pPr algn="just">
              <a:lnSpc>
                <a:spcPct val="170000"/>
              </a:lnSpc>
              <a:buNone/>
            </a:pPr>
            <a:endParaRPr lang="es-AR" sz="64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24</a:t>
            </a:fld>
            <a:endParaRPr lang="es-ES" dirty="0"/>
          </a:p>
        </p:txBody>
      </p:sp>
      <p:sp>
        <p:nvSpPr>
          <p:cNvPr id="5" name="4 CuadroTexto"/>
          <p:cNvSpPr txBox="1"/>
          <p:nvPr/>
        </p:nvSpPr>
        <p:spPr>
          <a:xfrm>
            <a:off x="214314" y="116632"/>
            <a:ext cx="8501090" cy="646331"/>
          </a:xfrm>
          <a:prstGeom prst="rect">
            <a:avLst/>
          </a:prstGeom>
          <a:noFill/>
        </p:spPr>
        <p:txBody>
          <a:bodyPr wrap="square" rtlCol="0">
            <a:spAutoFit/>
          </a:bodyPr>
          <a:lstStyle/>
          <a:p>
            <a:pPr algn="ctr"/>
            <a:r>
              <a:rPr lang="es-AR" sz="3600" b="1" dirty="0" smtClean="0">
                <a:solidFill>
                  <a:srgbClr val="FF0000"/>
                </a:solidFill>
              </a:rPr>
              <a:t>IMPUESTO A LAS GANANCIAS (IV)</a:t>
            </a: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57158" y="714356"/>
            <a:ext cx="8501122" cy="5664122"/>
          </a:xfrm>
        </p:spPr>
        <p:txBody>
          <a:bodyPr>
            <a:normAutofit fontScale="47500" lnSpcReduction="20000"/>
          </a:bodyPr>
          <a:lstStyle/>
          <a:p>
            <a:pPr algn="ctr">
              <a:buNone/>
            </a:pPr>
            <a:r>
              <a:rPr lang="es-ES" sz="4400" b="1" u="sng" dirty="0" smtClean="0">
                <a:solidFill>
                  <a:srgbClr val="163F9A"/>
                </a:solidFill>
              </a:rPr>
              <a:t>Solicitud de Exención</a:t>
            </a:r>
          </a:p>
          <a:p>
            <a:pPr algn="ctr">
              <a:buNone/>
            </a:pPr>
            <a:endParaRPr lang="es-ES" dirty="0" smtClean="0"/>
          </a:p>
          <a:p>
            <a:pPr algn="just">
              <a:lnSpc>
                <a:spcPct val="170000"/>
              </a:lnSpc>
              <a:buFont typeface="Wingdings" pitchFamily="2" charset="2"/>
              <a:buChar char="Ø"/>
            </a:pPr>
            <a:r>
              <a:rPr lang="es-AR" sz="2900" b="1" dirty="0" smtClean="0"/>
              <a:t>“Mutual del Personal del Ministerio de Salud Pública Gral. San Martín c/ Fisco Nacional”. </a:t>
            </a:r>
            <a:r>
              <a:rPr lang="es-AR" sz="2900" b="1" dirty="0" err="1" smtClean="0"/>
              <a:t>CFed</a:t>
            </a:r>
            <a:r>
              <a:rPr lang="es-AR" sz="2900" b="1" dirty="0" smtClean="0"/>
              <a:t>. Salta. Sala I. 18/05/2021. </a:t>
            </a:r>
            <a:r>
              <a:rPr lang="es-AR" sz="2900" dirty="0" smtClean="0"/>
              <a:t>El Fisco revocó la exención por otorgar préstamos a no asociados. La mutual apeló en la justicia. Luego el Fisco inició la DO. La mutual presentó amparo. 1° instancia desestimó la cautelar. La Alzada confirmó el fallo porque la DO estaba en proceso. </a:t>
            </a:r>
          </a:p>
          <a:p>
            <a:pPr algn="just">
              <a:lnSpc>
                <a:spcPct val="170000"/>
              </a:lnSpc>
              <a:buFont typeface="Wingdings" pitchFamily="2" charset="2"/>
              <a:buChar char="Ø"/>
            </a:pPr>
            <a:r>
              <a:rPr lang="es-AR" sz="2900" b="1" dirty="0" smtClean="0"/>
              <a:t>“Mutual de Sociedad Cultural c. DGI s/ Recurso Directo Organismo externo”</a:t>
            </a:r>
            <a:r>
              <a:rPr lang="es-AR" sz="2900" dirty="0" smtClean="0"/>
              <a:t>. </a:t>
            </a:r>
            <a:r>
              <a:rPr lang="es-AR" sz="2900" b="1" dirty="0" err="1" smtClean="0"/>
              <a:t>CNAFed</a:t>
            </a:r>
            <a:r>
              <a:rPr lang="es-AR" sz="2900" b="1" dirty="0" smtClean="0"/>
              <a:t>. Sala IV. 15/12/2015. </a:t>
            </a:r>
            <a:r>
              <a:rPr lang="es-AR" sz="2900" dirty="0" smtClean="0"/>
              <a:t>El TFN suspendió el reclamo de la deuda por litispendencia ante la impugnación judicial por la denegatoria de exención. Luego la Cámara reconoció la exención por no haberse probado la existencia de cuestiones fácticas que desvirtúen la naturaleza mutual de la Entidad. </a:t>
            </a:r>
            <a:endParaRPr lang="es-AR" sz="2900" b="1" dirty="0" smtClean="0"/>
          </a:p>
          <a:p>
            <a:pPr algn="just">
              <a:lnSpc>
                <a:spcPct val="170000"/>
              </a:lnSpc>
              <a:buFont typeface="Wingdings" pitchFamily="2" charset="2"/>
              <a:buChar char="Ø"/>
            </a:pPr>
            <a:r>
              <a:rPr lang="es-AR" sz="2900" b="1" dirty="0" smtClean="0"/>
              <a:t>“</a:t>
            </a:r>
            <a:r>
              <a:rPr lang="es-AR" sz="2900" b="1" dirty="0"/>
              <a:t>Asociación </a:t>
            </a:r>
            <a:r>
              <a:rPr lang="es-AR" sz="2900" b="1" dirty="0" smtClean="0"/>
              <a:t>Mutual Productores de Servicios Generales”. TFN. Sala B. 19/04/2021.</a:t>
            </a:r>
            <a:r>
              <a:rPr lang="es-AR" sz="2900" dirty="0" smtClean="0"/>
              <a:t> Suspendió reclamo de deuda hasta que se resuelva la impugnación judicial de la revocación del certificación de exención.</a:t>
            </a:r>
          </a:p>
          <a:p>
            <a:pPr algn="just">
              <a:lnSpc>
                <a:spcPct val="170000"/>
              </a:lnSpc>
              <a:buFont typeface="Wingdings" pitchFamily="2" charset="2"/>
              <a:buChar char="Ø"/>
            </a:pPr>
            <a:r>
              <a:rPr lang="es-AR" sz="2900" b="1" dirty="0" smtClean="0"/>
              <a:t>“Mutual del Personal del Ministerio de Salud Pública Gral. San Martín c/ Fisco Nacional”. TFN. Sala A. 31/05/2022. </a:t>
            </a:r>
            <a:r>
              <a:rPr lang="es-AR" sz="2900" dirty="0" smtClean="0"/>
              <a:t>Ante la DO la mutual apeló y litispendencia. El Fisco sostuvo extemporaneidad. La mutual había pedido vista de expedientes que suspende plazo. El tribunal admitió la apelación y suspendió.</a:t>
            </a:r>
          </a:p>
          <a:p>
            <a:pPr algn="just">
              <a:lnSpc>
                <a:spcPct val="170000"/>
              </a:lnSpc>
              <a:buFont typeface="Wingdings" pitchFamily="2" charset="2"/>
              <a:buChar char="Ø"/>
            </a:pPr>
            <a:r>
              <a:rPr lang="es-AR" sz="2900" dirty="0" smtClean="0"/>
              <a:t> </a:t>
            </a:r>
            <a:r>
              <a:rPr lang="es-AR" sz="2900" b="1" dirty="0" smtClean="0"/>
              <a:t>“Mutual las Breñas”. TFN. Sala D. 17/02/25. </a:t>
            </a:r>
            <a:r>
              <a:rPr lang="es-AR" sz="2900" dirty="0" smtClean="0"/>
              <a:t>El Tribunal resolvió que no es obligación que el Fisco en forma previa de intervención al INAES para revocar o denegar exención.</a:t>
            </a:r>
          </a:p>
          <a:p>
            <a:pPr algn="just">
              <a:lnSpc>
                <a:spcPct val="170000"/>
              </a:lnSpc>
              <a:buFont typeface="Wingdings" pitchFamily="2" charset="2"/>
              <a:buChar char="Ø"/>
            </a:pPr>
            <a:endParaRPr lang="es-AR" sz="2900" dirty="0" smtClean="0"/>
          </a:p>
          <a:p>
            <a:pPr algn="just">
              <a:lnSpc>
                <a:spcPct val="170000"/>
              </a:lnSpc>
              <a:buFont typeface="Wingdings" pitchFamily="2" charset="2"/>
              <a:buChar char="Ø"/>
            </a:pPr>
            <a:endParaRPr lang="es-AR" sz="5600" dirty="0" smtClean="0"/>
          </a:p>
          <a:p>
            <a:pPr algn="just">
              <a:lnSpc>
                <a:spcPct val="170000"/>
              </a:lnSpc>
              <a:buFont typeface="Wingdings" pitchFamily="2" charset="2"/>
              <a:buChar char="Ø"/>
            </a:pPr>
            <a:endParaRPr lang="es-AR" sz="5600" dirty="0" smtClean="0"/>
          </a:p>
          <a:p>
            <a:pPr algn="just">
              <a:lnSpc>
                <a:spcPct val="170000"/>
              </a:lnSpc>
              <a:buNone/>
            </a:pPr>
            <a:endParaRPr lang="es-AR" sz="6400" dirty="0" smtClean="0"/>
          </a:p>
          <a:p>
            <a:pPr algn="just">
              <a:lnSpc>
                <a:spcPct val="170000"/>
              </a:lnSpc>
              <a:buNone/>
            </a:pPr>
            <a:endParaRPr lang="es-AR" sz="64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25</a:t>
            </a:fld>
            <a:endParaRPr lang="es-ES" dirty="0"/>
          </a:p>
        </p:txBody>
      </p:sp>
      <p:sp>
        <p:nvSpPr>
          <p:cNvPr id="5" name="4 CuadroTexto"/>
          <p:cNvSpPr txBox="1"/>
          <p:nvPr/>
        </p:nvSpPr>
        <p:spPr>
          <a:xfrm>
            <a:off x="214314" y="116632"/>
            <a:ext cx="8501090" cy="646331"/>
          </a:xfrm>
          <a:prstGeom prst="rect">
            <a:avLst/>
          </a:prstGeom>
          <a:noFill/>
        </p:spPr>
        <p:txBody>
          <a:bodyPr wrap="square" rtlCol="0">
            <a:spAutoFit/>
          </a:bodyPr>
          <a:lstStyle/>
          <a:p>
            <a:pPr algn="ctr"/>
            <a:r>
              <a:rPr lang="es-AR" sz="3600" b="1" dirty="0" smtClean="0">
                <a:solidFill>
                  <a:srgbClr val="FF0000"/>
                </a:solidFill>
              </a:rPr>
              <a:t>IMPUESTO A LAS GANANCIAS (V)</a:t>
            </a: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54982" y="981298"/>
            <a:ext cx="8003232" cy="4162214"/>
          </a:xfrm>
        </p:spPr>
        <p:txBody>
          <a:bodyPr>
            <a:normAutofit fontScale="25000" lnSpcReduction="20000"/>
          </a:bodyPr>
          <a:lstStyle/>
          <a:p>
            <a:pPr algn="ctr">
              <a:buNone/>
            </a:pPr>
            <a:r>
              <a:rPr lang="es-ES" sz="9600" b="1" u="sng" dirty="0" smtClean="0">
                <a:solidFill>
                  <a:srgbClr val="163F9A"/>
                </a:solidFill>
              </a:rPr>
              <a:t>Certificado de Exención RG 2681 y modificatorias</a:t>
            </a:r>
          </a:p>
          <a:p>
            <a:pPr>
              <a:buNone/>
            </a:pPr>
            <a:endParaRPr lang="es-ES" dirty="0" smtClean="0"/>
          </a:p>
          <a:p>
            <a:pPr>
              <a:buNone/>
            </a:pPr>
            <a:endParaRPr lang="es-ES" sz="7200" dirty="0" smtClean="0"/>
          </a:p>
          <a:p>
            <a:pPr>
              <a:buNone/>
            </a:pPr>
            <a:r>
              <a:rPr lang="es-ES" sz="8000" b="1" u="sng" dirty="0" smtClean="0"/>
              <a:t>Beneficios</a:t>
            </a:r>
            <a:r>
              <a:rPr lang="es-ES" sz="8000" b="1" dirty="0" smtClean="0"/>
              <a:t>:</a:t>
            </a:r>
          </a:p>
          <a:p>
            <a:pPr>
              <a:buNone/>
            </a:pPr>
            <a:endParaRPr lang="es-ES" sz="7200" dirty="0" smtClean="0"/>
          </a:p>
          <a:p>
            <a:pPr algn="just">
              <a:lnSpc>
                <a:spcPct val="170000"/>
              </a:lnSpc>
            </a:pPr>
            <a:r>
              <a:rPr lang="es-AR" sz="7200" dirty="0" smtClean="0"/>
              <a:t>a) No ingresar el impuesto a las ganancias.</a:t>
            </a:r>
          </a:p>
          <a:p>
            <a:pPr algn="just">
              <a:lnSpc>
                <a:spcPct val="170000"/>
              </a:lnSpc>
            </a:pPr>
            <a:r>
              <a:rPr lang="es-AR" sz="7200" dirty="0" smtClean="0"/>
              <a:t>b) No ser pasibles de las retenciones y/o percepciones en el impuesto a las ganancias.</a:t>
            </a:r>
          </a:p>
          <a:p>
            <a:pPr algn="just">
              <a:lnSpc>
                <a:spcPct val="170000"/>
              </a:lnSpc>
            </a:pPr>
            <a:r>
              <a:rPr lang="es-AR" sz="7200" dirty="0" smtClean="0"/>
              <a:t>c) No ser pasibles de las retenciones y/o percepciones en el impuesto al valor agregado en determinados casos.</a:t>
            </a:r>
          </a:p>
          <a:p>
            <a:pPr algn="just">
              <a:lnSpc>
                <a:spcPct val="170000"/>
              </a:lnSpc>
            </a:pPr>
            <a:r>
              <a:rPr lang="es-AR" sz="7200" dirty="0" smtClean="0"/>
              <a:t>d) Estar alcanzadas por las alícuotas reducidas del impuesto sobre los créditos y débitos en cuentas bancarias y otras operatorias.</a:t>
            </a:r>
          </a:p>
          <a:p>
            <a:pPr>
              <a:buNone/>
            </a:pPr>
            <a:endParaRPr lang="es-AR" sz="7200" dirty="0" smtClean="0"/>
          </a:p>
        </p:txBody>
      </p:sp>
      <p:sp>
        <p:nvSpPr>
          <p:cNvPr id="5" name="4 Marcador de número de diapositiva"/>
          <p:cNvSpPr>
            <a:spLocks noGrp="1"/>
          </p:cNvSpPr>
          <p:nvPr>
            <p:ph type="sldNum" sz="quarter" idx="12"/>
          </p:nvPr>
        </p:nvSpPr>
        <p:spPr/>
        <p:txBody>
          <a:bodyPr/>
          <a:lstStyle/>
          <a:p>
            <a:fld id="{47905A6E-3428-42CC-8A3B-D0D77FE4EB92}" type="slidenum">
              <a:rPr lang="es-ES" smtClean="0"/>
              <a:pPr/>
              <a:t>26</a:t>
            </a:fld>
            <a:endParaRPr lang="es-ES" dirty="0"/>
          </a:p>
        </p:txBody>
      </p:sp>
      <p:sp>
        <p:nvSpPr>
          <p:cNvPr id="7" name="6 CuadroTexto"/>
          <p:cNvSpPr txBox="1"/>
          <p:nvPr/>
        </p:nvSpPr>
        <p:spPr>
          <a:xfrm>
            <a:off x="214314" y="260648"/>
            <a:ext cx="8501090" cy="646331"/>
          </a:xfrm>
          <a:prstGeom prst="rect">
            <a:avLst/>
          </a:prstGeom>
          <a:noFill/>
        </p:spPr>
        <p:txBody>
          <a:bodyPr wrap="square" rtlCol="0">
            <a:spAutoFit/>
          </a:bodyPr>
          <a:lstStyle/>
          <a:p>
            <a:pPr algn="ctr"/>
            <a:r>
              <a:rPr lang="es-AR" sz="3600" b="1" dirty="0" smtClean="0">
                <a:solidFill>
                  <a:srgbClr val="FF0000"/>
                </a:solidFill>
              </a:rPr>
              <a:t>IMPUESTO A LAS GANANCIAS (VI)</a:t>
            </a:r>
            <a:endParaRPr lang="es-ES" sz="3600" b="1" dirty="0">
              <a:solidFill>
                <a:srgbClr val="FF0000"/>
              </a:solidFill>
            </a:endParaRPr>
          </a:p>
        </p:txBody>
      </p:sp>
      <p:pic>
        <p:nvPicPr>
          <p:cNvPr id="8"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83568" y="1052736"/>
            <a:ext cx="8003232" cy="4162214"/>
          </a:xfrm>
        </p:spPr>
        <p:txBody>
          <a:bodyPr>
            <a:normAutofit/>
          </a:bodyPr>
          <a:lstStyle/>
          <a:p>
            <a:pPr algn="ctr">
              <a:buNone/>
            </a:pPr>
            <a:r>
              <a:rPr lang="es-ES" sz="2300" b="1" u="sng" dirty="0" smtClean="0">
                <a:solidFill>
                  <a:srgbClr val="163F9A"/>
                </a:solidFill>
              </a:rPr>
              <a:t>Certificado de Exención RG 2681 y modificatorias</a:t>
            </a:r>
            <a:endParaRPr lang="es-ES" sz="2300" dirty="0" smtClean="0">
              <a:solidFill>
                <a:srgbClr val="163F9A"/>
              </a:solidFill>
            </a:endParaRPr>
          </a:p>
          <a:p>
            <a:pPr>
              <a:buNone/>
            </a:pPr>
            <a:endParaRPr lang="es-ES" sz="7200" dirty="0" smtClean="0"/>
          </a:p>
          <a:p>
            <a:pPr>
              <a:buNone/>
            </a:pPr>
            <a:endParaRPr lang="es-ES" sz="7200" dirty="0" smtClean="0"/>
          </a:p>
        </p:txBody>
      </p:sp>
      <p:sp>
        <p:nvSpPr>
          <p:cNvPr id="19" name="18 Marcador de número de diapositiva"/>
          <p:cNvSpPr>
            <a:spLocks noGrp="1"/>
          </p:cNvSpPr>
          <p:nvPr>
            <p:ph type="sldNum" sz="quarter" idx="12"/>
          </p:nvPr>
        </p:nvSpPr>
        <p:spPr>
          <a:xfrm>
            <a:off x="7010400" y="5786454"/>
            <a:ext cx="2133600" cy="365125"/>
          </a:xfrm>
        </p:spPr>
        <p:txBody>
          <a:bodyPr/>
          <a:lstStyle/>
          <a:p>
            <a:fld id="{47905A6E-3428-42CC-8A3B-D0D77FE4EB92}" type="slidenum">
              <a:rPr lang="es-ES" smtClean="0"/>
              <a:pPr/>
              <a:t>27</a:t>
            </a:fld>
            <a:endParaRPr lang="es-ES" dirty="0"/>
          </a:p>
        </p:txBody>
      </p:sp>
      <p:sp>
        <p:nvSpPr>
          <p:cNvPr id="7" name="6 CuadroTexto"/>
          <p:cNvSpPr txBox="1"/>
          <p:nvPr/>
        </p:nvSpPr>
        <p:spPr>
          <a:xfrm>
            <a:off x="285752" y="282339"/>
            <a:ext cx="8501090" cy="646331"/>
          </a:xfrm>
          <a:prstGeom prst="rect">
            <a:avLst/>
          </a:prstGeom>
          <a:noFill/>
        </p:spPr>
        <p:txBody>
          <a:bodyPr wrap="square" rtlCol="0">
            <a:spAutoFit/>
          </a:bodyPr>
          <a:lstStyle/>
          <a:p>
            <a:pPr algn="ctr"/>
            <a:r>
              <a:rPr lang="es-AR" sz="3600" b="1" dirty="0" smtClean="0">
                <a:solidFill>
                  <a:srgbClr val="FF0000"/>
                </a:solidFill>
              </a:rPr>
              <a:t>IMPUESTO A LAS GANANCIAS (VII)</a:t>
            </a:r>
            <a:endParaRPr lang="es-ES" sz="3600" b="1" dirty="0">
              <a:solidFill>
                <a:srgbClr val="FF0000"/>
              </a:solidFill>
            </a:endParaRPr>
          </a:p>
        </p:txBody>
      </p:sp>
      <p:sp>
        <p:nvSpPr>
          <p:cNvPr id="8" name="7 Flecha abajo"/>
          <p:cNvSpPr/>
          <p:nvPr/>
        </p:nvSpPr>
        <p:spPr>
          <a:xfrm rot="3671387">
            <a:off x="2729871" y="2343340"/>
            <a:ext cx="631876" cy="5715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8 Flecha abajo"/>
          <p:cNvSpPr/>
          <p:nvPr/>
        </p:nvSpPr>
        <p:spPr>
          <a:xfrm rot="17848469">
            <a:off x="5645916" y="2348147"/>
            <a:ext cx="636883" cy="5529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9 Elipse"/>
          <p:cNvSpPr/>
          <p:nvPr/>
        </p:nvSpPr>
        <p:spPr>
          <a:xfrm>
            <a:off x="3571868" y="2000240"/>
            <a:ext cx="1928826" cy="85725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solidFill>
                  <a:srgbClr val="002060"/>
                </a:solidFill>
              </a:rPr>
              <a:t>Requisitos</a:t>
            </a:r>
            <a:endParaRPr lang="es-AR" dirty="0">
              <a:solidFill>
                <a:srgbClr val="002060"/>
              </a:solidFill>
            </a:endParaRPr>
          </a:p>
        </p:txBody>
      </p:sp>
      <p:sp>
        <p:nvSpPr>
          <p:cNvPr id="11" name="10 Rectángulo redondeado"/>
          <p:cNvSpPr/>
          <p:nvPr/>
        </p:nvSpPr>
        <p:spPr>
          <a:xfrm>
            <a:off x="500034" y="1857364"/>
            <a:ext cx="2214578" cy="142876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Régimen General.</a:t>
            </a:r>
          </a:p>
          <a:p>
            <a:pPr algn="ctr"/>
            <a:r>
              <a:rPr lang="es-ES" dirty="0" smtClean="0"/>
              <a:t>F. 953 + Documentación Anexo I</a:t>
            </a:r>
            <a:endParaRPr lang="es-AR" dirty="0"/>
          </a:p>
        </p:txBody>
      </p:sp>
      <p:sp>
        <p:nvSpPr>
          <p:cNvPr id="12" name="11 Rectángulo redondeado"/>
          <p:cNvSpPr/>
          <p:nvPr/>
        </p:nvSpPr>
        <p:spPr>
          <a:xfrm>
            <a:off x="6429388" y="1928802"/>
            <a:ext cx="2143140" cy="1500198"/>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Régimen Simplificado. </a:t>
            </a:r>
            <a:r>
              <a:rPr lang="es-ES" dirty="0" err="1" smtClean="0"/>
              <a:t>Via</a:t>
            </a:r>
            <a:r>
              <a:rPr lang="es-ES" dirty="0" smtClean="0"/>
              <a:t> web + Documentación Anexo I</a:t>
            </a:r>
            <a:endParaRPr lang="es-AR" dirty="0"/>
          </a:p>
        </p:txBody>
      </p:sp>
      <p:sp>
        <p:nvSpPr>
          <p:cNvPr id="13" name="12 CuadroTexto"/>
          <p:cNvSpPr txBox="1"/>
          <p:nvPr/>
        </p:nvSpPr>
        <p:spPr>
          <a:xfrm>
            <a:off x="642910" y="2928934"/>
            <a:ext cx="7786742" cy="1938992"/>
          </a:xfrm>
          <a:prstGeom prst="rect">
            <a:avLst/>
          </a:prstGeom>
          <a:noFill/>
        </p:spPr>
        <p:txBody>
          <a:bodyPr wrap="square" rtlCol="0">
            <a:spAutoFit/>
          </a:bodyPr>
          <a:lstStyle/>
          <a:p>
            <a:pPr algn="ctr"/>
            <a:r>
              <a:rPr lang="es-ES" sz="1500" dirty="0" smtClean="0"/>
              <a:t>Poseer </a:t>
            </a:r>
            <a:r>
              <a:rPr lang="es-ES" sz="1500" dirty="0" err="1" smtClean="0"/>
              <a:t>cuit</a:t>
            </a:r>
            <a:r>
              <a:rPr lang="es-ES" sz="1500" dirty="0" smtClean="0"/>
              <a:t> activo</a:t>
            </a:r>
          </a:p>
          <a:p>
            <a:pPr algn="ctr"/>
            <a:r>
              <a:rPr lang="es-ES" sz="1500" dirty="0" smtClean="0"/>
              <a:t>Poseer alta en ganancias</a:t>
            </a:r>
          </a:p>
          <a:p>
            <a:pPr algn="ctr"/>
            <a:r>
              <a:rPr lang="es-ES" sz="1500" dirty="0" smtClean="0"/>
              <a:t>Tener actualizada forma jurídica y actividades</a:t>
            </a:r>
          </a:p>
          <a:p>
            <a:pPr algn="ctr"/>
            <a:r>
              <a:rPr lang="es-ES" sz="1500" dirty="0" smtClean="0"/>
              <a:t>Actualizado domicilio fiscal</a:t>
            </a:r>
          </a:p>
          <a:p>
            <a:pPr algn="ctr"/>
            <a:r>
              <a:rPr lang="es-ES" sz="1500" dirty="0" smtClean="0"/>
              <a:t>Tener presentadas </a:t>
            </a:r>
            <a:r>
              <a:rPr lang="es-ES" sz="1500" dirty="0" err="1" smtClean="0"/>
              <a:t>ddjj</a:t>
            </a:r>
            <a:r>
              <a:rPr lang="es-ES" sz="1500" dirty="0" smtClean="0"/>
              <a:t> en caso de corresponder</a:t>
            </a:r>
          </a:p>
          <a:p>
            <a:pPr algn="ctr"/>
            <a:r>
              <a:rPr lang="es-ES" sz="1500" dirty="0" smtClean="0"/>
              <a:t>Cumplimentado regímenes de información</a:t>
            </a:r>
          </a:p>
          <a:p>
            <a:pPr algn="ctr"/>
            <a:r>
              <a:rPr lang="es-ES" sz="1500" dirty="0" smtClean="0"/>
              <a:t>Que sus directivos no estén denunciados penalmente</a:t>
            </a:r>
          </a:p>
          <a:p>
            <a:pPr algn="ctr"/>
            <a:endParaRPr lang="es-AR" sz="1500" dirty="0"/>
          </a:p>
        </p:txBody>
      </p:sp>
      <p:sp>
        <p:nvSpPr>
          <p:cNvPr id="14" name="13 Rectángulo"/>
          <p:cNvSpPr/>
          <p:nvPr/>
        </p:nvSpPr>
        <p:spPr>
          <a:xfrm>
            <a:off x="1785918" y="4714884"/>
            <a:ext cx="5929354" cy="42862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smtClean="0"/>
              <a:t>ADMINISIBILIDAD FORMAL: otorga beneficios</a:t>
            </a:r>
            <a:endParaRPr lang="es-AR" sz="1600" dirty="0"/>
          </a:p>
        </p:txBody>
      </p:sp>
      <p:sp>
        <p:nvSpPr>
          <p:cNvPr id="15" name="14 Rectángulo"/>
          <p:cNvSpPr/>
          <p:nvPr/>
        </p:nvSpPr>
        <p:spPr>
          <a:xfrm>
            <a:off x="1142976" y="5286388"/>
            <a:ext cx="7000924" cy="57150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Cumplimentado la documentación sin observaciones</a:t>
            </a:r>
          </a:p>
          <a:p>
            <a:pPr algn="ctr"/>
            <a:r>
              <a:rPr lang="es-ES" dirty="0" smtClean="0"/>
              <a:t>Certificado de exención</a:t>
            </a:r>
            <a:endParaRPr lang="es-AR" dirty="0"/>
          </a:p>
        </p:txBody>
      </p:sp>
      <p:cxnSp>
        <p:nvCxnSpPr>
          <p:cNvPr id="17" name="16 Conector recto de flecha"/>
          <p:cNvCxnSpPr/>
          <p:nvPr/>
        </p:nvCxnSpPr>
        <p:spPr>
          <a:xfrm>
            <a:off x="3214678" y="1714488"/>
            <a:ext cx="7143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17 CuadroTexto"/>
          <p:cNvSpPr txBox="1"/>
          <p:nvPr/>
        </p:nvSpPr>
        <p:spPr>
          <a:xfrm>
            <a:off x="3929058" y="1559470"/>
            <a:ext cx="1888659" cy="369332"/>
          </a:xfrm>
          <a:prstGeom prst="rect">
            <a:avLst/>
          </a:prstGeom>
          <a:noFill/>
        </p:spPr>
        <p:txBody>
          <a:bodyPr wrap="none" rtlCol="0">
            <a:spAutoFit/>
          </a:bodyPr>
          <a:lstStyle/>
          <a:p>
            <a:r>
              <a:rPr lang="es-ES" dirty="0" smtClean="0">
                <a:solidFill>
                  <a:srgbClr val="7030A0"/>
                </a:solidFill>
              </a:rPr>
              <a:t>Vigencia Anual</a:t>
            </a:r>
            <a:endParaRPr lang="es-AR" dirty="0">
              <a:solidFill>
                <a:srgbClr val="7030A0"/>
              </a:solidFill>
            </a:endParaRPr>
          </a:p>
        </p:txBody>
      </p:sp>
      <p:pic>
        <p:nvPicPr>
          <p:cNvPr id="16"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83568" y="1052736"/>
            <a:ext cx="8003232" cy="4162214"/>
          </a:xfrm>
        </p:spPr>
        <p:txBody>
          <a:bodyPr>
            <a:normAutofit/>
          </a:bodyPr>
          <a:lstStyle/>
          <a:p>
            <a:pPr algn="ctr">
              <a:buNone/>
            </a:pPr>
            <a:r>
              <a:rPr lang="es-ES" sz="2300" b="1" u="sng" dirty="0" smtClean="0"/>
              <a:t>Certificado de Exención RG 2681 y modificatorias</a:t>
            </a:r>
            <a:endParaRPr lang="es-ES" sz="2300" dirty="0" smtClean="0"/>
          </a:p>
          <a:p>
            <a:pPr>
              <a:buNone/>
            </a:pPr>
            <a:endParaRPr lang="es-ES" sz="7200" dirty="0" smtClean="0"/>
          </a:p>
          <a:p>
            <a:pPr>
              <a:buNone/>
            </a:pPr>
            <a:endParaRPr lang="es-ES" sz="7200" dirty="0" smtClean="0"/>
          </a:p>
        </p:txBody>
      </p:sp>
      <p:sp>
        <p:nvSpPr>
          <p:cNvPr id="36" name="35 Marcador de número de diapositiva"/>
          <p:cNvSpPr>
            <a:spLocks noGrp="1"/>
          </p:cNvSpPr>
          <p:nvPr>
            <p:ph type="sldNum" sz="quarter" idx="12"/>
          </p:nvPr>
        </p:nvSpPr>
        <p:spPr/>
        <p:txBody>
          <a:bodyPr/>
          <a:lstStyle/>
          <a:p>
            <a:fld id="{47905A6E-3428-42CC-8A3B-D0D77FE4EB92}" type="slidenum">
              <a:rPr lang="es-ES" smtClean="0"/>
              <a:pPr/>
              <a:t>28</a:t>
            </a:fld>
            <a:endParaRPr lang="es-ES" dirty="0"/>
          </a:p>
        </p:txBody>
      </p:sp>
      <p:sp>
        <p:nvSpPr>
          <p:cNvPr id="7" name="6 CuadroTexto"/>
          <p:cNvSpPr txBox="1"/>
          <p:nvPr/>
        </p:nvSpPr>
        <p:spPr>
          <a:xfrm>
            <a:off x="285752" y="260648"/>
            <a:ext cx="8501090" cy="646331"/>
          </a:xfrm>
          <a:prstGeom prst="rect">
            <a:avLst/>
          </a:prstGeom>
          <a:noFill/>
        </p:spPr>
        <p:txBody>
          <a:bodyPr wrap="square" rtlCol="0">
            <a:spAutoFit/>
          </a:bodyPr>
          <a:lstStyle/>
          <a:p>
            <a:pPr algn="ctr"/>
            <a:r>
              <a:rPr lang="es-AR" sz="3600" b="1" dirty="0" smtClean="0">
                <a:solidFill>
                  <a:srgbClr val="FF0000"/>
                </a:solidFill>
              </a:rPr>
              <a:t>IMPUESTO A LAS GANANCIAS (VIII)</a:t>
            </a:r>
            <a:endParaRPr lang="es-ES" sz="3600" b="1" dirty="0">
              <a:solidFill>
                <a:srgbClr val="FF0000"/>
              </a:solidFill>
            </a:endParaRPr>
          </a:p>
        </p:txBody>
      </p:sp>
      <p:sp>
        <p:nvSpPr>
          <p:cNvPr id="16" name="15 Rectángulo redondeado"/>
          <p:cNvSpPr/>
          <p:nvPr/>
        </p:nvSpPr>
        <p:spPr>
          <a:xfrm>
            <a:off x="3357554" y="1714488"/>
            <a:ext cx="2214578" cy="428628"/>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smtClean="0"/>
              <a:t>Régimen General</a:t>
            </a:r>
            <a:endParaRPr lang="es-AR" dirty="0"/>
          </a:p>
        </p:txBody>
      </p:sp>
      <p:sp>
        <p:nvSpPr>
          <p:cNvPr id="20" name="19 Recortar rectángulo de esquina diagonal"/>
          <p:cNvSpPr/>
          <p:nvPr/>
        </p:nvSpPr>
        <p:spPr>
          <a:xfrm>
            <a:off x="2000232" y="3143248"/>
            <a:ext cx="5286412" cy="500066"/>
          </a:xfrm>
          <a:prstGeom prst="snip2Diag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400" dirty="0" smtClean="0">
                <a:solidFill>
                  <a:schemeClr val="tx1"/>
                </a:solidFill>
              </a:rPr>
              <a:t>Control formal: resultado 2 días corridos. </a:t>
            </a:r>
            <a:endParaRPr lang="es-AR" sz="1400" dirty="0">
              <a:solidFill>
                <a:schemeClr val="tx1"/>
              </a:solidFill>
            </a:endParaRPr>
          </a:p>
        </p:txBody>
      </p:sp>
      <p:sp>
        <p:nvSpPr>
          <p:cNvPr id="21" name="20 Elipse"/>
          <p:cNvSpPr/>
          <p:nvPr/>
        </p:nvSpPr>
        <p:spPr>
          <a:xfrm>
            <a:off x="2428860" y="2428868"/>
            <a:ext cx="4071966" cy="50006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400" dirty="0" smtClean="0">
                <a:solidFill>
                  <a:schemeClr val="tx1"/>
                </a:solidFill>
              </a:rPr>
              <a:t>Consultar estado solicitud</a:t>
            </a:r>
            <a:endParaRPr lang="es-AR" sz="1400" dirty="0">
              <a:solidFill>
                <a:schemeClr val="tx1"/>
              </a:solidFill>
            </a:endParaRPr>
          </a:p>
        </p:txBody>
      </p:sp>
      <p:sp>
        <p:nvSpPr>
          <p:cNvPr id="22" name="21 Redondear rectángulo de esquina del mismo lado"/>
          <p:cNvSpPr/>
          <p:nvPr/>
        </p:nvSpPr>
        <p:spPr>
          <a:xfrm>
            <a:off x="571472" y="2571744"/>
            <a:ext cx="1428760" cy="428628"/>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400" dirty="0" smtClean="0">
                <a:solidFill>
                  <a:schemeClr val="tx1"/>
                </a:solidFill>
              </a:rPr>
              <a:t>Subsanar </a:t>
            </a:r>
            <a:endParaRPr lang="es-AR" sz="1400" dirty="0">
              <a:solidFill>
                <a:schemeClr val="tx1"/>
              </a:solidFill>
            </a:endParaRPr>
          </a:p>
        </p:txBody>
      </p:sp>
      <p:sp>
        <p:nvSpPr>
          <p:cNvPr id="23" name="22 Redondear rectángulo de esquina del mismo lado"/>
          <p:cNvSpPr/>
          <p:nvPr/>
        </p:nvSpPr>
        <p:spPr>
          <a:xfrm>
            <a:off x="4357686" y="3857628"/>
            <a:ext cx="4214842" cy="500066"/>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400" dirty="0" smtClean="0">
                <a:solidFill>
                  <a:schemeClr val="tx1"/>
                </a:solidFill>
              </a:rPr>
              <a:t>Completar el trámite dentro de los 12 días </a:t>
            </a:r>
            <a:endParaRPr lang="es-AR" sz="1400" dirty="0">
              <a:solidFill>
                <a:schemeClr val="tx1"/>
              </a:solidFill>
            </a:endParaRPr>
          </a:p>
        </p:txBody>
      </p:sp>
      <p:sp>
        <p:nvSpPr>
          <p:cNvPr id="24" name="23 CuadroTexto"/>
          <p:cNvSpPr txBox="1"/>
          <p:nvPr/>
        </p:nvSpPr>
        <p:spPr>
          <a:xfrm>
            <a:off x="4143372" y="4357695"/>
            <a:ext cx="4500594" cy="2031325"/>
          </a:xfrm>
          <a:prstGeom prst="rect">
            <a:avLst/>
          </a:prstGeom>
          <a:noFill/>
        </p:spPr>
        <p:txBody>
          <a:bodyPr wrap="square" rtlCol="0">
            <a:spAutoFit/>
          </a:bodyPr>
          <a:lstStyle/>
          <a:p>
            <a:pPr marL="342900" indent="-342900">
              <a:buAutoNum type="arabicParenR"/>
            </a:pPr>
            <a:r>
              <a:rPr lang="es-AR" sz="1400" dirty="0" smtClean="0"/>
              <a:t>Acuse de recibo presentación.</a:t>
            </a:r>
          </a:p>
          <a:p>
            <a:pPr marL="342900" indent="-342900">
              <a:buAutoNum type="arabicParenR"/>
            </a:pPr>
            <a:r>
              <a:rPr lang="es-AR" sz="1400" dirty="0" smtClean="0"/>
              <a:t>Copia Estatuto firmadas responsable.</a:t>
            </a:r>
          </a:p>
          <a:p>
            <a:pPr marL="342900" indent="-342900">
              <a:buAutoNum type="arabicParenR"/>
            </a:pPr>
            <a:r>
              <a:rPr lang="es-AR" sz="1400" dirty="0" smtClean="0"/>
              <a:t>Copia acta de autoridades.</a:t>
            </a:r>
          </a:p>
          <a:p>
            <a:pPr marL="342900" indent="-342900">
              <a:buAutoNum type="arabicParenR"/>
            </a:pPr>
            <a:r>
              <a:rPr lang="es-AR" sz="1400" dirty="0" smtClean="0"/>
              <a:t>Copia certificado personería jurídica.</a:t>
            </a:r>
          </a:p>
          <a:p>
            <a:pPr marL="342900" indent="-342900">
              <a:buAutoNum type="arabicParenR"/>
            </a:pPr>
            <a:r>
              <a:rPr lang="es-AR" sz="1400" dirty="0" smtClean="0"/>
              <a:t>F. 953.</a:t>
            </a:r>
          </a:p>
          <a:p>
            <a:pPr marL="342900" indent="-342900">
              <a:buAutoNum type="arabicParenR"/>
            </a:pPr>
            <a:r>
              <a:rPr lang="es-AR" sz="1400" dirty="0" smtClean="0"/>
              <a:t>Copia Estados contables 3 últimos ejercicios fiscales.</a:t>
            </a:r>
          </a:p>
          <a:p>
            <a:pPr marL="342900" indent="-342900">
              <a:buAutoNum type="arabicParenR"/>
            </a:pPr>
            <a:endParaRPr lang="es-AR" sz="1400" dirty="0" smtClean="0"/>
          </a:p>
          <a:p>
            <a:pPr marL="342900" indent="-342900">
              <a:buAutoNum type="arabicParenR"/>
            </a:pPr>
            <a:endParaRPr lang="es-AR" sz="1400" dirty="0"/>
          </a:p>
        </p:txBody>
      </p:sp>
      <p:sp>
        <p:nvSpPr>
          <p:cNvPr id="25" name="24 Flecha curvada hacia la derecha"/>
          <p:cNvSpPr/>
          <p:nvPr/>
        </p:nvSpPr>
        <p:spPr>
          <a:xfrm>
            <a:off x="3643306" y="4000504"/>
            <a:ext cx="571504" cy="1357322"/>
          </a:xfrm>
          <a:prstGeom prst="curved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
        <p:nvSpPr>
          <p:cNvPr id="26" name="25 Flecha abajo"/>
          <p:cNvSpPr/>
          <p:nvPr/>
        </p:nvSpPr>
        <p:spPr>
          <a:xfrm>
            <a:off x="4357686" y="2928934"/>
            <a:ext cx="142876" cy="214314"/>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7" name="26 Flecha abajo"/>
          <p:cNvSpPr/>
          <p:nvPr/>
        </p:nvSpPr>
        <p:spPr>
          <a:xfrm rot="6157690">
            <a:off x="1631064" y="2868028"/>
            <a:ext cx="169513" cy="550441"/>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8" name="27 Flecha abajo"/>
          <p:cNvSpPr/>
          <p:nvPr/>
        </p:nvSpPr>
        <p:spPr>
          <a:xfrm>
            <a:off x="7000892" y="3643314"/>
            <a:ext cx="142876" cy="214314"/>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9" name="28 CuadroTexto"/>
          <p:cNvSpPr txBox="1"/>
          <p:nvPr/>
        </p:nvSpPr>
        <p:spPr>
          <a:xfrm>
            <a:off x="500034" y="3286124"/>
            <a:ext cx="1428760" cy="276999"/>
          </a:xfrm>
          <a:prstGeom prst="rect">
            <a:avLst/>
          </a:prstGeom>
          <a:noFill/>
        </p:spPr>
        <p:txBody>
          <a:bodyPr wrap="square" rtlCol="0">
            <a:spAutoFit/>
          </a:bodyPr>
          <a:lstStyle/>
          <a:p>
            <a:r>
              <a:rPr lang="es-AR" sz="1200" dirty="0" smtClean="0"/>
              <a:t>Inconsistencias</a:t>
            </a:r>
            <a:endParaRPr lang="es-AR" sz="1200" dirty="0"/>
          </a:p>
        </p:txBody>
      </p:sp>
      <p:sp>
        <p:nvSpPr>
          <p:cNvPr id="30" name="29 CuadroTexto"/>
          <p:cNvSpPr txBox="1"/>
          <p:nvPr/>
        </p:nvSpPr>
        <p:spPr>
          <a:xfrm>
            <a:off x="7286644" y="3571876"/>
            <a:ext cx="397866" cy="276999"/>
          </a:xfrm>
          <a:prstGeom prst="rect">
            <a:avLst/>
          </a:prstGeom>
          <a:noFill/>
        </p:spPr>
        <p:txBody>
          <a:bodyPr wrap="none" rtlCol="0">
            <a:spAutoFit/>
          </a:bodyPr>
          <a:lstStyle/>
          <a:p>
            <a:r>
              <a:rPr lang="es-AR" sz="1200" dirty="0" smtClean="0"/>
              <a:t>Ok</a:t>
            </a:r>
            <a:endParaRPr lang="es-AR" sz="1200" dirty="0"/>
          </a:p>
        </p:txBody>
      </p:sp>
      <p:sp>
        <p:nvSpPr>
          <p:cNvPr id="32" name="31 Llamada con línea 3"/>
          <p:cNvSpPr/>
          <p:nvPr/>
        </p:nvSpPr>
        <p:spPr>
          <a:xfrm rot="10800000">
            <a:off x="571472" y="4286256"/>
            <a:ext cx="2428892" cy="1428760"/>
          </a:xfrm>
          <a:prstGeom prst="borderCallout3">
            <a:avLst>
              <a:gd name="adj1" fmla="val 72357"/>
              <a:gd name="adj2" fmla="val -1962"/>
              <a:gd name="adj3" fmla="val 71262"/>
              <a:gd name="adj4" fmla="val -27671"/>
              <a:gd name="adj5" fmla="val 93436"/>
              <a:gd name="adj6" fmla="val -26513"/>
              <a:gd name="adj7" fmla="val 71391"/>
              <a:gd name="adj8" fmla="val -1383"/>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33" name="32 CuadroTexto"/>
          <p:cNvSpPr txBox="1"/>
          <p:nvPr/>
        </p:nvSpPr>
        <p:spPr>
          <a:xfrm>
            <a:off x="642911" y="4357694"/>
            <a:ext cx="2357453" cy="1384995"/>
          </a:xfrm>
          <a:prstGeom prst="rect">
            <a:avLst/>
          </a:prstGeom>
          <a:noFill/>
        </p:spPr>
        <p:txBody>
          <a:bodyPr wrap="square" rtlCol="0">
            <a:spAutoFit/>
          </a:bodyPr>
          <a:lstStyle/>
          <a:p>
            <a:pPr algn="ctr"/>
            <a:r>
              <a:rPr lang="es-AR" sz="1400" dirty="0" smtClean="0"/>
              <a:t>Aceptación/Rechazo</a:t>
            </a:r>
          </a:p>
          <a:p>
            <a:pPr algn="ctr"/>
            <a:r>
              <a:rPr lang="es-AR" sz="1400" dirty="0" smtClean="0"/>
              <a:t>Dentro de los 45 días.</a:t>
            </a:r>
          </a:p>
          <a:p>
            <a:pPr algn="ctr"/>
            <a:r>
              <a:rPr lang="es-AR" sz="1400" dirty="0" smtClean="0"/>
              <a:t>En caso afirmativo, podrá visualizar el certificado en el sitio web </a:t>
            </a:r>
            <a:r>
              <a:rPr lang="es-AR" sz="1400" dirty="0" err="1" smtClean="0"/>
              <a:t>Afip</a:t>
            </a:r>
            <a:endParaRPr lang="es-AR" sz="1400" dirty="0" smtClean="0"/>
          </a:p>
        </p:txBody>
      </p:sp>
      <p:sp>
        <p:nvSpPr>
          <p:cNvPr id="34" name="33 Flecha abajo"/>
          <p:cNvSpPr/>
          <p:nvPr/>
        </p:nvSpPr>
        <p:spPr>
          <a:xfrm>
            <a:off x="4357686" y="2214554"/>
            <a:ext cx="142876" cy="214314"/>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31"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35" name="34 CuadroTexto"/>
          <p:cNvSpPr txBox="1"/>
          <p:nvPr/>
        </p:nvSpPr>
        <p:spPr>
          <a:xfrm>
            <a:off x="3214678" y="5286388"/>
            <a:ext cx="1143008" cy="646331"/>
          </a:xfrm>
          <a:prstGeom prst="rect">
            <a:avLst/>
          </a:prstGeom>
          <a:noFill/>
        </p:spPr>
        <p:txBody>
          <a:bodyPr wrap="square" rtlCol="0">
            <a:spAutoFit/>
          </a:bodyPr>
          <a:lstStyle/>
          <a:p>
            <a:pPr algn="ctr"/>
            <a:r>
              <a:rPr lang="es-ES" dirty="0" err="1" smtClean="0"/>
              <a:t>Adm</a:t>
            </a:r>
            <a:r>
              <a:rPr lang="es-ES" dirty="0" smtClean="0"/>
              <a:t>. Formal</a:t>
            </a:r>
            <a:endParaRPr lang="es-AR"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83568" y="1052736"/>
            <a:ext cx="8003232" cy="4162214"/>
          </a:xfrm>
        </p:spPr>
        <p:txBody>
          <a:bodyPr>
            <a:normAutofit/>
          </a:bodyPr>
          <a:lstStyle/>
          <a:p>
            <a:pPr algn="ctr">
              <a:buNone/>
            </a:pPr>
            <a:r>
              <a:rPr lang="es-ES" sz="2300" b="1" u="sng" dirty="0" smtClean="0"/>
              <a:t>Certificado de Exención RG 2681 y modificatorias</a:t>
            </a:r>
            <a:endParaRPr lang="es-ES" sz="2300" dirty="0" smtClean="0"/>
          </a:p>
          <a:p>
            <a:pPr>
              <a:buNone/>
            </a:pPr>
            <a:endParaRPr lang="es-ES" sz="7200" dirty="0" smtClean="0"/>
          </a:p>
          <a:p>
            <a:pPr>
              <a:buNone/>
            </a:pPr>
            <a:endParaRPr lang="es-ES" sz="7200" dirty="0" smtClean="0"/>
          </a:p>
        </p:txBody>
      </p:sp>
      <p:sp>
        <p:nvSpPr>
          <p:cNvPr id="24" name="23 Marcador de número de diapositiva"/>
          <p:cNvSpPr>
            <a:spLocks noGrp="1"/>
          </p:cNvSpPr>
          <p:nvPr>
            <p:ph type="sldNum" sz="quarter" idx="12"/>
          </p:nvPr>
        </p:nvSpPr>
        <p:spPr/>
        <p:txBody>
          <a:bodyPr/>
          <a:lstStyle/>
          <a:p>
            <a:fld id="{47905A6E-3428-42CC-8A3B-D0D77FE4EB92}" type="slidenum">
              <a:rPr lang="es-ES" smtClean="0"/>
              <a:pPr/>
              <a:t>29</a:t>
            </a:fld>
            <a:endParaRPr lang="es-ES" dirty="0"/>
          </a:p>
        </p:txBody>
      </p:sp>
      <p:sp>
        <p:nvSpPr>
          <p:cNvPr id="7" name="6 CuadroTexto"/>
          <p:cNvSpPr txBox="1"/>
          <p:nvPr/>
        </p:nvSpPr>
        <p:spPr>
          <a:xfrm>
            <a:off x="428628" y="260648"/>
            <a:ext cx="8501090" cy="646331"/>
          </a:xfrm>
          <a:prstGeom prst="rect">
            <a:avLst/>
          </a:prstGeom>
          <a:noFill/>
        </p:spPr>
        <p:txBody>
          <a:bodyPr wrap="square" rtlCol="0">
            <a:spAutoFit/>
          </a:bodyPr>
          <a:lstStyle/>
          <a:p>
            <a:pPr algn="ctr"/>
            <a:r>
              <a:rPr lang="es-AR" sz="3600" b="1" dirty="0" smtClean="0">
                <a:solidFill>
                  <a:srgbClr val="FF0000"/>
                </a:solidFill>
              </a:rPr>
              <a:t>IMPUESTO A LAS GANANCIAS (IX)</a:t>
            </a:r>
            <a:endParaRPr lang="es-ES" sz="3600" b="1" dirty="0">
              <a:solidFill>
                <a:srgbClr val="FF0000"/>
              </a:solidFill>
            </a:endParaRPr>
          </a:p>
        </p:txBody>
      </p:sp>
      <p:sp>
        <p:nvSpPr>
          <p:cNvPr id="16" name="15 Rectángulo redondeado"/>
          <p:cNvSpPr/>
          <p:nvPr/>
        </p:nvSpPr>
        <p:spPr>
          <a:xfrm>
            <a:off x="2500298" y="1928802"/>
            <a:ext cx="3214710" cy="500066"/>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smtClean="0"/>
              <a:t>Régimen Simplificado</a:t>
            </a:r>
            <a:endParaRPr lang="es-AR" dirty="0"/>
          </a:p>
        </p:txBody>
      </p:sp>
      <p:sp>
        <p:nvSpPr>
          <p:cNvPr id="20" name="19 Recortar rectángulo de esquina diagonal"/>
          <p:cNvSpPr/>
          <p:nvPr/>
        </p:nvSpPr>
        <p:spPr>
          <a:xfrm>
            <a:off x="1928794" y="3571876"/>
            <a:ext cx="5286412" cy="500066"/>
          </a:xfrm>
          <a:prstGeom prst="snip2Diag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400" dirty="0" smtClean="0">
                <a:solidFill>
                  <a:schemeClr val="tx1"/>
                </a:solidFill>
              </a:rPr>
              <a:t>Control formal en línea  </a:t>
            </a:r>
            <a:endParaRPr lang="es-AR" sz="1400" dirty="0">
              <a:solidFill>
                <a:schemeClr val="tx1"/>
              </a:solidFill>
            </a:endParaRPr>
          </a:p>
        </p:txBody>
      </p:sp>
      <p:sp>
        <p:nvSpPr>
          <p:cNvPr id="21" name="20 Elipse"/>
          <p:cNvSpPr/>
          <p:nvPr/>
        </p:nvSpPr>
        <p:spPr>
          <a:xfrm>
            <a:off x="2285984" y="2786058"/>
            <a:ext cx="4071966" cy="50006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Carga de datos</a:t>
            </a:r>
            <a:endParaRPr lang="es-AR" sz="1400" dirty="0">
              <a:solidFill>
                <a:schemeClr val="tx1"/>
              </a:solidFill>
            </a:endParaRPr>
          </a:p>
        </p:txBody>
      </p:sp>
      <p:sp>
        <p:nvSpPr>
          <p:cNvPr id="22" name="21 Redondear rectángulo de esquina del mismo lado"/>
          <p:cNvSpPr/>
          <p:nvPr/>
        </p:nvSpPr>
        <p:spPr>
          <a:xfrm>
            <a:off x="571472" y="2928934"/>
            <a:ext cx="1428760" cy="428628"/>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400" dirty="0" smtClean="0">
                <a:solidFill>
                  <a:schemeClr val="tx1"/>
                </a:solidFill>
              </a:rPr>
              <a:t>Subsanar </a:t>
            </a:r>
            <a:endParaRPr lang="es-AR" sz="1400" dirty="0">
              <a:solidFill>
                <a:schemeClr val="tx1"/>
              </a:solidFill>
            </a:endParaRPr>
          </a:p>
        </p:txBody>
      </p:sp>
      <p:sp>
        <p:nvSpPr>
          <p:cNvPr id="23" name="22 Redondear rectángulo de esquina del mismo lado"/>
          <p:cNvSpPr/>
          <p:nvPr/>
        </p:nvSpPr>
        <p:spPr>
          <a:xfrm>
            <a:off x="4429124" y="4500570"/>
            <a:ext cx="4214842" cy="500066"/>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400" dirty="0" smtClean="0">
                <a:solidFill>
                  <a:schemeClr val="tx1"/>
                </a:solidFill>
              </a:rPr>
              <a:t>Completar el trámite dentro de los 12 días </a:t>
            </a:r>
            <a:endParaRPr lang="es-AR" sz="1400" dirty="0">
              <a:solidFill>
                <a:schemeClr val="tx1"/>
              </a:solidFill>
            </a:endParaRPr>
          </a:p>
        </p:txBody>
      </p:sp>
      <p:sp>
        <p:nvSpPr>
          <p:cNvPr id="25" name="24 Flecha curvada hacia la derecha"/>
          <p:cNvSpPr/>
          <p:nvPr/>
        </p:nvSpPr>
        <p:spPr>
          <a:xfrm>
            <a:off x="3714744" y="4643446"/>
            <a:ext cx="642942" cy="1000132"/>
          </a:xfrm>
          <a:prstGeom prst="curved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
        <p:nvSpPr>
          <p:cNvPr id="26" name="25 Flecha abajo"/>
          <p:cNvSpPr/>
          <p:nvPr/>
        </p:nvSpPr>
        <p:spPr>
          <a:xfrm>
            <a:off x="4143372" y="3286124"/>
            <a:ext cx="142876" cy="214314"/>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7" name="26 Flecha abajo"/>
          <p:cNvSpPr/>
          <p:nvPr/>
        </p:nvSpPr>
        <p:spPr>
          <a:xfrm rot="6157690">
            <a:off x="1559626" y="3225217"/>
            <a:ext cx="169513" cy="550441"/>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8" name="27 Flecha abajo"/>
          <p:cNvSpPr/>
          <p:nvPr/>
        </p:nvSpPr>
        <p:spPr>
          <a:xfrm>
            <a:off x="6929454" y="4143380"/>
            <a:ext cx="142876" cy="214314"/>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9" name="28 CuadroTexto"/>
          <p:cNvSpPr txBox="1"/>
          <p:nvPr/>
        </p:nvSpPr>
        <p:spPr>
          <a:xfrm>
            <a:off x="500034" y="3652067"/>
            <a:ext cx="1428760" cy="276999"/>
          </a:xfrm>
          <a:prstGeom prst="rect">
            <a:avLst/>
          </a:prstGeom>
          <a:noFill/>
        </p:spPr>
        <p:txBody>
          <a:bodyPr wrap="square" rtlCol="0">
            <a:spAutoFit/>
          </a:bodyPr>
          <a:lstStyle/>
          <a:p>
            <a:r>
              <a:rPr lang="es-AR" sz="1200" dirty="0" smtClean="0"/>
              <a:t>Inconsistencias</a:t>
            </a:r>
            <a:endParaRPr lang="es-AR" sz="1200" dirty="0"/>
          </a:p>
        </p:txBody>
      </p:sp>
      <p:sp>
        <p:nvSpPr>
          <p:cNvPr id="30" name="29 CuadroTexto"/>
          <p:cNvSpPr txBox="1"/>
          <p:nvPr/>
        </p:nvSpPr>
        <p:spPr>
          <a:xfrm>
            <a:off x="7215206" y="4071942"/>
            <a:ext cx="397866" cy="276999"/>
          </a:xfrm>
          <a:prstGeom prst="rect">
            <a:avLst/>
          </a:prstGeom>
          <a:noFill/>
        </p:spPr>
        <p:txBody>
          <a:bodyPr wrap="none" rtlCol="0">
            <a:spAutoFit/>
          </a:bodyPr>
          <a:lstStyle/>
          <a:p>
            <a:r>
              <a:rPr lang="es-AR" sz="1200" dirty="0" smtClean="0"/>
              <a:t>Ok</a:t>
            </a:r>
            <a:endParaRPr lang="es-AR" sz="1200" dirty="0"/>
          </a:p>
        </p:txBody>
      </p:sp>
      <p:sp>
        <p:nvSpPr>
          <p:cNvPr id="32" name="31 Llamada con línea 3"/>
          <p:cNvSpPr/>
          <p:nvPr/>
        </p:nvSpPr>
        <p:spPr>
          <a:xfrm rot="10800000">
            <a:off x="714348" y="4214818"/>
            <a:ext cx="2428892" cy="1571636"/>
          </a:xfrm>
          <a:prstGeom prst="borderCallout3">
            <a:avLst>
              <a:gd name="adj1" fmla="val 72357"/>
              <a:gd name="adj2" fmla="val -1962"/>
              <a:gd name="adj3" fmla="val 63874"/>
              <a:gd name="adj4" fmla="val -27073"/>
              <a:gd name="adj5" fmla="val 66654"/>
              <a:gd name="adj6" fmla="val -31891"/>
              <a:gd name="adj7" fmla="val 71391"/>
              <a:gd name="adj8" fmla="val -1383"/>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33" name="32 CuadroTexto"/>
          <p:cNvSpPr txBox="1"/>
          <p:nvPr/>
        </p:nvSpPr>
        <p:spPr>
          <a:xfrm>
            <a:off x="642911" y="4357695"/>
            <a:ext cx="2357453" cy="1384995"/>
          </a:xfrm>
          <a:prstGeom prst="rect">
            <a:avLst/>
          </a:prstGeom>
          <a:noFill/>
        </p:spPr>
        <p:txBody>
          <a:bodyPr wrap="square" rtlCol="0">
            <a:spAutoFit/>
          </a:bodyPr>
          <a:lstStyle/>
          <a:p>
            <a:pPr algn="ctr"/>
            <a:r>
              <a:rPr lang="es-AR" sz="1400" dirty="0" smtClean="0"/>
              <a:t>Aceptación/Rechazo</a:t>
            </a:r>
          </a:p>
          <a:p>
            <a:pPr algn="ctr"/>
            <a:r>
              <a:rPr lang="es-AR" sz="1400" dirty="0" smtClean="0"/>
              <a:t>Dentro de los 15 días.</a:t>
            </a:r>
          </a:p>
          <a:p>
            <a:pPr algn="ctr"/>
            <a:r>
              <a:rPr lang="es-AR" sz="1400" dirty="0" smtClean="0"/>
              <a:t>En caso afirmativo, podrá visualizar el certificado en el sitio web </a:t>
            </a:r>
            <a:r>
              <a:rPr lang="es-AR" sz="1400" dirty="0" err="1" smtClean="0"/>
              <a:t>Afip</a:t>
            </a:r>
            <a:endParaRPr lang="es-AR" sz="1400" dirty="0" smtClean="0"/>
          </a:p>
        </p:txBody>
      </p:sp>
      <p:sp>
        <p:nvSpPr>
          <p:cNvPr id="34" name="33 Flecha abajo"/>
          <p:cNvSpPr/>
          <p:nvPr/>
        </p:nvSpPr>
        <p:spPr>
          <a:xfrm>
            <a:off x="4143372" y="2500306"/>
            <a:ext cx="142876" cy="214314"/>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1" name="30 CuadroTexto"/>
          <p:cNvSpPr txBox="1"/>
          <p:nvPr/>
        </p:nvSpPr>
        <p:spPr>
          <a:xfrm>
            <a:off x="5929322" y="1841833"/>
            <a:ext cx="3000396" cy="1015663"/>
          </a:xfrm>
          <a:prstGeom prst="rect">
            <a:avLst/>
          </a:prstGeom>
          <a:noFill/>
        </p:spPr>
        <p:txBody>
          <a:bodyPr wrap="square" rtlCol="0">
            <a:spAutoFit/>
          </a:bodyPr>
          <a:lstStyle/>
          <a:p>
            <a:pPr algn="just"/>
            <a:r>
              <a:rPr lang="es-AR" sz="1200" dirty="0" smtClean="0"/>
              <a:t>Inc. j) art. 7: Contribuyentes no incluidos en los incisos anteriores cuando registren menos de 12 meses de actividad a la fecha de presentación.</a:t>
            </a:r>
            <a:endParaRPr lang="es-AR" sz="1200" dirty="0"/>
          </a:p>
        </p:txBody>
      </p:sp>
      <p:pic>
        <p:nvPicPr>
          <p:cNvPr id="35"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36" name="35 CuadroTexto"/>
          <p:cNvSpPr txBox="1"/>
          <p:nvPr/>
        </p:nvSpPr>
        <p:spPr>
          <a:xfrm>
            <a:off x="4357686" y="5072074"/>
            <a:ext cx="4500594" cy="1815882"/>
          </a:xfrm>
          <a:prstGeom prst="rect">
            <a:avLst/>
          </a:prstGeom>
          <a:noFill/>
        </p:spPr>
        <p:txBody>
          <a:bodyPr wrap="square" rtlCol="0">
            <a:spAutoFit/>
          </a:bodyPr>
          <a:lstStyle/>
          <a:p>
            <a:pPr marL="342900" indent="-342900">
              <a:buAutoNum type="arabicParenR"/>
            </a:pPr>
            <a:r>
              <a:rPr lang="es-AR" sz="1400" dirty="0" smtClean="0"/>
              <a:t>Acuse de recibo presentación.</a:t>
            </a:r>
          </a:p>
          <a:p>
            <a:pPr marL="342900" indent="-342900">
              <a:buAutoNum type="arabicParenR"/>
            </a:pPr>
            <a:r>
              <a:rPr lang="es-AR" sz="1400" dirty="0" smtClean="0"/>
              <a:t>Copia Estatuto firmadas responsable.</a:t>
            </a:r>
          </a:p>
          <a:p>
            <a:pPr marL="342900" indent="-342900">
              <a:buAutoNum type="arabicParenR"/>
            </a:pPr>
            <a:r>
              <a:rPr lang="es-AR" sz="1400" dirty="0" smtClean="0"/>
              <a:t>Copia acta de autoridades.</a:t>
            </a:r>
          </a:p>
          <a:p>
            <a:pPr marL="342900" indent="-342900">
              <a:buAutoNum type="arabicParenR"/>
            </a:pPr>
            <a:r>
              <a:rPr lang="es-AR" sz="1400" dirty="0" smtClean="0"/>
              <a:t>Copia certificado personería jurídica.</a:t>
            </a:r>
          </a:p>
          <a:p>
            <a:pPr marL="342900" indent="-342900">
              <a:buAutoNum type="arabicParenR"/>
            </a:pPr>
            <a:r>
              <a:rPr lang="es-AR" sz="1400" dirty="0" smtClean="0"/>
              <a:t>Copia Estado contable en caso de corresponder.</a:t>
            </a:r>
          </a:p>
          <a:p>
            <a:pPr marL="342900" indent="-342900">
              <a:buAutoNum type="arabicParenR"/>
            </a:pPr>
            <a:endParaRPr lang="es-AR" sz="1400" dirty="0" smtClean="0"/>
          </a:p>
          <a:p>
            <a:pPr marL="342900" indent="-342900">
              <a:buAutoNum type="arabicParenR"/>
            </a:pPr>
            <a:endParaRPr lang="es-AR" sz="1400" dirty="0"/>
          </a:p>
        </p:txBody>
      </p:sp>
      <p:sp>
        <p:nvSpPr>
          <p:cNvPr id="37" name="36 CuadroTexto"/>
          <p:cNvSpPr txBox="1"/>
          <p:nvPr/>
        </p:nvSpPr>
        <p:spPr>
          <a:xfrm>
            <a:off x="3286116" y="5568751"/>
            <a:ext cx="1143008" cy="646331"/>
          </a:xfrm>
          <a:prstGeom prst="rect">
            <a:avLst/>
          </a:prstGeom>
          <a:noFill/>
        </p:spPr>
        <p:txBody>
          <a:bodyPr wrap="square" rtlCol="0">
            <a:spAutoFit/>
          </a:bodyPr>
          <a:lstStyle/>
          <a:p>
            <a:pPr algn="ctr"/>
            <a:r>
              <a:rPr lang="es-ES" dirty="0" err="1" smtClean="0"/>
              <a:t>Adm</a:t>
            </a:r>
            <a:r>
              <a:rPr lang="es-ES" dirty="0" smtClean="0"/>
              <a:t>. Formal</a:t>
            </a:r>
            <a:endParaRPr lang="es-AR"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142844" y="425215"/>
            <a:ext cx="8786842" cy="1200329"/>
          </a:xfrm>
          <a:prstGeom prst="rect">
            <a:avLst/>
          </a:prstGeom>
          <a:noFill/>
        </p:spPr>
        <p:txBody>
          <a:bodyPr wrap="square" rtlCol="0">
            <a:spAutoFit/>
          </a:bodyPr>
          <a:lstStyle/>
          <a:p>
            <a:pPr algn="ctr"/>
            <a:r>
              <a:rPr lang="es-AR" sz="3600" b="1" dirty="0" smtClean="0">
                <a:solidFill>
                  <a:srgbClr val="FF0000"/>
                </a:solidFill>
              </a:rPr>
              <a:t>IMPUESTO A LAS GANANCIAS (X)</a:t>
            </a:r>
          </a:p>
          <a:p>
            <a:pPr algn="ctr"/>
            <a:r>
              <a:rPr lang="es-AR" sz="3600" b="1" dirty="0" smtClean="0">
                <a:solidFill>
                  <a:srgbClr val="FF0000"/>
                </a:solidFill>
              </a:rPr>
              <a:t>Certificado</a:t>
            </a: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pic>
        <p:nvPicPr>
          <p:cNvPr id="9" name="8 Imagen" descr="IMG_7667.jpg"/>
          <p:cNvPicPr>
            <a:picLocks noChangeAspect="1"/>
          </p:cNvPicPr>
          <p:nvPr/>
        </p:nvPicPr>
        <p:blipFill>
          <a:blip r:embed="rId3" cstate="print"/>
          <a:stretch>
            <a:fillRect/>
          </a:stretch>
        </p:blipFill>
        <p:spPr>
          <a:xfrm>
            <a:off x="214314" y="1724875"/>
            <a:ext cx="8786842" cy="3847265"/>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540568" y="260648"/>
            <a:ext cx="8786842" cy="646331"/>
          </a:xfrm>
          <a:prstGeom prst="rect">
            <a:avLst/>
          </a:prstGeom>
          <a:noFill/>
        </p:spPr>
        <p:txBody>
          <a:bodyPr wrap="square" rtlCol="0">
            <a:spAutoFit/>
          </a:bodyPr>
          <a:lstStyle/>
          <a:p>
            <a:pPr algn="ctr"/>
            <a:r>
              <a:rPr lang="es-AR" sz="3600" b="1" dirty="0" smtClean="0">
                <a:solidFill>
                  <a:srgbClr val="FF0000"/>
                </a:solidFill>
              </a:rPr>
              <a:t>IMPUESTO A LAS GANANCIAS (XI)</a:t>
            </a:r>
            <a:endParaRPr lang="es-ES" sz="3600" b="1" dirty="0">
              <a:solidFill>
                <a:srgbClr val="FF0000"/>
              </a:solidFill>
            </a:endParaRPr>
          </a:p>
        </p:txBody>
      </p:sp>
      <p:pic>
        <p:nvPicPr>
          <p:cNvPr id="8" name="7 Imagen" descr="Art estatuto 2.jpg"/>
          <p:cNvPicPr>
            <a:picLocks noChangeAspect="1"/>
          </p:cNvPicPr>
          <p:nvPr/>
        </p:nvPicPr>
        <p:blipFill>
          <a:blip r:embed="rId2" cstate="print"/>
          <a:stretch>
            <a:fillRect/>
          </a:stretch>
        </p:blipFill>
        <p:spPr>
          <a:xfrm>
            <a:off x="539552" y="3429000"/>
            <a:ext cx="8136904" cy="2405383"/>
          </a:xfrm>
          <a:prstGeom prst="rect">
            <a:avLst/>
          </a:prstGeom>
        </p:spPr>
      </p:pic>
      <p:pic>
        <p:nvPicPr>
          <p:cNvPr id="9" name="8 Imagen" descr="art estatuto 1.jpg"/>
          <p:cNvPicPr>
            <a:picLocks noChangeAspect="1"/>
          </p:cNvPicPr>
          <p:nvPr/>
        </p:nvPicPr>
        <p:blipFill>
          <a:blip r:embed="rId3" cstate="print"/>
          <a:stretch>
            <a:fillRect/>
          </a:stretch>
        </p:blipFill>
        <p:spPr>
          <a:xfrm>
            <a:off x="539552" y="1124744"/>
            <a:ext cx="8136904" cy="2376264"/>
          </a:xfrm>
          <a:prstGeom prst="rect">
            <a:avLst/>
          </a:prstGeom>
        </p:spPr>
      </p:pic>
      <p:cxnSp>
        <p:nvCxnSpPr>
          <p:cNvPr id="11" name="10 Conector recto"/>
          <p:cNvCxnSpPr/>
          <p:nvPr/>
        </p:nvCxnSpPr>
        <p:spPr>
          <a:xfrm>
            <a:off x="971600" y="2924944"/>
            <a:ext cx="74888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11 Conector recto"/>
          <p:cNvCxnSpPr/>
          <p:nvPr/>
        </p:nvCxnSpPr>
        <p:spPr>
          <a:xfrm>
            <a:off x="1043608" y="3717032"/>
            <a:ext cx="727280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12 Conector recto"/>
          <p:cNvCxnSpPr/>
          <p:nvPr/>
        </p:nvCxnSpPr>
        <p:spPr>
          <a:xfrm>
            <a:off x="971600" y="3356992"/>
            <a:ext cx="712879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13 Conector recto"/>
          <p:cNvCxnSpPr/>
          <p:nvPr/>
        </p:nvCxnSpPr>
        <p:spPr>
          <a:xfrm>
            <a:off x="1187624" y="3140968"/>
            <a:ext cx="741682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14 Conector recto"/>
          <p:cNvCxnSpPr/>
          <p:nvPr/>
        </p:nvCxnSpPr>
        <p:spPr>
          <a:xfrm>
            <a:off x="971600" y="4005064"/>
            <a:ext cx="734481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15 Conector recto"/>
          <p:cNvCxnSpPr/>
          <p:nvPr/>
        </p:nvCxnSpPr>
        <p:spPr>
          <a:xfrm>
            <a:off x="1043608" y="4221088"/>
            <a:ext cx="7200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16 Conector recto"/>
          <p:cNvCxnSpPr/>
          <p:nvPr/>
        </p:nvCxnSpPr>
        <p:spPr>
          <a:xfrm>
            <a:off x="971600" y="4509120"/>
            <a:ext cx="734481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17 Conector recto"/>
          <p:cNvCxnSpPr/>
          <p:nvPr/>
        </p:nvCxnSpPr>
        <p:spPr>
          <a:xfrm>
            <a:off x="1043608" y="4725144"/>
            <a:ext cx="4536504" cy="0"/>
          </a:xfrm>
          <a:prstGeom prst="line">
            <a:avLst/>
          </a:prstGeom>
        </p:spPr>
        <p:style>
          <a:lnRef idx="2">
            <a:schemeClr val="accent1"/>
          </a:lnRef>
          <a:fillRef idx="0">
            <a:schemeClr val="accent1"/>
          </a:fillRef>
          <a:effectRef idx="1">
            <a:schemeClr val="accent1"/>
          </a:effectRef>
          <a:fontRef idx="minor">
            <a:schemeClr val="tx1"/>
          </a:fontRef>
        </p:style>
      </p:cxnSp>
      <p:pic>
        <p:nvPicPr>
          <p:cNvPr id="19"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4" cstate="print"/>
          <a:srcRect/>
          <a:stretch>
            <a:fillRect/>
          </a:stretch>
        </p:blipFill>
        <p:spPr bwMode="auto">
          <a:xfrm>
            <a:off x="285720" y="6357958"/>
            <a:ext cx="1500198" cy="512630"/>
          </a:xfrm>
          <a:prstGeom prst="rect">
            <a:avLst/>
          </a:prstGeom>
          <a:noFill/>
        </p:spPr>
      </p:pic>
      <p:sp>
        <p:nvSpPr>
          <p:cNvPr id="20" name="19 Marcador de número de diapositiva"/>
          <p:cNvSpPr>
            <a:spLocks noGrp="1"/>
          </p:cNvSpPr>
          <p:nvPr>
            <p:ph type="sldNum" sz="quarter" idx="12"/>
          </p:nvPr>
        </p:nvSpPr>
        <p:spPr/>
        <p:txBody>
          <a:bodyPr/>
          <a:lstStyle/>
          <a:p>
            <a:fld id="{47905A6E-3428-42CC-8A3B-D0D77FE4EB92}" type="slidenum">
              <a:rPr lang="es-ES" smtClean="0"/>
              <a:pPr/>
              <a:t>31</a:t>
            </a:fld>
            <a:endParaRPr lang="es-E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rig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23795</TotalTime>
  <Words>3857</Words>
  <Application>Microsoft Office PowerPoint</Application>
  <PresentationFormat>Presentación en pantalla (4:3)</PresentationFormat>
  <Paragraphs>364</Paragraphs>
  <Slides>31</Slides>
  <Notes>11</Notes>
  <HiddenSlides>0</HiddenSlides>
  <MMClips>0</MMClips>
  <ScaleCrop>false</ScaleCrop>
  <HeadingPairs>
    <vt:vector size="4" baseType="variant">
      <vt:variant>
        <vt:lpstr>Tema</vt:lpstr>
      </vt:variant>
      <vt:variant>
        <vt:i4>1</vt:i4>
      </vt:variant>
      <vt:variant>
        <vt:lpstr>Títulos de diapositiva</vt:lpstr>
      </vt:variant>
      <vt:variant>
        <vt:i4>31</vt:i4>
      </vt:variant>
    </vt:vector>
  </HeadingPairs>
  <TitlesOfParts>
    <vt:vector size="32" baseType="lpstr">
      <vt:lpstr>Tema de Office</vt:lpstr>
      <vt:lpstr>“Régimen Tributario  de  Entidades Mutuales”</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lpstr>Diapositiva 25</vt:lpstr>
      <vt:lpstr>Diapositiva 26</vt:lpstr>
      <vt:lpstr>Diapositiva 27</vt:lpstr>
      <vt:lpstr>Diapositiva 28</vt:lpstr>
      <vt:lpstr>Diapositiva 29</vt:lpstr>
      <vt:lpstr>Diapositiva 30</vt:lpstr>
      <vt:lpstr>Diapositiva 31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Régimen Tributario de Entidades Mutuales</dc:title>
  <dc:creator>jarriola</dc:creator>
  <cp:lastModifiedBy>Usuario</cp:lastModifiedBy>
  <cp:revision>1414</cp:revision>
  <dcterms:created xsi:type="dcterms:W3CDTF">2019-06-10T17:03:10Z</dcterms:created>
  <dcterms:modified xsi:type="dcterms:W3CDTF">2025-04-30T23:26:52Z</dcterms:modified>
</cp:coreProperties>
</file>