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320" r:id="rId1"/>
  </p:sldMasterIdLst>
  <p:notesMasterIdLst>
    <p:notesMasterId r:id="rId35"/>
  </p:notesMasterIdLst>
  <p:handoutMasterIdLst>
    <p:handoutMasterId r:id="rId36"/>
  </p:handoutMasterIdLst>
  <p:sldIdLst>
    <p:sldId id="282" r:id="rId2"/>
    <p:sldId id="372" r:id="rId3"/>
    <p:sldId id="332" r:id="rId4"/>
    <p:sldId id="475" r:id="rId5"/>
    <p:sldId id="420" r:id="rId6"/>
    <p:sldId id="430" r:id="rId7"/>
    <p:sldId id="400" r:id="rId8"/>
    <p:sldId id="401" r:id="rId9"/>
    <p:sldId id="402" r:id="rId10"/>
    <p:sldId id="269" r:id="rId11"/>
    <p:sldId id="374" r:id="rId12"/>
    <p:sldId id="351" r:id="rId13"/>
    <p:sldId id="360" r:id="rId14"/>
    <p:sldId id="443" r:id="rId15"/>
    <p:sldId id="406" r:id="rId16"/>
    <p:sldId id="308" r:id="rId17"/>
    <p:sldId id="356" r:id="rId18"/>
    <p:sldId id="386" r:id="rId19"/>
    <p:sldId id="376" r:id="rId20"/>
    <p:sldId id="393" r:id="rId21"/>
    <p:sldId id="394" r:id="rId22"/>
    <p:sldId id="395" r:id="rId23"/>
    <p:sldId id="396" r:id="rId24"/>
    <p:sldId id="397" r:id="rId25"/>
    <p:sldId id="378" r:id="rId26"/>
    <p:sldId id="379" r:id="rId27"/>
    <p:sldId id="380" r:id="rId28"/>
    <p:sldId id="381" r:id="rId29"/>
    <p:sldId id="382" r:id="rId30"/>
    <p:sldId id="383" r:id="rId31"/>
    <p:sldId id="469" r:id="rId32"/>
    <p:sldId id="457" r:id="rId33"/>
    <p:sldId id="432" r:id="rId34"/>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F9A"/>
    <a:srgbClr val="EB641B"/>
    <a:srgbClr val="31F92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250" autoAdjust="0"/>
    <p:restoredTop sz="96880" autoAdjust="0"/>
  </p:normalViewPr>
  <p:slideViewPr>
    <p:cSldViewPr>
      <p:cViewPr>
        <p:scale>
          <a:sx n="71" d="100"/>
          <a:sy n="71" d="100"/>
        </p:scale>
        <p:origin x="-1326" y="-66"/>
      </p:cViewPr>
      <p:guideLst>
        <p:guide orient="horz" pos="2160"/>
        <p:guide pos="2880"/>
      </p:guideLst>
    </p:cSldViewPr>
  </p:slideViewPr>
  <p:outlineViewPr>
    <p:cViewPr>
      <p:scale>
        <a:sx n="33" d="100"/>
        <a:sy n="33" d="100"/>
      </p:scale>
      <p:origin x="0" y="88206"/>
    </p:cViewPr>
  </p:outlineViewPr>
  <p:notesTextViewPr>
    <p:cViewPr>
      <p:scale>
        <a:sx n="100" d="100"/>
        <a:sy n="100" d="100"/>
      </p:scale>
      <p:origin x="0" y="0"/>
    </p:cViewPr>
  </p:notesTextViewPr>
  <p:sorterViewPr>
    <p:cViewPr>
      <p:scale>
        <a:sx n="66" d="100"/>
        <a:sy n="66" d="100"/>
      </p:scale>
      <p:origin x="0" y="621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30" tIns="45715" rIns="91430" bIns="45715" rtlCol="0"/>
          <a:lstStyle>
            <a:lvl1pPr algn="l">
              <a:defRPr sz="1200"/>
            </a:lvl1pPr>
          </a:lstStyle>
          <a:p>
            <a:endParaRPr lang="es-AR" dirty="0"/>
          </a:p>
        </p:txBody>
      </p:sp>
      <p:sp>
        <p:nvSpPr>
          <p:cNvPr id="3" name="2 Marcador de fecha"/>
          <p:cNvSpPr>
            <a:spLocks noGrp="1"/>
          </p:cNvSpPr>
          <p:nvPr>
            <p:ph type="dt" sz="quarter" idx="1"/>
          </p:nvPr>
        </p:nvSpPr>
        <p:spPr>
          <a:xfrm>
            <a:off x="3884614" y="0"/>
            <a:ext cx="2971800" cy="457200"/>
          </a:xfrm>
          <a:prstGeom prst="rect">
            <a:avLst/>
          </a:prstGeom>
        </p:spPr>
        <p:txBody>
          <a:bodyPr vert="horz" lIns="91430" tIns="45715" rIns="91430" bIns="45715" rtlCol="0"/>
          <a:lstStyle>
            <a:lvl1pPr algn="r">
              <a:defRPr sz="1200"/>
            </a:lvl1pPr>
          </a:lstStyle>
          <a:p>
            <a:fld id="{955C2F76-07CD-453E-9B20-4B2DDF228CCF}" type="datetimeFigureOut">
              <a:rPr lang="es-AR" smtClean="0"/>
              <a:pPr/>
              <a:t>30/4/2025</a:t>
            </a:fld>
            <a:endParaRPr lang="es-AR" dirty="0"/>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30" tIns="45715" rIns="91430" bIns="45715" rtlCol="0" anchor="b"/>
          <a:lstStyle>
            <a:lvl1pPr algn="l">
              <a:defRPr sz="1200"/>
            </a:lvl1pPr>
          </a:lstStyle>
          <a:p>
            <a:endParaRPr lang="es-AR" dirty="0"/>
          </a:p>
        </p:txBody>
      </p:sp>
      <p:sp>
        <p:nvSpPr>
          <p:cNvPr id="5" name="4 Marcador de número de diapositiva"/>
          <p:cNvSpPr>
            <a:spLocks noGrp="1"/>
          </p:cNvSpPr>
          <p:nvPr>
            <p:ph type="sldNum" sz="quarter" idx="3"/>
          </p:nvPr>
        </p:nvSpPr>
        <p:spPr>
          <a:xfrm>
            <a:off x="3884614" y="8685213"/>
            <a:ext cx="2971800" cy="457200"/>
          </a:xfrm>
          <a:prstGeom prst="rect">
            <a:avLst/>
          </a:prstGeom>
        </p:spPr>
        <p:txBody>
          <a:bodyPr vert="horz" lIns="91430" tIns="45715" rIns="91430" bIns="45715" rtlCol="0" anchor="b"/>
          <a:lstStyle>
            <a:lvl1pPr algn="r">
              <a:defRPr sz="1200"/>
            </a:lvl1pPr>
          </a:lstStyle>
          <a:p>
            <a:fld id="{11FE9A8C-1099-4B52-B652-B7F6B7477BD3}" type="slidenum">
              <a:rPr lang="es-AR" smtClean="0"/>
              <a:pPr/>
              <a:t>‹Nº›</a:t>
            </a:fld>
            <a:endParaRPr lang="es-AR" dirty="0"/>
          </a:p>
        </p:txBody>
      </p:sp>
    </p:spTree>
    <p:extLst>
      <p:ext uri="{BB962C8B-B14F-4D97-AF65-F5344CB8AC3E}">
        <p14:creationId xmlns:p14="http://schemas.microsoft.com/office/powerpoint/2010/main" xmlns="" val="5631853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30" tIns="45715" rIns="91430" bIns="45715" rtlCol="0"/>
          <a:lstStyle>
            <a:lvl1pPr algn="l">
              <a:defRPr sz="1200"/>
            </a:lvl1pPr>
          </a:lstStyle>
          <a:p>
            <a:endParaRPr lang="es-ES" dirty="0"/>
          </a:p>
        </p:txBody>
      </p:sp>
      <p:sp>
        <p:nvSpPr>
          <p:cNvPr id="3" name="2 Marcador de fecha"/>
          <p:cNvSpPr>
            <a:spLocks noGrp="1"/>
          </p:cNvSpPr>
          <p:nvPr>
            <p:ph type="dt" idx="1"/>
          </p:nvPr>
        </p:nvSpPr>
        <p:spPr>
          <a:xfrm>
            <a:off x="3884614" y="0"/>
            <a:ext cx="2971800" cy="457200"/>
          </a:xfrm>
          <a:prstGeom prst="rect">
            <a:avLst/>
          </a:prstGeom>
        </p:spPr>
        <p:txBody>
          <a:bodyPr vert="horz" lIns="91430" tIns="45715" rIns="91430" bIns="45715" rtlCol="0"/>
          <a:lstStyle>
            <a:lvl1pPr algn="r">
              <a:defRPr sz="1200"/>
            </a:lvl1pPr>
          </a:lstStyle>
          <a:p>
            <a:fld id="{6BF9A670-8D01-4016-8E2F-D2C13E77110C}" type="datetimeFigureOut">
              <a:rPr lang="es-ES" smtClean="0"/>
              <a:pPr/>
              <a:t>30/04/2025</a:t>
            </a:fld>
            <a:endParaRPr lang="es-ES"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30" tIns="45715" rIns="91430" bIns="45715" rtlCol="0" anchor="ctr"/>
          <a:lstStyle/>
          <a:p>
            <a:endParaRPr lang="es-ES" dirty="0"/>
          </a:p>
        </p:txBody>
      </p:sp>
      <p:sp>
        <p:nvSpPr>
          <p:cNvPr id="5" name="4 Marcador de notas"/>
          <p:cNvSpPr>
            <a:spLocks noGrp="1"/>
          </p:cNvSpPr>
          <p:nvPr>
            <p:ph type="body" sz="quarter" idx="3"/>
          </p:nvPr>
        </p:nvSpPr>
        <p:spPr>
          <a:xfrm>
            <a:off x="685800" y="4343401"/>
            <a:ext cx="5486400" cy="4114800"/>
          </a:xfrm>
          <a:prstGeom prst="rect">
            <a:avLst/>
          </a:prstGeom>
        </p:spPr>
        <p:txBody>
          <a:bodyPr vert="horz" lIns="91430" tIns="45715" rIns="91430" bIns="45715"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30" tIns="45715" rIns="91430" bIns="45715" rtlCol="0" anchor="b"/>
          <a:lstStyle>
            <a:lvl1pPr algn="l">
              <a:defRPr sz="1200"/>
            </a:lvl1pPr>
          </a:lstStyle>
          <a:p>
            <a:endParaRPr lang="es-ES" dirty="0"/>
          </a:p>
        </p:txBody>
      </p:sp>
      <p:sp>
        <p:nvSpPr>
          <p:cNvPr id="7" name="6 Marcador de número de diapositiva"/>
          <p:cNvSpPr>
            <a:spLocks noGrp="1"/>
          </p:cNvSpPr>
          <p:nvPr>
            <p:ph type="sldNum" sz="quarter" idx="5"/>
          </p:nvPr>
        </p:nvSpPr>
        <p:spPr>
          <a:xfrm>
            <a:off x="3884614" y="8685213"/>
            <a:ext cx="2971800" cy="457200"/>
          </a:xfrm>
          <a:prstGeom prst="rect">
            <a:avLst/>
          </a:prstGeom>
        </p:spPr>
        <p:txBody>
          <a:bodyPr vert="horz" lIns="91430" tIns="45715" rIns="91430" bIns="45715" rtlCol="0" anchor="b"/>
          <a:lstStyle>
            <a:lvl1pPr algn="r">
              <a:defRPr sz="1200"/>
            </a:lvl1pPr>
          </a:lstStyle>
          <a:p>
            <a:fld id="{8BF395BE-BC0E-41D9-9DAB-49626D5F54FC}" type="slidenum">
              <a:rPr lang="es-ES" smtClean="0"/>
              <a:pPr/>
              <a:t>‹Nº›</a:t>
            </a:fld>
            <a:endParaRPr lang="es-ES" dirty="0"/>
          </a:p>
        </p:txBody>
      </p:sp>
    </p:spTree>
    <p:extLst>
      <p:ext uri="{BB962C8B-B14F-4D97-AF65-F5344CB8AC3E}">
        <p14:creationId xmlns:p14="http://schemas.microsoft.com/office/powerpoint/2010/main" xmlns="" val="36248578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8BF395BE-BC0E-41D9-9DAB-49626D5F54FC}" type="slidenum">
              <a:rPr lang="es-ES" smtClean="0"/>
              <a:pPr/>
              <a:t>10</a:t>
            </a:fld>
            <a:endParaRPr lang="es-ES" dirty="0"/>
          </a:p>
        </p:txBody>
      </p:sp>
    </p:spTree>
    <p:extLst>
      <p:ext uri="{BB962C8B-B14F-4D97-AF65-F5344CB8AC3E}">
        <p14:creationId xmlns:p14="http://schemas.microsoft.com/office/powerpoint/2010/main" xmlns="" val="4096209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8BF395BE-BC0E-41D9-9DAB-49626D5F54FC}" type="slidenum">
              <a:rPr lang="es-ES" smtClean="0"/>
              <a:pPr/>
              <a:t>33</a:t>
            </a:fld>
            <a:endParaRPr lang="es-ES" dirty="0"/>
          </a:p>
        </p:txBody>
      </p:sp>
    </p:spTree>
    <p:extLst>
      <p:ext uri="{BB962C8B-B14F-4D97-AF65-F5344CB8AC3E}">
        <p14:creationId xmlns="" xmlns:p14="http://schemas.microsoft.com/office/powerpoint/2010/main" val="702816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F3EF4538-661B-4C15-910A-1F8C30598B1E}"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93856C6A-F61F-4AFC-90A7-0EE140BE605A}"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7968C267-BDE0-4325-B1C0-EBAC9C09253E}"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E58B5C35-2880-4219-85BA-1E7C3512F2F9}" type="datetime1">
              <a:rPr lang="es-ES" smtClean="0"/>
              <a:pPr/>
              <a:t>30/04/2025</a:t>
            </a:fld>
            <a:endParaRPr lang="es-ES" dirty="0"/>
          </a:p>
        </p:txBody>
      </p:sp>
      <p:sp>
        <p:nvSpPr>
          <p:cNvPr id="6" name="5 Marcador de pie de página"/>
          <p:cNvSpPr>
            <a:spLocks noGrp="1"/>
          </p:cNvSpPr>
          <p:nvPr>
            <p:ph type="ftr" sz="quarter" idx="11"/>
          </p:nvPr>
        </p:nvSpPr>
        <p:spPr/>
        <p:txBody>
          <a:bodyPr/>
          <a:lstStyle/>
          <a:p>
            <a:r>
              <a:rPr lang="es-AR" smtClean="0"/>
              <a:t>CP JAVIER ARRIOLA             </a:t>
            </a:r>
            <a:endParaRPr lang="es-ES" dirty="0"/>
          </a:p>
        </p:txBody>
      </p:sp>
      <p:sp>
        <p:nvSpPr>
          <p:cNvPr id="7" name="6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B6B002FF-0D62-439F-992D-9E0A37460A57}" type="datetime1">
              <a:rPr lang="es-ES" smtClean="0"/>
              <a:pPr/>
              <a:t>30/04/2025</a:t>
            </a:fld>
            <a:endParaRPr lang="es-ES" dirty="0"/>
          </a:p>
        </p:txBody>
      </p:sp>
      <p:sp>
        <p:nvSpPr>
          <p:cNvPr id="8" name="7 Marcador de pie de página"/>
          <p:cNvSpPr>
            <a:spLocks noGrp="1"/>
          </p:cNvSpPr>
          <p:nvPr>
            <p:ph type="ftr" sz="quarter" idx="11"/>
          </p:nvPr>
        </p:nvSpPr>
        <p:spPr/>
        <p:txBody>
          <a:bodyPr/>
          <a:lstStyle/>
          <a:p>
            <a:r>
              <a:rPr lang="es-AR" smtClean="0"/>
              <a:t>CP JAVIER ARRIOLA             </a:t>
            </a:r>
            <a:endParaRPr lang="es-ES" dirty="0"/>
          </a:p>
        </p:txBody>
      </p:sp>
      <p:sp>
        <p:nvSpPr>
          <p:cNvPr id="9" name="8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20481ED4-4ECE-47C2-84B5-08AA7BE35025}" type="datetime1">
              <a:rPr lang="es-ES" smtClean="0"/>
              <a:pPr/>
              <a:t>30/04/2025</a:t>
            </a:fld>
            <a:endParaRPr lang="es-ES" dirty="0"/>
          </a:p>
        </p:txBody>
      </p:sp>
      <p:sp>
        <p:nvSpPr>
          <p:cNvPr id="4" name="3 Marcador de pie de página"/>
          <p:cNvSpPr>
            <a:spLocks noGrp="1"/>
          </p:cNvSpPr>
          <p:nvPr>
            <p:ph type="ftr" sz="quarter" idx="11"/>
          </p:nvPr>
        </p:nvSpPr>
        <p:spPr/>
        <p:txBody>
          <a:bodyPr/>
          <a:lstStyle/>
          <a:p>
            <a:r>
              <a:rPr lang="es-AR" smtClean="0"/>
              <a:t>CP JAVIER ARRIOLA             </a:t>
            </a:r>
            <a:endParaRPr lang="es-ES" dirty="0"/>
          </a:p>
        </p:txBody>
      </p:sp>
      <p:sp>
        <p:nvSpPr>
          <p:cNvPr id="5" name="4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6416553A-6ACC-4AE0-8535-4474AC473D41}" type="datetime1">
              <a:rPr lang="es-ES" smtClean="0"/>
              <a:pPr/>
              <a:t>30/04/2025</a:t>
            </a:fld>
            <a:endParaRPr lang="es-ES" dirty="0"/>
          </a:p>
        </p:txBody>
      </p:sp>
      <p:sp>
        <p:nvSpPr>
          <p:cNvPr id="3" name="2 Marcador de pie de página"/>
          <p:cNvSpPr>
            <a:spLocks noGrp="1"/>
          </p:cNvSpPr>
          <p:nvPr>
            <p:ph type="ftr" sz="quarter" idx="11"/>
          </p:nvPr>
        </p:nvSpPr>
        <p:spPr/>
        <p:txBody>
          <a:bodyPr/>
          <a:lstStyle/>
          <a:p>
            <a:r>
              <a:rPr lang="es-AR" smtClean="0"/>
              <a:t>CP JAVIER ARRIOLA             </a:t>
            </a:r>
            <a:endParaRPr lang="es-ES" dirty="0"/>
          </a:p>
        </p:txBody>
      </p:sp>
      <p:sp>
        <p:nvSpPr>
          <p:cNvPr id="4" name="3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6776E5F-C7E6-4841-8A27-0DDB62D08769}" type="datetime1">
              <a:rPr lang="es-ES" smtClean="0"/>
              <a:pPr/>
              <a:t>30/04/2025</a:t>
            </a:fld>
            <a:endParaRPr lang="es-ES" dirty="0"/>
          </a:p>
        </p:txBody>
      </p:sp>
      <p:sp>
        <p:nvSpPr>
          <p:cNvPr id="6" name="5 Marcador de pie de página"/>
          <p:cNvSpPr>
            <a:spLocks noGrp="1"/>
          </p:cNvSpPr>
          <p:nvPr>
            <p:ph type="ftr" sz="quarter" idx="11"/>
          </p:nvPr>
        </p:nvSpPr>
        <p:spPr/>
        <p:txBody>
          <a:bodyPr/>
          <a:lstStyle/>
          <a:p>
            <a:r>
              <a:rPr lang="es-AR" smtClean="0"/>
              <a:t>CP JAVIER ARRIOLA             </a:t>
            </a:r>
            <a:endParaRPr lang="es-ES" dirty="0"/>
          </a:p>
        </p:txBody>
      </p:sp>
      <p:sp>
        <p:nvSpPr>
          <p:cNvPr id="7" name="6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951467C-EA03-40B2-952B-3A200FFBD17E}" type="datetime1">
              <a:rPr lang="es-ES" smtClean="0"/>
              <a:pPr/>
              <a:t>30/04/2025</a:t>
            </a:fld>
            <a:endParaRPr lang="es-ES" dirty="0"/>
          </a:p>
        </p:txBody>
      </p:sp>
      <p:sp>
        <p:nvSpPr>
          <p:cNvPr id="6" name="5 Marcador de pie de página"/>
          <p:cNvSpPr>
            <a:spLocks noGrp="1"/>
          </p:cNvSpPr>
          <p:nvPr>
            <p:ph type="ftr" sz="quarter" idx="11"/>
          </p:nvPr>
        </p:nvSpPr>
        <p:spPr/>
        <p:txBody>
          <a:bodyPr/>
          <a:lstStyle/>
          <a:p>
            <a:r>
              <a:rPr lang="es-AR" smtClean="0"/>
              <a:t>CP JAVIER ARRIOLA             </a:t>
            </a:r>
            <a:endParaRPr lang="es-ES" dirty="0"/>
          </a:p>
        </p:txBody>
      </p:sp>
      <p:sp>
        <p:nvSpPr>
          <p:cNvPr id="7" name="6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C4AB5BF-4421-46A1-BAF3-F80FBE45CBA1}"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E6EE2B98-79D4-4D6E-8CD0-A15B12321787}"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B21FA5-F74F-42D5-BCA8-B3ACC5C4CB83}" type="datetime1">
              <a:rPr lang="es-ES" smtClean="0"/>
              <a:pPr/>
              <a:t>30/04/2025</a:t>
            </a:fld>
            <a:endParaRPr lang="es-ES"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AR" smtClean="0"/>
              <a:t>CP JAVIER ARRIOLA             </a:t>
            </a:r>
            <a:endParaRPr lang="es-ES"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905A6E-3428-42CC-8A3B-D0D77FE4EB92}" type="slidenum">
              <a:rPr lang="es-ES" smtClean="0"/>
              <a:pPr/>
              <a:t>‹Nº›</a:t>
            </a:fld>
            <a:endParaRPr lang="es-ES" dirty="0"/>
          </a:p>
        </p:txBody>
      </p:sp>
    </p:spTree>
  </p:cSld>
  <p:clrMap bg1="lt1" tx1="dk1" bg2="lt2" tx2="dk2" accent1="accent1" accent2="accent2" accent3="accent3" accent4="accent4" accent5="accent5" accent6="accent6" hlink="hlink" folHlink="folHlink"/>
  <p:sldLayoutIdLst>
    <p:sldLayoutId id="2147484321" r:id="rId1"/>
    <p:sldLayoutId id="2147484322" r:id="rId2"/>
    <p:sldLayoutId id="2147484323" r:id="rId3"/>
    <p:sldLayoutId id="2147484324" r:id="rId4"/>
    <p:sldLayoutId id="2147484325" r:id="rId5"/>
    <p:sldLayoutId id="2147484326" r:id="rId6"/>
    <p:sldLayoutId id="2147484327" r:id="rId7"/>
    <p:sldLayoutId id="2147484328" r:id="rId8"/>
    <p:sldLayoutId id="2147484329" r:id="rId9"/>
    <p:sldLayoutId id="2147484330" r:id="rId10"/>
    <p:sldLayoutId id="214748433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1071546"/>
            <a:ext cx="8003232" cy="4857784"/>
          </a:xfrm>
        </p:spPr>
        <p:txBody>
          <a:bodyPr>
            <a:normAutofit fontScale="32500" lnSpcReduction="20000"/>
          </a:bodyPr>
          <a:lstStyle/>
          <a:p>
            <a:pPr algn="ctr">
              <a:buNone/>
            </a:pPr>
            <a:r>
              <a:rPr lang="es-ES" sz="6200" b="1" u="sng" dirty="0" smtClean="0">
                <a:solidFill>
                  <a:srgbClr val="163F9A"/>
                </a:solidFill>
              </a:rPr>
              <a:t>Certificado de Exención RG 2681 y modificatorias</a:t>
            </a:r>
          </a:p>
          <a:p>
            <a:pPr algn="ctr">
              <a:buNone/>
            </a:pPr>
            <a:endParaRPr lang="es-ES" sz="4300" b="1" u="sng" dirty="0" smtClean="0"/>
          </a:p>
          <a:p>
            <a:pPr algn="ctr">
              <a:buNone/>
            </a:pPr>
            <a:r>
              <a:rPr lang="es-ES" sz="4300" b="1" u="sng" dirty="0" smtClean="0"/>
              <a:t>Disconformidad </a:t>
            </a:r>
          </a:p>
          <a:p>
            <a:pPr algn="ctr">
              <a:buNone/>
            </a:pPr>
            <a:endParaRPr lang="es-ES" sz="4300" b="1" u="sng" dirty="0" smtClean="0"/>
          </a:p>
          <a:p>
            <a:pPr>
              <a:buFont typeface="Wingdings" pitchFamily="2" charset="2"/>
              <a:buChar char="ü"/>
            </a:pPr>
            <a:r>
              <a:rPr lang="es-ES" sz="4300" dirty="0" smtClean="0"/>
              <a:t>Dentro de los 30 días desde la fecha de publicación.</a:t>
            </a:r>
          </a:p>
          <a:p>
            <a:pPr>
              <a:buFont typeface="Wingdings" pitchFamily="2" charset="2"/>
              <a:buChar char="ü"/>
            </a:pPr>
            <a:r>
              <a:rPr lang="es-ES" sz="4300" dirty="0" smtClean="0"/>
              <a:t>Resolución dentro de los 20 días de la presentación.</a:t>
            </a:r>
          </a:p>
          <a:p>
            <a:pPr>
              <a:buFont typeface="Wingdings" pitchFamily="2" charset="2"/>
              <a:buChar char="ü"/>
            </a:pPr>
            <a:r>
              <a:rPr lang="es-ES" sz="4300" dirty="0" smtClean="0"/>
              <a:t>La denegatoria y/o caducidad puede ser recurrida art. 74 DR Ley 11.683.  </a:t>
            </a:r>
          </a:p>
          <a:p>
            <a:pPr algn="ctr">
              <a:buNone/>
            </a:pPr>
            <a:endParaRPr lang="es-ES" sz="4300" b="1" u="sng" dirty="0" smtClean="0"/>
          </a:p>
          <a:p>
            <a:pPr algn="ctr">
              <a:buNone/>
            </a:pPr>
            <a:r>
              <a:rPr lang="es-ES" sz="4300" b="1" u="sng" dirty="0" smtClean="0"/>
              <a:t>Renovación</a:t>
            </a:r>
          </a:p>
          <a:p>
            <a:pPr algn="ctr">
              <a:buNone/>
            </a:pPr>
            <a:endParaRPr lang="es-ES" sz="4300" b="1" u="sng" dirty="0" smtClean="0"/>
          </a:p>
          <a:p>
            <a:pPr algn="just"/>
            <a:r>
              <a:rPr lang="es-ES" sz="4300" dirty="0" smtClean="0"/>
              <a:t>Anualmente en forma automática. El proceso se corre entre 60 y 90 días antes al vencimiento.</a:t>
            </a:r>
          </a:p>
          <a:p>
            <a:endParaRPr lang="es-ES" sz="4300" dirty="0" smtClean="0"/>
          </a:p>
          <a:p>
            <a:pPr algn="ctr">
              <a:buNone/>
            </a:pPr>
            <a:r>
              <a:rPr lang="es-ES" sz="4300" b="1" u="sng" dirty="0" smtClean="0"/>
              <a:t>Obligaciones Anuales Entidades Exentas</a:t>
            </a:r>
          </a:p>
          <a:p>
            <a:pPr algn="ctr">
              <a:buNone/>
            </a:pPr>
            <a:endParaRPr lang="es-ES" sz="4300" b="1" u="sng" dirty="0" smtClean="0"/>
          </a:p>
          <a:p>
            <a:pPr>
              <a:buFont typeface="Wingdings" pitchFamily="2" charset="2"/>
              <a:buChar char="q"/>
            </a:pPr>
            <a:r>
              <a:rPr lang="es-ES" sz="4300" dirty="0" smtClean="0"/>
              <a:t> Presentar DDJJ de Ganancias /Balances /Nota Anexo VI certificado CP. </a:t>
            </a:r>
            <a:r>
              <a:rPr lang="es-ES" sz="4300" dirty="0" err="1" smtClean="0"/>
              <a:t>Via</a:t>
            </a:r>
            <a:r>
              <a:rPr lang="es-ES" sz="4300" dirty="0" smtClean="0"/>
              <a:t> PUB.</a:t>
            </a:r>
          </a:p>
          <a:p>
            <a:pPr>
              <a:buNone/>
            </a:pPr>
            <a:endParaRPr lang="es-ES" sz="4300" dirty="0" smtClean="0"/>
          </a:p>
          <a:p>
            <a:pPr algn="ctr">
              <a:buNone/>
            </a:pPr>
            <a:r>
              <a:rPr lang="es-ES" sz="4300" b="1" u="sng" dirty="0" smtClean="0"/>
              <a:t>Obligaciones Terceros (agentes de retención/percepción/donantes)</a:t>
            </a:r>
          </a:p>
          <a:p>
            <a:pPr algn="ctr">
              <a:buNone/>
            </a:pPr>
            <a:endParaRPr lang="es-ES" sz="4300" b="1" u="sng" dirty="0" smtClean="0"/>
          </a:p>
          <a:p>
            <a:pPr>
              <a:buFont typeface="Wingdings" pitchFamily="2" charset="2"/>
              <a:buChar char="v"/>
            </a:pPr>
            <a:r>
              <a:rPr lang="es-ES" sz="4300" dirty="0" smtClean="0"/>
              <a:t>Verificar la vigencia de la exención ante cada operación</a:t>
            </a:r>
          </a:p>
          <a:p>
            <a:pPr>
              <a:buFont typeface="Wingdings" pitchFamily="2" charset="2"/>
              <a:buChar char="v"/>
            </a:pPr>
            <a:r>
              <a:rPr lang="es-ES" sz="4300" dirty="0" smtClean="0"/>
              <a:t>Las entidades financieras al principio de cada mes.</a:t>
            </a:r>
          </a:p>
          <a:p>
            <a:pPr>
              <a:buFont typeface="Wingdings" pitchFamily="2" charset="2"/>
              <a:buChar char="q"/>
            </a:pPr>
            <a:endParaRPr lang="es-ES" sz="4300" dirty="0" smtClean="0"/>
          </a:p>
          <a:p>
            <a:endParaRPr lang="es-ES" sz="4300" dirty="0" smtClean="0"/>
          </a:p>
          <a:p>
            <a:endParaRPr lang="es-ES" sz="2000" dirty="0" smtClean="0"/>
          </a:p>
          <a:p>
            <a:endParaRPr lang="es-AR" sz="20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a:t>
            </a:fld>
            <a:endParaRPr lang="es-ES" dirty="0"/>
          </a:p>
        </p:txBody>
      </p:sp>
      <p:sp>
        <p:nvSpPr>
          <p:cNvPr id="5" name="4 CuadroTexto"/>
          <p:cNvSpPr txBox="1"/>
          <p:nvPr/>
        </p:nvSpPr>
        <p:spPr>
          <a:xfrm>
            <a:off x="71438" y="260648"/>
            <a:ext cx="8786842" cy="646331"/>
          </a:xfrm>
          <a:prstGeom prst="rect">
            <a:avLst/>
          </a:prstGeom>
          <a:noFill/>
        </p:spPr>
        <p:txBody>
          <a:bodyPr wrap="square" rtlCol="0">
            <a:spAutoFit/>
          </a:bodyPr>
          <a:lstStyle/>
          <a:p>
            <a:pPr algn="ctr"/>
            <a:r>
              <a:rPr lang="es-AR" sz="3600" b="1" dirty="0" smtClean="0">
                <a:solidFill>
                  <a:srgbClr val="FF0000"/>
                </a:solidFill>
              </a:rPr>
              <a:t>IMPUESTO A LAS GANANCIAS (XII)</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CuadroTexto"/>
          <p:cNvSpPr txBox="1"/>
          <p:nvPr/>
        </p:nvSpPr>
        <p:spPr>
          <a:xfrm>
            <a:off x="714348" y="500042"/>
            <a:ext cx="8501122" cy="646331"/>
          </a:xfrm>
          <a:prstGeom prst="rect">
            <a:avLst/>
          </a:prstGeom>
          <a:noFill/>
        </p:spPr>
        <p:txBody>
          <a:bodyPr wrap="square" rtlCol="0">
            <a:spAutoFit/>
          </a:bodyPr>
          <a:lstStyle/>
          <a:p>
            <a:r>
              <a:rPr lang="es-AR" sz="3600" b="1" dirty="0" smtClean="0">
                <a:solidFill>
                  <a:srgbClr val="FF0000"/>
                </a:solidFill>
              </a:rPr>
              <a:t>AFIP – RG 2681. Nota Anexo VI (XIII)</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pic>
        <p:nvPicPr>
          <p:cNvPr id="1026" name="Picture 2" descr="http://servicios.infoleg.gob.ar/infolegInternet/anexos/155000-159999/158391/res2681-17-11-2017-5.jpg"/>
          <p:cNvPicPr>
            <a:picLocks noChangeAspect="1" noChangeArrowheads="1"/>
          </p:cNvPicPr>
          <p:nvPr/>
        </p:nvPicPr>
        <p:blipFill>
          <a:blip r:embed="rId3" cstate="print"/>
          <a:srcRect/>
          <a:stretch>
            <a:fillRect/>
          </a:stretch>
        </p:blipFill>
        <p:spPr bwMode="auto">
          <a:xfrm>
            <a:off x="251520" y="1700808"/>
            <a:ext cx="7715304" cy="3221375"/>
          </a:xfrm>
          <a:prstGeom prst="rect">
            <a:avLst/>
          </a:prstGeom>
          <a:noFill/>
        </p:spPr>
      </p:pic>
      <p:sp>
        <p:nvSpPr>
          <p:cNvPr id="5" name="4 Marcador de número de diapositiva"/>
          <p:cNvSpPr>
            <a:spLocks noGrp="1"/>
          </p:cNvSpPr>
          <p:nvPr>
            <p:ph type="sldNum" sz="quarter" idx="12"/>
          </p:nvPr>
        </p:nvSpPr>
        <p:spPr/>
        <p:txBody>
          <a:bodyPr/>
          <a:lstStyle/>
          <a:p>
            <a:fld id="{47905A6E-3428-42CC-8A3B-D0D77FE4EB92}" type="slidenum">
              <a:rPr lang="es-ES" smtClean="0"/>
              <a:pPr/>
              <a:t>2</a:t>
            </a:fld>
            <a:endParaRPr lang="es-E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CuadroTexto"/>
          <p:cNvSpPr txBox="1"/>
          <p:nvPr/>
        </p:nvSpPr>
        <p:spPr>
          <a:xfrm>
            <a:off x="1142976" y="500042"/>
            <a:ext cx="6143668" cy="646331"/>
          </a:xfrm>
          <a:prstGeom prst="rect">
            <a:avLst/>
          </a:prstGeom>
          <a:noFill/>
        </p:spPr>
        <p:txBody>
          <a:bodyPr wrap="square" rtlCol="0">
            <a:spAutoFit/>
          </a:bodyPr>
          <a:lstStyle/>
          <a:p>
            <a:pPr algn="ctr"/>
            <a:r>
              <a:rPr lang="es-AR" sz="3600" b="1" dirty="0" smtClean="0">
                <a:solidFill>
                  <a:srgbClr val="FF0000"/>
                </a:solidFill>
              </a:rPr>
              <a:t>AFIP – RG 4626/2019 (XIV)</a:t>
            </a:r>
            <a:endParaRPr lang="es-ES" sz="3600" b="1" dirty="0">
              <a:solidFill>
                <a:srgbClr val="FF0000"/>
              </a:solidFill>
            </a:endParaRPr>
          </a:p>
        </p:txBody>
      </p:sp>
      <p:sp>
        <p:nvSpPr>
          <p:cNvPr id="11" name="10 CuadroTexto"/>
          <p:cNvSpPr txBox="1"/>
          <p:nvPr/>
        </p:nvSpPr>
        <p:spPr>
          <a:xfrm>
            <a:off x="179512" y="1196752"/>
            <a:ext cx="8318728" cy="4062651"/>
          </a:xfrm>
          <a:prstGeom prst="rect">
            <a:avLst/>
          </a:prstGeom>
          <a:noFill/>
        </p:spPr>
        <p:txBody>
          <a:bodyPr wrap="square" rtlCol="0">
            <a:spAutoFit/>
          </a:bodyPr>
          <a:lstStyle/>
          <a:p>
            <a:pPr algn="ctr"/>
            <a:r>
              <a:rPr lang="es-AR" sz="2400" b="1" u="sng" dirty="0" smtClean="0">
                <a:solidFill>
                  <a:srgbClr val="163F9A"/>
                </a:solidFill>
              </a:rPr>
              <a:t>Presentación DDJJ Ganancias – Exenta – </a:t>
            </a:r>
          </a:p>
          <a:p>
            <a:pPr algn="ctr"/>
            <a:r>
              <a:rPr lang="es-AR" sz="2400" b="1" u="sng" dirty="0" smtClean="0">
                <a:solidFill>
                  <a:srgbClr val="163F9A"/>
                </a:solidFill>
              </a:rPr>
              <a:t>- Estados Contables –</a:t>
            </a:r>
          </a:p>
          <a:p>
            <a:pPr algn="ctr"/>
            <a:endParaRPr lang="es-AR" sz="1500" b="1" u="sng" dirty="0" smtClean="0"/>
          </a:p>
          <a:p>
            <a:pPr algn="ctr"/>
            <a:endParaRPr lang="es-AR" sz="1500" b="1" u="sng" dirty="0" smtClean="0"/>
          </a:p>
          <a:p>
            <a:pPr>
              <a:lnSpc>
                <a:spcPct val="150000"/>
              </a:lnSpc>
              <a:buFont typeface="Courier New" pitchFamily="49" charset="0"/>
              <a:buChar char="o"/>
            </a:pPr>
            <a:r>
              <a:rPr lang="es-AR" sz="2400" dirty="0" smtClean="0"/>
              <a:t> F. 713. DDJJ Ganancias. Vto. quinto mes siguiente al cierre de ejercicio.</a:t>
            </a:r>
          </a:p>
          <a:p>
            <a:pPr>
              <a:lnSpc>
                <a:spcPct val="150000"/>
              </a:lnSpc>
            </a:pPr>
            <a:endParaRPr lang="es-AR" sz="2400" dirty="0" smtClean="0"/>
          </a:p>
          <a:p>
            <a:pPr>
              <a:lnSpc>
                <a:spcPct val="150000"/>
              </a:lnSpc>
              <a:buFont typeface="Courier New" pitchFamily="49" charset="0"/>
              <a:buChar char="o"/>
            </a:pPr>
            <a:r>
              <a:rPr lang="es-AR" sz="2400" dirty="0" smtClean="0"/>
              <a:t> Memoria, Estados Contables e Informe de Auditoría. Vto. sexto mes siguiente al cierre de ejercicio. (PUB)</a:t>
            </a: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5" name="4 Marcador de número de diapositiva"/>
          <p:cNvSpPr>
            <a:spLocks noGrp="1"/>
          </p:cNvSpPr>
          <p:nvPr>
            <p:ph type="sldNum" sz="quarter" idx="12"/>
          </p:nvPr>
        </p:nvSpPr>
        <p:spPr/>
        <p:txBody>
          <a:bodyPr/>
          <a:lstStyle/>
          <a:p>
            <a:fld id="{47905A6E-3428-42CC-8A3B-D0D77FE4EB92}" type="slidenum">
              <a:rPr lang="es-ES" smtClean="0"/>
              <a:pPr/>
              <a:t>3</a:t>
            </a:fld>
            <a:endParaRPr lang="es-E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https://ss-static-01.esmsv.com/id/101689/galeriaimagenes/obtenerimagen/?id=215&amp;tipoEscala=stretch&amp;width=1050&amp;height=100"/>
          <p:cNvPicPr>
            <a:picLocks noChangeAspect="1" noChangeArrowheads="1"/>
          </p:cNvPicPr>
          <p:nvPr/>
        </p:nvPicPr>
        <p:blipFill>
          <a:blip r:embed="rId2" cstate="print"/>
          <a:srcRect/>
          <a:stretch>
            <a:fillRect/>
          </a:stretch>
        </p:blipFill>
        <p:spPr bwMode="auto">
          <a:xfrm>
            <a:off x="1571604" y="285728"/>
            <a:ext cx="5572164" cy="735597"/>
          </a:xfrm>
          <a:prstGeom prst="rect">
            <a:avLst/>
          </a:prstGeom>
          <a:noFill/>
        </p:spPr>
      </p:pic>
      <p:pic>
        <p:nvPicPr>
          <p:cNvPr id="2" name="1 Imagen"/>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12324" y="1771462"/>
            <a:ext cx="7274452" cy="4525650"/>
          </a:xfrm>
          <a:prstGeom prst="rect">
            <a:avLst/>
          </a:prstGeom>
        </p:spPr>
      </p:pic>
      <p:sp>
        <p:nvSpPr>
          <p:cNvPr id="8" name="7 Rectángulo"/>
          <p:cNvSpPr/>
          <p:nvPr/>
        </p:nvSpPr>
        <p:spPr>
          <a:xfrm>
            <a:off x="4357686" y="1785926"/>
            <a:ext cx="2573478" cy="5715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500" b="1" dirty="0" smtClean="0">
                <a:solidFill>
                  <a:schemeClr val="tx1"/>
                </a:solidFill>
                <a:latin typeface="Arial Rounded MT Bold" pitchFamily="34" charset="0"/>
              </a:rPr>
              <a:t>A  JAVIER</a:t>
            </a:r>
            <a:endParaRPr lang="es-AR" sz="3500" b="1" dirty="0">
              <a:solidFill>
                <a:schemeClr val="tx1"/>
              </a:solidFill>
              <a:latin typeface="Arial Rounded MT Bold" pitchFamily="34" charset="0"/>
            </a:endParaRPr>
          </a:p>
        </p:txBody>
      </p:sp>
      <p:pic>
        <p:nvPicPr>
          <p:cNvPr id="5" name="Picture 2" descr="IECAM"/>
          <p:cNvPicPr>
            <a:picLocks noChangeAspect="1" noChangeArrowheads="1"/>
          </p:cNvPicPr>
          <p:nvPr/>
        </p:nvPicPr>
        <p:blipFill>
          <a:blip r:embed="rId4" cstate="print"/>
          <a:srcRect/>
          <a:stretch>
            <a:fillRect/>
          </a:stretch>
        </p:blipFill>
        <p:spPr bwMode="auto">
          <a:xfrm>
            <a:off x="6500826" y="285728"/>
            <a:ext cx="2386029" cy="745634"/>
          </a:xfrm>
          <a:prstGeom prst="rect">
            <a:avLst/>
          </a:prstGeom>
          <a:noFill/>
        </p:spPr>
      </p:pic>
    </p:spTree>
    <p:extLst>
      <p:ext uri="{BB962C8B-B14F-4D97-AF65-F5344CB8AC3E}">
        <p14:creationId xmlns="" xmlns:p14="http://schemas.microsoft.com/office/powerpoint/2010/main" val="42204824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https://ss-static-01.esmsv.com/id/101689/galeriaimagenes/obtenerimagen/?id=215&amp;tipoEscala=stretch&amp;width=1050&amp;height=100"/>
          <p:cNvPicPr>
            <a:picLocks noChangeAspect="1" noChangeArrowheads="1"/>
          </p:cNvPicPr>
          <p:nvPr/>
        </p:nvPicPr>
        <p:blipFill>
          <a:blip r:embed="rId2" cstate="print"/>
          <a:srcRect/>
          <a:stretch>
            <a:fillRect/>
          </a:stretch>
        </p:blipFill>
        <p:spPr bwMode="auto">
          <a:xfrm>
            <a:off x="285752" y="333360"/>
            <a:ext cx="7215206" cy="952500"/>
          </a:xfrm>
          <a:prstGeom prst="rect">
            <a:avLst/>
          </a:prstGeom>
          <a:noFill/>
        </p:spPr>
      </p:pic>
      <p:sp>
        <p:nvSpPr>
          <p:cNvPr id="8" name="7 Rectángulo"/>
          <p:cNvSpPr/>
          <p:nvPr/>
        </p:nvSpPr>
        <p:spPr>
          <a:xfrm>
            <a:off x="1428728" y="2000240"/>
            <a:ext cx="6643734" cy="20002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4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PRESENTACION</a:t>
            </a:r>
          </a:p>
          <a:p>
            <a:pPr algn="ctr"/>
            <a:endParaRPr lang="es-AR" sz="4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a:p>
            <a:pPr algn="ctr"/>
            <a:r>
              <a:rPr lang="es-AR" sz="4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SEGUNDA PARTE</a:t>
            </a:r>
            <a:endParaRPr lang="es-AR"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pic>
        <p:nvPicPr>
          <p:cNvPr id="4" name="Picture 2" descr="IECAM"/>
          <p:cNvPicPr>
            <a:picLocks noChangeAspect="1" noChangeArrowheads="1"/>
          </p:cNvPicPr>
          <p:nvPr/>
        </p:nvPicPr>
        <p:blipFill>
          <a:blip r:embed="rId3" cstate="print"/>
          <a:srcRect/>
          <a:stretch>
            <a:fillRect/>
          </a:stretch>
        </p:blipFill>
        <p:spPr bwMode="auto">
          <a:xfrm>
            <a:off x="6257937" y="357166"/>
            <a:ext cx="2386029" cy="745634"/>
          </a:xfrm>
          <a:prstGeom prst="rect">
            <a:avLst/>
          </a:prstGeom>
          <a:noFill/>
        </p:spPr>
      </p:pic>
    </p:spTree>
    <p:extLst>
      <p:ext uri="{BB962C8B-B14F-4D97-AF65-F5344CB8AC3E}">
        <p14:creationId xmlns:p14="http://schemas.microsoft.com/office/powerpoint/2010/main" xmlns="" val="42204824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42844" y="188640"/>
            <a:ext cx="8786842" cy="553998"/>
          </a:xfrm>
          <a:prstGeom prst="rect">
            <a:avLst/>
          </a:prstGeom>
          <a:noFill/>
        </p:spPr>
        <p:txBody>
          <a:bodyPr wrap="square" rtlCol="0">
            <a:spAutoFit/>
          </a:bodyPr>
          <a:lstStyle/>
          <a:p>
            <a:pPr algn="ctr"/>
            <a:r>
              <a:rPr lang="es-AR" sz="3000" b="1" dirty="0" smtClean="0">
                <a:solidFill>
                  <a:srgbClr val="FF0000"/>
                </a:solidFill>
              </a:rPr>
              <a:t>IMPUESTO A LOS DÉBITOS Y CRÉDITOS (I)</a:t>
            </a:r>
            <a:endParaRPr lang="es-ES" sz="30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8" name="7 Rectángulo"/>
          <p:cNvSpPr/>
          <p:nvPr/>
        </p:nvSpPr>
        <p:spPr>
          <a:xfrm>
            <a:off x="3214678" y="1142984"/>
            <a:ext cx="2714644" cy="928694"/>
          </a:xfrm>
          <a:prstGeom prst="rect">
            <a:avLst/>
          </a:prstGeom>
          <a:solidFill>
            <a:srgbClr val="00206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b="1" dirty="0" smtClean="0">
                <a:solidFill>
                  <a:schemeClr val="bg1"/>
                </a:solidFill>
              </a:rPr>
              <a:t>ENTIDAD MUTUAL</a:t>
            </a:r>
            <a:endParaRPr lang="es-AR" b="1" dirty="0">
              <a:solidFill>
                <a:schemeClr val="bg1"/>
              </a:solidFill>
            </a:endParaRPr>
          </a:p>
        </p:txBody>
      </p:sp>
      <p:sp>
        <p:nvSpPr>
          <p:cNvPr id="9" name="8 Rectángulo redondeado"/>
          <p:cNvSpPr/>
          <p:nvPr/>
        </p:nvSpPr>
        <p:spPr>
          <a:xfrm>
            <a:off x="357158" y="1357298"/>
            <a:ext cx="1857388" cy="928694"/>
          </a:xfrm>
          <a:prstGeom prst="roundRect">
            <a:avLst/>
          </a:prstGeom>
          <a:solidFill>
            <a:schemeClr val="accent1">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b="1" dirty="0" smtClean="0">
                <a:solidFill>
                  <a:schemeClr val="bg1"/>
                </a:solidFill>
              </a:rPr>
              <a:t>Sujeto Pasivo</a:t>
            </a:r>
            <a:endParaRPr lang="es-AR" b="1" dirty="0">
              <a:solidFill>
                <a:schemeClr val="bg1"/>
              </a:solidFill>
            </a:endParaRPr>
          </a:p>
        </p:txBody>
      </p:sp>
      <p:sp>
        <p:nvSpPr>
          <p:cNvPr id="13" name="12 Rectángulo redondeado"/>
          <p:cNvSpPr/>
          <p:nvPr/>
        </p:nvSpPr>
        <p:spPr>
          <a:xfrm>
            <a:off x="7072330" y="1214422"/>
            <a:ext cx="1857388" cy="928694"/>
          </a:xfrm>
          <a:prstGeom prst="roundRect">
            <a:avLst/>
          </a:prstGeom>
          <a:solidFill>
            <a:schemeClr val="accent1">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b="1" dirty="0" smtClean="0">
                <a:solidFill>
                  <a:schemeClr val="bg1"/>
                </a:solidFill>
              </a:rPr>
              <a:t>Agente Percepción</a:t>
            </a:r>
            <a:endParaRPr lang="es-AR" b="1" dirty="0">
              <a:solidFill>
                <a:schemeClr val="bg1"/>
              </a:solidFill>
            </a:endParaRPr>
          </a:p>
        </p:txBody>
      </p:sp>
      <p:sp>
        <p:nvSpPr>
          <p:cNvPr id="14" name="13 Elipse"/>
          <p:cNvSpPr/>
          <p:nvPr/>
        </p:nvSpPr>
        <p:spPr>
          <a:xfrm>
            <a:off x="285720" y="2643182"/>
            <a:ext cx="1928826" cy="85725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ES" b="1" dirty="0" smtClean="0"/>
              <a:t>Cuentas bancarias</a:t>
            </a:r>
            <a:endParaRPr lang="es-AR" b="1" dirty="0"/>
          </a:p>
        </p:txBody>
      </p:sp>
      <p:sp>
        <p:nvSpPr>
          <p:cNvPr id="15" name="14 Elipse"/>
          <p:cNvSpPr/>
          <p:nvPr/>
        </p:nvSpPr>
        <p:spPr>
          <a:xfrm>
            <a:off x="2572876" y="4786322"/>
            <a:ext cx="2570628" cy="1643074"/>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s-ES" sz="1700" b="1" dirty="0" smtClean="0">
                <a:solidFill>
                  <a:schemeClr val="tx1"/>
                </a:solidFill>
              </a:rPr>
              <a:t>Alícuota incrementada (doble)</a:t>
            </a:r>
          </a:p>
          <a:p>
            <a:pPr algn="ctr"/>
            <a:r>
              <a:rPr lang="es-ES" sz="1700" b="1" dirty="0" smtClean="0">
                <a:solidFill>
                  <a:schemeClr val="tx1"/>
                </a:solidFill>
              </a:rPr>
              <a:t>Extracciones </a:t>
            </a:r>
            <a:r>
              <a:rPr lang="es-ES" sz="1700" b="1" dirty="0" err="1" smtClean="0">
                <a:solidFill>
                  <a:schemeClr val="tx1"/>
                </a:solidFill>
              </a:rPr>
              <a:t>Efvo</a:t>
            </a:r>
            <a:r>
              <a:rPr lang="es-ES" sz="1700" b="1" dirty="0" smtClean="0">
                <a:solidFill>
                  <a:schemeClr val="tx1"/>
                </a:solidFill>
              </a:rPr>
              <a:t>.</a:t>
            </a:r>
          </a:p>
          <a:p>
            <a:pPr algn="ctr"/>
            <a:r>
              <a:rPr lang="es-ES" sz="1700" b="1" dirty="0" smtClean="0">
                <a:solidFill>
                  <a:schemeClr val="tx1"/>
                </a:solidFill>
              </a:rPr>
              <a:t>RG 4665/20</a:t>
            </a:r>
          </a:p>
          <a:p>
            <a:pPr algn="ctr"/>
            <a:r>
              <a:rPr lang="es-ES" sz="1700" b="1" dirty="0" smtClean="0">
                <a:solidFill>
                  <a:schemeClr val="tx1"/>
                </a:solidFill>
              </a:rPr>
              <a:t>No Pyme</a:t>
            </a:r>
            <a:endParaRPr lang="es-AR" sz="1700" b="1" dirty="0">
              <a:solidFill>
                <a:schemeClr val="tx1"/>
              </a:solidFill>
            </a:endParaRPr>
          </a:p>
        </p:txBody>
      </p:sp>
      <p:sp>
        <p:nvSpPr>
          <p:cNvPr id="16" name="15 Elipse"/>
          <p:cNvSpPr/>
          <p:nvPr/>
        </p:nvSpPr>
        <p:spPr>
          <a:xfrm>
            <a:off x="0" y="3714752"/>
            <a:ext cx="2500298" cy="1571636"/>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s-ES" sz="1700" b="1" dirty="0" smtClean="0">
                <a:solidFill>
                  <a:schemeClr val="tx1"/>
                </a:solidFill>
              </a:rPr>
              <a:t>Alícuota reducida (0,25%)</a:t>
            </a:r>
          </a:p>
          <a:p>
            <a:pPr algn="ctr"/>
            <a:r>
              <a:rPr lang="es-ES" sz="1700" b="1" dirty="0" smtClean="0">
                <a:solidFill>
                  <a:schemeClr val="tx1"/>
                </a:solidFill>
              </a:rPr>
              <a:t>(</a:t>
            </a:r>
            <a:r>
              <a:rPr lang="es-ES" sz="1700" b="1" dirty="0" err="1" smtClean="0">
                <a:solidFill>
                  <a:schemeClr val="tx1"/>
                </a:solidFill>
              </a:rPr>
              <a:t>Dec</a:t>
            </a:r>
            <a:r>
              <a:rPr lang="es-ES" sz="1700" b="1" dirty="0" smtClean="0">
                <a:solidFill>
                  <a:schemeClr val="tx1"/>
                </a:solidFill>
              </a:rPr>
              <a:t>. 380/01. Exento Ganancias e </a:t>
            </a:r>
            <a:r>
              <a:rPr lang="es-ES" sz="1700" b="1" dirty="0" err="1" smtClean="0">
                <a:solidFill>
                  <a:schemeClr val="tx1"/>
                </a:solidFill>
              </a:rPr>
              <a:t>Iva</a:t>
            </a:r>
            <a:r>
              <a:rPr lang="es-ES" sz="1700" b="1" dirty="0" smtClean="0">
                <a:solidFill>
                  <a:schemeClr val="tx1"/>
                </a:solidFill>
              </a:rPr>
              <a:t>)</a:t>
            </a:r>
            <a:endParaRPr lang="es-AR" sz="1700" b="1" dirty="0">
              <a:solidFill>
                <a:schemeClr val="tx1"/>
              </a:solidFill>
            </a:endParaRPr>
          </a:p>
        </p:txBody>
      </p:sp>
      <p:sp>
        <p:nvSpPr>
          <p:cNvPr id="17" name="16 Elipse"/>
          <p:cNvSpPr/>
          <p:nvPr/>
        </p:nvSpPr>
        <p:spPr>
          <a:xfrm>
            <a:off x="7143768" y="3571876"/>
            <a:ext cx="1785950" cy="928694"/>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ES" sz="5000" dirty="0" smtClean="0"/>
              <a:t>?</a:t>
            </a:r>
            <a:endParaRPr lang="es-AR" sz="5000" dirty="0"/>
          </a:p>
        </p:txBody>
      </p:sp>
      <p:sp>
        <p:nvSpPr>
          <p:cNvPr id="18" name="17 Flecha abajo"/>
          <p:cNvSpPr/>
          <p:nvPr/>
        </p:nvSpPr>
        <p:spPr>
          <a:xfrm>
            <a:off x="1071538" y="2357430"/>
            <a:ext cx="357190" cy="2857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9" name="18 Flecha abajo"/>
          <p:cNvSpPr/>
          <p:nvPr/>
        </p:nvSpPr>
        <p:spPr>
          <a:xfrm>
            <a:off x="7858148" y="2285992"/>
            <a:ext cx="285752" cy="12144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21" name="20 Conector recto de flecha"/>
          <p:cNvCxnSpPr/>
          <p:nvPr/>
        </p:nvCxnSpPr>
        <p:spPr>
          <a:xfrm rot="10800000">
            <a:off x="2357422" y="1643050"/>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22 Conector recto de flecha"/>
          <p:cNvCxnSpPr/>
          <p:nvPr/>
        </p:nvCxnSpPr>
        <p:spPr>
          <a:xfrm>
            <a:off x="6072198" y="1571612"/>
            <a:ext cx="8572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26 Conector recto de flecha"/>
          <p:cNvCxnSpPr/>
          <p:nvPr/>
        </p:nvCxnSpPr>
        <p:spPr>
          <a:xfrm rot="5400000">
            <a:off x="642910" y="3571876"/>
            <a:ext cx="285752"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28 Conector recto de flecha"/>
          <p:cNvCxnSpPr/>
          <p:nvPr/>
        </p:nvCxnSpPr>
        <p:spPr>
          <a:xfrm rot="16200000" flipH="1">
            <a:off x="1785918" y="3571876"/>
            <a:ext cx="1571636" cy="10001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19 Marcador de número de diapositiva"/>
          <p:cNvSpPr>
            <a:spLocks noGrp="1"/>
          </p:cNvSpPr>
          <p:nvPr>
            <p:ph type="sldNum" sz="quarter" idx="12"/>
          </p:nvPr>
        </p:nvSpPr>
        <p:spPr/>
        <p:txBody>
          <a:bodyPr/>
          <a:lstStyle/>
          <a:p>
            <a:fld id="{47905A6E-3428-42CC-8A3B-D0D77FE4EB92}" type="slidenum">
              <a:rPr lang="es-ES" smtClean="0"/>
              <a:pPr/>
              <a:t>6</a:t>
            </a:fld>
            <a:endParaRPr lang="es-ES" dirty="0"/>
          </a:p>
        </p:txBody>
      </p:sp>
      <p:sp>
        <p:nvSpPr>
          <p:cNvPr id="22" name="21 CuadroTexto"/>
          <p:cNvSpPr txBox="1"/>
          <p:nvPr/>
        </p:nvSpPr>
        <p:spPr>
          <a:xfrm>
            <a:off x="3286116" y="2143116"/>
            <a:ext cx="3168352" cy="2431435"/>
          </a:xfrm>
          <a:prstGeom prst="rect">
            <a:avLst/>
          </a:prstGeom>
          <a:noFill/>
        </p:spPr>
        <p:txBody>
          <a:bodyPr wrap="square" rtlCol="0">
            <a:spAutoFit/>
          </a:bodyPr>
          <a:lstStyle/>
          <a:p>
            <a:pPr algn="ctr">
              <a:buNone/>
            </a:pPr>
            <a:r>
              <a:rPr lang="es-AR" sz="1400" b="1" u="sng" dirty="0" smtClean="0"/>
              <a:t>Art. 2. Ley 25.413 (B.O. 26/03/01)</a:t>
            </a:r>
          </a:p>
          <a:p>
            <a:pPr algn="just">
              <a:buNone/>
            </a:pPr>
            <a:r>
              <a:rPr lang="es-AR" sz="1400" b="1" dirty="0" smtClean="0"/>
              <a:t>“… A los efectos del impuesto establecido en la presente ley, </a:t>
            </a:r>
            <a:r>
              <a:rPr lang="es-AR" sz="1400" b="1" u="sng" dirty="0" smtClean="0"/>
              <a:t>no serán de aplicación las exenciones objetivas y/o subjetivas dispuestas en otras leyes nacionales</a:t>
            </a:r>
            <a:r>
              <a:rPr lang="es-AR" sz="1400" b="1" dirty="0" smtClean="0"/>
              <a:t> —aun cuando se tratare de leyes generales, especiales o estatutarias—, decretos o cualquier otra norma de inferior jerarquía normativa…”.</a:t>
            </a:r>
          </a:p>
          <a:p>
            <a:endParaRPr lang="es-ES" sz="1200" dirty="0"/>
          </a:p>
        </p:txBody>
      </p:sp>
      <p:cxnSp>
        <p:nvCxnSpPr>
          <p:cNvPr id="31" name="30 Conector recto de flecha"/>
          <p:cNvCxnSpPr/>
          <p:nvPr/>
        </p:nvCxnSpPr>
        <p:spPr>
          <a:xfrm rot="5400000">
            <a:off x="999306" y="5499908"/>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32 CuadroTexto"/>
          <p:cNvSpPr txBox="1"/>
          <p:nvPr/>
        </p:nvSpPr>
        <p:spPr>
          <a:xfrm>
            <a:off x="214282" y="5577504"/>
            <a:ext cx="2143140" cy="923330"/>
          </a:xfrm>
          <a:prstGeom prst="rect">
            <a:avLst/>
          </a:prstGeom>
          <a:noFill/>
        </p:spPr>
        <p:txBody>
          <a:bodyPr wrap="square" rtlCol="0">
            <a:spAutoFit/>
          </a:bodyPr>
          <a:lstStyle/>
          <a:p>
            <a:pPr algn="ctr"/>
            <a:r>
              <a:rPr lang="es-ES" b="1" dirty="0" smtClean="0"/>
              <a:t>RG 3900/16</a:t>
            </a:r>
          </a:p>
          <a:p>
            <a:pPr algn="ctr"/>
            <a:r>
              <a:rPr lang="es-ES" dirty="0" smtClean="0"/>
              <a:t>Registro Beneficios Fiscales</a:t>
            </a:r>
            <a:endParaRPr lang="es-E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1340768"/>
            <a:ext cx="8003232" cy="4184444"/>
          </a:xfrm>
        </p:spPr>
        <p:txBody>
          <a:bodyPr>
            <a:normAutofit fontScale="85000" lnSpcReduction="20000"/>
          </a:bodyPr>
          <a:lstStyle/>
          <a:p>
            <a:pPr algn="ctr">
              <a:buNone/>
            </a:pPr>
            <a:r>
              <a:rPr lang="es-AR" b="1" dirty="0" smtClean="0">
                <a:solidFill>
                  <a:srgbClr val="163F9A"/>
                </a:solidFill>
              </a:rPr>
              <a:t>Decreto 380/2001. Art. 7</a:t>
            </a:r>
          </a:p>
          <a:p>
            <a:pPr algn="ctr">
              <a:buNone/>
            </a:pPr>
            <a:endParaRPr lang="es-AR" dirty="0" smtClean="0"/>
          </a:p>
          <a:p>
            <a:pPr algn="ctr">
              <a:buNone/>
            </a:pPr>
            <a:r>
              <a:rPr lang="es-AR" u="sng" dirty="0" smtClean="0"/>
              <a:t>Tasa Reducida (0,25 %)</a:t>
            </a:r>
          </a:p>
          <a:p>
            <a:pPr algn="ctr">
              <a:buNone/>
            </a:pPr>
            <a:endParaRPr lang="es-AR" dirty="0" smtClean="0"/>
          </a:p>
          <a:p>
            <a:pPr algn="ctr">
              <a:buNone/>
            </a:pPr>
            <a:r>
              <a:rPr lang="es-AR" dirty="0" smtClean="0"/>
              <a:t>“… cuando se trate de obras sociales creadas o reconocidas por normas legales nacionales o provinciales, o de </a:t>
            </a:r>
            <a:r>
              <a:rPr lang="es-AR" u="sng" dirty="0" smtClean="0"/>
              <a:t>sujetos que concurrentemente tengan exenta y/o no alcanzada en el Impuesto al Valor Agregado la totalidad de las operaciones que realizan y resulten exentos del Impuesto a las Ganancias</a:t>
            </a:r>
            <a:r>
              <a:rPr lang="es-AR" dirty="0" smtClean="0"/>
              <a:t>,…”</a:t>
            </a:r>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7</a:t>
            </a:fld>
            <a:endParaRPr lang="es-ES" dirty="0"/>
          </a:p>
        </p:txBody>
      </p:sp>
      <p:sp>
        <p:nvSpPr>
          <p:cNvPr id="5" name="4 CuadroTexto"/>
          <p:cNvSpPr txBox="1"/>
          <p:nvPr/>
        </p:nvSpPr>
        <p:spPr>
          <a:xfrm>
            <a:off x="142844" y="425215"/>
            <a:ext cx="8786842" cy="584775"/>
          </a:xfrm>
          <a:prstGeom prst="rect">
            <a:avLst/>
          </a:prstGeom>
          <a:noFill/>
        </p:spPr>
        <p:txBody>
          <a:bodyPr wrap="square" rtlCol="0">
            <a:spAutoFit/>
          </a:bodyPr>
          <a:lstStyle/>
          <a:p>
            <a:pPr algn="ctr"/>
            <a:r>
              <a:rPr lang="es-AR" sz="3200" b="1" dirty="0" smtClean="0">
                <a:solidFill>
                  <a:srgbClr val="FF0000"/>
                </a:solidFill>
              </a:rPr>
              <a:t>IMPUESTO A LOS DÉBITOS Y CRÉDITOS (II)</a:t>
            </a:r>
            <a:endParaRPr lang="es-ES" sz="3200" b="1" dirty="0">
              <a:solidFill>
                <a:srgbClr val="FF0000"/>
              </a:solidFill>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95536" y="1214422"/>
            <a:ext cx="8291264" cy="4400468"/>
          </a:xfrm>
        </p:spPr>
        <p:txBody>
          <a:bodyPr>
            <a:normAutofit fontScale="25000" lnSpcReduction="20000"/>
          </a:bodyPr>
          <a:lstStyle/>
          <a:p>
            <a:pPr algn="ctr">
              <a:buNone/>
            </a:pPr>
            <a:r>
              <a:rPr lang="es-AR" sz="8000" b="1" dirty="0" smtClean="0">
                <a:solidFill>
                  <a:srgbClr val="163F9A"/>
                </a:solidFill>
              </a:rPr>
              <a:t>RG AFIP 3900/16 y </a:t>
            </a:r>
            <a:r>
              <a:rPr lang="es-AR" sz="8000" b="1" dirty="0" err="1" smtClean="0">
                <a:solidFill>
                  <a:srgbClr val="163F9A"/>
                </a:solidFill>
              </a:rPr>
              <a:t>modif</a:t>
            </a:r>
            <a:r>
              <a:rPr lang="es-AR" sz="8000" b="1" dirty="0" smtClean="0">
                <a:solidFill>
                  <a:srgbClr val="163F9A"/>
                </a:solidFill>
              </a:rPr>
              <a:t>.</a:t>
            </a:r>
          </a:p>
          <a:p>
            <a:pPr algn="ctr">
              <a:buNone/>
            </a:pPr>
            <a:r>
              <a:rPr lang="es-AR" sz="8000" b="1" dirty="0" smtClean="0">
                <a:solidFill>
                  <a:srgbClr val="163F9A"/>
                </a:solidFill>
              </a:rPr>
              <a:t>Registro de Beneficios Fiscales en el ISC y D</a:t>
            </a:r>
          </a:p>
          <a:p>
            <a:pPr algn="ctr">
              <a:buNone/>
            </a:pPr>
            <a:endParaRPr lang="es-AR" sz="5000" dirty="0" smtClean="0"/>
          </a:p>
          <a:p>
            <a:pPr algn="ctr">
              <a:buNone/>
            </a:pPr>
            <a:r>
              <a:rPr lang="es-AR" sz="6400" dirty="0" smtClean="0"/>
              <a:t>(Identificar los datos de la cuentas bancarias)</a:t>
            </a:r>
          </a:p>
          <a:p>
            <a:pPr algn="ctr">
              <a:buNone/>
            </a:pPr>
            <a:endParaRPr lang="es-AR" sz="3400" dirty="0" smtClean="0"/>
          </a:p>
          <a:p>
            <a:pPr>
              <a:buNone/>
            </a:pPr>
            <a:r>
              <a:rPr lang="es-AR" sz="6400" u="sng" dirty="0" smtClean="0"/>
              <a:t>Requisitos</a:t>
            </a:r>
            <a:r>
              <a:rPr lang="es-AR" sz="6400" dirty="0" smtClean="0"/>
              <a:t>: (El Fisco validará el correcto encuadramiento del beneficio)</a:t>
            </a:r>
          </a:p>
          <a:p>
            <a:pPr>
              <a:buNone/>
            </a:pPr>
            <a:endParaRPr lang="es-AR" sz="4000" dirty="0" smtClean="0"/>
          </a:p>
          <a:p>
            <a:pPr marL="514350" indent="-514350">
              <a:buFont typeface="+mj-lt"/>
              <a:buAutoNum type="arabicPeriod"/>
            </a:pPr>
            <a:r>
              <a:rPr lang="es-AR" sz="6400" dirty="0" err="1" smtClean="0"/>
              <a:t>Cuit</a:t>
            </a:r>
            <a:r>
              <a:rPr lang="es-AR" sz="6400" dirty="0" smtClean="0"/>
              <a:t>. Estado activo sin limitaciones.</a:t>
            </a:r>
          </a:p>
          <a:p>
            <a:pPr marL="514350" indent="-514350">
              <a:buFont typeface="+mj-lt"/>
              <a:buAutoNum type="arabicPeriod"/>
            </a:pPr>
            <a:r>
              <a:rPr lang="es-AR" sz="6400" dirty="0" smtClean="0"/>
              <a:t>Domicilio fiscal electrónico.</a:t>
            </a:r>
          </a:p>
          <a:p>
            <a:pPr marL="514350" indent="-514350">
              <a:buFont typeface="+mj-lt"/>
              <a:buAutoNum type="arabicPeriod"/>
            </a:pPr>
            <a:r>
              <a:rPr lang="es-AR" sz="6400" dirty="0" smtClean="0"/>
              <a:t>Mantener actualizado domicilio fiscal.</a:t>
            </a:r>
          </a:p>
          <a:p>
            <a:pPr marL="514350" indent="-514350">
              <a:buFont typeface="+mj-lt"/>
              <a:buAutoNum type="arabicPeriod"/>
            </a:pPr>
            <a:r>
              <a:rPr lang="es-AR" sz="6400" dirty="0" smtClean="0"/>
              <a:t>Registración y aceptación datos biométricos.</a:t>
            </a:r>
          </a:p>
          <a:p>
            <a:pPr marL="514350" indent="-514350">
              <a:buFont typeface="+mj-lt"/>
              <a:buAutoNum type="arabicPeriod"/>
            </a:pPr>
            <a:r>
              <a:rPr lang="es-AR" sz="6400" dirty="0" smtClean="0"/>
              <a:t>Presentadas DDJJ.</a:t>
            </a:r>
          </a:p>
          <a:p>
            <a:pPr marL="514350" indent="-514350">
              <a:buFont typeface="+mj-lt"/>
              <a:buAutoNum type="arabicPeriod"/>
            </a:pPr>
            <a:r>
              <a:rPr lang="es-AR" sz="6400" dirty="0" smtClean="0"/>
              <a:t>No registrar incumplimientos.</a:t>
            </a:r>
          </a:p>
          <a:p>
            <a:pPr marL="514350" indent="-514350">
              <a:buNone/>
            </a:pPr>
            <a:endParaRPr lang="es-AR" sz="4000" dirty="0" smtClean="0"/>
          </a:p>
          <a:p>
            <a:pPr marL="514350" indent="-514350">
              <a:buNone/>
            </a:pPr>
            <a:r>
              <a:rPr lang="es-AR" sz="6400" dirty="0" smtClean="0"/>
              <a:t>El Fisco podrá aceptar/denegar/excluir/reincorporar</a:t>
            </a:r>
            <a:r>
              <a:rPr lang="es-AR" sz="4000" dirty="0" smtClean="0"/>
              <a:t>.</a:t>
            </a:r>
          </a:p>
          <a:p>
            <a:pPr marL="514350" indent="-514350" algn="ctr">
              <a:buNone/>
            </a:pPr>
            <a:endParaRPr lang="es-AR" sz="4000" dirty="0" smtClean="0"/>
          </a:p>
          <a:p>
            <a:pPr marL="514350" indent="-514350">
              <a:buNone/>
            </a:pPr>
            <a:r>
              <a:rPr lang="es-AR" sz="6400" u="sng" dirty="0" smtClean="0"/>
              <a:t>Agentes de liquidación y percepción</a:t>
            </a:r>
            <a:r>
              <a:rPr lang="es-AR" sz="6400" dirty="0" smtClean="0"/>
              <a:t>: deben consultar las novedades que se generen respecto de las cuentas bancarias inscriptas en el registro.</a:t>
            </a:r>
          </a:p>
          <a:p>
            <a:pPr marL="514350" indent="-514350">
              <a:buNone/>
            </a:pPr>
            <a:r>
              <a:rPr lang="es-AR" sz="6400" dirty="0" smtClean="0"/>
              <a:t> </a:t>
            </a:r>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8</a:t>
            </a:fld>
            <a:endParaRPr lang="es-ES" dirty="0"/>
          </a:p>
        </p:txBody>
      </p:sp>
      <p:sp>
        <p:nvSpPr>
          <p:cNvPr id="5" name="4 CuadroTexto"/>
          <p:cNvSpPr txBox="1"/>
          <p:nvPr/>
        </p:nvSpPr>
        <p:spPr>
          <a:xfrm>
            <a:off x="0" y="425215"/>
            <a:ext cx="8929686" cy="584775"/>
          </a:xfrm>
          <a:prstGeom prst="rect">
            <a:avLst/>
          </a:prstGeom>
          <a:noFill/>
        </p:spPr>
        <p:txBody>
          <a:bodyPr wrap="square" rtlCol="0">
            <a:spAutoFit/>
          </a:bodyPr>
          <a:lstStyle/>
          <a:p>
            <a:pPr algn="ctr"/>
            <a:r>
              <a:rPr lang="es-AR" sz="3200" b="1" dirty="0" smtClean="0">
                <a:solidFill>
                  <a:srgbClr val="FF0000"/>
                </a:solidFill>
              </a:rPr>
              <a:t>IMPUESTO A LOS DÉBITOS Y CRÉDITOS (III)</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95536" y="1357298"/>
            <a:ext cx="8291264" cy="4400468"/>
          </a:xfrm>
        </p:spPr>
        <p:txBody>
          <a:bodyPr>
            <a:normAutofit fontScale="25000" lnSpcReduction="20000"/>
          </a:bodyPr>
          <a:lstStyle/>
          <a:p>
            <a:pPr algn="ctr">
              <a:buNone/>
            </a:pPr>
            <a:r>
              <a:rPr lang="es-AR" sz="8000" b="1" dirty="0" smtClean="0">
                <a:solidFill>
                  <a:srgbClr val="163F9A"/>
                </a:solidFill>
              </a:rPr>
              <a:t>RG AFIP 3900/16</a:t>
            </a:r>
          </a:p>
          <a:p>
            <a:pPr algn="ctr">
              <a:buNone/>
            </a:pPr>
            <a:r>
              <a:rPr lang="es-AR" sz="8000" b="1" dirty="0" smtClean="0">
                <a:solidFill>
                  <a:srgbClr val="163F9A"/>
                </a:solidFill>
              </a:rPr>
              <a:t>Registro de Beneficios Fiscales en el ISC y D</a:t>
            </a:r>
          </a:p>
          <a:p>
            <a:pPr algn="ctr">
              <a:buNone/>
            </a:pPr>
            <a:endParaRPr lang="es-AR" sz="2900" dirty="0" smtClean="0"/>
          </a:p>
          <a:p>
            <a:pPr marL="514350" indent="-514350">
              <a:lnSpc>
                <a:spcPct val="170000"/>
              </a:lnSpc>
              <a:buFont typeface="Wingdings" pitchFamily="2" charset="2"/>
              <a:buChar char="v"/>
            </a:pPr>
            <a:r>
              <a:rPr lang="es-AR" sz="6400" dirty="0" smtClean="0"/>
              <a:t>La aprobación de la solicitud se notificará en el domicilio fiscal electrónico. Producirá efectos a partir del día siguiente.</a:t>
            </a:r>
          </a:p>
          <a:p>
            <a:pPr marL="514350" indent="-514350">
              <a:buFont typeface="Wingdings" pitchFamily="2" charset="2"/>
              <a:buChar char="v"/>
            </a:pPr>
            <a:endParaRPr lang="es-AR" sz="6400" dirty="0" smtClean="0"/>
          </a:p>
          <a:p>
            <a:pPr marL="514350" indent="-514350">
              <a:buFont typeface="Wingdings" pitchFamily="2" charset="2"/>
              <a:buChar char="v"/>
            </a:pPr>
            <a:r>
              <a:rPr lang="es-AR" sz="6400" dirty="0" smtClean="0"/>
              <a:t>Permanencia en el registro. Correcta conducta fiscal: </a:t>
            </a:r>
          </a:p>
          <a:p>
            <a:pPr marL="514350" indent="-514350">
              <a:buFont typeface="Wingdings" pitchFamily="2" charset="2"/>
              <a:buChar char="v"/>
            </a:pPr>
            <a:endParaRPr lang="es-AR" sz="4300" dirty="0" smtClean="0"/>
          </a:p>
          <a:p>
            <a:pPr marL="1035558" lvl="2" indent="-514350">
              <a:lnSpc>
                <a:spcPct val="170000"/>
              </a:lnSpc>
              <a:buFont typeface="Wingdings" pitchFamily="2" charset="2"/>
              <a:buChar char="v"/>
            </a:pPr>
            <a:r>
              <a:rPr lang="es-AR" sz="6400" dirty="0" smtClean="0"/>
              <a:t>Formales (falta presentación </a:t>
            </a:r>
            <a:r>
              <a:rPr lang="es-AR" sz="6400" dirty="0" err="1" smtClean="0"/>
              <a:t>ddjj</a:t>
            </a:r>
            <a:r>
              <a:rPr lang="es-AR" sz="6400" dirty="0" smtClean="0"/>
              <a:t>, inconvenientes en el domicilio, base contribuyentes no confiables)</a:t>
            </a:r>
          </a:p>
          <a:p>
            <a:pPr marL="1035558" lvl="2" indent="-514350">
              <a:lnSpc>
                <a:spcPct val="170000"/>
              </a:lnSpc>
              <a:buFont typeface="Wingdings" pitchFamily="2" charset="2"/>
              <a:buChar char="v"/>
            </a:pPr>
            <a:r>
              <a:rPr lang="es-AR" sz="6400" dirty="0" smtClean="0"/>
              <a:t>Verificaciones o fiscalizaciones (inconsistencias o ajustes).</a:t>
            </a:r>
          </a:p>
          <a:p>
            <a:pPr marL="1035558" lvl="2" indent="-514350">
              <a:lnSpc>
                <a:spcPct val="170000"/>
              </a:lnSpc>
              <a:buFont typeface="Wingdings" pitchFamily="2" charset="2"/>
              <a:buChar char="v"/>
            </a:pPr>
            <a:r>
              <a:rPr lang="es-AR" sz="6400" dirty="0" smtClean="0"/>
              <a:t>Procesos Judiciales (denunciados penalmente, quiebra, </a:t>
            </a:r>
            <a:r>
              <a:rPr lang="es-AR" sz="6400" dirty="0" err="1" smtClean="0"/>
              <a:t>etc</a:t>
            </a:r>
            <a:r>
              <a:rPr lang="es-AR" sz="6400" dirty="0" smtClean="0"/>
              <a:t>).</a:t>
            </a:r>
          </a:p>
          <a:p>
            <a:pPr marL="514350" indent="-514350">
              <a:buNone/>
            </a:pPr>
            <a:endParaRPr lang="es-AR" sz="4300" dirty="0" smtClean="0"/>
          </a:p>
          <a:p>
            <a:pPr marL="514350" indent="-514350">
              <a:buFont typeface="Wingdings" pitchFamily="2" charset="2"/>
              <a:buChar char="v"/>
            </a:pPr>
            <a:r>
              <a:rPr lang="es-AR" sz="6400" dirty="0" smtClean="0"/>
              <a:t>La disconformidad recurrir Art. 74 Decreto 1397/79. </a:t>
            </a:r>
          </a:p>
          <a:p>
            <a:pPr marL="514350" indent="-514350">
              <a:buNone/>
            </a:pPr>
            <a:endParaRPr lang="es-AR" sz="6400" dirty="0" smtClean="0"/>
          </a:p>
          <a:p>
            <a:pPr marL="514350" indent="-514350">
              <a:buNone/>
            </a:pPr>
            <a:r>
              <a:rPr lang="es-AR" sz="6400" dirty="0" smtClean="0"/>
              <a:t> </a:t>
            </a:r>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9</a:t>
            </a:fld>
            <a:endParaRPr lang="es-ES" dirty="0"/>
          </a:p>
        </p:txBody>
      </p:sp>
      <p:sp>
        <p:nvSpPr>
          <p:cNvPr id="5" name="4 CuadroTexto"/>
          <p:cNvSpPr txBox="1"/>
          <p:nvPr/>
        </p:nvSpPr>
        <p:spPr>
          <a:xfrm>
            <a:off x="142844" y="425215"/>
            <a:ext cx="9001156" cy="584775"/>
          </a:xfrm>
          <a:prstGeom prst="rect">
            <a:avLst/>
          </a:prstGeom>
          <a:noFill/>
        </p:spPr>
        <p:txBody>
          <a:bodyPr wrap="square" rtlCol="0">
            <a:spAutoFit/>
          </a:bodyPr>
          <a:lstStyle/>
          <a:p>
            <a:pPr algn="ctr"/>
            <a:r>
              <a:rPr lang="es-AR" sz="3200" b="1" dirty="0" smtClean="0">
                <a:solidFill>
                  <a:srgbClr val="FF0000"/>
                </a:solidFill>
              </a:rPr>
              <a:t>IMPUESTO A LOS DÉBITOS Y CRÉDITOS (IV)</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51520" y="714356"/>
            <a:ext cx="8496944" cy="4184444"/>
          </a:xfrm>
        </p:spPr>
        <p:txBody>
          <a:bodyPr>
            <a:noAutofit/>
          </a:bodyPr>
          <a:lstStyle/>
          <a:p>
            <a:pPr algn="ctr">
              <a:buNone/>
            </a:pPr>
            <a:r>
              <a:rPr lang="es-AR" sz="2200" b="1" u="sng" dirty="0" smtClean="0">
                <a:solidFill>
                  <a:srgbClr val="163F9A"/>
                </a:solidFill>
              </a:rPr>
              <a:t>Ley 25.413. Hecho Imponible</a:t>
            </a:r>
          </a:p>
          <a:p>
            <a:pPr>
              <a:buNone/>
            </a:pPr>
            <a:r>
              <a:rPr lang="es-AR" sz="1500" b="1" u="sng" dirty="0" smtClean="0"/>
              <a:t>Art. 1</a:t>
            </a:r>
          </a:p>
          <a:p>
            <a:pPr algn="ctr">
              <a:buNone/>
            </a:pPr>
            <a:endParaRPr lang="es-AR" sz="1500" dirty="0" smtClean="0"/>
          </a:p>
          <a:p>
            <a:pPr algn="just">
              <a:buNone/>
            </a:pPr>
            <a:r>
              <a:rPr lang="es-AR" sz="1500" dirty="0" smtClean="0"/>
              <a:t>	a) Los créditos y débitos efectuados en cuentas —cualquiera sea su naturaleza— abiertas en las entidades regidas por la Ley de Entidades Financieras…</a:t>
            </a:r>
          </a:p>
          <a:p>
            <a:pPr algn="just">
              <a:buNone/>
            </a:pPr>
            <a:endParaRPr lang="es-AR" sz="1500" dirty="0" smtClean="0"/>
          </a:p>
          <a:p>
            <a:pPr algn="just">
              <a:buNone/>
            </a:pPr>
            <a:r>
              <a:rPr lang="es-AR" sz="1500" dirty="0" smtClean="0">
                <a:solidFill>
                  <a:srgbClr val="FF0000"/>
                </a:solidFill>
              </a:rPr>
              <a:t>   c) Todos los </a:t>
            </a:r>
            <a:r>
              <a:rPr lang="es-AR" sz="1500" u="sng" dirty="0" smtClean="0">
                <a:solidFill>
                  <a:srgbClr val="FF0000"/>
                </a:solidFill>
              </a:rPr>
              <a:t>movimientos de fondos propios o de terceros cualesquiera sean los mecanismos para llevarlos a cabo, las denominaciones que se otorguen e instrumentación jurídica</a:t>
            </a:r>
            <a:r>
              <a:rPr lang="es-AR" sz="1500" dirty="0" smtClean="0">
                <a:solidFill>
                  <a:srgbClr val="FF0000"/>
                </a:solidFill>
              </a:rPr>
              <a:t>, quedando comprendidos los destinados a la acreditación a favor de establecimientos adheridos a sistemas de tarjetas de crédito y/o débito….</a:t>
            </a:r>
          </a:p>
          <a:p>
            <a:pPr algn="just">
              <a:buNone/>
            </a:pPr>
            <a:endParaRPr lang="es-AR" sz="1500" dirty="0" smtClean="0"/>
          </a:p>
          <a:p>
            <a:pPr algn="just">
              <a:buNone/>
            </a:pPr>
            <a:r>
              <a:rPr lang="es-AR" sz="1500" dirty="0" smtClean="0"/>
              <a:t>    … En los casos previstos en los incisos b) y </a:t>
            </a:r>
            <a:r>
              <a:rPr lang="es-AR" sz="1500" u="sng" dirty="0" smtClean="0">
                <a:solidFill>
                  <a:srgbClr val="FF0000"/>
                </a:solidFill>
              </a:rPr>
              <a:t>c) precedentes, se entenderá que dichas operatorias y/o movimientos, reemplazan los créditos y débitos aludidos en el inciso a) del presente artículo, por lo que a tal fin corresponderá aplicar el doble de la tasa </a:t>
            </a:r>
            <a:r>
              <a:rPr lang="es-AR" sz="1500" dirty="0" smtClean="0"/>
              <a:t>vigente sobre el monto de los mismos…</a:t>
            </a:r>
          </a:p>
          <a:p>
            <a:pPr algn="just">
              <a:buNone/>
            </a:pPr>
            <a:endParaRPr lang="es-AR" sz="1500" dirty="0" smtClean="0"/>
          </a:p>
          <a:p>
            <a:pPr algn="just">
              <a:buNone/>
            </a:pPr>
            <a:r>
              <a:rPr lang="es-AR" sz="1500" dirty="0" smtClean="0"/>
              <a:t>	… Cuando se trate de los hechos previstos en </a:t>
            </a:r>
            <a:r>
              <a:rPr lang="es-AR" sz="1500" u="sng" dirty="0" smtClean="0"/>
              <a:t>el inciso c), el impuesto será ingresado por quien realice el movimiento o entrega de los fondos a nombre propio, o como agente perceptor y liquidador cuando lo efectúa a nombre y/o por cuenta de otra persona</a:t>
            </a:r>
            <a:r>
              <a:rPr lang="es-AR" sz="1500" dirty="0" smtClean="0"/>
              <a:t>….</a:t>
            </a:r>
          </a:p>
          <a:p>
            <a:pPr algn="just">
              <a:buNone/>
            </a:pPr>
            <a:endParaRPr lang="es-AR" sz="1500" dirty="0" smtClean="0"/>
          </a:p>
          <a:p>
            <a:pPr algn="just">
              <a:buNone/>
            </a:pPr>
            <a:r>
              <a:rPr lang="es-ES" sz="1600" dirty="0" smtClean="0"/>
              <a:t>	… </a:t>
            </a:r>
            <a:r>
              <a:rPr lang="es-ES" sz="1600" u="sng" dirty="0" err="1" smtClean="0">
                <a:solidFill>
                  <a:srgbClr val="FF0000"/>
                </a:solidFill>
              </a:rPr>
              <a:t>Facúltase</a:t>
            </a:r>
            <a:r>
              <a:rPr lang="es-ES" sz="1600" u="sng" dirty="0" smtClean="0">
                <a:solidFill>
                  <a:srgbClr val="FF0000"/>
                </a:solidFill>
              </a:rPr>
              <a:t> al Poder Ejecutivo nacional</a:t>
            </a:r>
            <a:r>
              <a:rPr lang="es-ES" sz="1600" dirty="0" smtClean="0"/>
              <a:t>, a definir el alcance definitivo de los hechos gravados en los incisos precedentes…</a:t>
            </a:r>
            <a:endParaRPr lang="es-AR" sz="1500" dirty="0" smtClean="0"/>
          </a:p>
          <a:p>
            <a:pPr algn="just">
              <a:buNone/>
            </a:pPr>
            <a:endParaRPr lang="es-AR" sz="1500" b="1" u="sng"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10</a:t>
            </a:fld>
            <a:endParaRPr lang="es-ES" dirty="0"/>
          </a:p>
        </p:txBody>
      </p:sp>
      <p:sp>
        <p:nvSpPr>
          <p:cNvPr id="5" name="4 CuadroTexto"/>
          <p:cNvSpPr txBox="1"/>
          <p:nvPr/>
        </p:nvSpPr>
        <p:spPr>
          <a:xfrm>
            <a:off x="142844" y="188640"/>
            <a:ext cx="8786842" cy="553998"/>
          </a:xfrm>
          <a:prstGeom prst="rect">
            <a:avLst/>
          </a:prstGeom>
          <a:noFill/>
        </p:spPr>
        <p:txBody>
          <a:bodyPr wrap="square" rtlCol="0">
            <a:spAutoFit/>
          </a:bodyPr>
          <a:lstStyle/>
          <a:p>
            <a:pPr algn="ctr"/>
            <a:r>
              <a:rPr lang="es-AR" sz="3000" b="1" dirty="0" smtClean="0">
                <a:solidFill>
                  <a:srgbClr val="FF0000"/>
                </a:solidFill>
              </a:rPr>
              <a:t>IMPUESTO A LOS DÉBITOS Y CRÉDITOS (V)</a:t>
            </a:r>
            <a:endParaRPr lang="es-ES" sz="30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51520" y="1116764"/>
            <a:ext cx="8496944" cy="4184444"/>
          </a:xfrm>
        </p:spPr>
        <p:txBody>
          <a:bodyPr>
            <a:noAutofit/>
          </a:bodyPr>
          <a:lstStyle/>
          <a:p>
            <a:pPr algn="ctr">
              <a:buNone/>
            </a:pPr>
            <a:r>
              <a:rPr lang="es-AR" sz="2200" b="1" u="sng" dirty="0" smtClean="0">
                <a:solidFill>
                  <a:srgbClr val="163F9A"/>
                </a:solidFill>
              </a:rPr>
              <a:t>Ley 25.413. Hecho Imponible</a:t>
            </a:r>
            <a:endParaRPr lang="es-AR" sz="2200" b="1" dirty="0" smtClean="0">
              <a:solidFill>
                <a:srgbClr val="163F9A"/>
              </a:solidFill>
            </a:endParaRPr>
          </a:p>
          <a:p>
            <a:pPr algn="just">
              <a:buNone/>
            </a:pPr>
            <a:r>
              <a:rPr lang="es-AR" sz="1500" b="1" dirty="0" smtClean="0"/>
              <a:t>      </a:t>
            </a:r>
            <a:r>
              <a:rPr lang="es-AR" sz="1500" b="1" u="sng" dirty="0" smtClean="0"/>
              <a:t> </a:t>
            </a:r>
            <a:endParaRPr lang="es-AR" sz="1500" dirty="0" smtClean="0"/>
          </a:p>
          <a:p>
            <a:pPr algn="ctr">
              <a:buNone/>
            </a:pPr>
            <a:r>
              <a:rPr lang="es-AR" sz="2000" b="1" u="sng" dirty="0" smtClean="0"/>
              <a:t>  Decreto 380/2001</a:t>
            </a:r>
          </a:p>
          <a:p>
            <a:pPr algn="ctr">
              <a:buNone/>
            </a:pPr>
            <a:endParaRPr lang="es-AR" sz="1800" dirty="0" smtClean="0"/>
          </a:p>
          <a:p>
            <a:pPr algn="just">
              <a:buNone/>
            </a:pPr>
            <a:r>
              <a:rPr lang="es-AR" sz="1800" dirty="0" smtClean="0"/>
              <a:t>    El Decreto Reglamentario en el art. 2 del Anexo, inc. b) mantiene sin delimitarlo el mismo criterio del art. 1, inc. c) de la Ley en relación a “todos los movimientos de fondos, propios o de terceros…”.</a:t>
            </a:r>
          </a:p>
          <a:p>
            <a:pPr algn="just">
              <a:buNone/>
            </a:pPr>
            <a:endParaRPr lang="es-AR" sz="1500" dirty="0" smtClean="0"/>
          </a:p>
          <a:p>
            <a:pPr algn="ctr">
              <a:buNone/>
            </a:pPr>
            <a:r>
              <a:rPr lang="es-AR" sz="2000" b="1" u="sng" dirty="0" smtClean="0"/>
              <a:t>RG 2111/2006 y </a:t>
            </a:r>
            <a:r>
              <a:rPr lang="es-AR" sz="2000" b="1" u="sng" dirty="0" err="1" smtClean="0"/>
              <a:t>modif</a:t>
            </a:r>
            <a:r>
              <a:rPr lang="es-AR" sz="2000" b="1" u="sng" dirty="0" smtClean="0"/>
              <a:t>.</a:t>
            </a:r>
          </a:p>
          <a:p>
            <a:pPr algn="just">
              <a:buNone/>
            </a:pPr>
            <a:endParaRPr lang="es-AR" sz="1500" u="sng" dirty="0" smtClean="0"/>
          </a:p>
          <a:p>
            <a:pPr algn="just">
              <a:buNone/>
            </a:pPr>
            <a:r>
              <a:rPr lang="es-AR" sz="1800" dirty="0" smtClean="0"/>
              <a:t>    </a:t>
            </a:r>
            <a:r>
              <a:rPr lang="es-AR" sz="1800" b="1" u="sng" dirty="0" smtClean="0"/>
              <a:t>Art. 40</a:t>
            </a:r>
            <a:r>
              <a:rPr lang="es-AR" sz="1800" dirty="0" smtClean="0"/>
              <a:t>: Los movimientos o entrega de fondos efectuados por cuenta propia y/o ajena, </a:t>
            </a:r>
            <a:r>
              <a:rPr lang="es-AR" sz="1800" u="sng" dirty="0" smtClean="0">
                <a:solidFill>
                  <a:srgbClr val="FF0000"/>
                </a:solidFill>
              </a:rPr>
              <a:t>en el ejercicio de actividades económicas</a:t>
            </a:r>
            <a:r>
              <a:rPr lang="es-AR" sz="1800" dirty="0" smtClean="0"/>
              <a:t>, comprendidos en el inciso b) del artículo 2° del Anexo del Decreto N° 380/01 y sus modificatorios, son aquéllos que se efectúan a través de </a:t>
            </a:r>
            <a:r>
              <a:rPr lang="es-AR" sz="1800" u="sng" dirty="0" smtClean="0">
                <a:solidFill>
                  <a:srgbClr val="FF0000"/>
                </a:solidFill>
              </a:rPr>
              <a:t>sistemas de pago organizados reemplazando el uso de las cuentas </a:t>
            </a:r>
            <a:r>
              <a:rPr lang="es-AR" sz="1800" dirty="0" smtClean="0"/>
              <a:t>previstas en el artículo 1°, inciso a) de la Ley N° 25.413 y sus modificaciones.</a:t>
            </a:r>
          </a:p>
          <a:p>
            <a:pPr algn="just">
              <a:buNone/>
            </a:pPr>
            <a:endParaRPr lang="es-AR" sz="1500" dirty="0" smtClean="0"/>
          </a:p>
          <a:p>
            <a:pPr algn="just">
              <a:buNone/>
            </a:pPr>
            <a:endParaRPr lang="es-AR" sz="15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11</a:t>
            </a:fld>
            <a:endParaRPr lang="es-ES" dirty="0"/>
          </a:p>
        </p:txBody>
      </p:sp>
      <p:sp>
        <p:nvSpPr>
          <p:cNvPr id="5" name="4 CuadroTexto"/>
          <p:cNvSpPr txBox="1"/>
          <p:nvPr/>
        </p:nvSpPr>
        <p:spPr>
          <a:xfrm>
            <a:off x="142844" y="285728"/>
            <a:ext cx="8786842" cy="553998"/>
          </a:xfrm>
          <a:prstGeom prst="rect">
            <a:avLst/>
          </a:prstGeom>
          <a:noFill/>
        </p:spPr>
        <p:txBody>
          <a:bodyPr wrap="square" rtlCol="0">
            <a:spAutoFit/>
          </a:bodyPr>
          <a:lstStyle/>
          <a:p>
            <a:pPr algn="ctr"/>
            <a:r>
              <a:rPr lang="es-AR" sz="3000" b="1" dirty="0" smtClean="0">
                <a:solidFill>
                  <a:srgbClr val="FF0000"/>
                </a:solidFill>
              </a:rPr>
              <a:t>IMPUESTO A LOS DÉBITOS Y CRÉDITOS (VI)</a:t>
            </a:r>
            <a:endParaRPr lang="es-ES" sz="30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1470" y="908720"/>
            <a:ext cx="9144000" cy="5184576"/>
          </a:xfrm>
        </p:spPr>
        <p:txBody>
          <a:bodyPr>
            <a:normAutofit fontScale="25000" lnSpcReduction="20000"/>
          </a:bodyPr>
          <a:lstStyle/>
          <a:p>
            <a:pPr algn="ctr">
              <a:buNone/>
            </a:pPr>
            <a:r>
              <a:rPr lang="es-AR" sz="6400" b="1" dirty="0" smtClean="0">
                <a:solidFill>
                  <a:srgbClr val="163F9A"/>
                </a:solidFill>
              </a:rPr>
              <a:t>RG AFIP 2111/06 y </a:t>
            </a:r>
            <a:r>
              <a:rPr lang="es-AR" sz="6400" b="1" dirty="0" err="1" smtClean="0">
                <a:solidFill>
                  <a:srgbClr val="163F9A"/>
                </a:solidFill>
              </a:rPr>
              <a:t>modif</a:t>
            </a:r>
            <a:r>
              <a:rPr lang="es-AR" sz="6400" b="1" dirty="0" smtClean="0">
                <a:solidFill>
                  <a:srgbClr val="163F9A"/>
                </a:solidFill>
              </a:rPr>
              <a:t>.</a:t>
            </a:r>
          </a:p>
          <a:p>
            <a:pPr algn="ctr">
              <a:buNone/>
            </a:pPr>
            <a:r>
              <a:rPr lang="es-AR" sz="6400" b="1" u="sng" dirty="0" smtClean="0">
                <a:solidFill>
                  <a:srgbClr val="163F9A"/>
                </a:solidFill>
              </a:rPr>
              <a:t>Régimen de Percepción e información </a:t>
            </a:r>
            <a:r>
              <a:rPr lang="es-AR" sz="6400" b="1" u="sng" dirty="0" err="1" smtClean="0">
                <a:solidFill>
                  <a:srgbClr val="163F9A"/>
                </a:solidFill>
              </a:rPr>
              <a:t>ISCyD</a:t>
            </a:r>
            <a:endParaRPr lang="es-AR" sz="6400" b="1" u="sng" dirty="0" smtClean="0">
              <a:solidFill>
                <a:srgbClr val="163F9A"/>
              </a:solidFill>
            </a:endParaRPr>
          </a:p>
          <a:p>
            <a:pPr algn="just">
              <a:buNone/>
            </a:pPr>
            <a:endParaRPr lang="es-AR" sz="2900" dirty="0" smtClean="0"/>
          </a:p>
          <a:p>
            <a:pPr marL="514350" indent="-514350" algn="just">
              <a:lnSpc>
                <a:spcPct val="170000"/>
              </a:lnSpc>
              <a:buFont typeface="Wingdings" pitchFamily="2" charset="2"/>
              <a:buChar char="Ø"/>
            </a:pPr>
            <a:r>
              <a:rPr lang="es-AR" sz="5600" u="sng" dirty="0" smtClean="0"/>
              <a:t>Art. 2</a:t>
            </a:r>
            <a:r>
              <a:rPr lang="es-AR" sz="5600" dirty="0" smtClean="0"/>
              <a:t>. </a:t>
            </a:r>
          </a:p>
          <a:p>
            <a:pPr marL="514350" indent="-514350" algn="just">
              <a:lnSpc>
                <a:spcPct val="170000"/>
              </a:lnSpc>
              <a:buNone/>
            </a:pPr>
            <a:r>
              <a:rPr lang="es-AR" sz="5600" dirty="0" smtClean="0"/>
              <a:t>	</a:t>
            </a:r>
            <a:r>
              <a:rPr lang="es-AR" sz="5600" u="sng" dirty="0" smtClean="0"/>
              <a:t>a y b</a:t>
            </a:r>
            <a:r>
              <a:rPr lang="es-AR" sz="5600" dirty="0" smtClean="0"/>
              <a:t>) Se encuentran alcanzados en carácter de agentes de liquidación y percepción del gravamen y/o por su propio impuesto devengado:</a:t>
            </a:r>
          </a:p>
          <a:p>
            <a:pPr algn="just">
              <a:lnSpc>
                <a:spcPct val="170000"/>
              </a:lnSpc>
              <a:buNone/>
            </a:pPr>
            <a:r>
              <a:rPr lang="es-AR" sz="5600" dirty="0" smtClean="0"/>
              <a:t>		1. Las entidades regidas por la Ley de Entidades Financieras N° 21.526 y sus modificaciones, excepto cuando el titular de la cuenta corriente bancaria sea otra entidad del mismo tipo.</a:t>
            </a:r>
          </a:p>
          <a:p>
            <a:pPr algn="just">
              <a:lnSpc>
                <a:spcPct val="170000"/>
              </a:lnSpc>
              <a:buNone/>
            </a:pPr>
            <a:r>
              <a:rPr lang="es-AR" sz="5600" dirty="0" smtClean="0"/>
              <a:t>		2</a:t>
            </a:r>
            <a:r>
              <a:rPr lang="es-AR" sz="5600" u="sng" dirty="0" smtClean="0"/>
              <a:t>. </a:t>
            </a:r>
            <a:r>
              <a:rPr lang="es-AR" sz="5600" u="sng" dirty="0" smtClean="0">
                <a:solidFill>
                  <a:srgbClr val="FF0000"/>
                </a:solidFill>
              </a:rPr>
              <a:t>Los sujetos que realicen movimientos o entregas de fondos a nombre y/o por cuenta de otra persona –previstos en el artículo 1°, inciso c), de la ley del gravamen-</a:t>
            </a:r>
            <a:r>
              <a:rPr lang="es-AR" sz="5600" dirty="0" smtClean="0">
                <a:solidFill>
                  <a:srgbClr val="FF0000"/>
                </a:solidFill>
              </a:rPr>
              <a:t>.</a:t>
            </a:r>
          </a:p>
          <a:p>
            <a:pPr marL="514350" indent="-514350" algn="just">
              <a:lnSpc>
                <a:spcPct val="170000"/>
              </a:lnSpc>
              <a:buFont typeface="Wingdings" pitchFamily="2" charset="2"/>
              <a:buChar char="Ø"/>
            </a:pPr>
            <a:endParaRPr lang="es-AR" sz="5600" u="sng" dirty="0" smtClean="0"/>
          </a:p>
          <a:p>
            <a:pPr marL="514350" indent="-514350" algn="just">
              <a:lnSpc>
                <a:spcPct val="170000"/>
              </a:lnSpc>
              <a:buFont typeface="Wingdings" pitchFamily="2" charset="2"/>
              <a:buChar char="Ø"/>
            </a:pPr>
            <a:r>
              <a:rPr lang="es-AR" sz="5600" u="sng" dirty="0" smtClean="0"/>
              <a:t>Pago</a:t>
            </a:r>
            <a:r>
              <a:rPr lang="es-AR" sz="5600" dirty="0" smtClean="0"/>
              <a:t>: En forma semanal. </a:t>
            </a:r>
          </a:p>
          <a:p>
            <a:pPr marL="514350" indent="-514350" algn="just">
              <a:lnSpc>
                <a:spcPct val="170000"/>
              </a:lnSpc>
              <a:buFont typeface="Wingdings" pitchFamily="2" charset="2"/>
              <a:buChar char="Ø"/>
            </a:pPr>
            <a:endParaRPr lang="es-AR" sz="5600" dirty="0" smtClean="0"/>
          </a:p>
          <a:p>
            <a:pPr marL="514350" indent="-514350" algn="just">
              <a:lnSpc>
                <a:spcPct val="170000"/>
              </a:lnSpc>
              <a:buFont typeface="Wingdings" pitchFamily="2" charset="2"/>
              <a:buChar char="Ø"/>
            </a:pPr>
            <a:r>
              <a:rPr lang="es-AR" sz="5600" u="sng" dirty="0" smtClean="0"/>
              <a:t>Información</a:t>
            </a:r>
            <a:r>
              <a:rPr lang="es-AR" sz="5600" dirty="0" smtClean="0"/>
              <a:t>: ART. 8°.- Los responsables a los que se refiere el inciso a) del artículo 2° de la presente informarán, respecto de cada mes calendario, las percepciones practicadas y/o el impuesto propio devengado. La información se suministrará, en forma global, por sujeto dentro de cada régimen. F. 776. Vto. 20 del mes siguiente.</a:t>
            </a:r>
          </a:p>
          <a:p>
            <a:pPr marL="514350" indent="-514350">
              <a:lnSpc>
                <a:spcPct val="170000"/>
              </a:lnSpc>
              <a:buFont typeface="Wingdings" pitchFamily="2" charset="2"/>
              <a:buChar char="v"/>
            </a:pPr>
            <a:endParaRPr lang="es-AR" sz="44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12</a:t>
            </a:fld>
            <a:endParaRPr lang="es-ES" dirty="0"/>
          </a:p>
        </p:txBody>
      </p:sp>
      <p:sp>
        <p:nvSpPr>
          <p:cNvPr id="5" name="4 CuadroTexto"/>
          <p:cNvSpPr txBox="1"/>
          <p:nvPr/>
        </p:nvSpPr>
        <p:spPr>
          <a:xfrm>
            <a:off x="179512" y="44624"/>
            <a:ext cx="8786842" cy="553998"/>
          </a:xfrm>
          <a:prstGeom prst="rect">
            <a:avLst/>
          </a:prstGeom>
          <a:noFill/>
        </p:spPr>
        <p:txBody>
          <a:bodyPr wrap="square" rtlCol="0">
            <a:spAutoFit/>
          </a:bodyPr>
          <a:lstStyle/>
          <a:p>
            <a:pPr algn="ctr"/>
            <a:r>
              <a:rPr lang="es-AR" sz="3000" b="1" dirty="0" smtClean="0">
                <a:solidFill>
                  <a:srgbClr val="FF0000"/>
                </a:solidFill>
              </a:rPr>
              <a:t>IMPUESTO A LOS DÉBITOS Y CRÉDITOS (VII)</a:t>
            </a:r>
            <a:endParaRPr lang="es-ES" sz="30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1470" y="188640"/>
            <a:ext cx="9144000" cy="5662982"/>
          </a:xfrm>
        </p:spPr>
        <p:txBody>
          <a:bodyPr>
            <a:normAutofit fontScale="25000" lnSpcReduction="20000"/>
          </a:bodyPr>
          <a:lstStyle/>
          <a:p>
            <a:pPr algn="just">
              <a:buNone/>
            </a:pPr>
            <a:endParaRPr lang="es-AR" sz="2900" dirty="0" smtClean="0"/>
          </a:p>
          <a:p>
            <a:pPr marL="514350" indent="-514350" algn="ctr">
              <a:lnSpc>
                <a:spcPct val="170000"/>
              </a:lnSpc>
              <a:buNone/>
            </a:pPr>
            <a:r>
              <a:rPr lang="es-AR" sz="7200" b="1" dirty="0" smtClean="0">
                <a:solidFill>
                  <a:srgbClr val="163F9A"/>
                </a:solidFill>
              </a:rPr>
              <a:t>JURISPRUDENCIA</a:t>
            </a:r>
          </a:p>
          <a:p>
            <a:pPr marL="514350" indent="-514350" algn="just">
              <a:lnSpc>
                <a:spcPct val="170000"/>
              </a:lnSpc>
              <a:buFont typeface="Wingdings" pitchFamily="2" charset="2"/>
              <a:buChar char="Ø"/>
            </a:pPr>
            <a:r>
              <a:rPr lang="es-ES" sz="6400" b="1" dirty="0" err="1" smtClean="0"/>
              <a:t>Piantoni</a:t>
            </a:r>
            <a:r>
              <a:rPr lang="es-ES" sz="6400" b="1" dirty="0" smtClean="0"/>
              <a:t> </a:t>
            </a:r>
            <a:r>
              <a:rPr lang="es-ES" sz="6400" b="1" dirty="0" err="1" smtClean="0"/>
              <a:t>Hnos</a:t>
            </a:r>
            <a:r>
              <a:rPr lang="es-ES" sz="6400" b="1" dirty="0" smtClean="0"/>
              <a:t> SACIFI y A. CSJN. 12/12/2017.</a:t>
            </a:r>
            <a:r>
              <a:rPr lang="es-ES" sz="6400" dirty="0" smtClean="0"/>
              <a:t> Consideró el impuesto </a:t>
            </a:r>
            <a:r>
              <a:rPr lang="es-AR" sz="6400" dirty="0" smtClean="0"/>
              <a:t>constitucionalmente válido, por lo que corresponde la alícuota incrementada prevista por la ley derivado de las sumas en efectivo que en forma habitual se depositaban en la cuenta bancaria de un proveedor. El Dr. </a:t>
            </a:r>
            <a:r>
              <a:rPr lang="es-AR" sz="6400" dirty="0" err="1" smtClean="0"/>
              <a:t>Lorenzetti</a:t>
            </a:r>
            <a:r>
              <a:rPr lang="es-AR" sz="6400" dirty="0" smtClean="0"/>
              <a:t> votó en disidencia. (</a:t>
            </a:r>
            <a:r>
              <a:rPr lang="es-AR" sz="6400" u="sng" dirty="0" smtClean="0"/>
              <a:t>HI definido por RG</a:t>
            </a:r>
            <a:r>
              <a:rPr lang="es-AR" sz="6400" dirty="0" smtClean="0"/>
              <a:t>).</a:t>
            </a:r>
          </a:p>
          <a:p>
            <a:pPr marL="514350" indent="-514350" algn="just">
              <a:lnSpc>
                <a:spcPct val="170000"/>
              </a:lnSpc>
              <a:buFont typeface="Wingdings" pitchFamily="2" charset="2"/>
              <a:buChar char="Ø"/>
            </a:pPr>
            <a:r>
              <a:rPr lang="es-ES" sz="6400" b="1" dirty="0" smtClean="0"/>
              <a:t>Máxima Energía SRL. CSJN. 12/12/2017. </a:t>
            </a:r>
            <a:r>
              <a:rPr lang="es-ES" sz="6400" dirty="0" smtClean="0"/>
              <a:t>Resolvió en idéntico sentido que la causa </a:t>
            </a:r>
            <a:r>
              <a:rPr lang="es-ES" sz="6400" dirty="0" err="1" smtClean="0"/>
              <a:t>Piantoni</a:t>
            </a:r>
            <a:r>
              <a:rPr lang="es-ES" sz="6400" dirty="0" smtClean="0"/>
              <a:t>. (</a:t>
            </a:r>
            <a:r>
              <a:rPr lang="es-ES" sz="6400" dirty="0" err="1" smtClean="0"/>
              <a:t>Sist</a:t>
            </a:r>
            <a:r>
              <a:rPr lang="es-ES" sz="6400" dirty="0" smtClean="0"/>
              <a:t>. </a:t>
            </a:r>
            <a:r>
              <a:rPr lang="es-ES" sz="6400" dirty="0" err="1" smtClean="0"/>
              <a:t>Org</a:t>
            </a:r>
            <a:r>
              <a:rPr lang="es-ES" sz="6400" dirty="0" smtClean="0"/>
              <a:t>. Pagos).</a:t>
            </a:r>
          </a:p>
          <a:p>
            <a:pPr marL="514350" indent="-514350" algn="just">
              <a:lnSpc>
                <a:spcPct val="170000"/>
              </a:lnSpc>
              <a:buFont typeface="Wingdings" pitchFamily="2" charset="2"/>
              <a:buChar char="Ø"/>
            </a:pPr>
            <a:r>
              <a:rPr lang="es-ES" sz="6400" b="1" dirty="0" smtClean="0"/>
              <a:t>Colegio de Abogados </a:t>
            </a:r>
            <a:r>
              <a:rPr lang="es-ES" sz="6400" b="1" dirty="0" err="1" smtClean="0"/>
              <a:t>Pcia</a:t>
            </a:r>
            <a:r>
              <a:rPr lang="es-ES" sz="6400" b="1" dirty="0" smtClean="0"/>
              <a:t> Bs As. CSJN. 8/04/2021. </a:t>
            </a:r>
            <a:r>
              <a:rPr lang="es-ES" sz="6400" dirty="0" smtClean="0"/>
              <a:t>Los colegios profesionales si bien son una persona de derecho público estatal, los mismos no pueden </a:t>
            </a:r>
            <a:r>
              <a:rPr lang="es-ES" sz="6400" dirty="0" err="1" smtClean="0"/>
              <a:t>exentivamente</a:t>
            </a:r>
            <a:r>
              <a:rPr lang="es-ES" sz="6400" dirty="0" smtClean="0"/>
              <a:t> asimilarse al Estado Provincial. Sin perjuicio de ello, el tribunal consideró inconstitucional la aplicación del impuesto ante la inexistencia –siquiera indiciariamente- de manifestación de riqueza y capacidad contributiva derivada de los movimientos bancarios realizados en la cuenta de la actora.</a:t>
            </a:r>
            <a:r>
              <a:rPr lang="es-ES" sz="6400" b="1" dirty="0" smtClean="0"/>
              <a:t> </a:t>
            </a:r>
          </a:p>
          <a:p>
            <a:pPr marL="514350" indent="-514350" algn="just">
              <a:lnSpc>
                <a:spcPct val="170000"/>
              </a:lnSpc>
              <a:buFont typeface="Wingdings" pitchFamily="2" charset="2"/>
              <a:buChar char="Ø"/>
            </a:pPr>
            <a:r>
              <a:rPr lang="es-ES" sz="6400" b="1" dirty="0" smtClean="0"/>
              <a:t>Mutual Federada 25 de Junio. TFN. Sala B. 27/04/2021. </a:t>
            </a:r>
            <a:r>
              <a:rPr lang="es-ES" sz="6400" dirty="0" smtClean="0"/>
              <a:t>Denegatoria de repetición. No se verifica similar composición fáctica ni normativa que en el fallo Asociación Mutual </a:t>
            </a:r>
            <a:r>
              <a:rPr lang="es-ES" sz="6400" dirty="0" err="1" smtClean="0"/>
              <a:t>Sancor</a:t>
            </a:r>
            <a:r>
              <a:rPr lang="es-ES" sz="6400" dirty="0" smtClean="0"/>
              <a:t> (CSJN), dado que no se encuentra comprendida en las exenciones legisladas en el art. 2 de la ley ni en art. 10 DR.</a:t>
            </a:r>
          </a:p>
          <a:p>
            <a:pPr marL="514350" indent="-514350" algn="just">
              <a:lnSpc>
                <a:spcPct val="170000"/>
              </a:lnSpc>
              <a:buFont typeface="Wingdings" pitchFamily="2" charset="2"/>
              <a:buChar char="Ø"/>
            </a:pPr>
            <a:endParaRPr lang="es-ES" sz="5600" dirty="0" smtClean="0"/>
          </a:p>
          <a:p>
            <a:pPr marL="514350" indent="-514350" algn="just">
              <a:lnSpc>
                <a:spcPct val="170000"/>
              </a:lnSpc>
              <a:buFont typeface="Wingdings" pitchFamily="2" charset="2"/>
              <a:buChar char="Ø"/>
            </a:pPr>
            <a:endParaRPr lang="es-ES" sz="56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13</a:t>
            </a:fld>
            <a:endParaRPr lang="es-ES" dirty="0"/>
          </a:p>
        </p:txBody>
      </p:sp>
      <p:sp>
        <p:nvSpPr>
          <p:cNvPr id="5" name="4 CuadroTexto"/>
          <p:cNvSpPr txBox="1"/>
          <p:nvPr/>
        </p:nvSpPr>
        <p:spPr>
          <a:xfrm>
            <a:off x="321662" y="-27384"/>
            <a:ext cx="8786842" cy="553998"/>
          </a:xfrm>
          <a:prstGeom prst="rect">
            <a:avLst/>
          </a:prstGeom>
          <a:noFill/>
        </p:spPr>
        <p:txBody>
          <a:bodyPr wrap="square" rtlCol="0">
            <a:spAutoFit/>
          </a:bodyPr>
          <a:lstStyle/>
          <a:p>
            <a:pPr algn="ctr"/>
            <a:r>
              <a:rPr lang="es-AR" sz="3000" b="1" dirty="0" smtClean="0">
                <a:solidFill>
                  <a:srgbClr val="FF0000"/>
                </a:solidFill>
              </a:rPr>
              <a:t>IMPUESTO A LOS DÉBITOS Y CRÉDITOS (VIII)</a:t>
            </a:r>
            <a:endParaRPr lang="es-ES" sz="30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1470" y="694976"/>
            <a:ext cx="9144000" cy="5662982"/>
          </a:xfrm>
        </p:spPr>
        <p:txBody>
          <a:bodyPr>
            <a:normAutofit fontScale="25000" lnSpcReduction="20000"/>
          </a:bodyPr>
          <a:lstStyle/>
          <a:p>
            <a:pPr algn="just">
              <a:buNone/>
            </a:pPr>
            <a:endParaRPr lang="es-AR" sz="2900" dirty="0" smtClean="0"/>
          </a:p>
          <a:p>
            <a:pPr marL="514350" indent="-514350" algn="ctr">
              <a:lnSpc>
                <a:spcPct val="170000"/>
              </a:lnSpc>
              <a:buNone/>
            </a:pPr>
            <a:r>
              <a:rPr lang="es-AR" sz="9600" b="1" dirty="0" smtClean="0">
                <a:solidFill>
                  <a:srgbClr val="163F9A"/>
                </a:solidFill>
              </a:rPr>
              <a:t>JURISPRUDENCIA</a:t>
            </a:r>
          </a:p>
          <a:p>
            <a:pPr marL="514350" indent="-514350" algn="just">
              <a:lnSpc>
                <a:spcPct val="170000"/>
              </a:lnSpc>
              <a:buFont typeface="Wingdings" pitchFamily="2" charset="2"/>
              <a:buChar char="Ø"/>
            </a:pPr>
            <a:r>
              <a:rPr lang="es-ES" sz="6400" b="1" dirty="0" smtClean="0"/>
              <a:t>Mutual Federada 25 de Junio. CCAF. Sala III. 10/02/2022. </a:t>
            </a:r>
            <a:r>
              <a:rPr lang="es-ES" sz="6400" dirty="0" smtClean="0"/>
              <a:t>Confirmó la sentencia del TFN. La ley 25.413 no hace distingo en materia exentiva  como sí lo hace la ley 25.920 al modificar la ley de IVA.</a:t>
            </a:r>
          </a:p>
          <a:p>
            <a:pPr marL="514350" indent="-514350" algn="just">
              <a:lnSpc>
                <a:spcPct val="170000"/>
              </a:lnSpc>
              <a:buFont typeface="Wingdings" pitchFamily="2" charset="2"/>
              <a:buChar char="Ø"/>
            </a:pPr>
            <a:r>
              <a:rPr lang="es-ES" sz="6400" b="1" dirty="0" smtClean="0"/>
              <a:t>Mutual Federada 25 de Junio. </a:t>
            </a:r>
            <a:r>
              <a:rPr lang="es-ES" sz="6400" b="1" dirty="0" err="1" smtClean="0"/>
              <a:t>Rec</a:t>
            </a:r>
            <a:r>
              <a:rPr lang="es-ES" sz="6400" b="1" dirty="0" smtClean="0"/>
              <a:t>. Queja ante CSJN. 27/04/2022. </a:t>
            </a:r>
            <a:r>
              <a:rPr lang="es-ES" sz="6400" dirty="0" smtClean="0"/>
              <a:t>Ante rechazo Recurso Extraordinario.</a:t>
            </a:r>
          </a:p>
          <a:p>
            <a:pPr marL="514350" indent="-514350" algn="just">
              <a:lnSpc>
                <a:spcPct val="170000"/>
              </a:lnSpc>
              <a:buFont typeface="Wingdings" pitchFamily="2" charset="2"/>
              <a:buChar char="Ø"/>
            </a:pPr>
            <a:r>
              <a:rPr lang="es-ES" sz="6400" b="1" dirty="0" smtClean="0"/>
              <a:t>Mutual Federada 25 de Junio. </a:t>
            </a:r>
            <a:r>
              <a:rPr lang="es-ES" sz="6400" b="1" dirty="0" err="1" smtClean="0"/>
              <a:t>Rec</a:t>
            </a:r>
            <a:r>
              <a:rPr lang="es-ES" sz="6400" b="1" dirty="0" smtClean="0"/>
              <a:t>. Queja ante CSJN. 23/04/2024.</a:t>
            </a:r>
            <a:r>
              <a:rPr lang="es-ES" sz="6400" dirty="0" smtClean="0"/>
              <a:t> </a:t>
            </a:r>
            <a:r>
              <a:rPr lang="es-ES" sz="6400" dirty="0" err="1" smtClean="0"/>
              <a:t>Present</a:t>
            </a:r>
            <a:r>
              <a:rPr lang="es-ES" sz="6400" dirty="0" smtClean="0"/>
              <a:t>. extemporánea. (art. 282 y 285 CPCC).</a:t>
            </a:r>
          </a:p>
          <a:p>
            <a:pPr marL="514350" indent="-514350" algn="just">
              <a:lnSpc>
                <a:spcPct val="170000"/>
              </a:lnSpc>
              <a:buFont typeface="Wingdings" pitchFamily="2" charset="2"/>
              <a:buChar char="Ø"/>
            </a:pPr>
            <a:r>
              <a:rPr lang="es-ES" sz="6400" b="1" dirty="0" smtClean="0"/>
              <a:t>Mutual Federada 25 de Junio. </a:t>
            </a:r>
            <a:r>
              <a:rPr lang="es-ES" sz="6400" b="1" dirty="0" err="1" smtClean="0"/>
              <a:t>Rec</a:t>
            </a:r>
            <a:r>
              <a:rPr lang="es-ES" sz="6400" b="1" dirty="0" smtClean="0"/>
              <a:t>. Extraordinario. CSJN. 23/04/2024. </a:t>
            </a:r>
            <a:r>
              <a:rPr lang="es-ES" sz="6400" dirty="0" smtClean="0"/>
              <a:t>Inadmisible (art. 280 CPCC).</a:t>
            </a:r>
          </a:p>
          <a:p>
            <a:pPr marL="514350" indent="-514350" algn="just">
              <a:lnSpc>
                <a:spcPct val="170000"/>
              </a:lnSpc>
              <a:buFont typeface="Wingdings" pitchFamily="2" charset="2"/>
              <a:buChar char="Ø"/>
            </a:pPr>
            <a:r>
              <a:rPr lang="es-ES" sz="6400" b="1" dirty="0" err="1" smtClean="0"/>
              <a:t>Asoc</a:t>
            </a:r>
            <a:r>
              <a:rPr lang="es-ES" sz="6400" b="1" dirty="0" smtClean="0"/>
              <a:t>. Mutual </a:t>
            </a:r>
            <a:r>
              <a:rPr lang="es-ES" sz="6400" b="1" dirty="0" err="1" smtClean="0"/>
              <a:t>Sancor</a:t>
            </a:r>
            <a:r>
              <a:rPr lang="es-ES" sz="6400" b="1" dirty="0" smtClean="0"/>
              <a:t> Rep.  Juzgado Federal Rafaela. 14/07/20.</a:t>
            </a:r>
            <a:r>
              <a:rPr lang="es-ES" sz="6400" dirty="0" smtClean="0"/>
              <a:t> Revocó la </a:t>
            </a:r>
            <a:r>
              <a:rPr lang="es-ES" sz="6400" dirty="0" err="1" smtClean="0"/>
              <a:t>deneg</a:t>
            </a:r>
            <a:r>
              <a:rPr lang="es-ES" sz="6400" dirty="0" smtClean="0"/>
              <a:t>. del Fisco.</a:t>
            </a:r>
          </a:p>
          <a:p>
            <a:pPr marL="514350" indent="-514350" algn="just">
              <a:lnSpc>
                <a:spcPct val="170000"/>
              </a:lnSpc>
              <a:buFont typeface="Wingdings" pitchFamily="2" charset="2"/>
              <a:buChar char="Ø"/>
            </a:pPr>
            <a:r>
              <a:rPr lang="es-ES" sz="6400" b="1" dirty="0" err="1" smtClean="0"/>
              <a:t>Asoc</a:t>
            </a:r>
            <a:r>
              <a:rPr lang="es-ES" sz="6400" b="1" dirty="0" smtClean="0"/>
              <a:t>. Mutual </a:t>
            </a:r>
            <a:r>
              <a:rPr lang="es-ES" sz="6400" b="1" dirty="0" err="1" smtClean="0"/>
              <a:t>Sancor</a:t>
            </a:r>
            <a:r>
              <a:rPr lang="es-ES" sz="6400" b="1" dirty="0" smtClean="0"/>
              <a:t> Rep.  </a:t>
            </a:r>
            <a:r>
              <a:rPr lang="es-ES" sz="6400" b="1" dirty="0" err="1" smtClean="0"/>
              <a:t>CFed</a:t>
            </a:r>
            <a:r>
              <a:rPr lang="es-ES" sz="6400" b="1" dirty="0" smtClean="0"/>
              <a:t>. Rosario Sala A. 10/08/22. </a:t>
            </a:r>
            <a:r>
              <a:rPr lang="es-ES" sz="6400" dirty="0" smtClean="0"/>
              <a:t>Revocó 1° instancia. </a:t>
            </a:r>
          </a:p>
          <a:p>
            <a:pPr marL="514350" indent="-514350" algn="just">
              <a:lnSpc>
                <a:spcPct val="170000"/>
              </a:lnSpc>
              <a:buFont typeface="Wingdings" pitchFamily="2" charset="2"/>
              <a:buChar char="Ø"/>
            </a:pPr>
            <a:r>
              <a:rPr lang="es-ES" sz="6400" b="1" dirty="0" err="1" smtClean="0"/>
              <a:t>Asoc</a:t>
            </a:r>
            <a:r>
              <a:rPr lang="es-ES" sz="6400" b="1" dirty="0" smtClean="0"/>
              <a:t>. Mutual </a:t>
            </a:r>
            <a:r>
              <a:rPr lang="es-ES" sz="6400" b="1" dirty="0" err="1" smtClean="0"/>
              <a:t>Sancor</a:t>
            </a:r>
            <a:r>
              <a:rPr lang="es-ES" sz="6400" b="1" dirty="0" smtClean="0"/>
              <a:t> Rep.  CF Rosario Sala A. 13/02/23. </a:t>
            </a:r>
            <a:r>
              <a:rPr lang="es-ES" sz="6400" dirty="0" smtClean="0"/>
              <a:t>Concedió </a:t>
            </a:r>
            <a:r>
              <a:rPr lang="es-ES" sz="6400" dirty="0" err="1" smtClean="0"/>
              <a:t>Rec</a:t>
            </a:r>
            <a:r>
              <a:rPr lang="es-ES" sz="6400" dirty="0" smtClean="0"/>
              <a:t>. Extraordinario CSJN a </a:t>
            </a:r>
            <a:r>
              <a:rPr lang="es-ES" sz="6400" dirty="0" err="1" smtClean="0"/>
              <a:t>Sancor</a:t>
            </a:r>
            <a:r>
              <a:rPr lang="es-ES" sz="6400" dirty="0" smtClean="0"/>
              <a:t>.</a:t>
            </a:r>
          </a:p>
          <a:p>
            <a:pPr marL="514350" indent="-514350" algn="just">
              <a:lnSpc>
                <a:spcPct val="170000"/>
              </a:lnSpc>
              <a:buFont typeface="Wingdings" pitchFamily="2" charset="2"/>
              <a:buChar char="Ø"/>
            </a:pPr>
            <a:r>
              <a:rPr lang="es-ES" sz="6400" b="1" dirty="0" err="1" smtClean="0"/>
              <a:t>Asoc</a:t>
            </a:r>
            <a:r>
              <a:rPr lang="es-ES" sz="6400" b="1" dirty="0" smtClean="0"/>
              <a:t>. Mutual </a:t>
            </a:r>
            <a:r>
              <a:rPr lang="es-ES" sz="6400" b="1" dirty="0" err="1" smtClean="0"/>
              <a:t>Sancor</a:t>
            </a:r>
            <a:r>
              <a:rPr lang="es-ES" sz="6400" b="1" dirty="0" smtClean="0"/>
              <a:t> Rep. CSJN. </a:t>
            </a:r>
            <a:r>
              <a:rPr lang="es-ES" sz="6400" dirty="0" smtClean="0"/>
              <a:t>Desestimó </a:t>
            </a:r>
            <a:r>
              <a:rPr lang="es-ES" sz="6400" dirty="0" err="1" smtClean="0"/>
              <a:t>Rec</a:t>
            </a:r>
            <a:r>
              <a:rPr lang="es-ES" sz="6400" dirty="0" smtClean="0"/>
              <a:t>. Extraordinario (art. 280 CPCC).</a:t>
            </a:r>
          </a:p>
          <a:p>
            <a:pPr marL="514350" indent="-514350" algn="just">
              <a:lnSpc>
                <a:spcPct val="170000"/>
              </a:lnSpc>
              <a:buFont typeface="Wingdings" pitchFamily="2" charset="2"/>
              <a:buChar char="Ø"/>
            </a:pPr>
            <a:r>
              <a:rPr lang="es-ES" sz="6400" b="1" dirty="0" err="1" smtClean="0"/>
              <a:t>Asoc</a:t>
            </a:r>
            <a:r>
              <a:rPr lang="es-ES" sz="6400" b="1" dirty="0" smtClean="0"/>
              <a:t>. Mutual Suipacha. TFN. Sala A. 23/04/24. </a:t>
            </a:r>
            <a:r>
              <a:rPr lang="es-ES" sz="6400" dirty="0" smtClean="0"/>
              <a:t>El tribunal entendió que no existe exención.</a:t>
            </a:r>
          </a:p>
          <a:p>
            <a:pPr marL="514350" indent="-514350" algn="just">
              <a:lnSpc>
                <a:spcPct val="170000"/>
              </a:lnSpc>
              <a:buFont typeface="Wingdings" pitchFamily="2" charset="2"/>
              <a:buChar char="Ø"/>
            </a:pPr>
            <a:endParaRPr lang="es-ES" sz="64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14</a:t>
            </a:fld>
            <a:endParaRPr lang="es-ES" dirty="0"/>
          </a:p>
        </p:txBody>
      </p:sp>
      <p:sp>
        <p:nvSpPr>
          <p:cNvPr id="5" name="4 CuadroTexto"/>
          <p:cNvSpPr txBox="1"/>
          <p:nvPr/>
        </p:nvSpPr>
        <p:spPr>
          <a:xfrm>
            <a:off x="321662" y="303234"/>
            <a:ext cx="8786842" cy="553998"/>
          </a:xfrm>
          <a:prstGeom prst="rect">
            <a:avLst/>
          </a:prstGeom>
          <a:noFill/>
        </p:spPr>
        <p:txBody>
          <a:bodyPr wrap="square" rtlCol="0">
            <a:spAutoFit/>
          </a:bodyPr>
          <a:lstStyle/>
          <a:p>
            <a:pPr algn="ctr"/>
            <a:r>
              <a:rPr lang="es-AR" sz="3000" b="1" dirty="0" smtClean="0">
                <a:solidFill>
                  <a:srgbClr val="FF0000"/>
                </a:solidFill>
              </a:rPr>
              <a:t>IMPUESTO A LOS DÉBITOS Y CRÉDITOS (IX)</a:t>
            </a:r>
            <a:endParaRPr lang="es-ES" sz="30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1470" y="667046"/>
            <a:ext cx="9144000" cy="5210226"/>
          </a:xfrm>
        </p:spPr>
        <p:txBody>
          <a:bodyPr>
            <a:normAutofit fontScale="25000" lnSpcReduction="20000"/>
          </a:bodyPr>
          <a:lstStyle/>
          <a:p>
            <a:pPr algn="just">
              <a:buNone/>
            </a:pPr>
            <a:endParaRPr lang="es-AR" sz="2900" dirty="0" smtClean="0"/>
          </a:p>
          <a:p>
            <a:pPr marL="514350" indent="-514350" algn="ctr">
              <a:lnSpc>
                <a:spcPct val="170000"/>
              </a:lnSpc>
              <a:buNone/>
            </a:pPr>
            <a:r>
              <a:rPr lang="es-AR" sz="7200" b="1" dirty="0" smtClean="0">
                <a:solidFill>
                  <a:srgbClr val="163F9A"/>
                </a:solidFill>
              </a:rPr>
              <a:t>JURISPRUDENCIA</a:t>
            </a:r>
          </a:p>
          <a:p>
            <a:pPr marL="514350" indent="-514350" algn="just">
              <a:lnSpc>
                <a:spcPct val="170000"/>
              </a:lnSpc>
              <a:buFont typeface="Wingdings" pitchFamily="2" charset="2"/>
              <a:buChar char="Ø"/>
            </a:pPr>
            <a:r>
              <a:rPr lang="es-ES" sz="5600" b="1" dirty="0" smtClean="0"/>
              <a:t>Asociación Mutual y Social del Club Atlético y </a:t>
            </a:r>
            <a:r>
              <a:rPr lang="es-ES" sz="5600" b="1" dirty="0" err="1" smtClean="0"/>
              <a:t>Filodramático</a:t>
            </a:r>
            <a:r>
              <a:rPr lang="es-ES" sz="5600" b="1" dirty="0" smtClean="0"/>
              <a:t> Alicia. TFN Sala D. 13/09/2018. </a:t>
            </a:r>
            <a:r>
              <a:rPr lang="es-ES" sz="5600" dirty="0" smtClean="0"/>
              <a:t>La operatoria implicaba el movimiento de fondos a los fines del ejercicio de una actividad económica, que consistía en que un asociado cedía valores de terceros a la recurrente y como contrapartida le entregaba dinero en efectivo, constituyendo un mecanismo ordenado y habitual que conlleva a la sustitución en la utilización de las cuentas bancarias de los asociados.</a:t>
            </a:r>
            <a:endParaRPr lang="es-AR" sz="5600" b="1" dirty="0" smtClean="0"/>
          </a:p>
          <a:p>
            <a:pPr marL="514350" indent="-514350" algn="just">
              <a:lnSpc>
                <a:spcPct val="170000"/>
              </a:lnSpc>
              <a:buFont typeface="Wingdings" pitchFamily="2" charset="2"/>
              <a:buChar char="Ø"/>
            </a:pPr>
            <a:r>
              <a:rPr lang="es-AR" sz="5600" b="1" dirty="0" smtClean="0"/>
              <a:t>Asociación Mutual </a:t>
            </a:r>
            <a:r>
              <a:rPr lang="es-AR" sz="5600" b="1" dirty="0" err="1" smtClean="0"/>
              <a:t>Puyén</a:t>
            </a:r>
            <a:r>
              <a:rPr lang="es-AR" sz="5600" b="1" dirty="0" smtClean="0"/>
              <a:t> y otros s/infracción L. 24769. Legajo de apelación. </a:t>
            </a:r>
            <a:r>
              <a:rPr lang="es-AR" sz="5600" b="1" dirty="0" err="1" smtClean="0"/>
              <a:t>Cám</a:t>
            </a:r>
            <a:r>
              <a:rPr lang="es-AR" sz="5600" b="1" dirty="0" smtClean="0"/>
              <a:t>. </a:t>
            </a:r>
            <a:r>
              <a:rPr lang="es-AR" sz="5600" b="1" dirty="0" err="1" smtClean="0"/>
              <a:t>Nac</a:t>
            </a:r>
            <a:r>
              <a:rPr lang="es-AR" sz="5600" b="1" dirty="0" smtClean="0"/>
              <a:t>. Casación Penal. Sala B. 30/05/2016. Impuesto a los débitos e </a:t>
            </a:r>
            <a:r>
              <a:rPr lang="es-AR" sz="5600" b="1" dirty="0" err="1" smtClean="0"/>
              <a:t>Iva</a:t>
            </a:r>
            <a:r>
              <a:rPr lang="es-AR" sz="5600" b="1" dirty="0" smtClean="0"/>
              <a:t>.”</a:t>
            </a:r>
            <a:r>
              <a:rPr lang="es-AR" sz="5600" dirty="0" smtClean="0"/>
              <a:t>… la estimación provisoria efectuada por el juzgado “a quo” al dictar los procesamientos de los imputados, relativa a que se verifica que la actividad desarrollada por la asociación mutual investigada no se correspondía con el objeto mutual…, la entidad habría utilizado fraudulentamente la alícuota reducida en el impuesto a los débitos y créditos en cuenta corriente bancaria y la exención en el impuesto al valor agregado…”.</a:t>
            </a:r>
          </a:p>
          <a:p>
            <a:pPr marL="514350" indent="-514350" algn="just">
              <a:lnSpc>
                <a:spcPct val="170000"/>
              </a:lnSpc>
              <a:buFont typeface="Wingdings" pitchFamily="2" charset="2"/>
              <a:buChar char="Ø"/>
            </a:pPr>
            <a:r>
              <a:rPr lang="es-AR" sz="5600" b="1" dirty="0" smtClean="0"/>
              <a:t>Asociación Mutual Emprendedores Argentinos y otros s/infracción L.24769 (legajo apelación). </a:t>
            </a:r>
            <a:r>
              <a:rPr lang="es-AR" sz="5600" b="1" dirty="0" err="1" smtClean="0"/>
              <a:t>Cám</a:t>
            </a:r>
            <a:r>
              <a:rPr lang="es-AR" sz="5600" b="1" dirty="0" smtClean="0"/>
              <a:t>. </a:t>
            </a:r>
            <a:r>
              <a:rPr lang="es-AR" sz="5600" b="1" dirty="0" err="1" smtClean="0"/>
              <a:t>Nac</a:t>
            </a:r>
            <a:r>
              <a:rPr lang="es-AR" sz="5600" b="1" dirty="0" smtClean="0"/>
              <a:t>. Penal </a:t>
            </a:r>
            <a:r>
              <a:rPr lang="es-AR" sz="5600" b="1" dirty="0" err="1" smtClean="0"/>
              <a:t>Ec.</a:t>
            </a:r>
            <a:r>
              <a:rPr lang="es-AR" sz="5600" b="1" dirty="0" smtClean="0"/>
              <a:t> Sala B. 27/09/2019. </a:t>
            </a:r>
            <a:r>
              <a:rPr lang="es-AR" sz="5600" dirty="0" smtClean="0"/>
              <a:t>Utilización fraudulenta de la reducción de la alícuota e intermediación financiera no autorizada.</a:t>
            </a:r>
          </a:p>
          <a:p>
            <a:pPr marL="514350" indent="-514350" algn="just">
              <a:lnSpc>
                <a:spcPct val="170000"/>
              </a:lnSpc>
              <a:buFont typeface="Wingdings" pitchFamily="2" charset="2"/>
              <a:buChar char="Ø"/>
            </a:pPr>
            <a:endParaRPr lang="es-AR" sz="5600" dirty="0" smtClean="0"/>
          </a:p>
        </p:txBody>
      </p:sp>
      <p:sp>
        <p:nvSpPr>
          <p:cNvPr id="6" name="5 Marcador de número de diapositiva"/>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905A6E-3428-42CC-8A3B-D0D77FE4EB92}" type="slidenum">
              <a:rPr kumimoji="0" lang="es-ES" sz="1000" b="0" i="0" u="none" strike="noStrike" kern="1200" cap="none" spc="0" normalizeH="0" baseline="0" noProof="0" smtClean="0">
                <a:ln>
                  <a:noFill/>
                </a:ln>
                <a:solidFill>
                  <a:prstClr val="black"/>
                </a:solidFill>
                <a:effectLst/>
                <a:uLnTx/>
                <a:uFillTx/>
                <a:latin typeface="Lucida Sans Unicod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s-ES" sz="1000" b="0" i="0" u="none" strike="noStrike" kern="1200" cap="none" spc="0" normalizeH="0" baseline="0" noProof="0" dirty="0">
              <a:ln>
                <a:noFill/>
              </a:ln>
              <a:solidFill>
                <a:prstClr val="black"/>
              </a:solidFill>
              <a:effectLst/>
              <a:uLnTx/>
              <a:uFillTx/>
              <a:latin typeface="Lucida Sans Unicode"/>
              <a:ea typeface="+mn-ea"/>
              <a:cs typeface="+mn-cs"/>
            </a:endParaRPr>
          </a:p>
        </p:txBody>
      </p:sp>
      <p:sp>
        <p:nvSpPr>
          <p:cNvPr id="5" name="4 CuadroTexto"/>
          <p:cNvSpPr txBox="1"/>
          <p:nvPr/>
        </p:nvSpPr>
        <p:spPr>
          <a:xfrm>
            <a:off x="131471" y="117651"/>
            <a:ext cx="8786842"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3000" b="1" i="0" u="none" strike="noStrike" kern="1200" cap="none" spc="0" normalizeH="0" baseline="0" noProof="0" dirty="0" smtClean="0">
                <a:ln>
                  <a:noFill/>
                </a:ln>
                <a:solidFill>
                  <a:srgbClr val="FF0000"/>
                </a:solidFill>
                <a:effectLst/>
                <a:uLnTx/>
                <a:uFillTx/>
                <a:latin typeface="Lucida Sans Unicode"/>
                <a:ea typeface="+mn-ea"/>
                <a:cs typeface="+mn-cs"/>
              </a:rPr>
              <a:t>IMPUESTO A LOS DÉBITOS Y CRÉDITOS (X)</a:t>
            </a:r>
            <a:endParaRPr kumimoji="0" lang="es-ES" sz="3000" b="1" i="0" u="none" strike="noStrike" kern="1200" cap="none" spc="0" normalizeH="0" baseline="0" noProof="0" dirty="0">
              <a:ln>
                <a:noFill/>
              </a:ln>
              <a:solidFill>
                <a:srgbClr val="FF0000"/>
              </a:solidFill>
              <a:effectLst/>
              <a:uLnTx/>
              <a:uFillTx/>
              <a:latin typeface="Lucida Sans Unicode"/>
              <a:ea typeface="+mn-ea"/>
              <a:cs typeface="+mn-cs"/>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extLst>
      <p:ext uri="{BB962C8B-B14F-4D97-AF65-F5344CB8AC3E}">
        <p14:creationId xmlns:p14="http://schemas.microsoft.com/office/powerpoint/2010/main" xmlns="" val="29192071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766984"/>
            <a:ext cx="8003232" cy="376000"/>
          </a:xfrm>
        </p:spPr>
        <p:txBody>
          <a:bodyPr>
            <a:normAutofit lnSpcReduction="10000"/>
          </a:bodyPr>
          <a:lstStyle/>
          <a:p>
            <a:pPr algn="ctr">
              <a:buNone/>
            </a:pPr>
            <a:r>
              <a:rPr lang="es-AR" sz="2000" b="1" u="sng" dirty="0" smtClean="0">
                <a:solidFill>
                  <a:srgbClr val="163F9A"/>
                </a:solidFill>
              </a:rPr>
              <a:t>A NIVEL NACIONAL (Art. 8 Ley 11.683)</a:t>
            </a:r>
          </a:p>
          <a:p>
            <a:pPr>
              <a:buNone/>
            </a:pPr>
            <a:endParaRPr lang="es-AR" dirty="0" smtClean="0"/>
          </a:p>
        </p:txBody>
      </p:sp>
      <p:sp>
        <p:nvSpPr>
          <p:cNvPr id="13" name="12 Marcador de número de diapositiva"/>
          <p:cNvSpPr>
            <a:spLocks noGrp="1"/>
          </p:cNvSpPr>
          <p:nvPr>
            <p:ph type="sldNum" sz="quarter" idx="12"/>
          </p:nvPr>
        </p:nvSpPr>
        <p:spPr/>
        <p:txBody>
          <a:bodyPr/>
          <a:lstStyle/>
          <a:p>
            <a:fld id="{47905A6E-3428-42CC-8A3B-D0D77FE4EB92}" type="slidenum">
              <a:rPr lang="es-ES" smtClean="0"/>
              <a:pPr/>
              <a:t>16</a:t>
            </a:fld>
            <a:endParaRPr lang="es-ES" dirty="0"/>
          </a:p>
        </p:txBody>
      </p:sp>
      <p:sp>
        <p:nvSpPr>
          <p:cNvPr id="5" name="4 CuadroTexto"/>
          <p:cNvSpPr txBox="1"/>
          <p:nvPr/>
        </p:nvSpPr>
        <p:spPr>
          <a:xfrm>
            <a:off x="642878" y="142852"/>
            <a:ext cx="8501122" cy="584775"/>
          </a:xfrm>
          <a:prstGeom prst="rect">
            <a:avLst/>
          </a:prstGeom>
          <a:noFill/>
        </p:spPr>
        <p:txBody>
          <a:bodyPr wrap="square" rtlCol="0">
            <a:spAutoFit/>
          </a:bodyPr>
          <a:lstStyle/>
          <a:p>
            <a:pPr algn="ctr"/>
            <a:r>
              <a:rPr lang="es-AR" sz="3200" b="1" dirty="0" smtClean="0">
                <a:solidFill>
                  <a:srgbClr val="FF0000"/>
                </a:solidFill>
              </a:rPr>
              <a:t>RESPONSABILIDAD SOLIDARIA (I)</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6" name="5 CuadroTexto"/>
          <p:cNvSpPr txBox="1"/>
          <p:nvPr/>
        </p:nvSpPr>
        <p:spPr>
          <a:xfrm>
            <a:off x="142844" y="1142984"/>
            <a:ext cx="8715436" cy="2062103"/>
          </a:xfrm>
          <a:prstGeom prst="rect">
            <a:avLst/>
          </a:prstGeom>
          <a:noFill/>
        </p:spPr>
        <p:txBody>
          <a:bodyPr wrap="square" rtlCol="0">
            <a:spAutoFit/>
          </a:bodyPr>
          <a:lstStyle/>
          <a:p>
            <a:pPr algn="just"/>
            <a:r>
              <a:rPr lang="es-AR" sz="1600" dirty="0" smtClean="0"/>
              <a:t>“…Responden con sus bienes propios y solidariamente con los deudores del tributo y, si los hubiere, con otros responsables del mismo gravamen, sin perjuicio de las sanciones correspondientes a las infracciones cometidas:…”</a:t>
            </a:r>
          </a:p>
          <a:p>
            <a:pPr algn="just"/>
            <a:endParaRPr lang="es-AR" sz="1600" dirty="0" smtClean="0"/>
          </a:p>
          <a:p>
            <a:pPr algn="just"/>
            <a:r>
              <a:rPr lang="es-AR" sz="1600" dirty="0" smtClean="0"/>
              <a:t>a) … No existirá esta responsabilidad personal y solidaria respecto de aquellos que demuestren debidamente que dicha responsabilidad no les es imputable subjetivamente…”.</a:t>
            </a:r>
            <a:br>
              <a:rPr lang="es-AR" sz="1600" dirty="0" smtClean="0"/>
            </a:br>
            <a:endParaRPr lang="es-AR" sz="1600" dirty="0"/>
          </a:p>
        </p:txBody>
      </p:sp>
      <p:sp>
        <p:nvSpPr>
          <p:cNvPr id="8" name="7 Rectángulo redondeado"/>
          <p:cNvSpPr/>
          <p:nvPr/>
        </p:nvSpPr>
        <p:spPr>
          <a:xfrm>
            <a:off x="142844" y="3000372"/>
            <a:ext cx="3571900" cy="864096"/>
          </a:xfrm>
          <a:prstGeom prst="roundRect">
            <a:avLst/>
          </a:prstGeom>
          <a:solidFill>
            <a:schemeClr val="tx2"/>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s-AR" b="1" dirty="0" smtClean="0">
                <a:solidFill>
                  <a:schemeClr val="bg1"/>
                </a:solidFill>
              </a:rPr>
              <a:t>Entidad</a:t>
            </a:r>
            <a:endParaRPr lang="es-AR" b="1" dirty="0">
              <a:solidFill>
                <a:schemeClr val="bg1"/>
              </a:solidFill>
            </a:endParaRPr>
          </a:p>
        </p:txBody>
      </p:sp>
      <p:sp>
        <p:nvSpPr>
          <p:cNvPr id="9" name="8 Rectángulo redondeado"/>
          <p:cNvSpPr/>
          <p:nvPr/>
        </p:nvSpPr>
        <p:spPr>
          <a:xfrm>
            <a:off x="5433816" y="3000372"/>
            <a:ext cx="3242640" cy="864096"/>
          </a:xfrm>
          <a:prstGeom prst="roundRect">
            <a:avLst/>
          </a:prstGeom>
          <a:solidFill>
            <a:schemeClr val="tx2"/>
          </a:solidFill>
        </p:spPr>
        <p:style>
          <a:lnRef idx="1">
            <a:schemeClr val="accent4"/>
          </a:lnRef>
          <a:fillRef idx="3">
            <a:schemeClr val="accent4"/>
          </a:fillRef>
          <a:effectRef idx="2">
            <a:schemeClr val="accent4"/>
          </a:effectRef>
          <a:fontRef idx="minor">
            <a:schemeClr val="lt1"/>
          </a:fontRef>
        </p:style>
        <p:txBody>
          <a:bodyPr rtlCol="0" anchor="ctr"/>
          <a:lstStyle/>
          <a:p>
            <a:pPr algn="ctr"/>
            <a:r>
              <a:rPr lang="es-AR" b="1" dirty="0" smtClean="0">
                <a:solidFill>
                  <a:schemeClr val="bg1"/>
                </a:solidFill>
              </a:rPr>
              <a:t>Consejo Directivo</a:t>
            </a:r>
          </a:p>
          <a:p>
            <a:pPr algn="ctr"/>
            <a:r>
              <a:rPr lang="es-AR" b="1" dirty="0" smtClean="0">
                <a:solidFill>
                  <a:schemeClr val="bg1"/>
                </a:solidFill>
              </a:rPr>
              <a:t>+</a:t>
            </a:r>
          </a:p>
          <a:p>
            <a:pPr algn="ctr"/>
            <a:r>
              <a:rPr lang="es-AR" b="1" dirty="0" smtClean="0">
                <a:solidFill>
                  <a:schemeClr val="bg1"/>
                </a:solidFill>
              </a:rPr>
              <a:t>Gerentes / Apoderados</a:t>
            </a:r>
            <a:endParaRPr lang="es-AR" b="1" dirty="0">
              <a:solidFill>
                <a:schemeClr val="bg1"/>
              </a:solidFill>
            </a:endParaRPr>
          </a:p>
        </p:txBody>
      </p:sp>
      <p:sp>
        <p:nvSpPr>
          <p:cNvPr id="10" name="9 CuadroTexto"/>
          <p:cNvSpPr txBox="1"/>
          <p:nvPr/>
        </p:nvSpPr>
        <p:spPr>
          <a:xfrm>
            <a:off x="357158" y="4000504"/>
            <a:ext cx="3214710" cy="1477328"/>
          </a:xfrm>
          <a:prstGeom prst="rect">
            <a:avLst/>
          </a:prstGeom>
          <a:noFill/>
        </p:spPr>
        <p:txBody>
          <a:bodyPr wrap="square" rtlCol="0">
            <a:spAutoFit/>
          </a:bodyPr>
          <a:lstStyle/>
          <a:p>
            <a:pPr algn="ctr">
              <a:buFont typeface="Arial" charset="0"/>
              <a:buChar char="•"/>
            </a:pPr>
            <a:r>
              <a:rPr lang="es-AR" dirty="0" smtClean="0"/>
              <a:t> En su carácter de agentes de retención y/o percepción: por omisión y/o falta de pago.</a:t>
            </a:r>
          </a:p>
          <a:p>
            <a:pPr algn="ctr">
              <a:buFont typeface="Arial" pitchFamily="34" charset="0"/>
              <a:buChar char="•"/>
            </a:pPr>
            <a:r>
              <a:rPr lang="es-AR" dirty="0" smtClean="0"/>
              <a:t> Por facturas apócrifas.</a:t>
            </a:r>
          </a:p>
          <a:p>
            <a:pPr algn="ctr">
              <a:buFont typeface="Arial" pitchFamily="34" charset="0"/>
              <a:buChar char="•"/>
            </a:pPr>
            <a:r>
              <a:rPr lang="es-AR" dirty="0" smtClean="0"/>
              <a:t> Por los subordinados. (art. 9)</a:t>
            </a:r>
            <a:endParaRPr lang="es-AR" dirty="0"/>
          </a:p>
        </p:txBody>
      </p:sp>
      <p:sp>
        <p:nvSpPr>
          <p:cNvPr id="11" name="10 CuadroTexto"/>
          <p:cNvSpPr txBox="1"/>
          <p:nvPr/>
        </p:nvSpPr>
        <p:spPr>
          <a:xfrm>
            <a:off x="5673210" y="4071942"/>
            <a:ext cx="2643206" cy="923330"/>
          </a:xfrm>
          <a:prstGeom prst="rect">
            <a:avLst/>
          </a:prstGeom>
          <a:noFill/>
        </p:spPr>
        <p:txBody>
          <a:bodyPr wrap="square" rtlCol="0">
            <a:spAutoFit/>
          </a:bodyPr>
          <a:lstStyle/>
          <a:p>
            <a:pPr algn="ctr"/>
            <a:r>
              <a:rPr lang="es-AR" dirty="0" smtClean="0"/>
              <a:t>En forma personal y solidaria con la Entidad.</a:t>
            </a:r>
            <a:endParaRPr lang="es-AR" dirty="0"/>
          </a:p>
        </p:txBody>
      </p:sp>
      <p:sp>
        <p:nvSpPr>
          <p:cNvPr id="12" name="11 Rectángulo"/>
          <p:cNvSpPr/>
          <p:nvPr/>
        </p:nvSpPr>
        <p:spPr>
          <a:xfrm>
            <a:off x="5214942" y="5214950"/>
            <a:ext cx="3643338" cy="42862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AR" dirty="0" smtClean="0"/>
              <a:t>Determinación de Oficio</a:t>
            </a:r>
            <a:endParaRPr lang="es-AR" dirty="0"/>
          </a:p>
        </p:txBody>
      </p:sp>
      <p:cxnSp>
        <p:nvCxnSpPr>
          <p:cNvPr id="18" name="17 Conector recto de flecha"/>
          <p:cNvCxnSpPr/>
          <p:nvPr/>
        </p:nvCxnSpPr>
        <p:spPr>
          <a:xfrm flipH="1">
            <a:off x="7000892" y="4653138"/>
            <a:ext cx="19382" cy="56181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16 Rectángulo"/>
          <p:cNvSpPr/>
          <p:nvPr/>
        </p:nvSpPr>
        <p:spPr>
          <a:xfrm>
            <a:off x="785786" y="5786454"/>
            <a:ext cx="7215238" cy="5715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smtClean="0">
                <a:solidFill>
                  <a:srgbClr val="FF0000"/>
                </a:solidFill>
              </a:rPr>
              <a:t>Embargo preventivo (art. 111 )/ Suspensión prescripción 1 año (art.65)</a:t>
            </a:r>
            <a:endParaRPr lang="es-ES" sz="1600"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1052736"/>
            <a:ext cx="8003232" cy="376000"/>
          </a:xfrm>
        </p:spPr>
        <p:txBody>
          <a:bodyPr>
            <a:normAutofit lnSpcReduction="10000"/>
          </a:bodyPr>
          <a:lstStyle/>
          <a:p>
            <a:pPr algn="ctr">
              <a:buNone/>
            </a:pPr>
            <a:r>
              <a:rPr lang="es-AR" sz="2000" b="1" u="sng" dirty="0" smtClean="0">
                <a:solidFill>
                  <a:srgbClr val="163F9A"/>
                </a:solidFill>
              </a:rPr>
              <a:t>A NIVEL NACIONAL (Art. 8 Ley 11.683)</a:t>
            </a:r>
          </a:p>
          <a:p>
            <a:pPr>
              <a:buNone/>
            </a:pPr>
            <a:endParaRPr lang="es-AR"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17</a:t>
            </a:fld>
            <a:endParaRPr lang="es-ES" dirty="0"/>
          </a:p>
        </p:txBody>
      </p:sp>
      <p:sp>
        <p:nvSpPr>
          <p:cNvPr id="5" name="4 CuadroTexto"/>
          <p:cNvSpPr txBox="1"/>
          <p:nvPr/>
        </p:nvSpPr>
        <p:spPr>
          <a:xfrm>
            <a:off x="214282" y="260648"/>
            <a:ext cx="8501122" cy="584775"/>
          </a:xfrm>
          <a:prstGeom prst="rect">
            <a:avLst/>
          </a:prstGeom>
          <a:noFill/>
        </p:spPr>
        <p:txBody>
          <a:bodyPr wrap="square" rtlCol="0">
            <a:spAutoFit/>
          </a:bodyPr>
          <a:lstStyle/>
          <a:p>
            <a:pPr algn="ctr"/>
            <a:r>
              <a:rPr lang="es-AR" sz="3200" b="1" dirty="0" smtClean="0">
                <a:solidFill>
                  <a:srgbClr val="FF0000"/>
                </a:solidFill>
              </a:rPr>
              <a:t>RESPONSABILIDAD SOLIDARIA (II)</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14" name="13 CuadroTexto"/>
          <p:cNvSpPr txBox="1"/>
          <p:nvPr/>
        </p:nvSpPr>
        <p:spPr>
          <a:xfrm>
            <a:off x="0" y="1340768"/>
            <a:ext cx="8572528" cy="4893647"/>
          </a:xfrm>
          <a:prstGeom prst="rect">
            <a:avLst/>
          </a:prstGeom>
          <a:noFill/>
        </p:spPr>
        <p:txBody>
          <a:bodyPr wrap="square" rtlCol="0">
            <a:spAutoFit/>
          </a:bodyPr>
          <a:lstStyle/>
          <a:p>
            <a:pPr algn="just">
              <a:buFont typeface="Arial" pitchFamily="34" charset="0"/>
              <a:buChar char="•"/>
            </a:pPr>
            <a:endParaRPr lang="es-AR" dirty="0" smtClean="0"/>
          </a:p>
          <a:p>
            <a:pPr algn="ctr"/>
            <a:r>
              <a:rPr lang="es-AR" sz="3000" b="1" u="sng" dirty="0" smtClean="0">
                <a:solidFill>
                  <a:srgbClr val="FF0000"/>
                </a:solidFill>
              </a:rPr>
              <a:t>Características</a:t>
            </a:r>
          </a:p>
          <a:p>
            <a:pPr algn="ctr"/>
            <a:endParaRPr lang="es-AR" sz="2400" dirty="0" smtClean="0"/>
          </a:p>
          <a:p>
            <a:pPr algn="ctr">
              <a:buFont typeface="Arial" pitchFamily="34" charset="0"/>
              <a:buChar char="•"/>
            </a:pPr>
            <a:r>
              <a:rPr lang="es-AR" sz="2400" dirty="0" smtClean="0">
                <a:effectLst>
                  <a:outerShdw blurRad="38100" dist="38100" dir="2700000" algn="tl">
                    <a:srgbClr val="000000">
                      <a:alpha val="43137"/>
                    </a:srgbClr>
                  </a:outerShdw>
                </a:effectLst>
              </a:rPr>
              <a:t> </a:t>
            </a:r>
            <a:r>
              <a:rPr lang="es-AR" sz="2400" u="sng" dirty="0" smtClean="0">
                <a:effectLst>
                  <a:outerShdw blurRad="38100" dist="38100" dir="2700000" algn="tl">
                    <a:srgbClr val="000000">
                      <a:alpha val="43137"/>
                    </a:srgbClr>
                  </a:outerShdw>
                </a:effectLst>
              </a:rPr>
              <a:t>Legalidad</a:t>
            </a:r>
            <a:r>
              <a:rPr lang="es-AR" sz="2400" dirty="0" smtClean="0">
                <a:effectLst>
                  <a:outerShdw blurRad="38100" dist="38100" dir="2700000" algn="tl">
                    <a:srgbClr val="000000">
                      <a:alpha val="43137"/>
                    </a:srgbClr>
                  </a:outerShdw>
                </a:effectLst>
              </a:rPr>
              <a:t> </a:t>
            </a:r>
            <a:r>
              <a:rPr lang="es-AR" sz="2000" dirty="0" smtClean="0"/>
              <a:t>(sujeto por ley)</a:t>
            </a:r>
          </a:p>
          <a:p>
            <a:pPr algn="ctr">
              <a:buFont typeface="Arial" pitchFamily="34" charset="0"/>
              <a:buChar char="•"/>
            </a:pPr>
            <a:endParaRPr lang="es-AR" sz="2400" dirty="0" smtClean="0"/>
          </a:p>
          <a:p>
            <a:pPr algn="ctr">
              <a:buFont typeface="Arial" pitchFamily="34" charset="0"/>
              <a:buChar char="•"/>
            </a:pPr>
            <a:r>
              <a:rPr lang="es-AR" sz="2400" dirty="0" smtClean="0"/>
              <a:t> </a:t>
            </a:r>
            <a:r>
              <a:rPr lang="es-AR" sz="2400" u="sng" dirty="0" err="1" smtClean="0">
                <a:effectLst>
                  <a:outerShdw blurRad="38100" dist="38100" dir="2700000" algn="tl">
                    <a:srgbClr val="000000">
                      <a:alpha val="43137"/>
                    </a:srgbClr>
                  </a:outerShdw>
                </a:effectLst>
              </a:rPr>
              <a:t>Accesoriedad</a:t>
            </a:r>
            <a:r>
              <a:rPr lang="es-AR" sz="2400" dirty="0" smtClean="0"/>
              <a:t> </a:t>
            </a:r>
            <a:r>
              <a:rPr lang="es-AR" sz="2000" dirty="0" smtClean="0"/>
              <a:t>(de obligación principal)</a:t>
            </a:r>
          </a:p>
          <a:p>
            <a:pPr algn="ctr">
              <a:buFont typeface="Arial" pitchFamily="34" charset="0"/>
              <a:buChar char="•"/>
            </a:pPr>
            <a:endParaRPr lang="es-AR" sz="2400" dirty="0" smtClean="0"/>
          </a:p>
          <a:p>
            <a:pPr algn="ctr">
              <a:buFont typeface="Arial" pitchFamily="34" charset="0"/>
              <a:buChar char="•"/>
            </a:pPr>
            <a:r>
              <a:rPr lang="es-AR" sz="2400" dirty="0" smtClean="0"/>
              <a:t> </a:t>
            </a:r>
            <a:r>
              <a:rPr lang="es-AR" sz="2400" u="sng" dirty="0" smtClean="0">
                <a:effectLst>
                  <a:outerShdw blurRad="38100" dist="38100" dir="2700000" algn="tl">
                    <a:srgbClr val="000000">
                      <a:alpha val="43137"/>
                    </a:srgbClr>
                  </a:outerShdw>
                </a:effectLst>
              </a:rPr>
              <a:t>Garantía</a:t>
            </a:r>
            <a:r>
              <a:rPr lang="es-AR" sz="2400" dirty="0" smtClean="0"/>
              <a:t> </a:t>
            </a:r>
            <a:r>
              <a:rPr lang="es-AR" sz="2000" dirty="0" smtClean="0"/>
              <a:t>(derecho repetición)</a:t>
            </a:r>
          </a:p>
          <a:p>
            <a:pPr algn="ctr">
              <a:buFont typeface="Arial" pitchFamily="34" charset="0"/>
              <a:buChar char="•"/>
            </a:pPr>
            <a:endParaRPr lang="es-AR" sz="2400" dirty="0" smtClean="0"/>
          </a:p>
          <a:p>
            <a:pPr algn="ctr">
              <a:buFont typeface="Arial" pitchFamily="34" charset="0"/>
              <a:buChar char="•"/>
            </a:pPr>
            <a:r>
              <a:rPr lang="es-AR" sz="2400" dirty="0" smtClean="0"/>
              <a:t> </a:t>
            </a:r>
            <a:r>
              <a:rPr lang="es-AR" sz="2400" u="sng" dirty="0" smtClean="0">
                <a:effectLst>
                  <a:outerShdw blurRad="38100" dist="38100" dir="2700000" algn="tl">
                    <a:srgbClr val="000000">
                      <a:alpha val="43137"/>
                    </a:srgbClr>
                  </a:outerShdw>
                </a:effectLst>
              </a:rPr>
              <a:t>Subjetividad</a:t>
            </a:r>
            <a:r>
              <a:rPr lang="es-AR" sz="2400" dirty="0" smtClean="0"/>
              <a:t> </a:t>
            </a:r>
            <a:r>
              <a:rPr lang="es-AR" sz="2000" dirty="0" smtClean="0"/>
              <a:t>(culpa o dolo)</a:t>
            </a:r>
          </a:p>
          <a:p>
            <a:pPr algn="ctr"/>
            <a:endParaRPr lang="es-AR" sz="2400" dirty="0" smtClean="0"/>
          </a:p>
          <a:p>
            <a:pPr algn="ctr">
              <a:buFont typeface="Arial" pitchFamily="34" charset="0"/>
              <a:buChar char="•"/>
            </a:pPr>
            <a:r>
              <a:rPr lang="es-AR" sz="2400" dirty="0" smtClean="0"/>
              <a:t> </a:t>
            </a:r>
            <a:r>
              <a:rPr lang="es-AR" sz="2400" u="sng" dirty="0" smtClean="0">
                <a:effectLst>
                  <a:outerShdw blurRad="38100" dist="38100" dir="2700000" algn="tl">
                    <a:srgbClr val="000000">
                      <a:alpha val="43137"/>
                    </a:srgbClr>
                  </a:outerShdw>
                </a:effectLst>
              </a:rPr>
              <a:t>Subsidiariedad</a:t>
            </a:r>
            <a:r>
              <a:rPr lang="es-AR" sz="2400" dirty="0" smtClean="0"/>
              <a:t> </a:t>
            </a:r>
            <a:r>
              <a:rPr lang="es-AR" sz="2000" dirty="0" smtClean="0"/>
              <a:t>(</a:t>
            </a:r>
            <a:r>
              <a:rPr lang="es-AR" sz="2000" dirty="0" err="1" smtClean="0"/>
              <a:t>int</a:t>
            </a:r>
            <a:r>
              <a:rPr lang="es-AR" sz="2000" dirty="0" smtClean="0"/>
              <a:t>. deudor principal)</a:t>
            </a:r>
          </a:p>
          <a:p>
            <a:pPr algn="ctr">
              <a:buFont typeface="Arial" pitchFamily="34" charset="0"/>
              <a:buChar char="•"/>
            </a:pPr>
            <a:endParaRPr lang="es-AR" sz="24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357166"/>
            <a:ext cx="8003232" cy="376000"/>
          </a:xfrm>
        </p:spPr>
        <p:txBody>
          <a:bodyPr>
            <a:normAutofit lnSpcReduction="10000"/>
          </a:bodyPr>
          <a:lstStyle/>
          <a:p>
            <a:pPr algn="ctr">
              <a:buNone/>
            </a:pPr>
            <a:r>
              <a:rPr lang="es-AR" sz="2000" b="1" u="sng" dirty="0" smtClean="0"/>
              <a:t>A NIVEL NACIONAL (Art. 8 Ley 11.683)</a:t>
            </a:r>
          </a:p>
          <a:p>
            <a:pPr>
              <a:buNone/>
            </a:pPr>
            <a:endParaRPr lang="es-AR"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18</a:t>
            </a:fld>
            <a:endParaRPr lang="es-ES" dirty="0"/>
          </a:p>
        </p:txBody>
      </p:sp>
      <p:sp>
        <p:nvSpPr>
          <p:cNvPr id="5" name="4 CuadroTexto"/>
          <p:cNvSpPr txBox="1"/>
          <p:nvPr/>
        </p:nvSpPr>
        <p:spPr>
          <a:xfrm>
            <a:off x="428596" y="-71462"/>
            <a:ext cx="8501122" cy="584775"/>
          </a:xfrm>
          <a:prstGeom prst="rect">
            <a:avLst/>
          </a:prstGeom>
          <a:noFill/>
        </p:spPr>
        <p:txBody>
          <a:bodyPr wrap="square" rtlCol="0">
            <a:spAutoFit/>
          </a:bodyPr>
          <a:lstStyle/>
          <a:p>
            <a:pPr algn="ctr"/>
            <a:r>
              <a:rPr lang="es-AR" sz="3200" b="1" dirty="0" smtClean="0">
                <a:solidFill>
                  <a:srgbClr val="FF0000"/>
                </a:solidFill>
              </a:rPr>
              <a:t>RESPONSABILIDAD SOLIDARIA (III)</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14" name="13 CuadroTexto"/>
          <p:cNvSpPr txBox="1"/>
          <p:nvPr/>
        </p:nvSpPr>
        <p:spPr>
          <a:xfrm>
            <a:off x="-32" y="214290"/>
            <a:ext cx="8929718" cy="6740307"/>
          </a:xfrm>
          <a:prstGeom prst="rect">
            <a:avLst/>
          </a:prstGeom>
          <a:noFill/>
        </p:spPr>
        <p:txBody>
          <a:bodyPr wrap="square" rtlCol="0">
            <a:spAutoFit/>
          </a:bodyPr>
          <a:lstStyle/>
          <a:p>
            <a:pPr algn="just"/>
            <a:endParaRPr lang="es-AR" dirty="0" smtClean="0"/>
          </a:p>
          <a:p>
            <a:pPr algn="just"/>
            <a:endParaRPr lang="es-AR" dirty="0" smtClean="0"/>
          </a:p>
          <a:p>
            <a:pPr algn="just">
              <a:buFont typeface="Arial" pitchFamily="34" charset="0"/>
              <a:buChar char="•"/>
            </a:pPr>
            <a:r>
              <a:rPr lang="es-AR" dirty="0" smtClean="0"/>
              <a:t> </a:t>
            </a:r>
            <a:r>
              <a:rPr lang="es-AR" b="1" dirty="0" smtClean="0"/>
              <a:t>Dictamen N° 69/91 </a:t>
            </a:r>
            <a:r>
              <a:rPr lang="es-AR" dirty="0" smtClean="0"/>
              <a:t>(DAL 12/04/2001).</a:t>
            </a:r>
          </a:p>
          <a:p>
            <a:pPr algn="just">
              <a:buFont typeface="Arial" pitchFamily="34" charset="0"/>
              <a:buChar char="•"/>
            </a:pPr>
            <a:r>
              <a:rPr lang="es-AR" b="1" dirty="0" smtClean="0"/>
              <a:t> Dictamen </a:t>
            </a:r>
            <a:r>
              <a:rPr lang="es-AR" b="1" dirty="0"/>
              <a:t>N° </a:t>
            </a:r>
            <a:r>
              <a:rPr lang="es-AR" b="1" dirty="0" smtClean="0"/>
              <a:t>79/71 </a:t>
            </a:r>
            <a:r>
              <a:rPr lang="es-AR" dirty="0"/>
              <a:t>(</a:t>
            </a:r>
            <a:r>
              <a:rPr lang="es-AR" dirty="0" err="1" smtClean="0"/>
              <a:t>DATyJ</a:t>
            </a:r>
            <a:r>
              <a:rPr lang="es-AR" dirty="0" smtClean="0"/>
              <a:t> 02/09/1971).</a:t>
            </a:r>
            <a:endParaRPr lang="es-AR" dirty="0"/>
          </a:p>
          <a:p>
            <a:pPr algn="just">
              <a:buFont typeface="Arial" pitchFamily="34" charset="0"/>
              <a:buChar char="•"/>
            </a:pPr>
            <a:r>
              <a:rPr lang="es-AR" b="1" dirty="0" smtClean="0"/>
              <a:t> Dictamen </a:t>
            </a:r>
            <a:r>
              <a:rPr lang="es-AR" b="1" dirty="0"/>
              <a:t>N° </a:t>
            </a:r>
            <a:r>
              <a:rPr lang="es-AR" b="1" dirty="0" smtClean="0"/>
              <a:t>11/86 </a:t>
            </a:r>
            <a:r>
              <a:rPr lang="es-AR" dirty="0"/>
              <a:t>(DAL </a:t>
            </a:r>
            <a:r>
              <a:rPr lang="es-AR" dirty="0" smtClean="0"/>
              <a:t>30/05/1986).</a:t>
            </a:r>
            <a:endParaRPr lang="es-AR" dirty="0"/>
          </a:p>
          <a:p>
            <a:pPr algn="just">
              <a:buFont typeface="Arial" pitchFamily="34" charset="0"/>
              <a:buChar char="•"/>
            </a:pPr>
            <a:r>
              <a:rPr lang="es-AR" dirty="0" smtClean="0"/>
              <a:t> </a:t>
            </a:r>
            <a:r>
              <a:rPr lang="es-AR" b="1" dirty="0" smtClean="0"/>
              <a:t>Monasterio Da Silva, Ernesto.</a:t>
            </a:r>
            <a:r>
              <a:rPr lang="es-AR" dirty="0" smtClean="0"/>
              <a:t> CSJN, 2/10/1970; CNACAF, Sala I, 8/6/1970; TFN 5/08/1966.”El director de una sociedad anónima no puede ser declarado solidario del cumplimiento de una deuda impositiva, si no ha administrado o dispuesto los fondos sociales…”.</a:t>
            </a:r>
          </a:p>
          <a:p>
            <a:pPr algn="just">
              <a:buFont typeface="Arial" pitchFamily="34" charset="0"/>
              <a:buChar char="•"/>
            </a:pPr>
            <a:r>
              <a:rPr lang="es-AR" dirty="0" smtClean="0"/>
              <a:t> </a:t>
            </a:r>
            <a:r>
              <a:rPr lang="es-AR" b="1" dirty="0" err="1" smtClean="0"/>
              <a:t>Veiga</a:t>
            </a:r>
            <a:r>
              <a:rPr lang="es-AR" b="1" dirty="0" smtClean="0"/>
              <a:t>, José Guillermo </a:t>
            </a:r>
            <a:r>
              <a:rPr lang="es-AR" dirty="0" smtClean="0"/>
              <a:t>s/Apelación. Impuesto al valor agregado. TFN, Sala A, de fecha 02/02/2001). “…el presupuesto general de la responsabilidad que les compete a título personal es el incumplimiento de sus deberes, es decir, que no basta el incumplimiento, sino que debe ser imputable…”).</a:t>
            </a:r>
          </a:p>
          <a:p>
            <a:pPr algn="just">
              <a:buFont typeface="Arial" pitchFamily="34" charset="0"/>
              <a:buChar char="•"/>
            </a:pPr>
            <a:r>
              <a:rPr lang="es-AR" b="1" dirty="0" err="1" smtClean="0"/>
              <a:t>Brogger</a:t>
            </a:r>
            <a:r>
              <a:rPr lang="es-AR" b="1" dirty="0" smtClean="0"/>
              <a:t>, Luis. CNFCA. Sala I. 28/10/1999.</a:t>
            </a:r>
            <a:r>
              <a:rPr lang="es-AR" dirty="0" smtClean="0"/>
              <a:t> La cesión de las cuotas sociales y el cese del cargo a posteriori del periodo bajo responsabilidad solidaria no es causal de eximición de la misma.</a:t>
            </a:r>
          </a:p>
          <a:p>
            <a:pPr algn="just">
              <a:buFont typeface="Arial" pitchFamily="34" charset="0"/>
              <a:buChar char="•"/>
            </a:pPr>
            <a:r>
              <a:rPr lang="es-AR" dirty="0" smtClean="0"/>
              <a:t> </a:t>
            </a:r>
            <a:r>
              <a:rPr lang="es-AR" b="1" dirty="0" smtClean="0"/>
              <a:t>Salvatierra, Mario R. Plenario TFN.2/10/75. </a:t>
            </a:r>
            <a:r>
              <a:rPr lang="es-AR" dirty="0" smtClean="0"/>
              <a:t>La interrupción de la prescripción rige para el deudor principal y para los responsables solidarios.</a:t>
            </a:r>
          </a:p>
          <a:p>
            <a:pPr algn="ctr"/>
            <a:r>
              <a:rPr lang="es-AR" b="1" u="sng" dirty="0" smtClean="0"/>
              <a:t>Provincia de Buenos Aires </a:t>
            </a:r>
          </a:p>
          <a:p>
            <a:pPr algn="ctr"/>
            <a:r>
              <a:rPr lang="es-AR" b="1" dirty="0" smtClean="0"/>
              <a:t>“Toledo, Juan Antonio c/ARBA s/ incidente de revisión”. SCPBA. 30/08/2021.</a:t>
            </a:r>
          </a:p>
          <a:p>
            <a:pPr algn="ctr"/>
            <a:r>
              <a:rPr lang="es-AR" b="1" dirty="0" smtClean="0"/>
              <a:t>  (Inadmisible Queja/ </a:t>
            </a:r>
            <a:r>
              <a:rPr lang="es-AR" b="1" dirty="0" err="1" smtClean="0"/>
              <a:t>Rec</a:t>
            </a:r>
            <a:r>
              <a:rPr lang="es-AR" b="1" dirty="0" smtClean="0"/>
              <a:t>. Extraordinario -. CSJN. 04/07/23).</a:t>
            </a:r>
          </a:p>
          <a:p>
            <a:pPr algn="ctr"/>
            <a:r>
              <a:rPr lang="es-AR" b="1" u="sng" dirty="0" smtClean="0"/>
              <a:t>Provincia de Santa Fe</a:t>
            </a:r>
          </a:p>
          <a:p>
            <a:pPr algn="ctr"/>
            <a:r>
              <a:rPr lang="es-AR" b="1" dirty="0" err="1" smtClean="0"/>
              <a:t>Dict</a:t>
            </a:r>
            <a:r>
              <a:rPr lang="es-AR" b="1" dirty="0" smtClean="0"/>
              <a:t>. 77/24 (22/02/24). </a:t>
            </a:r>
            <a:r>
              <a:rPr lang="es-AR" b="1" dirty="0" err="1" smtClean="0"/>
              <a:t>Resp</a:t>
            </a:r>
            <a:r>
              <a:rPr lang="es-AR" b="1" dirty="0" smtClean="0"/>
              <a:t>. subsidiaria pero objetiva.</a:t>
            </a:r>
            <a:r>
              <a:rPr lang="es-AR" b="1" u="sng" dirty="0" smtClean="0"/>
              <a:t> (Ag. Inst. / Onerosidad)</a:t>
            </a:r>
          </a:p>
          <a:p>
            <a:pPr algn="ctr"/>
            <a:endParaRPr lang="es-AR" b="1" dirty="0" smtClean="0"/>
          </a:p>
          <a:p>
            <a:pPr algn="just"/>
            <a:endParaRPr lang="es-AR"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785794"/>
            <a:ext cx="8003232" cy="376000"/>
          </a:xfrm>
        </p:spPr>
        <p:txBody>
          <a:bodyPr>
            <a:normAutofit lnSpcReduction="10000"/>
          </a:bodyPr>
          <a:lstStyle/>
          <a:p>
            <a:pPr algn="ctr">
              <a:buNone/>
            </a:pPr>
            <a:r>
              <a:rPr lang="es-AR" sz="2000" b="1" u="sng" dirty="0" smtClean="0">
                <a:solidFill>
                  <a:srgbClr val="163F9A"/>
                </a:solidFill>
              </a:rPr>
              <a:t>A NIVEL NACIONAL (Art. 8 Ley 11.683)</a:t>
            </a:r>
          </a:p>
          <a:p>
            <a:pPr>
              <a:buNone/>
            </a:pPr>
            <a:endParaRPr lang="es-AR"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19</a:t>
            </a:fld>
            <a:endParaRPr lang="es-ES" dirty="0"/>
          </a:p>
        </p:txBody>
      </p:sp>
      <p:sp>
        <p:nvSpPr>
          <p:cNvPr id="5" name="4 CuadroTexto"/>
          <p:cNvSpPr txBox="1"/>
          <p:nvPr/>
        </p:nvSpPr>
        <p:spPr>
          <a:xfrm>
            <a:off x="607382" y="214290"/>
            <a:ext cx="8501122" cy="584775"/>
          </a:xfrm>
          <a:prstGeom prst="rect">
            <a:avLst/>
          </a:prstGeom>
          <a:noFill/>
        </p:spPr>
        <p:txBody>
          <a:bodyPr wrap="square" rtlCol="0">
            <a:spAutoFit/>
          </a:bodyPr>
          <a:lstStyle/>
          <a:p>
            <a:pPr algn="ctr"/>
            <a:r>
              <a:rPr lang="es-AR" sz="3200" b="1" dirty="0" smtClean="0">
                <a:solidFill>
                  <a:srgbClr val="FF0000"/>
                </a:solidFill>
              </a:rPr>
              <a:t>RESPONSABILIDAD SOLIDARIA (IV)</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14" name="13 CuadroTexto"/>
          <p:cNvSpPr txBox="1"/>
          <p:nvPr/>
        </p:nvSpPr>
        <p:spPr>
          <a:xfrm>
            <a:off x="142844" y="1214422"/>
            <a:ext cx="8858248" cy="5324535"/>
          </a:xfrm>
          <a:prstGeom prst="rect">
            <a:avLst/>
          </a:prstGeom>
          <a:noFill/>
        </p:spPr>
        <p:txBody>
          <a:bodyPr wrap="square" rtlCol="0">
            <a:spAutoFit/>
          </a:bodyPr>
          <a:lstStyle/>
          <a:p>
            <a:pPr algn="just">
              <a:buFont typeface="Arial" pitchFamily="34" charset="0"/>
              <a:buChar char="•"/>
            </a:pPr>
            <a:r>
              <a:rPr lang="es-AR" sz="2000" dirty="0" smtClean="0"/>
              <a:t> En primer lugar solicitar vista expediente D.O. Entidad y D.O. RS.</a:t>
            </a:r>
          </a:p>
          <a:p>
            <a:pPr algn="just">
              <a:buFont typeface="Arial" pitchFamily="34" charset="0"/>
              <a:buChar char="•"/>
            </a:pPr>
            <a:r>
              <a:rPr lang="es-AR" sz="2000" dirty="0" smtClean="0"/>
              <a:t> Tiene derecho a cuestionar y aportar pruebas sobre la liquidación hecha a la entidad. </a:t>
            </a:r>
          </a:p>
          <a:p>
            <a:pPr algn="just">
              <a:buFont typeface="Arial" pitchFamily="34" charset="0"/>
              <a:buChar char="•"/>
            </a:pPr>
            <a:r>
              <a:rPr lang="es-AR" sz="2000" dirty="0" smtClean="0"/>
              <a:t> Dejar sentado todas las acciones tendientes a regularizar determinadas situaciones fiscales.</a:t>
            </a:r>
          </a:p>
          <a:p>
            <a:pPr algn="just">
              <a:buFont typeface="Arial" pitchFamily="34" charset="0"/>
              <a:buChar char="•"/>
            </a:pPr>
            <a:r>
              <a:rPr lang="es-AR" sz="2000" dirty="0" smtClean="0"/>
              <a:t> Documentar la realidad económica de las operaciones.</a:t>
            </a:r>
          </a:p>
          <a:p>
            <a:pPr algn="just">
              <a:buFont typeface="Arial" pitchFamily="34" charset="0"/>
              <a:buChar char="•"/>
            </a:pPr>
            <a:r>
              <a:rPr lang="es-AR" sz="2000" dirty="0" smtClean="0"/>
              <a:t> Dejar sentado la voluntad de cada uno de los integrantes del Consejo Directivo que fundamentan las decisiones.</a:t>
            </a:r>
          </a:p>
          <a:p>
            <a:pPr algn="just">
              <a:buFont typeface="Arial" pitchFamily="34" charset="0"/>
              <a:buChar char="•"/>
            </a:pPr>
            <a:r>
              <a:rPr lang="es-AR" sz="2000" dirty="0" smtClean="0"/>
              <a:t>  Determinar si su función involucraba o no el manejo o disposición de fondos.</a:t>
            </a:r>
          </a:p>
          <a:p>
            <a:pPr algn="just">
              <a:buFont typeface="Arial" pitchFamily="34" charset="0"/>
              <a:buChar char="•"/>
            </a:pPr>
            <a:r>
              <a:rPr lang="es-AR" sz="2000" dirty="0" smtClean="0"/>
              <a:t> Determinar si su función contemplaba funciones administrativas específicas en materia tributaria.</a:t>
            </a:r>
          </a:p>
          <a:p>
            <a:pPr algn="just">
              <a:buFont typeface="Arial" pitchFamily="34" charset="0"/>
              <a:buChar char="•"/>
            </a:pPr>
            <a:r>
              <a:rPr lang="es-AR" sz="2000" dirty="0" smtClean="0"/>
              <a:t> Determinar si el desempeño fue realizado cumpliendo con todas las disposiciones legales de su función.</a:t>
            </a:r>
          </a:p>
          <a:p>
            <a:pPr algn="just">
              <a:buFont typeface="Arial" pitchFamily="34" charset="0"/>
              <a:buChar char="•"/>
            </a:pPr>
            <a:r>
              <a:rPr lang="es-AR" sz="2000" dirty="0" smtClean="0"/>
              <a:t> Determinar si la contabilidad y los libros contables y sociales fueron llevados en legal forma.</a:t>
            </a:r>
          </a:p>
          <a:p>
            <a:pPr algn="just">
              <a:buFont typeface="Arial" pitchFamily="34" charset="0"/>
              <a:buChar char="•"/>
            </a:pPr>
            <a:r>
              <a:rPr lang="es-AR" sz="2000" dirty="0" smtClean="0"/>
              <a:t> Voluntad de solicitar plan de pagos.</a:t>
            </a:r>
          </a:p>
          <a:p>
            <a:pPr algn="just">
              <a:buFont typeface="Arial" pitchFamily="34" charset="0"/>
              <a:buChar char="•"/>
            </a:pPr>
            <a:endParaRPr lang="es-AR" sz="2000"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785794"/>
            <a:ext cx="8003232" cy="376000"/>
          </a:xfrm>
        </p:spPr>
        <p:txBody>
          <a:bodyPr>
            <a:normAutofit lnSpcReduction="10000"/>
          </a:bodyPr>
          <a:lstStyle/>
          <a:p>
            <a:pPr algn="ctr">
              <a:buNone/>
            </a:pPr>
            <a:r>
              <a:rPr lang="es-AR" sz="2000" b="1" u="sng" dirty="0" smtClean="0">
                <a:solidFill>
                  <a:srgbClr val="163F9A"/>
                </a:solidFill>
              </a:rPr>
              <a:t>Ley 27.430. Delitos Tributarios y Previsionales</a:t>
            </a:r>
          </a:p>
          <a:p>
            <a:pPr>
              <a:buNone/>
            </a:pPr>
            <a:endParaRPr lang="es-AR"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20</a:t>
            </a:fld>
            <a:endParaRPr lang="es-ES" dirty="0"/>
          </a:p>
        </p:txBody>
      </p:sp>
      <p:sp>
        <p:nvSpPr>
          <p:cNvPr id="5" name="4 CuadroTexto"/>
          <p:cNvSpPr txBox="1"/>
          <p:nvPr/>
        </p:nvSpPr>
        <p:spPr>
          <a:xfrm>
            <a:off x="285720" y="214290"/>
            <a:ext cx="8822784" cy="584775"/>
          </a:xfrm>
          <a:prstGeom prst="rect">
            <a:avLst/>
          </a:prstGeom>
          <a:noFill/>
        </p:spPr>
        <p:txBody>
          <a:bodyPr wrap="square" rtlCol="0">
            <a:spAutoFit/>
          </a:bodyPr>
          <a:lstStyle/>
          <a:p>
            <a:pPr algn="ctr"/>
            <a:r>
              <a:rPr lang="es-AR" sz="3200" b="1" dirty="0" smtClean="0">
                <a:solidFill>
                  <a:srgbClr val="FF0000"/>
                </a:solidFill>
              </a:rPr>
              <a:t>RESPONSABILIDAD PENAL TRIBUTARIA (I)</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14" name="13 CuadroTexto"/>
          <p:cNvSpPr txBox="1"/>
          <p:nvPr/>
        </p:nvSpPr>
        <p:spPr>
          <a:xfrm>
            <a:off x="142844" y="1052736"/>
            <a:ext cx="8858248" cy="4832092"/>
          </a:xfrm>
          <a:prstGeom prst="rect">
            <a:avLst/>
          </a:prstGeom>
          <a:noFill/>
        </p:spPr>
        <p:txBody>
          <a:bodyPr wrap="square" rtlCol="0">
            <a:spAutoFit/>
          </a:bodyPr>
          <a:lstStyle/>
          <a:p>
            <a:pPr algn="just"/>
            <a:endParaRPr lang="es-AR" sz="2200" dirty="0" smtClean="0"/>
          </a:p>
          <a:p>
            <a:pPr algn="just">
              <a:buFont typeface="Arial" pitchFamily="34" charset="0"/>
              <a:buChar char="•"/>
            </a:pPr>
            <a:r>
              <a:rPr lang="es-AR" sz="2200" dirty="0" smtClean="0"/>
              <a:t> Ardid / Engaño.</a:t>
            </a:r>
          </a:p>
          <a:p>
            <a:pPr algn="just">
              <a:buFont typeface="Arial" pitchFamily="34" charset="0"/>
              <a:buChar char="•"/>
            </a:pPr>
            <a:endParaRPr lang="es-AR" sz="2200" dirty="0" smtClean="0"/>
          </a:p>
          <a:p>
            <a:pPr algn="just">
              <a:buFont typeface="Arial" pitchFamily="34" charset="0"/>
              <a:buChar char="•"/>
            </a:pPr>
            <a:r>
              <a:rPr lang="es-AR" sz="2200" dirty="0" smtClean="0"/>
              <a:t> Declaraciones engañosas u ocultaciones maliciosas.</a:t>
            </a:r>
          </a:p>
          <a:p>
            <a:pPr algn="just"/>
            <a:endParaRPr lang="es-AR" sz="2200" dirty="0" smtClean="0"/>
          </a:p>
          <a:p>
            <a:pPr algn="just">
              <a:buFont typeface="Arial" pitchFamily="34" charset="0"/>
              <a:buChar char="•"/>
            </a:pPr>
            <a:r>
              <a:rPr lang="es-AR" sz="2200" dirty="0" smtClean="0"/>
              <a:t> Acción u Omisión.</a:t>
            </a:r>
          </a:p>
          <a:p>
            <a:pPr algn="just">
              <a:buFont typeface="Arial" pitchFamily="34" charset="0"/>
              <a:buChar char="•"/>
            </a:pPr>
            <a:endParaRPr lang="es-AR" sz="2200" dirty="0" smtClean="0"/>
          </a:p>
          <a:p>
            <a:pPr algn="just">
              <a:buFont typeface="Arial" pitchFamily="34" charset="0"/>
              <a:buChar char="•"/>
            </a:pPr>
            <a:r>
              <a:rPr lang="es-AR" sz="2200" dirty="0" smtClean="0"/>
              <a:t> Obtención fraudulenta de beneficios fiscales.</a:t>
            </a:r>
          </a:p>
          <a:p>
            <a:pPr algn="just">
              <a:buFont typeface="Arial" pitchFamily="34" charset="0"/>
              <a:buChar char="•"/>
            </a:pPr>
            <a:endParaRPr lang="es-AR" sz="2200" dirty="0" smtClean="0"/>
          </a:p>
          <a:p>
            <a:pPr algn="just">
              <a:buFont typeface="Arial" pitchFamily="34" charset="0"/>
              <a:buChar char="•"/>
            </a:pPr>
            <a:r>
              <a:rPr lang="es-AR" sz="2200" dirty="0" smtClean="0"/>
              <a:t> Insolvencia fiscal fraudulenta.</a:t>
            </a:r>
          </a:p>
          <a:p>
            <a:pPr algn="just">
              <a:buFont typeface="Arial" pitchFamily="34" charset="0"/>
              <a:buChar char="•"/>
            </a:pPr>
            <a:endParaRPr lang="es-AR" sz="2200" dirty="0" smtClean="0"/>
          </a:p>
          <a:p>
            <a:pPr algn="just">
              <a:buFont typeface="Arial" pitchFamily="34" charset="0"/>
              <a:buChar char="•"/>
            </a:pPr>
            <a:r>
              <a:rPr lang="es-AR" sz="2200" dirty="0" smtClean="0"/>
              <a:t> Simulación dolosa de cancelación de obligaciones.</a:t>
            </a:r>
          </a:p>
          <a:p>
            <a:pPr algn="just">
              <a:buFont typeface="Arial" pitchFamily="34" charset="0"/>
              <a:buChar char="•"/>
            </a:pPr>
            <a:endParaRPr lang="es-AR" sz="2200" dirty="0" smtClean="0"/>
          </a:p>
          <a:p>
            <a:pPr algn="just">
              <a:buFont typeface="Arial" pitchFamily="34" charset="0"/>
              <a:buChar char="•"/>
            </a:pPr>
            <a:r>
              <a:rPr lang="es-AR" sz="2200" dirty="0" smtClean="0"/>
              <a:t> Alteración dolosa de registros.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785794"/>
            <a:ext cx="8003232" cy="376000"/>
          </a:xfrm>
        </p:spPr>
        <p:txBody>
          <a:bodyPr>
            <a:normAutofit lnSpcReduction="10000"/>
          </a:bodyPr>
          <a:lstStyle/>
          <a:p>
            <a:pPr algn="ctr">
              <a:buNone/>
            </a:pPr>
            <a:r>
              <a:rPr lang="es-AR" sz="2000" b="1" u="sng" dirty="0" smtClean="0">
                <a:solidFill>
                  <a:srgbClr val="163F9A"/>
                </a:solidFill>
              </a:rPr>
              <a:t>Ley 27.430. Delitos Tributarios </a:t>
            </a:r>
            <a:endParaRPr lang="es-AR" dirty="0" smtClean="0">
              <a:solidFill>
                <a:srgbClr val="163F9A"/>
              </a:solidFill>
            </a:endParaRPr>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21</a:t>
            </a:fld>
            <a:endParaRPr lang="es-ES" dirty="0"/>
          </a:p>
        </p:txBody>
      </p:sp>
      <p:sp>
        <p:nvSpPr>
          <p:cNvPr id="5" name="4 CuadroTexto"/>
          <p:cNvSpPr txBox="1"/>
          <p:nvPr/>
        </p:nvSpPr>
        <p:spPr>
          <a:xfrm>
            <a:off x="285720" y="188640"/>
            <a:ext cx="8822784" cy="584775"/>
          </a:xfrm>
          <a:prstGeom prst="rect">
            <a:avLst/>
          </a:prstGeom>
          <a:noFill/>
        </p:spPr>
        <p:txBody>
          <a:bodyPr wrap="square" rtlCol="0">
            <a:spAutoFit/>
          </a:bodyPr>
          <a:lstStyle/>
          <a:p>
            <a:pPr algn="ctr"/>
            <a:r>
              <a:rPr lang="es-AR" sz="3200" b="1" dirty="0" smtClean="0">
                <a:solidFill>
                  <a:srgbClr val="FF0000"/>
                </a:solidFill>
              </a:rPr>
              <a:t>RESPONSABILIDAD PENAL TRIBUTARIA (II)</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14" name="13 CuadroTexto"/>
          <p:cNvSpPr txBox="1"/>
          <p:nvPr/>
        </p:nvSpPr>
        <p:spPr>
          <a:xfrm>
            <a:off x="142844" y="1052736"/>
            <a:ext cx="8858248" cy="769441"/>
          </a:xfrm>
          <a:prstGeom prst="rect">
            <a:avLst/>
          </a:prstGeom>
          <a:noFill/>
        </p:spPr>
        <p:txBody>
          <a:bodyPr wrap="square" rtlCol="0">
            <a:spAutoFit/>
          </a:bodyPr>
          <a:lstStyle/>
          <a:p>
            <a:pPr algn="just"/>
            <a:endParaRPr lang="es-AR" sz="2200" dirty="0" smtClean="0"/>
          </a:p>
          <a:p>
            <a:pPr algn="ctr"/>
            <a:r>
              <a:rPr lang="es-AR" sz="2200" b="1" dirty="0" smtClean="0"/>
              <a:t>Condición Objetiva de Punibilidad</a:t>
            </a:r>
          </a:p>
        </p:txBody>
      </p:sp>
      <p:graphicFrame>
        <p:nvGraphicFramePr>
          <p:cNvPr id="9" name="8 Tabla"/>
          <p:cNvGraphicFramePr>
            <a:graphicFrameLocks noGrp="1"/>
          </p:cNvGraphicFramePr>
          <p:nvPr/>
        </p:nvGraphicFramePr>
        <p:xfrm>
          <a:off x="755576" y="1844824"/>
          <a:ext cx="7200800" cy="405384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xmlns="" val="20000"/>
                    </a:ext>
                  </a:extLst>
                </a:gridCol>
                <a:gridCol w="1728192">
                  <a:extLst>
                    <a:ext uri="{9D8B030D-6E8A-4147-A177-3AD203B41FA5}">
                      <a16:colId xmlns:a16="http://schemas.microsoft.com/office/drawing/2014/main" xmlns="" val="20001"/>
                    </a:ext>
                  </a:extLst>
                </a:gridCol>
                <a:gridCol w="2592288">
                  <a:extLst>
                    <a:ext uri="{9D8B030D-6E8A-4147-A177-3AD203B41FA5}">
                      <a16:colId xmlns:a16="http://schemas.microsoft.com/office/drawing/2014/main" xmlns="" val="20002"/>
                    </a:ext>
                  </a:extLst>
                </a:gridCol>
              </a:tblGrid>
              <a:tr h="370840">
                <a:tc>
                  <a:txBody>
                    <a:bodyPr/>
                    <a:lstStyle/>
                    <a:p>
                      <a:pPr algn="ctr"/>
                      <a:r>
                        <a:rPr lang="es-AR" dirty="0" smtClean="0"/>
                        <a:t>TIPO </a:t>
                      </a:r>
                      <a:endParaRPr lang="es-ES" dirty="0"/>
                    </a:p>
                  </a:txBody>
                  <a:tcPr/>
                </a:tc>
                <a:tc>
                  <a:txBody>
                    <a:bodyPr/>
                    <a:lstStyle/>
                    <a:p>
                      <a:pPr algn="ctr"/>
                      <a:r>
                        <a:rPr lang="es-AR" dirty="0" smtClean="0"/>
                        <a:t>Monto</a:t>
                      </a:r>
                      <a:endParaRPr lang="es-ES" dirty="0"/>
                    </a:p>
                  </a:txBody>
                  <a:tcPr/>
                </a:tc>
                <a:tc>
                  <a:txBody>
                    <a:bodyPr/>
                    <a:lstStyle/>
                    <a:p>
                      <a:pPr algn="ctr"/>
                      <a:r>
                        <a:rPr lang="es-AR" dirty="0" smtClean="0"/>
                        <a:t>Pena</a:t>
                      </a:r>
                      <a:endParaRPr lang="es-ES" dirty="0"/>
                    </a:p>
                  </a:txBody>
                  <a:tcPr/>
                </a:tc>
                <a:extLst>
                  <a:ext uri="{0D108BD9-81ED-4DB2-BD59-A6C34878D82A}">
                    <a16:rowId xmlns:a16="http://schemas.microsoft.com/office/drawing/2014/main" xmlns="" val="10000"/>
                  </a:ext>
                </a:extLst>
              </a:tr>
              <a:tr h="370840">
                <a:tc>
                  <a:txBody>
                    <a:bodyPr/>
                    <a:lstStyle/>
                    <a:p>
                      <a:pPr algn="ctr"/>
                      <a:r>
                        <a:rPr lang="es-AR" b="1" dirty="0" smtClean="0">
                          <a:solidFill>
                            <a:srgbClr val="FF0000"/>
                          </a:solidFill>
                        </a:rPr>
                        <a:t>Evasión Simple </a:t>
                      </a:r>
                    </a:p>
                    <a:p>
                      <a:pPr algn="ctr"/>
                      <a:r>
                        <a:rPr lang="es-AR" sz="1500" b="1" dirty="0" smtClean="0">
                          <a:solidFill>
                            <a:srgbClr val="FF0000"/>
                          </a:solidFill>
                        </a:rPr>
                        <a:t> (por tributo/año)</a:t>
                      </a:r>
                      <a:endParaRPr lang="es-ES" sz="1500" b="1" dirty="0">
                        <a:solidFill>
                          <a:srgbClr val="FF0000"/>
                        </a:solidFill>
                      </a:endParaRPr>
                    </a:p>
                  </a:txBody>
                  <a:tcPr/>
                </a:tc>
                <a:tc>
                  <a:txBody>
                    <a:bodyPr/>
                    <a:lstStyle/>
                    <a:p>
                      <a:r>
                        <a:rPr lang="es-AR" dirty="0" smtClean="0"/>
                        <a:t>$ 1,5 m </a:t>
                      </a:r>
                      <a:endParaRPr lang="es-ES" dirty="0"/>
                    </a:p>
                  </a:txBody>
                  <a:tcPr/>
                </a:tc>
                <a:tc>
                  <a:txBody>
                    <a:bodyPr/>
                    <a:lstStyle/>
                    <a:p>
                      <a:r>
                        <a:rPr lang="es-AR" dirty="0" smtClean="0"/>
                        <a:t>2 a 6 años</a:t>
                      </a:r>
                      <a:endParaRPr lang="es-ES" dirty="0"/>
                    </a:p>
                  </a:txBody>
                  <a:tcPr/>
                </a:tc>
                <a:extLst>
                  <a:ext uri="{0D108BD9-81ED-4DB2-BD59-A6C34878D82A}">
                    <a16:rowId xmlns:a16="http://schemas.microsoft.com/office/drawing/2014/main" xmlns="" val="10001"/>
                  </a:ext>
                </a:extLst>
              </a:tr>
              <a:tr h="370840">
                <a:tc>
                  <a:txBody>
                    <a:bodyPr/>
                    <a:lstStyle/>
                    <a:p>
                      <a:pPr algn="ctr"/>
                      <a:r>
                        <a:rPr lang="es-AR" b="1" dirty="0" smtClean="0">
                          <a:solidFill>
                            <a:srgbClr val="FF0000"/>
                          </a:solidFill>
                        </a:rPr>
                        <a:t>Evasión agravada</a:t>
                      </a:r>
                    </a:p>
                    <a:p>
                      <a:pPr algn="ctr"/>
                      <a:r>
                        <a:rPr lang="es-AR" sz="1500" b="1" dirty="0" smtClean="0">
                          <a:solidFill>
                            <a:srgbClr val="FF0000"/>
                          </a:solidFill>
                        </a:rPr>
                        <a:t>(por tributo/año)</a:t>
                      </a:r>
                      <a:endParaRPr lang="es-ES" sz="1500" b="1" dirty="0">
                        <a:solidFill>
                          <a:srgbClr val="FF0000"/>
                        </a:solidFill>
                      </a:endParaRPr>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xmlns="" val="10002"/>
                  </a:ext>
                </a:extLst>
              </a:tr>
              <a:tr h="370840">
                <a:tc>
                  <a:txBody>
                    <a:bodyPr/>
                    <a:lstStyle/>
                    <a:p>
                      <a:r>
                        <a:rPr lang="es-AR" sz="1500" dirty="0" smtClean="0"/>
                        <a:t>    Monto mayor a</a:t>
                      </a:r>
                      <a:endParaRPr lang="es-ES" sz="1500" dirty="0"/>
                    </a:p>
                  </a:txBody>
                  <a:tcPr/>
                </a:tc>
                <a:tc>
                  <a:txBody>
                    <a:bodyPr/>
                    <a:lstStyle/>
                    <a:p>
                      <a:r>
                        <a:rPr lang="es-AR" dirty="0" smtClean="0"/>
                        <a:t>$ 15 m </a:t>
                      </a:r>
                      <a:endParaRPr lang="es-ES" dirty="0"/>
                    </a:p>
                  </a:txBody>
                  <a:tcPr/>
                </a:tc>
                <a:tc>
                  <a:txBody>
                    <a:bodyPr/>
                    <a:lstStyle/>
                    <a:p>
                      <a:r>
                        <a:rPr lang="es-AR" dirty="0" smtClean="0"/>
                        <a:t>3 años y 6 m a 9 años</a:t>
                      </a:r>
                      <a:endParaRPr lang="es-ES" dirty="0"/>
                    </a:p>
                  </a:txBody>
                  <a:tcPr/>
                </a:tc>
                <a:extLst>
                  <a:ext uri="{0D108BD9-81ED-4DB2-BD59-A6C34878D82A}">
                    <a16:rowId xmlns:a16="http://schemas.microsoft.com/office/drawing/2014/main" xmlns="" val="10003"/>
                  </a:ext>
                </a:extLst>
              </a:tr>
              <a:tr h="370840">
                <a:tc>
                  <a:txBody>
                    <a:bodyPr/>
                    <a:lstStyle/>
                    <a:p>
                      <a:r>
                        <a:rPr lang="es-AR" sz="1500" dirty="0" smtClean="0"/>
                        <a:t>(Personas interpuestas)</a:t>
                      </a:r>
                      <a:endParaRPr lang="es-ES" sz="1500" dirty="0"/>
                    </a:p>
                  </a:txBody>
                  <a:tcPr/>
                </a:tc>
                <a:tc>
                  <a:txBody>
                    <a:bodyPr/>
                    <a:lstStyle/>
                    <a:p>
                      <a:r>
                        <a:rPr lang="es-AR" dirty="0" smtClean="0"/>
                        <a:t>$ 2 m </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dirty="0" smtClean="0"/>
                        <a:t>3 años y 6 m a 9 años</a:t>
                      </a:r>
                      <a:endParaRPr lang="es-ES" dirty="0" smtClean="0"/>
                    </a:p>
                  </a:txBody>
                  <a:tcPr/>
                </a:tc>
                <a:extLst>
                  <a:ext uri="{0D108BD9-81ED-4DB2-BD59-A6C34878D82A}">
                    <a16:rowId xmlns:a16="http://schemas.microsoft.com/office/drawing/2014/main" xmlns="" val="10004"/>
                  </a:ext>
                </a:extLst>
              </a:tr>
              <a:tr h="370840">
                <a:tc>
                  <a:txBody>
                    <a:bodyPr/>
                    <a:lstStyle/>
                    <a:p>
                      <a:r>
                        <a:rPr lang="es-AR" sz="1500" dirty="0" smtClean="0"/>
                        <a:t>(</a:t>
                      </a:r>
                      <a:r>
                        <a:rPr lang="es-AR" sz="1500" dirty="0" err="1" smtClean="0"/>
                        <a:t>Util</a:t>
                      </a:r>
                      <a:r>
                        <a:rPr lang="es-AR" sz="1500" dirty="0" smtClean="0"/>
                        <a:t>. </a:t>
                      </a:r>
                      <a:r>
                        <a:rPr lang="es-AR" sz="1500" dirty="0" err="1" smtClean="0"/>
                        <a:t>fraud</a:t>
                      </a:r>
                      <a:r>
                        <a:rPr lang="es-AR" sz="1500" dirty="0" smtClean="0"/>
                        <a:t>. Exenciones)</a:t>
                      </a:r>
                      <a:endParaRPr lang="es-ES" sz="1500" dirty="0"/>
                    </a:p>
                  </a:txBody>
                  <a:tcPr/>
                </a:tc>
                <a:tc>
                  <a:txBody>
                    <a:bodyPr/>
                    <a:lstStyle/>
                    <a:p>
                      <a:r>
                        <a:rPr lang="es-AR" dirty="0" smtClean="0"/>
                        <a:t>$ 2 m</a:t>
                      </a:r>
                      <a:r>
                        <a:rPr lang="es-AR" baseline="0" dirty="0" smtClean="0"/>
                        <a:t> </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dirty="0" smtClean="0"/>
                        <a:t>3 años y 6 m a 9 años</a:t>
                      </a:r>
                      <a:endParaRPr lang="es-ES" dirty="0" smtClean="0"/>
                    </a:p>
                  </a:txBody>
                  <a:tcPr/>
                </a:tc>
                <a:extLst>
                  <a:ext uri="{0D108BD9-81ED-4DB2-BD59-A6C34878D82A}">
                    <a16:rowId xmlns:a16="http://schemas.microsoft.com/office/drawing/2014/main" xmlns="" val="10005"/>
                  </a:ext>
                </a:extLst>
              </a:tr>
              <a:tr h="370840">
                <a:tc>
                  <a:txBody>
                    <a:bodyPr/>
                    <a:lstStyle/>
                    <a:p>
                      <a:r>
                        <a:rPr lang="es-AR" sz="1500" dirty="0" smtClean="0"/>
                        <a:t>(Facturas apócrifas)</a:t>
                      </a:r>
                      <a:endParaRPr lang="es-ES" sz="1500" dirty="0"/>
                    </a:p>
                  </a:txBody>
                  <a:tcPr/>
                </a:tc>
                <a:tc>
                  <a:txBody>
                    <a:bodyPr/>
                    <a:lstStyle/>
                    <a:p>
                      <a:r>
                        <a:rPr lang="es-AR" dirty="0" smtClean="0"/>
                        <a:t>$ 2 m</a:t>
                      </a:r>
                      <a:r>
                        <a:rPr lang="es-AR" baseline="0" dirty="0" smtClean="0"/>
                        <a:t> </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dirty="0" smtClean="0"/>
                        <a:t>3 años y 6 m a 9 años</a:t>
                      </a:r>
                      <a:endParaRPr lang="es-ES" dirty="0" smtClean="0"/>
                    </a:p>
                  </a:txBody>
                  <a:tcPr/>
                </a:tc>
                <a:extLst>
                  <a:ext uri="{0D108BD9-81ED-4DB2-BD59-A6C34878D82A}">
                    <a16:rowId xmlns:a16="http://schemas.microsoft.com/office/drawing/2014/main" xmlns="" val="10006"/>
                  </a:ext>
                </a:extLst>
              </a:tr>
              <a:tr h="370840">
                <a:tc>
                  <a:txBody>
                    <a:bodyPr/>
                    <a:lstStyle/>
                    <a:p>
                      <a:pPr algn="ctr"/>
                      <a:r>
                        <a:rPr lang="es-AR" b="1" dirty="0" err="1" smtClean="0">
                          <a:solidFill>
                            <a:srgbClr val="FF0000"/>
                          </a:solidFill>
                        </a:rPr>
                        <a:t>Aprov</a:t>
                      </a:r>
                      <a:r>
                        <a:rPr lang="es-AR" b="1" dirty="0" smtClean="0">
                          <a:solidFill>
                            <a:srgbClr val="FF0000"/>
                          </a:solidFill>
                        </a:rPr>
                        <a:t>. </a:t>
                      </a:r>
                      <a:r>
                        <a:rPr lang="es-AR" b="1" dirty="0" err="1" smtClean="0">
                          <a:solidFill>
                            <a:srgbClr val="FF0000"/>
                          </a:solidFill>
                        </a:rPr>
                        <a:t>Ind</a:t>
                      </a:r>
                      <a:r>
                        <a:rPr lang="es-AR" b="1" dirty="0" smtClean="0">
                          <a:solidFill>
                            <a:srgbClr val="FF0000"/>
                          </a:solidFill>
                        </a:rPr>
                        <a:t>. </a:t>
                      </a:r>
                      <a:r>
                        <a:rPr lang="es-AR" b="1" dirty="0" err="1" smtClean="0">
                          <a:solidFill>
                            <a:srgbClr val="FF0000"/>
                          </a:solidFill>
                        </a:rPr>
                        <a:t>Benef</a:t>
                      </a:r>
                      <a:r>
                        <a:rPr lang="es-AR" b="1" dirty="0" smtClean="0">
                          <a:solidFill>
                            <a:srgbClr val="FF0000"/>
                          </a:solidFill>
                        </a:rPr>
                        <a:t>.</a:t>
                      </a:r>
                      <a:r>
                        <a:rPr lang="es-AR" b="1" baseline="0" dirty="0" smtClean="0">
                          <a:solidFill>
                            <a:srgbClr val="FF0000"/>
                          </a:solidFill>
                        </a:rPr>
                        <a:t> </a:t>
                      </a:r>
                      <a:r>
                        <a:rPr lang="es-AR" b="1" baseline="0" dirty="0" err="1" smtClean="0">
                          <a:solidFill>
                            <a:srgbClr val="FF0000"/>
                          </a:solidFill>
                        </a:rPr>
                        <a:t>Fisc</a:t>
                      </a:r>
                      <a:r>
                        <a:rPr lang="es-AR" b="1" baseline="0" dirty="0" smtClean="0">
                          <a:solidFill>
                            <a:srgbClr val="FF0000"/>
                          </a:solidFill>
                        </a:rPr>
                        <a:t>.</a:t>
                      </a:r>
                      <a:endParaRPr lang="es-ES" b="1" dirty="0">
                        <a:solidFill>
                          <a:srgbClr val="FF0000"/>
                        </a:solidFill>
                      </a:endParaRPr>
                    </a:p>
                  </a:txBody>
                  <a:tcPr/>
                </a:tc>
                <a:tc>
                  <a:txBody>
                    <a:bodyPr/>
                    <a:lstStyle/>
                    <a:p>
                      <a:r>
                        <a:rPr lang="es-AR" dirty="0" smtClean="0"/>
                        <a:t>$ 1,5 m</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dirty="0" smtClean="0"/>
                        <a:t>3 años y 6 m a 9 años</a:t>
                      </a:r>
                      <a:endParaRPr lang="es-ES" dirty="0" smtClean="0"/>
                    </a:p>
                  </a:txBody>
                  <a:tcPr/>
                </a:tc>
                <a:extLst>
                  <a:ext uri="{0D108BD9-81ED-4DB2-BD59-A6C34878D82A}">
                    <a16:rowId xmlns:a16="http://schemas.microsoft.com/office/drawing/2014/main" xmlns="" val="10007"/>
                  </a:ext>
                </a:extLst>
              </a:tr>
              <a:tr h="370840">
                <a:tc>
                  <a:txBody>
                    <a:bodyPr/>
                    <a:lstStyle/>
                    <a:p>
                      <a:pPr algn="ctr"/>
                      <a:r>
                        <a:rPr lang="es-AR" b="1" dirty="0" err="1" smtClean="0">
                          <a:solidFill>
                            <a:srgbClr val="FF0000"/>
                          </a:solidFill>
                        </a:rPr>
                        <a:t>Apr</a:t>
                      </a:r>
                      <a:r>
                        <a:rPr lang="es-AR" b="1" dirty="0" smtClean="0">
                          <a:solidFill>
                            <a:srgbClr val="FF0000"/>
                          </a:solidFill>
                        </a:rPr>
                        <a:t>.</a:t>
                      </a:r>
                      <a:r>
                        <a:rPr lang="es-AR" b="1" baseline="0" dirty="0" smtClean="0">
                          <a:solidFill>
                            <a:srgbClr val="FF0000"/>
                          </a:solidFill>
                        </a:rPr>
                        <a:t> Ag. </a:t>
                      </a:r>
                      <a:r>
                        <a:rPr lang="es-AR" b="1" baseline="0" dirty="0" err="1" smtClean="0">
                          <a:solidFill>
                            <a:srgbClr val="FF0000"/>
                          </a:solidFill>
                        </a:rPr>
                        <a:t>Retenc</a:t>
                      </a:r>
                      <a:r>
                        <a:rPr lang="es-AR" b="1" baseline="0" dirty="0" smtClean="0">
                          <a:solidFill>
                            <a:srgbClr val="FF0000"/>
                          </a:solidFill>
                        </a:rPr>
                        <a:t>./</a:t>
                      </a:r>
                      <a:r>
                        <a:rPr lang="es-AR" b="1" baseline="0" dirty="0" err="1" smtClean="0">
                          <a:solidFill>
                            <a:srgbClr val="FF0000"/>
                          </a:solidFill>
                        </a:rPr>
                        <a:t>perc</a:t>
                      </a:r>
                      <a:endParaRPr lang="es-AR" b="1" baseline="0" dirty="0" smtClean="0">
                        <a:solidFill>
                          <a:srgbClr val="FF0000"/>
                        </a:solidFill>
                      </a:endParaRPr>
                    </a:p>
                    <a:p>
                      <a:pPr algn="ctr"/>
                      <a:r>
                        <a:rPr lang="es-AR" b="1" baseline="0" dirty="0" smtClean="0">
                          <a:solidFill>
                            <a:srgbClr val="FF0000"/>
                          </a:solidFill>
                        </a:rPr>
                        <a:t>(por tributo/mes)</a:t>
                      </a:r>
                      <a:endParaRPr lang="es-ES" b="1" dirty="0">
                        <a:solidFill>
                          <a:srgbClr val="FF0000"/>
                        </a:solidFill>
                      </a:endParaRPr>
                    </a:p>
                  </a:txBody>
                  <a:tcPr/>
                </a:tc>
                <a:tc>
                  <a:txBody>
                    <a:bodyPr/>
                    <a:lstStyle/>
                    <a:p>
                      <a:r>
                        <a:rPr lang="es-AR" dirty="0" smtClean="0"/>
                        <a:t>$ 100</a:t>
                      </a:r>
                      <a:r>
                        <a:rPr lang="es-AR" baseline="0" dirty="0" smtClean="0"/>
                        <a:t> mil</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dirty="0" smtClean="0"/>
                        <a:t>2 a 6</a:t>
                      </a:r>
                      <a:r>
                        <a:rPr lang="es-AR" baseline="0" dirty="0" smtClean="0"/>
                        <a:t> </a:t>
                      </a:r>
                      <a:r>
                        <a:rPr lang="es-AR" dirty="0" smtClean="0"/>
                        <a:t>años</a:t>
                      </a:r>
                      <a:endParaRPr lang="es-ES" dirty="0" smtClean="0"/>
                    </a:p>
                    <a:p>
                      <a:endParaRPr lang="es-ES" dirty="0"/>
                    </a:p>
                  </a:txBody>
                  <a:tcPr/>
                </a:tc>
                <a:extLst>
                  <a:ext uri="{0D108BD9-81ED-4DB2-BD59-A6C34878D82A}">
                    <a16:rowId xmlns:a16="http://schemas.microsoft.com/office/drawing/2014/main" xmlns="" val="10008"/>
                  </a:ext>
                </a:extLst>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785794"/>
            <a:ext cx="8003232" cy="376000"/>
          </a:xfrm>
        </p:spPr>
        <p:txBody>
          <a:bodyPr>
            <a:normAutofit lnSpcReduction="10000"/>
          </a:bodyPr>
          <a:lstStyle/>
          <a:p>
            <a:pPr algn="ctr">
              <a:buNone/>
            </a:pPr>
            <a:r>
              <a:rPr lang="es-AR" sz="2000" b="1" u="sng" dirty="0" smtClean="0">
                <a:solidFill>
                  <a:srgbClr val="163F9A"/>
                </a:solidFill>
              </a:rPr>
              <a:t>Ley 27.430. Delitos Seguridad Social </a:t>
            </a:r>
            <a:endParaRPr lang="es-AR" dirty="0" smtClean="0">
              <a:solidFill>
                <a:srgbClr val="163F9A"/>
              </a:solidFill>
            </a:endParaRPr>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22</a:t>
            </a:fld>
            <a:endParaRPr lang="es-ES" dirty="0"/>
          </a:p>
        </p:txBody>
      </p:sp>
      <p:sp>
        <p:nvSpPr>
          <p:cNvPr id="5" name="4 CuadroTexto"/>
          <p:cNvSpPr txBox="1"/>
          <p:nvPr/>
        </p:nvSpPr>
        <p:spPr>
          <a:xfrm>
            <a:off x="107504" y="214290"/>
            <a:ext cx="9001000" cy="584775"/>
          </a:xfrm>
          <a:prstGeom prst="rect">
            <a:avLst/>
          </a:prstGeom>
          <a:noFill/>
        </p:spPr>
        <p:txBody>
          <a:bodyPr wrap="square" rtlCol="0">
            <a:spAutoFit/>
          </a:bodyPr>
          <a:lstStyle/>
          <a:p>
            <a:pPr algn="ctr"/>
            <a:r>
              <a:rPr lang="es-AR" sz="3200" b="1" dirty="0" smtClean="0">
                <a:solidFill>
                  <a:srgbClr val="FF0000"/>
                </a:solidFill>
              </a:rPr>
              <a:t>RESPONSABILIDAD PENAL TRIBUTARIA (III)</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14" name="13 CuadroTexto"/>
          <p:cNvSpPr txBox="1"/>
          <p:nvPr/>
        </p:nvSpPr>
        <p:spPr>
          <a:xfrm>
            <a:off x="142844" y="785794"/>
            <a:ext cx="8858248" cy="769441"/>
          </a:xfrm>
          <a:prstGeom prst="rect">
            <a:avLst/>
          </a:prstGeom>
          <a:noFill/>
        </p:spPr>
        <p:txBody>
          <a:bodyPr wrap="square" rtlCol="0">
            <a:spAutoFit/>
          </a:bodyPr>
          <a:lstStyle/>
          <a:p>
            <a:pPr algn="just"/>
            <a:endParaRPr lang="es-AR" sz="2200" dirty="0" smtClean="0"/>
          </a:p>
          <a:p>
            <a:pPr algn="ctr"/>
            <a:r>
              <a:rPr lang="es-AR" sz="2200" b="1" dirty="0" smtClean="0"/>
              <a:t>Condición Objetiva de Punibilidad</a:t>
            </a:r>
          </a:p>
        </p:txBody>
      </p:sp>
      <p:graphicFrame>
        <p:nvGraphicFramePr>
          <p:cNvPr id="9" name="8 Tabla"/>
          <p:cNvGraphicFramePr>
            <a:graphicFrameLocks noGrp="1"/>
          </p:cNvGraphicFramePr>
          <p:nvPr/>
        </p:nvGraphicFramePr>
        <p:xfrm>
          <a:off x="871662" y="1571612"/>
          <a:ext cx="7200800" cy="390652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xmlns="" val="20000"/>
                    </a:ext>
                  </a:extLst>
                </a:gridCol>
                <a:gridCol w="1728192">
                  <a:extLst>
                    <a:ext uri="{9D8B030D-6E8A-4147-A177-3AD203B41FA5}">
                      <a16:colId xmlns:a16="http://schemas.microsoft.com/office/drawing/2014/main" xmlns="" val="20001"/>
                    </a:ext>
                  </a:extLst>
                </a:gridCol>
                <a:gridCol w="2592288">
                  <a:extLst>
                    <a:ext uri="{9D8B030D-6E8A-4147-A177-3AD203B41FA5}">
                      <a16:colId xmlns:a16="http://schemas.microsoft.com/office/drawing/2014/main" xmlns="" val="20002"/>
                    </a:ext>
                  </a:extLst>
                </a:gridCol>
              </a:tblGrid>
              <a:tr h="370840">
                <a:tc>
                  <a:txBody>
                    <a:bodyPr/>
                    <a:lstStyle/>
                    <a:p>
                      <a:pPr algn="ctr"/>
                      <a:r>
                        <a:rPr lang="es-AR" dirty="0" smtClean="0"/>
                        <a:t>TIPO</a:t>
                      </a:r>
                      <a:endParaRPr lang="es-ES" dirty="0"/>
                    </a:p>
                  </a:txBody>
                  <a:tcPr/>
                </a:tc>
                <a:tc>
                  <a:txBody>
                    <a:bodyPr/>
                    <a:lstStyle/>
                    <a:p>
                      <a:pPr algn="ctr"/>
                      <a:r>
                        <a:rPr lang="es-AR" dirty="0" smtClean="0"/>
                        <a:t>Monto</a:t>
                      </a:r>
                      <a:endParaRPr lang="es-ES" dirty="0"/>
                    </a:p>
                  </a:txBody>
                  <a:tcPr/>
                </a:tc>
                <a:tc>
                  <a:txBody>
                    <a:bodyPr/>
                    <a:lstStyle/>
                    <a:p>
                      <a:pPr algn="ctr"/>
                      <a:r>
                        <a:rPr lang="es-AR" dirty="0" smtClean="0"/>
                        <a:t>Pena</a:t>
                      </a:r>
                      <a:endParaRPr lang="es-ES" dirty="0"/>
                    </a:p>
                  </a:txBody>
                  <a:tcPr/>
                </a:tc>
                <a:extLst>
                  <a:ext uri="{0D108BD9-81ED-4DB2-BD59-A6C34878D82A}">
                    <a16:rowId xmlns:a16="http://schemas.microsoft.com/office/drawing/2014/main" xmlns="" val="10000"/>
                  </a:ext>
                </a:extLst>
              </a:tr>
              <a:tr h="370840">
                <a:tc>
                  <a:txBody>
                    <a:bodyPr/>
                    <a:lstStyle/>
                    <a:p>
                      <a:pPr algn="ctr"/>
                      <a:r>
                        <a:rPr lang="es-AR" b="1" dirty="0" smtClean="0">
                          <a:solidFill>
                            <a:srgbClr val="FF0000"/>
                          </a:solidFill>
                        </a:rPr>
                        <a:t>Evasión Simple </a:t>
                      </a:r>
                    </a:p>
                    <a:p>
                      <a:pPr algn="ctr"/>
                      <a:r>
                        <a:rPr lang="es-AR" sz="1500" b="1" dirty="0" smtClean="0">
                          <a:solidFill>
                            <a:srgbClr val="FF0000"/>
                          </a:solidFill>
                        </a:rPr>
                        <a:t> (</a:t>
                      </a:r>
                      <a:r>
                        <a:rPr lang="es-AR" sz="1500" b="1" dirty="0" err="1" smtClean="0">
                          <a:solidFill>
                            <a:srgbClr val="FF0000"/>
                          </a:solidFill>
                        </a:rPr>
                        <a:t>cont+aport</a:t>
                      </a:r>
                      <a:r>
                        <a:rPr lang="es-AR" sz="1500" b="1" dirty="0" smtClean="0">
                          <a:solidFill>
                            <a:srgbClr val="FF0000"/>
                          </a:solidFill>
                        </a:rPr>
                        <a:t>/mes)</a:t>
                      </a:r>
                      <a:endParaRPr lang="es-ES" sz="1500" b="1" dirty="0">
                        <a:solidFill>
                          <a:srgbClr val="FF0000"/>
                        </a:solidFill>
                      </a:endParaRPr>
                    </a:p>
                  </a:txBody>
                  <a:tcPr/>
                </a:tc>
                <a:tc>
                  <a:txBody>
                    <a:bodyPr/>
                    <a:lstStyle/>
                    <a:p>
                      <a:r>
                        <a:rPr lang="es-AR" dirty="0" smtClean="0"/>
                        <a:t>$ 200 mil </a:t>
                      </a:r>
                      <a:endParaRPr lang="es-ES" dirty="0"/>
                    </a:p>
                  </a:txBody>
                  <a:tcPr/>
                </a:tc>
                <a:tc>
                  <a:txBody>
                    <a:bodyPr/>
                    <a:lstStyle/>
                    <a:p>
                      <a:r>
                        <a:rPr lang="es-AR" dirty="0" smtClean="0"/>
                        <a:t>2 a 6 años</a:t>
                      </a:r>
                      <a:endParaRPr lang="es-ES" dirty="0"/>
                    </a:p>
                  </a:txBody>
                  <a:tcPr/>
                </a:tc>
                <a:extLst>
                  <a:ext uri="{0D108BD9-81ED-4DB2-BD59-A6C34878D82A}">
                    <a16:rowId xmlns:a16="http://schemas.microsoft.com/office/drawing/2014/main" xmlns="" val="10001"/>
                  </a:ext>
                </a:extLst>
              </a:tr>
              <a:tr h="370840">
                <a:tc>
                  <a:txBody>
                    <a:bodyPr/>
                    <a:lstStyle/>
                    <a:p>
                      <a:pPr algn="ctr"/>
                      <a:r>
                        <a:rPr lang="es-AR" b="1" dirty="0" smtClean="0">
                          <a:solidFill>
                            <a:srgbClr val="FF0000"/>
                          </a:solidFill>
                        </a:rPr>
                        <a:t>Evasión agravada</a:t>
                      </a:r>
                    </a:p>
                    <a:p>
                      <a:pPr algn="ctr"/>
                      <a:r>
                        <a:rPr lang="es-AR" sz="1500" b="1" dirty="0" smtClean="0">
                          <a:solidFill>
                            <a:srgbClr val="FF0000"/>
                          </a:solidFill>
                        </a:rPr>
                        <a:t>(</a:t>
                      </a:r>
                      <a:r>
                        <a:rPr lang="es-AR" sz="1500" b="1" dirty="0" err="1" smtClean="0">
                          <a:solidFill>
                            <a:srgbClr val="FF0000"/>
                          </a:solidFill>
                        </a:rPr>
                        <a:t>cont+aport</a:t>
                      </a:r>
                      <a:r>
                        <a:rPr lang="es-AR" sz="1500" b="1" dirty="0" smtClean="0">
                          <a:solidFill>
                            <a:srgbClr val="FF0000"/>
                          </a:solidFill>
                        </a:rPr>
                        <a:t>/mes)</a:t>
                      </a:r>
                      <a:endParaRPr lang="es-ES" sz="1500" b="1" dirty="0">
                        <a:solidFill>
                          <a:srgbClr val="FF0000"/>
                        </a:solidFill>
                      </a:endParaRPr>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xmlns="" val="10002"/>
                  </a:ext>
                </a:extLst>
              </a:tr>
              <a:tr h="370840">
                <a:tc>
                  <a:txBody>
                    <a:bodyPr/>
                    <a:lstStyle/>
                    <a:p>
                      <a:r>
                        <a:rPr lang="es-AR" sz="1500" dirty="0" smtClean="0"/>
                        <a:t>    Monto mayor a</a:t>
                      </a:r>
                      <a:endParaRPr lang="es-ES" sz="1500" dirty="0"/>
                    </a:p>
                  </a:txBody>
                  <a:tcPr/>
                </a:tc>
                <a:tc>
                  <a:txBody>
                    <a:bodyPr/>
                    <a:lstStyle/>
                    <a:p>
                      <a:r>
                        <a:rPr lang="es-AR" dirty="0" smtClean="0"/>
                        <a:t>$ 1 m </a:t>
                      </a:r>
                      <a:endParaRPr lang="es-ES" dirty="0"/>
                    </a:p>
                  </a:txBody>
                  <a:tcPr/>
                </a:tc>
                <a:tc>
                  <a:txBody>
                    <a:bodyPr/>
                    <a:lstStyle/>
                    <a:p>
                      <a:r>
                        <a:rPr lang="es-AR" dirty="0" smtClean="0"/>
                        <a:t>3 años y 6 m a 9 años</a:t>
                      </a:r>
                      <a:endParaRPr lang="es-ES" dirty="0"/>
                    </a:p>
                  </a:txBody>
                  <a:tcPr/>
                </a:tc>
                <a:extLst>
                  <a:ext uri="{0D108BD9-81ED-4DB2-BD59-A6C34878D82A}">
                    <a16:rowId xmlns:a16="http://schemas.microsoft.com/office/drawing/2014/main" xmlns="" val="10003"/>
                  </a:ext>
                </a:extLst>
              </a:tr>
              <a:tr h="370840">
                <a:tc>
                  <a:txBody>
                    <a:bodyPr/>
                    <a:lstStyle/>
                    <a:p>
                      <a:r>
                        <a:rPr lang="es-AR" sz="1500" dirty="0" smtClean="0"/>
                        <a:t>(Personas interpuestas)</a:t>
                      </a:r>
                      <a:endParaRPr lang="es-ES" sz="1500" dirty="0"/>
                    </a:p>
                  </a:txBody>
                  <a:tcPr/>
                </a:tc>
                <a:tc>
                  <a:txBody>
                    <a:bodyPr/>
                    <a:lstStyle/>
                    <a:p>
                      <a:r>
                        <a:rPr lang="es-AR" dirty="0" smtClean="0"/>
                        <a:t>$ 400 mil </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dirty="0" smtClean="0"/>
                        <a:t>3 años y 6 m a 9 años</a:t>
                      </a:r>
                      <a:endParaRPr lang="es-ES" dirty="0" smtClean="0"/>
                    </a:p>
                  </a:txBody>
                  <a:tcPr/>
                </a:tc>
                <a:extLst>
                  <a:ext uri="{0D108BD9-81ED-4DB2-BD59-A6C34878D82A}">
                    <a16:rowId xmlns:a16="http://schemas.microsoft.com/office/drawing/2014/main" xmlns="" val="10004"/>
                  </a:ext>
                </a:extLst>
              </a:tr>
              <a:tr h="370840">
                <a:tc>
                  <a:txBody>
                    <a:bodyPr/>
                    <a:lstStyle/>
                    <a:p>
                      <a:r>
                        <a:rPr lang="es-AR" sz="1500" dirty="0" smtClean="0"/>
                        <a:t>(</a:t>
                      </a:r>
                      <a:r>
                        <a:rPr lang="es-AR" sz="1500" dirty="0" err="1" smtClean="0"/>
                        <a:t>Util</a:t>
                      </a:r>
                      <a:r>
                        <a:rPr lang="es-AR" sz="1500" dirty="0" smtClean="0"/>
                        <a:t>. </a:t>
                      </a:r>
                      <a:r>
                        <a:rPr lang="es-AR" sz="1500" dirty="0" err="1" smtClean="0"/>
                        <a:t>fraud</a:t>
                      </a:r>
                      <a:r>
                        <a:rPr lang="es-AR" sz="1500" dirty="0" smtClean="0"/>
                        <a:t>. Exenciones)</a:t>
                      </a:r>
                      <a:endParaRPr lang="es-ES" sz="1500" dirty="0"/>
                    </a:p>
                  </a:txBody>
                  <a:tcPr/>
                </a:tc>
                <a:tc>
                  <a:txBody>
                    <a:bodyPr/>
                    <a:lstStyle/>
                    <a:p>
                      <a:r>
                        <a:rPr lang="es-AR" dirty="0" smtClean="0"/>
                        <a:t>$ 400 mil</a:t>
                      </a:r>
                      <a:r>
                        <a:rPr lang="es-AR" baseline="0" dirty="0" smtClean="0"/>
                        <a:t> </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dirty="0" smtClean="0"/>
                        <a:t>3 años y 6 m a 9 años</a:t>
                      </a:r>
                      <a:endParaRPr lang="es-ES" dirty="0" smtClean="0"/>
                    </a:p>
                  </a:txBody>
                  <a:tcPr/>
                </a:tc>
                <a:extLst>
                  <a:ext uri="{0D108BD9-81ED-4DB2-BD59-A6C34878D82A}">
                    <a16:rowId xmlns:a16="http://schemas.microsoft.com/office/drawing/2014/main" xmlns="" val="10005"/>
                  </a:ext>
                </a:extLst>
              </a:tr>
              <a:tr h="370840">
                <a:tc>
                  <a:txBody>
                    <a:bodyPr/>
                    <a:lstStyle/>
                    <a:p>
                      <a:pPr algn="ctr"/>
                      <a:r>
                        <a:rPr lang="es-AR" b="1" dirty="0" err="1" smtClean="0">
                          <a:solidFill>
                            <a:srgbClr val="FF0000"/>
                          </a:solidFill>
                        </a:rPr>
                        <a:t>Aprov</a:t>
                      </a:r>
                      <a:r>
                        <a:rPr lang="es-AR" b="1" dirty="0" smtClean="0">
                          <a:solidFill>
                            <a:srgbClr val="FF0000"/>
                          </a:solidFill>
                        </a:rPr>
                        <a:t>. </a:t>
                      </a:r>
                      <a:r>
                        <a:rPr lang="es-AR" b="1" dirty="0" err="1" smtClean="0">
                          <a:solidFill>
                            <a:srgbClr val="FF0000"/>
                          </a:solidFill>
                        </a:rPr>
                        <a:t>Ind</a:t>
                      </a:r>
                      <a:r>
                        <a:rPr lang="es-AR" b="1" dirty="0" smtClean="0">
                          <a:solidFill>
                            <a:srgbClr val="FF0000"/>
                          </a:solidFill>
                        </a:rPr>
                        <a:t>. </a:t>
                      </a:r>
                      <a:r>
                        <a:rPr lang="es-AR" b="1" dirty="0" err="1" smtClean="0">
                          <a:solidFill>
                            <a:srgbClr val="FF0000"/>
                          </a:solidFill>
                        </a:rPr>
                        <a:t>Rec</a:t>
                      </a:r>
                      <a:r>
                        <a:rPr lang="es-AR" b="1" dirty="0" smtClean="0">
                          <a:solidFill>
                            <a:srgbClr val="FF0000"/>
                          </a:solidFill>
                        </a:rPr>
                        <a:t>. </a:t>
                      </a:r>
                      <a:r>
                        <a:rPr lang="es-AR" b="1" dirty="0" err="1" smtClean="0">
                          <a:solidFill>
                            <a:srgbClr val="FF0000"/>
                          </a:solidFill>
                        </a:rPr>
                        <a:t>Seg</a:t>
                      </a:r>
                      <a:r>
                        <a:rPr lang="es-AR" b="1" dirty="0" smtClean="0">
                          <a:solidFill>
                            <a:srgbClr val="FF0000"/>
                          </a:solidFill>
                        </a:rPr>
                        <a:t>. </a:t>
                      </a:r>
                      <a:r>
                        <a:rPr lang="es-AR" b="1" dirty="0" err="1" smtClean="0">
                          <a:solidFill>
                            <a:srgbClr val="FF0000"/>
                          </a:solidFill>
                        </a:rPr>
                        <a:t>soc</a:t>
                      </a:r>
                      <a:r>
                        <a:rPr lang="es-AR" b="1" baseline="0" dirty="0" smtClean="0">
                          <a:solidFill>
                            <a:srgbClr val="FF0000"/>
                          </a:solidFill>
                        </a:rPr>
                        <a:t>. </a:t>
                      </a:r>
                      <a:r>
                        <a:rPr lang="es-AR" sz="1500" b="1" baseline="0" dirty="0" smtClean="0">
                          <a:solidFill>
                            <a:srgbClr val="FF0000"/>
                          </a:solidFill>
                        </a:rPr>
                        <a:t>(aportes/mes)</a:t>
                      </a:r>
                      <a:endParaRPr lang="es-ES" sz="1500" b="1" dirty="0">
                        <a:solidFill>
                          <a:srgbClr val="FF0000"/>
                        </a:solidFill>
                      </a:endParaRPr>
                    </a:p>
                  </a:txBody>
                  <a:tcPr/>
                </a:tc>
                <a:tc>
                  <a:txBody>
                    <a:bodyPr/>
                    <a:lstStyle/>
                    <a:p>
                      <a:r>
                        <a:rPr lang="es-AR" dirty="0" smtClean="0"/>
                        <a:t>$ 100 mil</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dirty="0" smtClean="0"/>
                        <a:t>2 a 6 años</a:t>
                      </a:r>
                      <a:endParaRPr lang="es-ES" dirty="0" smtClean="0"/>
                    </a:p>
                  </a:txBody>
                  <a:tcPr/>
                </a:tc>
                <a:extLst>
                  <a:ext uri="{0D108BD9-81ED-4DB2-BD59-A6C34878D82A}">
                    <a16:rowId xmlns:a16="http://schemas.microsoft.com/office/drawing/2014/main" xmlns="" val="10006"/>
                  </a:ext>
                </a:extLst>
              </a:tr>
              <a:tr h="370840">
                <a:tc>
                  <a:txBody>
                    <a:bodyPr/>
                    <a:lstStyle/>
                    <a:p>
                      <a:pPr algn="ctr"/>
                      <a:r>
                        <a:rPr lang="es-AR" b="1" dirty="0" err="1" smtClean="0">
                          <a:solidFill>
                            <a:srgbClr val="FF0000"/>
                          </a:solidFill>
                        </a:rPr>
                        <a:t>Apr</a:t>
                      </a:r>
                      <a:r>
                        <a:rPr lang="es-AR" b="1" dirty="0" smtClean="0">
                          <a:solidFill>
                            <a:srgbClr val="FF0000"/>
                          </a:solidFill>
                        </a:rPr>
                        <a:t>.</a:t>
                      </a:r>
                      <a:r>
                        <a:rPr lang="es-AR" b="1" baseline="0" dirty="0" smtClean="0">
                          <a:solidFill>
                            <a:srgbClr val="FF0000"/>
                          </a:solidFill>
                        </a:rPr>
                        <a:t> Ag. </a:t>
                      </a:r>
                      <a:r>
                        <a:rPr lang="es-AR" b="1" baseline="0" dirty="0" err="1" smtClean="0">
                          <a:solidFill>
                            <a:srgbClr val="FF0000"/>
                          </a:solidFill>
                        </a:rPr>
                        <a:t>Retenc</a:t>
                      </a:r>
                      <a:r>
                        <a:rPr lang="es-AR" b="1" baseline="0" dirty="0" smtClean="0">
                          <a:solidFill>
                            <a:srgbClr val="FF0000"/>
                          </a:solidFill>
                        </a:rPr>
                        <a:t>./</a:t>
                      </a:r>
                      <a:r>
                        <a:rPr lang="es-AR" b="1" baseline="0" dirty="0" err="1" smtClean="0">
                          <a:solidFill>
                            <a:srgbClr val="FF0000"/>
                          </a:solidFill>
                        </a:rPr>
                        <a:t>perc</a:t>
                      </a:r>
                      <a:endParaRPr lang="es-AR" b="1" baseline="0" dirty="0" smtClean="0">
                        <a:solidFill>
                          <a:srgbClr val="FF0000"/>
                        </a:solidFill>
                      </a:endParaRPr>
                    </a:p>
                    <a:p>
                      <a:pPr algn="ctr"/>
                      <a:r>
                        <a:rPr lang="es-AR" sz="1500" b="1" baseline="0" dirty="0" smtClean="0">
                          <a:solidFill>
                            <a:srgbClr val="FF0000"/>
                          </a:solidFill>
                        </a:rPr>
                        <a:t>(por mes)</a:t>
                      </a:r>
                      <a:endParaRPr lang="es-ES" sz="1500" b="1" dirty="0">
                        <a:solidFill>
                          <a:srgbClr val="FF0000"/>
                        </a:solidFill>
                      </a:endParaRPr>
                    </a:p>
                  </a:txBody>
                  <a:tcPr/>
                </a:tc>
                <a:tc>
                  <a:txBody>
                    <a:bodyPr/>
                    <a:lstStyle/>
                    <a:p>
                      <a:r>
                        <a:rPr lang="es-AR" dirty="0" smtClean="0"/>
                        <a:t>$ 100</a:t>
                      </a:r>
                      <a:r>
                        <a:rPr lang="es-AR" baseline="0" dirty="0" smtClean="0"/>
                        <a:t> mil</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dirty="0" smtClean="0"/>
                        <a:t>2 a 6</a:t>
                      </a:r>
                      <a:r>
                        <a:rPr lang="es-AR" baseline="0" dirty="0" smtClean="0"/>
                        <a:t> </a:t>
                      </a:r>
                      <a:r>
                        <a:rPr lang="es-AR" dirty="0" smtClean="0"/>
                        <a:t>años</a:t>
                      </a:r>
                      <a:endParaRPr lang="es-ES" dirty="0" smtClean="0"/>
                    </a:p>
                    <a:p>
                      <a:endParaRPr lang="es-ES" dirty="0"/>
                    </a:p>
                  </a:txBody>
                  <a:tcPr/>
                </a:tc>
                <a:extLst>
                  <a:ext uri="{0D108BD9-81ED-4DB2-BD59-A6C34878D82A}">
                    <a16:rowId xmlns:a16="http://schemas.microsoft.com/office/drawing/2014/main" xmlns="" val="10007"/>
                  </a:ext>
                </a:extLst>
              </a:tr>
            </a:tbl>
          </a:graphicData>
        </a:graphic>
      </p:graphicFrame>
      <p:sp>
        <p:nvSpPr>
          <p:cNvPr id="8" name="7 Rectángulo"/>
          <p:cNvSpPr/>
          <p:nvPr/>
        </p:nvSpPr>
        <p:spPr>
          <a:xfrm>
            <a:off x="0" y="5711627"/>
            <a:ext cx="9144000" cy="569387"/>
          </a:xfrm>
          <a:prstGeom prst="rect">
            <a:avLst/>
          </a:prstGeom>
        </p:spPr>
        <p:txBody>
          <a:bodyPr wrap="square">
            <a:spAutoFit/>
          </a:bodyPr>
          <a:lstStyle/>
          <a:p>
            <a:pPr algn="ctr">
              <a:buFont typeface="Arial" pitchFamily="34" charset="0"/>
              <a:buChar char="•"/>
            </a:pPr>
            <a:r>
              <a:rPr lang="en-US" sz="1500" b="1" dirty="0" smtClean="0"/>
              <a:t> “Centro </a:t>
            </a:r>
            <a:r>
              <a:rPr lang="en-US" sz="1500" b="1" dirty="0" err="1" smtClean="0"/>
              <a:t>Gallego</a:t>
            </a:r>
            <a:r>
              <a:rPr lang="en-US" sz="1500" b="1" dirty="0" smtClean="0"/>
              <a:t> de Buenos Aires </a:t>
            </a:r>
            <a:r>
              <a:rPr lang="en-US" sz="1500" b="1" dirty="0" err="1" smtClean="0"/>
              <a:t>Mutualidad</a:t>
            </a:r>
            <a:r>
              <a:rPr lang="en-US" sz="1500" b="1" dirty="0" smtClean="0"/>
              <a:t> </a:t>
            </a:r>
            <a:r>
              <a:rPr lang="en-US" sz="1500" b="1" dirty="0" err="1" smtClean="0"/>
              <a:t>Cultura</a:t>
            </a:r>
            <a:r>
              <a:rPr lang="en-US" sz="1500" b="1" dirty="0" smtClean="0"/>
              <a:t> Soc. s/</a:t>
            </a:r>
            <a:r>
              <a:rPr lang="en-US" sz="1500" b="1" dirty="0" err="1" smtClean="0"/>
              <a:t>infracción</a:t>
            </a:r>
            <a:r>
              <a:rPr lang="en-US" sz="1500" b="1" dirty="0" smtClean="0"/>
              <a:t> L. 24769”. </a:t>
            </a:r>
            <a:r>
              <a:rPr lang="en-US" sz="1500" b="1" dirty="0" err="1" smtClean="0"/>
              <a:t>Cám</a:t>
            </a:r>
            <a:r>
              <a:rPr lang="en-US" sz="1500" b="1" dirty="0" smtClean="0"/>
              <a:t>. </a:t>
            </a:r>
            <a:r>
              <a:rPr lang="en-US" sz="1500" b="1" dirty="0" err="1" smtClean="0"/>
              <a:t>Nac</a:t>
            </a:r>
            <a:r>
              <a:rPr lang="en-US" sz="1500" b="1" dirty="0" smtClean="0"/>
              <a:t>. Penal Ec. 15/03/21.</a:t>
            </a:r>
          </a:p>
          <a:p>
            <a:pPr algn="ctr">
              <a:buFont typeface="Arial" pitchFamily="34" charset="0"/>
              <a:buChar char="•"/>
            </a:pPr>
            <a:r>
              <a:rPr lang="es-AR" sz="1600" b="1" dirty="0" smtClean="0"/>
              <a:t>“Asociación Mutual Transporte Automotor s/ legajo de apelación”. </a:t>
            </a:r>
            <a:r>
              <a:rPr lang="es-AR" sz="1600" b="1" dirty="0" err="1" smtClean="0"/>
              <a:t>Cám</a:t>
            </a:r>
            <a:r>
              <a:rPr lang="es-AR" sz="1600" b="1" dirty="0" smtClean="0"/>
              <a:t>. Fed. San Martín. 28/02/2019</a:t>
            </a:r>
            <a:r>
              <a:rPr lang="en-US" sz="1600" b="1" dirty="0" smtClean="0"/>
              <a:t>.</a:t>
            </a:r>
            <a:endParaRPr lang="es-ES" sz="15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785794"/>
            <a:ext cx="8003232" cy="376000"/>
          </a:xfrm>
        </p:spPr>
        <p:txBody>
          <a:bodyPr>
            <a:normAutofit lnSpcReduction="10000"/>
          </a:bodyPr>
          <a:lstStyle/>
          <a:p>
            <a:pPr algn="ctr">
              <a:buNone/>
            </a:pPr>
            <a:r>
              <a:rPr lang="es-AR" sz="2000" b="1" u="sng" dirty="0" smtClean="0">
                <a:solidFill>
                  <a:srgbClr val="163F9A"/>
                </a:solidFill>
              </a:rPr>
              <a:t>Ley 27.430. Delitos Fiscales Comunes </a:t>
            </a:r>
            <a:endParaRPr lang="es-AR" dirty="0" smtClean="0">
              <a:solidFill>
                <a:srgbClr val="163F9A"/>
              </a:solidFill>
            </a:endParaRPr>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23</a:t>
            </a:fld>
            <a:endParaRPr lang="es-ES" dirty="0"/>
          </a:p>
        </p:txBody>
      </p:sp>
      <p:sp>
        <p:nvSpPr>
          <p:cNvPr id="5" name="4 CuadroTexto"/>
          <p:cNvSpPr txBox="1"/>
          <p:nvPr/>
        </p:nvSpPr>
        <p:spPr>
          <a:xfrm>
            <a:off x="107504" y="214290"/>
            <a:ext cx="9001000" cy="584775"/>
          </a:xfrm>
          <a:prstGeom prst="rect">
            <a:avLst/>
          </a:prstGeom>
          <a:noFill/>
        </p:spPr>
        <p:txBody>
          <a:bodyPr wrap="square" rtlCol="0">
            <a:spAutoFit/>
          </a:bodyPr>
          <a:lstStyle/>
          <a:p>
            <a:pPr algn="ctr"/>
            <a:r>
              <a:rPr lang="es-AR" sz="3200" b="1" dirty="0" smtClean="0">
                <a:solidFill>
                  <a:srgbClr val="FF0000"/>
                </a:solidFill>
              </a:rPr>
              <a:t>RESPONSABILIDAD PENAL TRIBUTARIA (IV)</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graphicFrame>
        <p:nvGraphicFramePr>
          <p:cNvPr id="9" name="8 Tabla"/>
          <p:cNvGraphicFramePr>
            <a:graphicFrameLocks noGrp="1"/>
          </p:cNvGraphicFramePr>
          <p:nvPr/>
        </p:nvGraphicFramePr>
        <p:xfrm>
          <a:off x="827584" y="1628800"/>
          <a:ext cx="7200800" cy="347980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xmlns="" val="20000"/>
                    </a:ext>
                  </a:extLst>
                </a:gridCol>
                <a:gridCol w="1728192">
                  <a:extLst>
                    <a:ext uri="{9D8B030D-6E8A-4147-A177-3AD203B41FA5}">
                      <a16:colId xmlns:a16="http://schemas.microsoft.com/office/drawing/2014/main" xmlns="" val="20001"/>
                    </a:ext>
                  </a:extLst>
                </a:gridCol>
                <a:gridCol w="2592288">
                  <a:extLst>
                    <a:ext uri="{9D8B030D-6E8A-4147-A177-3AD203B41FA5}">
                      <a16:colId xmlns:a16="http://schemas.microsoft.com/office/drawing/2014/main" xmlns="" val="20002"/>
                    </a:ext>
                  </a:extLst>
                </a:gridCol>
              </a:tblGrid>
              <a:tr h="370840">
                <a:tc>
                  <a:txBody>
                    <a:bodyPr/>
                    <a:lstStyle/>
                    <a:p>
                      <a:pPr algn="ctr"/>
                      <a:r>
                        <a:rPr lang="es-AR" dirty="0" smtClean="0"/>
                        <a:t>TIPO</a:t>
                      </a:r>
                      <a:endParaRPr lang="es-ES" dirty="0"/>
                    </a:p>
                  </a:txBody>
                  <a:tcPr/>
                </a:tc>
                <a:tc>
                  <a:txBody>
                    <a:bodyPr/>
                    <a:lstStyle/>
                    <a:p>
                      <a:pPr algn="ctr"/>
                      <a:r>
                        <a:rPr lang="es-AR" dirty="0" smtClean="0"/>
                        <a:t>Monto</a:t>
                      </a:r>
                      <a:endParaRPr lang="es-ES" dirty="0"/>
                    </a:p>
                  </a:txBody>
                  <a:tcPr/>
                </a:tc>
                <a:tc>
                  <a:txBody>
                    <a:bodyPr/>
                    <a:lstStyle/>
                    <a:p>
                      <a:pPr algn="ctr"/>
                      <a:r>
                        <a:rPr lang="es-AR" dirty="0" smtClean="0"/>
                        <a:t>Pena</a:t>
                      </a:r>
                      <a:endParaRPr lang="es-ES" dirty="0"/>
                    </a:p>
                  </a:txBody>
                  <a:tcPr/>
                </a:tc>
                <a:extLst>
                  <a:ext uri="{0D108BD9-81ED-4DB2-BD59-A6C34878D82A}">
                    <a16:rowId xmlns:a16="http://schemas.microsoft.com/office/drawing/2014/main" xmlns="" val="10000"/>
                  </a:ext>
                </a:extLst>
              </a:tr>
              <a:tr h="370840">
                <a:tc>
                  <a:txBody>
                    <a:bodyPr/>
                    <a:lstStyle/>
                    <a:p>
                      <a:pPr algn="ctr"/>
                      <a:r>
                        <a:rPr lang="es-AR" b="1" dirty="0" smtClean="0">
                          <a:solidFill>
                            <a:srgbClr val="FF0000"/>
                          </a:solidFill>
                        </a:rPr>
                        <a:t>Obtención fraudulenta</a:t>
                      </a:r>
                      <a:r>
                        <a:rPr lang="es-AR" b="1" baseline="0" dirty="0" smtClean="0">
                          <a:solidFill>
                            <a:srgbClr val="FF0000"/>
                          </a:solidFill>
                        </a:rPr>
                        <a:t> de Beneficios Fiscales</a:t>
                      </a:r>
                      <a:r>
                        <a:rPr lang="es-AR" b="1" dirty="0" smtClean="0">
                          <a:solidFill>
                            <a:srgbClr val="FF0000"/>
                          </a:solidFill>
                        </a:rPr>
                        <a:t> </a:t>
                      </a:r>
                    </a:p>
                  </a:txBody>
                  <a:tcPr/>
                </a:tc>
                <a:tc>
                  <a:txBody>
                    <a:bodyPr/>
                    <a:lstStyle/>
                    <a:p>
                      <a:endParaRPr lang="es-AR" dirty="0" smtClean="0"/>
                    </a:p>
                    <a:p>
                      <a:pPr algn="ctr"/>
                      <a:r>
                        <a:rPr lang="es-AR" baseline="0" dirty="0" smtClean="0"/>
                        <a:t>NA</a:t>
                      </a:r>
                      <a:endParaRPr lang="es-ES" dirty="0"/>
                    </a:p>
                  </a:txBody>
                  <a:tcPr/>
                </a:tc>
                <a:tc>
                  <a:txBody>
                    <a:bodyPr/>
                    <a:lstStyle/>
                    <a:p>
                      <a:r>
                        <a:rPr lang="es-AR" dirty="0" smtClean="0"/>
                        <a:t>1 a 6 años</a:t>
                      </a:r>
                      <a:endParaRPr lang="es-ES" dirty="0"/>
                    </a:p>
                  </a:txBody>
                  <a:tcPr/>
                </a:tc>
                <a:extLst>
                  <a:ext uri="{0D108BD9-81ED-4DB2-BD59-A6C34878D82A}">
                    <a16:rowId xmlns:a16="http://schemas.microsoft.com/office/drawing/2014/main" xmlns="" val="10001"/>
                  </a:ext>
                </a:extLst>
              </a:tr>
              <a:tr h="370840">
                <a:tc>
                  <a:txBody>
                    <a:bodyPr/>
                    <a:lstStyle/>
                    <a:p>
                      <a:pPr algn="ctr"/>
                      <a:r>
                        <a:rPr lang="es-AR" sz="1800" b="1" dirty="0" smtClean="0">
                          <a:solidFill>
                            <a:srgbClr val="FF0000"/>
                          </a:solidFill>
                        </a:rPr>
                        <a:t>Insolvencia</a:t>
                      </a:r>
                      <a:r>
                        <a:rPr lang="es-AR" sz="1800" b="1" baseline="0" dirty="0" smtClean="0">
                          <a:solidFill>
                            <a:srgbClr val="FF0000"/>
                          </a:solidFill>
                        </a:rPr>
                        <a:t> Fiscal Fraudulenta</a:t>
                      </a:r>
                      <a:endParaRPr lang="es-ES" sz="1500" b="1" dirty="0">
                        <a:solidFill>
                          <a:srgbClr val="FF0000"/>
                        </a:solidFill>
                      </a:endParaRPr>
                    </a:p>
                  </a:txBody>
                  <a:tcPr/>
                </a:tc>
                <a:tc>
                  <a:txBody>
                    <a:bodyPr/>
                    <a:lstStyle/>
                    <a:p>
                      <a:pPr algn="ctr"/>
                      <a:r>
                        <a:rPr lang="es-AR" dirty="0" smtClean="0"/>
                        <a:t>NA</a:t>
                      </a:r>
                    </a:p>
                  </a:txBody>
                  <a:tcPr/>
                </a:tc>
                <a:tc>
                  <a:txBody>
                    <a:bodyPr/>
                    <a:lstStyle/>
                    <a:p>
                      <a:r>
                        <a:rPr lang="es-AR" dirty="0" smtClean="0"/>
                        <a:t>2 a 6 años </a:t>
                      </a:r>
                      <a:endParaRPr lang="es-ES" dirty="0"/>
                    </a:p>
                  </a:txBody>
                  <a:tcPr/>
                </a:tc>
                <a:extLst>
                  <a:ext uri="{0D108BD9-81ED-4DB2-BD59-A6C34878D82A}">
                    <a16:rowId xmlns:a16="http://schemas.microsoft.com/office/drawing/2014/main" xmlns="" val="10002"/>
                  </a:ext>
                </a:extLst>
              </a:tr>
              <a:tr h="370840">
                <a:tc>
                  <a:txBody>
                    <a:bodyPr/>
                    <a:lstStyle/>
                    <a:p>
                      <a:pPr algn="ctr"/>
                      <a:r>
                        <a:rPr lang="es-AR" b="1" baseline="0" dirty="0" smtClean="0">
                          <a:solidFill>
                            <a:srgbClr val="FF0000"/>
                          </a:solidFill>
                        </a:rPr>
                        <a:t>Simulación Dolosa de Cancelación Obligaciones</a:t>
                      </a:r>
                      <a:endParaRPr lang="es-ES" sz="1500" b="1" dirty="0">
                        <a:solidFill>
                          <a:srgbClr val="FF0000"/>
                        </a:solidFill>
                      </a:endParaRPr>
                    </a:p>
                  </a:txBody>
                  <a:tcPr/>
                </a:tc>
                <a:tc>
                  <a:txBody>
                    <a:bodyPr/>
                    <a:lstStyle/>
                    <a:p>
                      <a:r>
                        <a:rPr lang="es-AR" dirty="0" smtClean="0"/>
                        <a:t>$ 500 mil por año/imp.</a:t>
                      </a:r>
                    </a:p>
                    <a:p>
                      <a:r>
                        <a:rPr lang="es-AR" dirty="0" smtClean="0"/>
                        <a:t>$ 100 mil por mes/</a:t>
                      </a:r>
                      <a:r>
                        <a:rPr lang="es-AR" dirty="0" err="1" smtClean="0"/>
                        <a:t>seg</a:t>
                      </a:r>
                      <a:r>
                        <a:rPr lang="es-AR" dirty="0" smtClean="0"/>
                        <a:t>. </a:t>
                      </a:r>
                      <a:r>
                        <a:rPr lang="es-AR" dirty="0" err="1" smtClean="0"/>
                        <a:t>soc</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AR"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AR" dirty="0" smtClean="0"/>
                        <a:t>2 a 6 años</a:t>
                      </a:r>
                      <a:endParaRPr lang="es-ES" dirty="0" smtClean="0"/>
                    </a:p>
                  </a:txBody>
                  <a:tcPr/>
                </a:tc>
                <a:extLst>
                  <a:ext uri="{0D108BD9-81ED-4DB2-BD59-A6C34878D82A}">
                    <a16:rowId xmlns:a16="http://schemas.microsoft.com/office/drawing/2014/main" xmlns="" val="10003"/>
                  </a:ext>
                </a:extLst>
              </a:tr>
              <a:tr h="370840">
                <a:tc>
                  <a:txBody>
                    <a:bodyPr/>
                    <a:lstStyle/>
                    <a:p>
                      <a:pPr algn="ctr"/>
                      <a:r>
                        <a:rPr lang="es-AR" b="1" dirty="0" smtClean="0">
                          <a:solidFill>
                            <a:srgbClr val="FF0000"/>
                          </a:solidFill>
                        </a:rPr>
                        <a:t>Alteración</a:t>
                      </a:r>
                      <a:r>
                        <a:rPr lang="es-AR" b="1" baseline="0" dirty="0" smtClean="0">
                          <a:solidFill>
                            <a:srgbClr val="FF0000"/>
                          </a:solidFill>
                        </a:rPr>
                        <a:t> Dolosa Registros</a:t>
                      </a:r>
                    </a:p>
                  </a:txBody>
                  <a:tcPr/>
                </a:tc>
                <a:tc>
                  <a:txBody>
                    <a:bodyPr/>
                    <a:lstStyle/>
                    <a:p>
                      <a:pPr algn="ctr"/>
                      <a:r>
                        <a:rPr lang="es-AR" dirty="0" smtClean="0"/>
                        <a:t>NA</a:t>
                      </a:r>
                      <a:endParaRPr lang="es-E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dirty="0" smtClean="0"/>
                        <a:t>2 a 6</a:t>
                      </a:r>
                      <a:r>
                        <a:rPr lang="es-AR" baseline="0" dirty="0" smtClean="0"/>
                        <a:t> </a:t>
                      </a:r>
                      <a:r>
                        <a:rPr lang="es-AR" dirty="0" smtClean="0"/>
                        <a:t>años</a:t>
                      </a:r>
                      <a:endParaRPr lang="es-ES" dirty="0" smtClean="0"/>
                    </a:p>
                    <a:p>
                      <a:endParaRPr lang="es-ES" dirty="0"/>
                    </a:p>
                  </a:txBody>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83568" y="785794"/>
            <a:ext cx="8003232" cy="376000"/>
          </a:xfrm>
        </p:spPr>
        <p:txBody>
          <a:bodyPr>
            <a:normAutofit lnSpcReduction="10000"/>
          </a:bodyPr>
          <a:lstStyle/>
          <a:p>
            <a:pPr algn="ctr">
              <a:buNone/>
            </a:pPr>
            <a:r>
              <a:rPr lang="es-AR" sz="2000" b="1" u="sng" dirty="0" smtClean="0">
                <a:solidFill>
                  <a:srgbClr val="163F9A"/>
                </a:solidFill>
              </a:rPr>
              <a:t>Ley 27.430. Sanciones Persona Jurídica </a:t>
            </a:r>
            <a:endParaRPr lang="es-AR" dirty="0" smtClean="0">
              <a:solidFill>
                <a:srgbClr val="163F9A"/>
              </a:solidFill>
            </a:endParaRPr>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24</a:t>
            </a:fld>
            <a:endParaRPr lang="es-ES" dirty="0"/>
          </a:p>
        </p:txBody>
      </p:sp>
      <p:sp>
        <p:nvSpPr>
          <p:cNvPr id="5" name="4 CuadroTexto"/>
          <p:cNvSpPr txBox="1"/>
          <p:nvPr/>
        </p:nvSpPr>
        <p:spPr>
          <a:xfrm>
            <a:off x="179512" y="214290"/>
            <a:ext cx="8928992" cy="584775"/>
          </a:xfrm>
          <a:prstGeom prst="rect">
            <a:avLst/>
          </a:prstGeom>
          <a:noFill/>
        </p:spPr>
        <p:txBody>
          <a:bodyPr wrap="square" rtlCol="0">
            <a:spAutoFit/>
          </a:bodyPr>
          <a:lstStyle/>
          <a:p>
            <a:pPr algn="ctr"/>
            <a:r>
              <a:rPr lang="es-AR" sz="3200" b="1" dirty="0" smtClean="0">
                <a:solidFill>
                  <a:srgbClr val="FF0000"/>
                </a:solidFill>
              </a:rPr>
              <a:t>RESPONSABILIDAD PENAL TRIBUTARIA (V)</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graphicFrame>
        <p:nvGraphicFramePr>
          <p:cNvPr id="9" name="8 Tabla"/>
          <p:cNvGraphicFramePr>
            <a:graphicFrameLocks noGrp="1"/>
          </p:cNvGraphicFramePr>
          <p:nvPr/>
        </p:nvGraphicFramePr>
        <p:xfrm>
          <a:off x="683568" y="1700808"/>
          <a:ext cx="7128792" cy="2880321"/>
        </p:xfrm>
        <a:graphic>
          <a:graphicData uri="http://schemas.openxmlformats.org/drawingml/2006/table">
            <a:tbl>
              <a:tblPr firstRow="1" bandRow="1">
                <a:tableStyleId>{5C22544A-7EE6-4342-B048-85BDC9FD1C3A}</a:tableStyleId>
              </a:tblPr>
              <a:tblGrid>
                <a:gridCol w="7128792">
                  <a:extLst>
                    <a:ext uri="{9D8B030D-6E8A-4147-A177-3AD203B41FA5}">
                      <a16:colId xmlns:a16="http://schemas.microsoft.com/office/drawing/2014/main" xmlns="" val="20000"/>
                    </a:ext>
                  </a:extLst>
                </a:gridCol>
              </a:tblGrid>
              <a:tr h="477819">
                <a:tc>
                  <a:txBody>
                    <a:bodyPr/>
                    <a:lstStyle/>
                    <a:p>
                      <a:pPr algn="ctr"/>
                      <a:r>
                        <a:rPr lang="es-AR" dirty="0" smtClean="0"/>
                        <a:t>SANCIONES</a:t>
                      </a:r>
                      <a:endParaRPr lang="es-ES" dirty="0"/>
                    </a:p>
                  </a:txBody>
                  <a:tcPr/>
                </a:tc>
                <a:extLst>
                  <a:ext uri="{0D108BD9-81ED-4DB2-BD59-A6C34878D82A}">
                    <a16:rowId xmlns:a16="http://schemas.microsoft.com/office/drawing/2014/main" xmlns="" val="10000"/>
                  </a:ext>
                </a:extLst>
              </a:tr>
              <a:tr h="517637">
                <a:tc>
                  <a:txBody>
                    <a:bodyPr/>
                    <a:lstStyle/>
                    <a:p>
                      <a:pPr algn="ctr"/>
                      <a:r>
                        <a:rPr lang="es-AR" sz="2000" b="1" dirty="0" smtClean="0">
                          <a:solidFill>
                            <a:srgbClr val="FF0000"/>
                          </a:solidFill>
                        </a:rPr>
                        <a:t>Suspensión</a:t>
                      </a:r>
                      <a:r>
                        <a:rPr lang="es-AR" sz="2000" b="1" baseline="0" dirty="0" smtClean="0">
                          <a:solidFill>
                            <a:srgbClr val="FF0000"/>
                          </a:solidFill>
                        </a:rPr>
                        <a:t> total o parcial de actividades (límite 5 años)</a:t>
                      </a:r>
                      <a:endParaRPr lang="es-AR" sz="2000" b="1" dirty="0" smtClean="0">
                        <a:solidFill>
                          <a:srgbClr val="FF0000"/>
                        </a:solidFill>
                      </a:endParaRPr>
                    </a:p>
                  </a:txBody>
                  <a:tcPr/>
                </a:tc>
                <a:extLst>
                  <a:ext uri="{0D108BD9-81ED-4DB2-BD59-A6C34878D82A}">
                    <a16:rowId xmlns:a16="http://schemas.microsoft.com/office/drawing/2014/main" xmlns="" val="10001"/>
                  </a:ext>
                </a:extLst>
              </a:tr>
              <a:tr h="849591">
                <a:tc>
                  <a:txBody>
                    <a:bodyPr/>
                    <a:lstStyle/>
                    <a:p>
                      <a:pPr algn="ctr"/>
                      <a:endParaRPr lang="es-AR" sz="2000" b="1" dirty="0" smtClean="0">
                        <a:solidFill>
                          <a:srgbClr val="FF0000"/>
                        </a:solidFill>
                      </a:endParaRPr>
                    </a:p>
                    <a:p>
                      <a:pPr algn="ctr"/>
                      <a:r>
                        <a:rPr lang="es-AR" sz="2000" b="1" dirty="0" smtClean="0">
                          <a:solidFill>
                            <a:srgbClr val="FF0000"/>
                          </a:solidFill>
                        </a:rPr>
                        <a:t>Suspensión</a:t>
                      </a:r>
                      <a:r>
                        <a:rPr lang="es-AR" sz="2000" b="1" baseline="0" dirty="0" smtClean="0">
                          <a:solidFill>
                            <a:srgbClr val="FF0000"/>
                          </a:solidFill>
                        </a:rPr>
                        <a:t> para participar en concursos y licitaciones</a:t>
                      </a:r>
                      <a:endParaRPr lang="es-ES" sz="2000" b="1" dirty="0">
                        <a:solidFill>
                          <a:srgbClr val="FF0000"/>
                        </a:solidFill>
                      </a:endParaRPr>
                    </a:p>
                  </a:txBody>
                  <a:tcPr/>
                </a:tc>
                <a:extLst>
                  <a:ext uri="{0D108BD9-81ED-4DB2-BD59-A6C34878D82A}">
                    <a16:rowId xmlns:a16="http://schemas.microsoft.com/office/drawing/2014/main" xmlns="" val="10002"/>
                  </a:ext>
                </a:extLst>
              </a:tr>
              <a:tr h="517637">
                <a:tc>
                  <a:txBody>
                    <a:bodyPr/>
                    <a:lstStyle/>
                    <a:p>
                      <a:pPr algn="ctr"/>
                      <a:r>
                        <a:rPr lang="es-AR" sz="2000" b="1" dirty="0" smtClean="0">
                          <a:solidFill>
                            <a:srgbClr val="FF0000"/>
                          </a:solidFill>
                        </a:rPr>
                        <a:t>Cancelación</a:t>
                      </a:r>
                      <a:r>
                        <a:rPr lang="es-AR" sz="2000" b="1" baseline="0" dirty="0" smtClean="0">
                          <a:solidFill>
                            <a:srgbClr val="FF0000"/>
                          </a:solidFill>
                        </a:rPr>
                        <a:t> de la personería</a:t>
                      </a:r>
                      <a:endParaRPr lang="es-ES" sz="2000" b="1" dirty="0">
                        <a:solidFill>
                          <a:srgbClr val="FF0000"/>
                        </a:solidFill>
                      </a:endParaRPr>
                    </a:p>
                  </a:txBody>
                  <a:tcPr/>
                </a:tc>
                <a:extLst>
                  <a:ext uri="{0D108BD9-81ED-4DB2-BD59-A6C34878D82A}">
                    <a16:rowId xmlns:a16="http://schemas.microsoft.com/office/drawing/2014/main" xmlns="" val="10003"/>
                  </a:ext>
                </a:extLst>
              </a:tr>
              <a:tr h="517637">
                <a:tc>
                  <a:txBody>
                    <a:bodyPr/>
                    <a:lstStyle/>
                    <a:p>
                      <a:pPr algn="ctr"/>
                      <a:r>
                        <a:rPr lang="es-AR" sz="2000" b="1" baseline="0" dirty="0" smtClean="0">
                          <a:solidFill>
                            <a:srgbClr val="FF0000"/>
                          </a:solidFill>
                        </a:rPr>
                        <a:t>Publicación de un extracto de la sentencia</a:t>
                      </a:r>
                    </a:p>
                  </a:txBody>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95536" y="406405"/>
            <a:ext cx="8208912" cy="646331"/>
          </a:xfrm>
          <a:prstGeom prst="rect">
            <a:avLst/>
          </a:prstGeom>
          <a:noFill/>
        </p:spPr>
        <p:txBody>
          <a:bodyPr wrap="square" rtlCol="0">
            <a:spAutoFit/>
          </a:bodyPr>
          <a:lstStyle/>
          <a:p>
            <a:pPr algn="ctr"/>
            <a:r>
              <a:rPr lang="es-AR" sz="3600" b="1" dirty="0" smtClean="0">
                <a:solidFill>
                  <a:srgbClr val="FF0000"/>
                </a:solidFill>
              </a:rPr>
              <a:t>Régimen de Información (I) </a:t>
            </a:r>
          </a:p>
        </p:txBody>
      </p:sp>
      <p:sp>
        <p:nvSpPr>
          <p:cNvPr id="9" name="8 CuadroTexto"/>
          <p:cNvSpPr txBox="1"/>
          <p:nvPr/>
        </p:nvSpPr>
        <p:spPr>
          <a:xfrm>
            <a:off x="2771800" y="1196752"/>
            <a:ext cx="3800464" cy="400110"/>
          </a:xfrm>
          <a:prstGeom prst="rect">
            <a:avLst/>
          </a:prstGeom>
          <a:noFill/>
        </p:spPr>
        <p:txBody>
          <a:bodyPr wrap="square" rtlCol="0">
            <a:spAutoFit/>
          </a:bodyPr>
          <a:lstStyle/>
          <a:p>
            <a:r>
              <a:rPr lang="es-AR" sz="2000" b="1" dirty="0" smtClean="0">
                <a:solidFill>
                  <a:srgbClr val="163F9A"/>
                </a:solidFill>
              </a:rPr>
              <a:t>AFIP – RG 4697/2020 y </a:t>
            </a:r>
            <a:r>
              <a:rPr lang="es-AR" sz="2000" b="1" dirty="0" err="1" smtClean="0">
                <a:solidFill>
                  <a:srgbClr val="163F9A"/>
                </a:solidFill>
              </a:rPr>
              <a:t>modif</a:t>
            </a:r>
            <a:r>
              <a:rPr lang="es-AR" sz="2000" b="1" dirty="0" smtClean="0">
                <a:solidFill>
                  <a:srgbClr val="163F9A"/>
                </a:solidFill>
              </a:rPr>
              <a:t>.</a:t>
            </a:r>
            <a:endParaRPr lang="es-ES" sz="2000" b="1" dirty="0">
              <a:solidFill>
                <a:srgbClr val="163F9A"/>
              </a:solidFill>
            </a:endParaRPr>
          </a:p>
        </p:txBody>
      </p:sp>
      <p:sp>
        <p:nvSpPr>
          <p:cNvPr id="11" name="10 CuadroTexto"/>
          <p:cNvSpPr txBox="1"/>
          <p:nvPr/>
        </p:nvSpPr>
        <p:spPr>
          <a:xfrm>
            <a:off x="251520" y="1700808"/>
            <a:ext cx="8136904" cy="3970318"/>
          </a:xfrm>
          <a:prstGeom prst="rect">
            <a:avLst/>
          </a:prstGeom>
          <a:noFill/>
        </p:spPr>
        <p:txBody>
          <a:bodyPr wrap="square" rtlCol="0">
            <a:spAutoFit/>
          </a:bodyPr>
          <a:lstStyle/>
          <a:p>
            <a:pPr algn="ctr"/>
            <a:r>
              <a:rPr lang="es-AR" b="1" u="sng" dirty="0" smtClean="0"/>
              <a:t>Régimen de información  (Vto. Julio c/ año) de:</a:t>
            </a:r>
          </a:p>
          <a:p>
            <a:pPr algn="just"/>
            <a:endParaRPr lang="es-AR" dirty="0" smtClean="0"/>
          </a:p>
          <a:p>
            <a:pPr algn="just">
              <a:buFont typeface="Wingdings" pitchFamily="2" charset="2"/>
              <a:buChar char="Ø"/>
            </a:pPr>
            <a:r>
              <a:rPr lang="es-AR" dirty="0" smtClean="0"/>
              <a:t> Administradores:</a:t>
            </a:r>
          </a:p>
          <a:p>
            <a:pPr algn="just"/>
            <a:r>
              <a:rPr lang="es-AR" dirty="0" smtClean="0"/>
              <a:t> (presidente, tesorero, secretario).</a:t>
            </a:r>
          </a:p>
          <a:p>
            <a:pPr algn="just"/>
            <a:endParaRPr lang="es-AR" dirty="0" smtClean="0"/>
          </a:p>
          <a:p>
            <a:pPr algn="just">
              <a:buFont typeface="Wingdings" pitchFamily="2" charset="2"/>
              <a:buChar char="Ø"/>
            </a:pPr>
            <a:r>
              <a:rPr lang="es-AR" dirty="0" smtClean="0"/>
              <a:t> Junta Fiscalizadora.</a:t>
            </a:r>
          </a:p>
          <a:p>
            <a:pPr algn="just">
              <a:buFont typeface="Wingdings" pitchFamily="2" charset="2"/>
              <a:buChar char="Ø"/>
            </a:pPr>
            <a:endParaRPr lang="es-AR" dirty="0" smtClean="0"/>
          </a:p>
          <a:p>
            <a:pPr algn="just">
              <a:buFont typeface="Wingdings" pitchFamily="2" charset="2"/>
              <a:buChar char="Ø"/>
            </a:pPr>
            <a:r>
              <a:rPr lang="es-AR" dirty="0" smtClean="0"/>
              <a:t> Apoderados ante AFIP.</a:t>
            </a:r>
          </a:p>
          <a:p>
            <a:pPr algn="just"/>
            <a:endParaRPr lang="es-AR" dirty="0" smtClean="0"/>
          </a:p>
          <a:p>
            <a:pPr algn="just">
              <a:buFont typeface="Wingdings" pitchFamily="2" charset="2"/>
              <a:buChar char="Ø"/>
            </a:pPr>
            <a:r>
              <a:rPr lang="es-AR" dirty="0" smtClean="0"/>
              <a:t>  Patrimonio Neto al 31/12 del año calendario y al cierre del último ejercicio finalizado a esa fecha.</a:t>
            </a:r>
          </a:p>
          <a:p>
            <a:pPr algn="just">
              <a:buFont typeface="Wingdings" pitchFamily="2" charset="2"/>
              <a:buChar char="Ø"/>
            </a:pPr>
            <a:endParaRPr lang="es-ES" dirty="0" smtClean="0"/>
          </a:p>
          <a:p>
            <a:pPr algn="just">
              <a:buFont typeface="Wingdings" pitchFamily="2" charset="2"/>
              <a:buChar char="Ø"/>
            </a:pPr>
            <a:r>
              <a:rPr lang="es-ES" dirty="0" smtClean="0"/>
              <a:t> Actualización de autoridades dentro de los 10 días.</a:t>
            </a:r>
            <a:endParaRPr lang="es-AR" dirty="0" smtClean="0"/>
          </a:p>
          <a:p>
            <a:pPr algn="just">
              <a:buFont typeface="Wingdings" pitchFamily="2" charset="2"/>
              <a:buChar char="Ø"/>
            </a:pPr>
            <a:endParaRPr lang="es-AR" dirty="0" smtClean="0"/>
          </a:p>
        </p:txBody>
      </p:sp>
      <p:sp>
        <p:nvSpPr>
          <p:cNvPr id="7" name="6 Cerrar llave"/>
          <p:cNvSpPr/>
          <p:nvPr/>
        </p:nvSpPr>
        <p:spPr>
          <a:xfrm>
            <a:off x="4714876" y="2285992"/>
            <a:ext cx="285752" cy="1643074"/>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b="1" dirty="0"/>
          </a:p>
        </p:txBody>
      </p:sp>
      <p:sp>
        <p:nvSpPr>
          <p:cNvPr id="8" name="7 CuadroTexto"/>
          <p:cNvSpPr txBox="1"/>
          <p:nvPr/>
        </p:nvSpPr>
        <p:spPr>
          <a:xfrm>
            <a:off x="5429256" y="2571744"/>
            <a:ext cx="2714644" cy="1323439"/>
          </a:xfrm>
          <a:prstGeom prst="rect">
            <a:avLst/>
          </a:prstGeom>
          <a:noFill/>
          <a:ln>
            <a:solidFill>
              <a:srgbClr val="0070C0"/>
            </a:solidFill>
          </a:ln>
        </p:spPr>
        <p:txBody>
          <a:bodyPr wrap="square" rtlCol="0">
            <a:spAutoFit/>
          </a:bodyPr>
          <a:lstStyle/>
          <a:p>
            <a:pPr algn="ctr"/>
            <a:r>
              <a:rPr lang="es-AR" sz="1600" dirty="0" smtClean="0"/>
              <a:t>Nombre y apellido. </a:t>
            </a:r>
            <a:r>
              <a:rPr lang="es-AR" sz="1600" dirty="0" err="1" smtClean="0"/>
              <a:t>Cuit</a:t>
            </a:r>
            <a:r>
              <a:rPr lang="es-AR" sz="1600" dirty="0" smtClean="0"/>
              <a:t>. Domicilio. Fecha de inicio y/o cese mandato. Fecha designación y cargo.</a:t>
            </a:r>
            <a:endParaRPr lang="es-AR" sz="1600" dirty="0"/>
          </a:p>
        </p:txBody>
      </p:sp>
      <p:pic>
        <p:nvPicPr>
          <p:cNvPr id="10"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12" name="11 Marcador de número de diapositiva"/>
          <p:cNvSpPr>
            <a:spLocks noGrp="1"/>
          </p:cNvSpPr>
          <p:nvPr>
            <p:ph type="sldNum" sz="quarter" idx="12"/>
          </p:nvPr>
        </p:nvSpPr>
        <p:spPr/>
        <p:txBody>
          <a:bodyPr/>
          <a:lstStyle/>
          <a:p>
            <a:fld id="{47905A6E-3428-42CC-8A3B-D0D77FE4EB92}" type="slidenum">
              <a:rPr lang="es-ES" smtClean="0"/>
              <a:pPr/>
              <a:t>25</a:t>
            </a:fld>
            <a:endParaRPr lang="es-E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813342"/>
            <a:ext cx="8391306" cy="5544616"/>
          </a:xfrm>
        </p:spPr>
        <p:txBody>
          <a:bodyPr>
            <a:normAutofit/>
          </a:bodyPr>
          <a:lstStyle/>
          <a:p>
            <a:pPr algn="ctr">
              <a:buNone/>
            </a:pPr>
            <a:r>
              <a:rPr lang="es-AR" b="1" dirty="0" smtClean="0">
                <a:solidFill>
                  <a:srgbClr val="163F9A"/>
                </a:solidFill>
              </a:rPr>
              <a:t>RG 3688/2014</a:t>
            </a:r>
          </a:p>
          <a:p>
            <a:pPr>
              <a:buNone/>
            </a:pPr>
            <a:r>
              <a:rPr lang="es-AR" sz="1600" dirty="0" smtClean="0"/>
              <a:t>	</a:t>
            </a:r>
          </a:p>
          <a:p>
            <a:pPr>
              <a:buNone/>
            </a:pPr>
            <a:endParaRPr lang="es-AR" sz="1600" dirty="0" smtClean="0"/>
          </a:p>
          <a:p>
            <a:pPr>
              <a:buNone/>
            </a:pPr>
            <a:endParaRPr lang="es-AR" sz="1900" dirty="0" smtClean="0"/>
          </a:p>
          <a:p>
            <a:pPr>
              <a:buNone/>
            </a:pPr>
            <a:r>
              <a:rPr lang="es-AR" sz="1300" u="sng" dirty="0" smtClean="0"/>
              <a:t>Informar</a:t>
            </a:r>
            <a:r>
              <a:rPr lang="es-AR" sz="1300" dirty="0" smtClean="0"/>
              <a:t>: (Vto. Último día hábil del mes inmediato siguiente del periodo a informar). </a:t>
            </a:r>
          </a:p>
          <a:p>
            <a:pPr>
              <a:buNone/>
            </a:pPr>
            <a:endParaRPr lang="es-AR" sz="1300" dirty="0" smtClean="0"/>
          </a:p>
          <a:p>
            <a:r>
              <a:rPr lang="es-AR" sz="1300" dirty="0" smtClean="0"/>
              <a:t>Montos mensuales totales depositados y/o registrados, cuando la sumatoria mensual supere los $ 10.000.-</a:t>
            </a:r>
          </a:p>
          <a:p>
            <a:r>
              <a:rPr lang="es-AR" sz="1300" dirty="0" smtClean="0"/>
              <a:t>Aportes de los asociados, superiores a $ 10.000.-</a:t>
            </a:r>
          </a:p>
          <a:p>
            <a:r>
              <a:rPr lang="es-AR" sz="1300" dirty="0" smtClean="0"/>
              <a:t>Fondos totales mensuales obtenidas por financiamiento de la actividades de la entidad.</a:t>
            </a:r>
          </a:p>
          <a:p>
            <a:r>
              <a:rPr lang="es-AR" sz="1300" dirty="0" smtClean="0"/>
              <a:t>Por cada mes calendario.</a:t>
            </a:r>
          </a:p>
          <a:p>
            <a:r>
              <a:rPr lang="es-AR" sz="1300" dirty="0" smtClean="0"/>
              <a:t>Informar inclusive sin movimiento.</a:t>
            </a:r>
          </a:p>
          <a:p>
            <a:endParaRPr lang="es-AR" sz="1300" dirty="0" smtClean="0"/>
          </a:p>
          <a:p>
            <a:pPr>
              <a:buNone/>
            </a:pPr>
            <a:r>
              <a:rPr lang="es-AR" sz="1300" u="sng" dirty="0" smtClean="0"/>
              <a:t>Sanciones</a:t>
            </a:r>
            <a:r>
              <a:rPr lang="es-AR" sz="1300" dirty="0" smtClean="0"/>
              <a:t>: (art. 8)</a:t>
            </a:r>
          </a:p>
          <a:p>
            <a:pPr>
              <a:buNone/>
            </a:pPr>
            <a:endParaRPr lang="es-AR" sz="1300" dirty="0" smtClean="0"/>
          </a:p>
          <a:p>
            <a:pPr marL="342900" indent="-342900">
              <a:buNone/>
            </a:pPr>
            <a:r>
              <a:rPr lang="es-AR" sz="1300" dirty="0" smtClean="0"/>
              <a:t>a) Dejar sin efecto el certificado de exención y/o no renovar el mismo.</a:t>
            </a:r>
          </a:p>
          <a:p>
            <a:pPr marL="342900" indent="-342900">
              <a:buNone/>
            </a:pPr>
            <a:r>
              <a:rPr lang="es-AR" sz="1300" dirty="0" smtClean="0"/>
              <a:t>b) </a:t>
            </a:r>
            <a:r>
              <a:rPr lang="es-AR" sz="1300" u="sng" dirty="0" smtClean="0"/>
              <a:t>Encuadrar al responsable en una categoría creciente de riesgo a efectos de fiscalización</a:t>
            </a:r>
            <a:r>
              <a:rPr lang="es-AR" sz="1300" dirty="0" smtClean="0"/>
              <a:t>.</a:t>
            </a:r>
          </a:p>
          <a:p>
            <a:pPr marL="342900" indent="-342900">
              <a:buNone/>
            </a:pPr>
            <a:r>
              <a:rPr lang="es-AR" sz="1300" dirty="0" smtClean="0"/>
              <a:t>c) </a:t>
            </a:r>
            <a:r>
              <a:rPr lang="es-AR" sz="1300" u="sng" dirty="0" smtClean="0"/>
              <a:t>Suspenderlos o excluirlo de regímenes especiales tributarios</a:t>
            </a:r>
            <a:r>
              <a:rPr lang="es-AR" sz="1300" dirty="0" smtClean="0"/>
              <a:t>.</a:t>
            </a:r>
          </a:p>
          <a:p>
            <a:pPr marL="342900" indent="-342900">
              <a:buNone/>
            </a:pPr>
            <a:r>
              <a:rPr lang="es-AR" sz="1300" dirty="0" smtClean="0"/>
              <a:t>d) Suspender la tramitación de certificados de exclusión de retención interpuestos por el responsable.</a:t>
            </a:r>
          </a:p>
          <a:p>
            <a:pPr>
              <a:buNone/>
            </a:pPr>
            <a:endParaRPr lang="es-AR" sz="13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26</a:t>
            </a:fld>
            <a:endParaRPr lang="es-ES" dirty="0"/>
          </a:p>
        </p:txBody>
      </p:sp>
      <p:sp>
        <p:nvSpPr>
          <p:cNvPr id="5" name="4 CuadroTexto"/>
          <p:cNvSpPr txBox="1"/>
          <p:nvPr/>
        </p:nvSpPr>
        <p:spPr>
          <a:xfrm>
            <a:off x="395536" y="116632"/>
            <a:ext cx="8208912" cy="646331"/>
          </a:xfrm>
          <a:prstGeom prst="rect">
            <a:avLst/>
          </a:prstGeom>
          <a:noFill/>
        </p:spPr>
        <p:txBody>
          <a:bodyPr wrap="square" rtlCol="0">
            <a:spAutoFit/>
          </a:bodyPr>
          <a:lstStyle/>
          <a:p>
            <a:pPr algn="ctr"/>
            <a:r>
              <a:rPr lang="es-AR" sz="3600" b="1" dirty="0" smtClean="0">
                <a:solidFill>
                  <a:srgbClr val="FF0000"/>
                </a:solidFill>
              </a:rPr>
              <a:t>Régimen de Información (II) </a:t>
            </a:r>
          </a:p>
        </p:txBody>
      </p:sp>
      <p:sp>
        <p:nvSpPr>
          <p:cNvPr id="7" name="6 Rectángulo redondeado"/>
          <p:cNvSpPr/>
          <p:nvPr/>
        </p:nvSpPr>
        <p:spPr>
          <a:xfrm>
            <a:off x="107504" y="1412776"/>
            <a:ext cx="8064896" cy="720080"/>
          </a:xfrm>
          <a:prstGeom prst="roundRect">
            <a:avLst>
              <a:gd name="adj" fmla="val 50000"/>
            </a:avLst>
          </a:prstGeom>
        </p:spPr>
        <p:style>
          <a:lnRef idx="2">
            <a:schemeClr val="accent1"/>
          </a:lnRef>
          <a:fillRef idx="1">
            <a:schemeClr val="lt1"/>
          </a:fillRef>
          <a:effectRef idx="0">
            <a:schemeClr val="accent1"/>
          </a:effectRef>
          <a:fontRef idx="minor">
            <a:schemeClr val="dk1"/>
          </a:fontRef>
        </p:style>
        <p:txBody>
          <a:bodyPr rtlCol="0" anchor="ctr"/>
          <a:lstStyle/>
          <a:p>
            <a:pPr algn="ctr">
              <a:buNone/>
            </a:pPr>
            <a:r>
              <a:rPr lang="es-AR" sz="1500" dirty="0" smtClean="0"/>
              <a:t>Entidades que intervengan en operaciones de crédito, ahorro de asociados, otorgamiento, gestión de préstamos, con fondos propios o de terceros y gestiones de créditos.</a:t>
            </a: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95536" y="406405"/>
            <a:ext cx="8208912" cy="646331"/>
          </a:xfrm>
          <a:prstGeom prst="rect">
            <a:avLst/>
          </a:prstGeom>
          <a:noFill/>
        </p:spPr>
        <p:txBody>
          <a:bodyPr wrap="square" rtlCol="0">
            <a:spAutoFit/>
          </a:bodyPr>
          <a:lstStyle/>
          <a:p>
            <a:pPr algn="ctr"/>
            <a:r>
              <a:rPr lang="es-AR" sz="3600" b="1" dirty="0" smtClean="0">
                <a:solidFill>
                  <a:srgbClr val="FF0000"/>
                </a:solidFill>
              </a:rPr>
              <a:t>Régimen de Información (III) </a:t>
            </a:r>
          </a:p>
        </p:txBody>
      </p:sp>
      <p:sp>
        <p:nvSpPr>
          <p:cNvPr id="9" name="8 CuadroTexto"/>
          <p:cNvSpPr txBox="1"/>
          <p:nvPr/>
        </p:nvSpPr>
        <p:spPr>
          <a:xfrm>
            <a:off x="2771800" y="1196752"/>
            <a:ext cx="3456384" cy="400110"/>
          </a:xfrm>
          <a:prstGeom prst="rect">
            <a:avLst/>
          </a:prstGeom>
          <a:noFill/>
        </p:spPr>
        <p:txBody>
          <a:bodyPr wrap="square" rtlCol="0">
            <a:spAutoFit/>
          </a:bodyPr>
          <a:lstStyle/>
          <a:p>
            <a:r>
              <a:rPr lang="es-AR" sz="2000" b="1" dirty="0" smtClean="0">
                <a:solidFill>
                  <a:srgbClr val="163F9A"/>
                </a:solidFill>
              </a:rPr>
              <a:t>AFIP - RG 3688/2014</a:t>
            </a:r>
            <a:endParaRPr lang="es-ES" sz="2000" b="1" dirty="0">
              <a:solidFill>
                <a:srgbClr val="163F9A"/>
              </a:solidFill>
            </a:endParaRPr>
          </a:p>
        </p:txBody>
      </p:sp>
      <p:sp>
        <p:nvSpPr>
          <p:cNvPr id="10" name="9 CuadroTexto"/>
          <p:cNvSpPr txBox="1"/>
          <p:nvPr/>
        </p:nvSpPr>
        <p:spPr>
          <a:xfrm>
            <a:off x="827584" y="1844824"/>
            <a:ext cx="7416824" cy="1200329"/>
          </a:xfrm>
          <a:prstGeom prst="rect">
            <a:avLst/>
          </a:prstGeom>
          <a:noFill/>
        </p:spPr>
        <p:txBody>
          <a:bodyPr wrap="square" rtlCol="0">
            <a:spAutoFit/>
          </a:bodyPr>
          <a:lstStyle/>
          <a:p>
            <a:pPr algn="ctr"/>
            <a:r>
              <a:rPr lang="es-AR" b="1" dirty="0" smtClean="0"/>
              <a:t>Fallo </a:t>
            </a:r>
            <a:r>
              <a:rPr lang="es-AR" b="1" dirty="0" err="1" smtClean="0"/>
              <a:t>CNCont</a:t>
            </a:r>
            <a:r>
              <a:rPr lang="es-AR" b="1" dirty="0" smtClean="0"/>
              <a:t>. </a:t>
            </a:r>
            <a:r>
              <a:rPr lang="es-AR" b="1" dirty="0" err="1" smtClean="0"/>
              <a:t>Adm</a:t>
            </a:r>
            <a:r>
              <a:rPr lang="es-AR" b="1" dirty="0" smtClean="0"/>
              <a:t>. Fed. Sala III, diciembre 28, 2015.</a:t>
            </a:r>
          </a:p>
          <a:p>
            <a:endParaRPr lang="es-AR" b="1" dirty="0" smtClean="0"/>
          </a:p>
          <a:p>
            <a:pPr algn="ctr"/>
            <a:r>
              <a:rPr lang="es-AR" b="1" dirty="0" smtClean="0"/>
              <a:t> “CONFEDERACIÓN ARGENTINA DE MUTUALIDADES c/ Estado Nacional – AFIP s/ proceso de conocimiento”</a:t>
            </a:r>
            <a:endParaRPr lang="es-ES" b="1" dirty="0"/>
          </a:p>
        </p:txBody>
      </p:sp>
      <p:sp>
        <p:nvSpPr>
          <p:cNvPr id="11" name="10 CuadroTexto"/>
          <p:cNvSpPr txBox="1"/>
          <p:nvPr/>
        </p:nvSpPr>
        <p:spPr>
          <a:xfrm>
            <a:off x="107504" y="3068960"/>
            <a:ext cx="8136904" cy="2708434"/>
          </a:xfrm>
          <a:prstGeom prst="rect">
            <a:avLst/>
          </a:prstGeom>
          <a:noFill/>
        </p:spPr>
        <p:txBody>
          <a:bodyPr wrap="square" rtlCol="0">
            <a:spAutoFit/>
          </a:bodyPr>
          <a:lstStyle/>
          <a:p>
            <a:pPr algn="just"/>
            <a:r>
              <a:rPr lang="es-AR" sz="1700" dirty="0" smtClean="0"/>
              <a:t>La Confederación promovió una acción declarativa de certeza y nulidad contra la AFIP con motivo del dictado de la Resolución General AFIP N° 3688/14 y se solicitó una medida cautelar </a:t>
            </a:r>
            <a:r>
              <a:rPr lang="es-AR" sz="1700" dirty="0" err="1" smtClean="0"/>
              <a:t>innovativa</a:t>
            </a:r>
            <a:r>
              <a:rPr lang="es-AR" sz="1700" dirty="0" smtClean="0"/>
              <a:t> a los efectos que se ordene al Poder Ejecutivo la no aplicación de la citada normativa. La primera instancia falló a favor del Confederación y la Cámara luego hizo lugar parcialmente al recurso de AFIP:</a:t>
            </a:r>
          </a:p>
          <a:p>
            <a:pPr algn="just"/>
            <a:endParaRPr lang="es-AR" sz="1700" dirty="0" smtClean="0"/>
          </a:p>
          <a:p>
            <a:pPr marL="400050" indent="-400050" algn="just">
              <a:buAutoNum type="romanLcParenR"/>
            </a:pPr>
            <a:r>
              <a:rPr lang="es-AR" sz="1700" dirty="0" smtClean="0"/>
              <a:t>Dejo en vigencia parcialmente la RG 3688/14, reivindicando la obligación de informar lo previsto en dicha norma,</a:t>
            </a:r>
          </a:p>
          <a:p>
            <a:pPr marL="400050" indent="-400050" algn="just">
              <a:buAutoNum type="romanLcParenR"/>
            </a:pPr>
            <a:r>
              <a:rPr lang="es-AR" sz="1700" dirty="0" smtClean="0"/>
              <a:t>Mantuvo vigente las sanciones b) y c) y suspendió transitoriamente las de los incisos a) y d).</a:t>
            </a:r>
            <a:endParaRPr lang="es-ES" sz="1700" dirty="0"/>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7" name="6 Marcador de número de diapositiva"/>
          <p:cNvSpPr>
            <a:spLocks noGrp="1"/>
          </p:cNvSpPr>
          <p:nvPr>
            <p:ph type="sldNum" sz="quarter" idx="12"/>
          </p:nvPr>
        </p:nvSpPr>
        <p:spPr/>
        <p:txBody>
          <a:bodyPr/>
          <a:lstStyle/>
          <a:p>
            <a:fld id="{47905A6E-3428-42CC-8A3B-D0D77FE4EB92}" type="slidenum">
              <a:rPr lang="es-ES" smtClean="0"/>
              <a:pPr/>
              <a:t>27</a:t>
            </a:fld>
            <a:endParaRPr lang="es-E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95536" y="406405"/>
            <a:ext cx="8208912" cy="646331"/>
          </a:xfrm>
          <a:prstGeom prst="rect">
            <a:avLst/>
          </a:prstGeom>
          <a:noFill/>
        </p:spPr>
        <p:txBody>
          <a:bodyPr wrap="square" rtlCol="0">
            <a:spAutoFit/>
          </a:bodyPr>
          <a:lstStyle/>
          <a:p>
            <a:pPr algn="ctr"/>
            <a:r>
              <a:rPr lang="es-AR" sz="3600" b="1" dirty="0" smtClean="0">
                <a:solidFill>
                  <a:srgbClr val="FF0000"/>
                </a:solidFill>
              </a:rPr>
              <a:t>Régimen de Información (IV) </a:t>
            </a:r>
          </a:p>
        </p:txBody>
      </p:sp>
      <p:sp>
        <p:nvSpPr>
          <p:cNvPr id="11" name="10 CuadroTexto"/>
          <p:cNvSpPr txBox="1"/>
          <p:nvPr/>
        </p:nvSpPr>
        <p:spPr>
          <a:xfrm>
            <a:off x="539552" y="1146810"/>
            <a:ext cx="8136904" cy="600164"/>
          </a:xfrm>
          <a:prstGeom prst="rect">
            <a:avLst/>
          </a:prstGeom>
          <a:noFill/>
        </p:spPr>
        <p:txBody>
          <a:bodyPr wrap="square" rtlCol="0">
            <a:spAutoFit/>
          </a:bodyPr>
          <a:lstStyle/>
          <a:p>
            <a:pPr algn="ctr"/>
            <a:r>
              <a:rPr lang="es-AR" b="1" u="sng" dirty="0" smtClean="0">
                <a:solidFill>
                  <a:srgbClr val="163F9A"/>
                </a:solidFill>
              </a:rPr>
              <a:t>RG 3572/2013. Registro de Sujetos Vinculados (Título I)</a:t>
            </a:r>
          </a:p>
          <a:p>
            <a:pPr algn="just"/>
            <a:endParaRPr lang="es-AR" sz="1500" dirty="0" smtClean="0"/>
          </a:p>
        </p:txBody>
      </p:sp>
      <p:sp>
        <p:nvSpPr>
          <p:cNvPr id="8" name="7 CuadroTexto"/>
          <p:cNvSpPr txBox="1"/>
          <p:nvPr/>
        </p:nvSpPr>
        <p:spPr>
          <a:xfrm>
            <a:off x="251520" y="1772816"/>
            <a:ext cx="8136904" cy="3416320"/>
          </a:xfrm>
          <a:prstGeom prst="rect">
            <a:avLst/>
          </a:prstGeom>
          <a:noFill/>
        </p:spPr>
        <p:txBody>
          <a:bodyPr wrap="square" rtlCol="0">
            <a:spAutoFit/>
          </a:bodyPr>
          <a:lstStyle/>
          <a:p>
            <a:pPr algn="ctr"/>
            <a:r>
              <a:rPr lang="es-AR" b="1" dirty="0" smtClean="0"/>
              <a:t>Se crea un registro de sujetos vinculados. </a:t>
            </a:r>
          </a:p>
          <a:p>
            <a:pPr algn="ctr"/>
            <a:endParaRPr lang="es-AR" u="sng" dirty="0" smtClean="0"/>
          </a:p>
          <a:p>
            <a:pPr algn="ctr"/>
            <a:r>
              <a:rPr lang="es-AR" b="1" u="sng" dirty="0" smtClean="0"/>
              <a:t>Requisitos:</a:t>
            </a:r>
          </a:p>
          <a:p>
            <a:endParaRPr lang="es-AR" dirty="0" smtClean="0"/>
          </a:p>
          <a:p>
            <a:pPr marL="342900" indent="-342900">
              <a:buAutoNum type="alphaLcParenR"/>
            </a:pPr>
            <a:r>
              <a:rPr lang="es-AR" dirty="0" smtClean="0"/>
              <a:t>CUIT sujeto informante.</a:t>
            </a:r>
          </a:p>
          <a:p>
            <a:pPr marL="342900" indent="-342900">
              <a:buAutoNum type="alphaLcParenR"/>
            </a:pPr>
            <a:r>
              <a:rPr lang="es-AR" dirty="0" smtClean="0"/>
              <a:t>CUIT sujeto informado.</a:t>
            </a:r>
          </a:p>
          <a:p>
            <a:pPr marL="342900" indent="-342900">
              <a:buAutoNum type="alphaLcParenR"/>
            </a:pPr>
            <a:r>
              <a:rPr lang="es-AR" dirty="0" smtClean="0"/>
              <a:t>Apellido, nombre o razón social y domicilio del sujeto informado.</a:t>
            </a:r>
          </a:p>
          <a:p>
            <a:pPr marL="342900" indent="-342900">
              <a:buAutoNum type="alphaLcParenR"/>
            </a:pPr>
            <a:r>
              <a:rPr lang="es-AR" dirty="0" smtClean="0"/>
              <a:t>Tipo de vinculación.</a:t>
            </a:r>
          </a:p>
          <a:p>
            <a:pPr marL="342900" indent="-342900">
              <a:buAutoNum type="alphaLcParenR"/>
            </a:pPr>
            <a:endParaRPr lang="es-AR" dirty="0" smtClean="0"/>
          </a:p>
          <a:p>
            <a:pPr marL="342900" indent="-342900" algn="ctr"/>
            <a:r>
              <a:rPr lang="es-AR" dirty="0" smtClean="0"/>
              <a:t>La obligación de informar el alta y modificaciones deberá cumplirse dentro de los 10 días hábiles administrativos de acaecidos las causales.</a:t>
            </a:r>
            <a:endParaRPr lang="es-ES" dirty="0"/>
          </a:p>
        </p:txBody>
      </p:sp>
      <p:sp>
        <p:nvSpPr>
          <p:cNvPr id="7" name="6 CuadroTexto"/>
          <p:cNvSpPr txBox="1"/>
          <p:nvPr/>
        </p:nvSpPr>
        <p:spPr>
          <a:xfrm>
            <a:off x="0" y="4941168"/>
            <a:ext cx="8136904" cy="553998"/>
          </a:xfrm>
          <a:prstGeom prst="rect">
            <a:avLst/>
          </a:prstGeom>
          <a:noFill/>
        </p:spPr>
        <p:txBody>
          <a:bodyPr wrap="square" rtlCol="0">
            <a:spAutoFit/>
          </a:bodyPr>
          <a:lstStyle/>
          <a:p>
            <a:pPr algn="ctr"/>
            <a:r>
              <a:rPr lang="es-AR" sz="1500" b="1" dirty="0" smtClean="0">
                <a:solidFill>
                  <a:srgbClr val="FF0000"/>
                </a:solidFill>
              </a:rPr>
              <a:t>La RG 4502/2019 derogó el Titulo II. Régimen de información operaciones realizadas en el mercado interno con sujetos vinculados. </a:t>
            </a:r>
            <a:endParaRPr lang="es-ES" sz="1500" b="1" dirty="0">
              <a:solidFill>
                <a:srgbClr val="FF0000"/>
              </a:solidFill>
            </a:endParaRPr>
          </a:p>
        </p:txBody>
      </p:sp>
      <p:pic>
        <p:nvPicPr>
          <p:cNvPr id="9"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10" name="9 Marcador de número de diapositiva"/>
          <p:cNvSpPr>
            <a:spLocks noGrp="1"/>
          </p:cNvSpPr>
          <p:nvPr>
            <p:ph type="sldNum" sz="quarter" idx="12"/>
          </p:nvPr>
        </p:nvSpPr>
        <p:spPr/>
        <p:txBody>
          <a:bodyPr/>
          <a:lstStyle/>
          <a:p>
            <a:fld id="{47905A6E-3428-42CC-8A3B-D0D77FE4EB92}" type="slidenum">
              <a:rPr lang="es-ES" smtClean="0"/>
              <a:pPr/>
              <a:t>28</a:t>
            </a:fld>
            <a:endParaRPr lang="es-E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95536" y="332656"/>
            <a:ext cx="8208912" cy="646331"/>
          </a:xfrm>
          <a:prstGeom prst="rect">
            <a:avLst/>
          </a:prstGeom>
          <a:noFill/>
        </p:spPr>
        <p:txBody>
          <a:bodyPr wrap="square" rtlCol="0">
            <a:spAutoFit/>
          </a:bodyPr>
          <a:lstStyle/>
          <a:p>
            <a:pPr algn="ctr"/>
            <a:r>
              <a:rPr lang="es-AR" sz="3600" b="1" dirty="0" smtClean="0">
                <a:solidFill>
                  <a:srgbClr val="FF0000"/>
                </a:solidFill>
              </a:rPr>
              <a:t>Régimen de Información (V) </a:t>
            </a:r>
          </a:p>
        </p:txBody>
      </p:sp>
      <p:sp>
        <p:nvSpPr>
          <p:cNvPr id="9" name="8 CuadroTexto"/>
          <p:cNvSpPr txBox="1"/>
          <p:nvPr/>
        </p:nvSpPr>
        <p:spPr>
          <a:xfrm>
            <a:off x="2771800" y="1196752"/>
            <a:ext cx="3456384" cy="400110"/>
          </a:xfrm>
          <a:prstGeom prst="rect">
            <a:avLst/>
          </a:prstGeom>
          <a:noFill/>
        </p:spPr>
        <p:txBody>
          <a:bodyPr wrap="square" rtlCol="0">
            <a:spAutoFit/>
          </a:bodyPr>
          <a:lstStyle/>
          <a:p>
            <a:r>
              <a:rPr lang="es-AR" sz="2000" b="1" dirty="0" smtClean="0"/>
              <a:t>AFIP – RG 3572/2013</a:t>
            </a:r>
            <a:endParaRPr lang="es-ES" sz="2000" b="1" dirty="0"/>
          </a:p>
        </p:txBody>
      </p:sp>
      <p:sp>
        <p:nvSpPr>
          <p:cNvPr id="11" name="10 CuadroTexto"/>
          <p:cNvSpPr txBox="1"/>
          <p:nvPr/>
        </p:nvSpPr>
        <p:spPr>
          <a:xfrm>
            <a:off x="539552" y="908720"/>
            <a:ext cx="8136904" cy="553998"/>
          </a:xfrm>
          <a:prstGeom prst="rect">
            <a:avLst/>
          </a:prstGeom>
          <a:noFill/>
        </p:spPr>
        <p:txBody>
          <a:bodyPr wrap="square" rtlCol="0">
            <a:spAutoFit/>
          </a:bodyPr>
          <a:lstStyle/>
          <a:p>
            <a:pPr algn="ctr"/>
            <a:r>
              <a:rPr lang="es-AR" sz="1500" b="1" u="sng" dirty="0" smtClean="0">
                <a:solidFill>
                  <a:srgbClr val="163F9A"/>
                </a:solidFill>
              </a:rPr>
              <a:t>Registro de Sujetos Vinculados (Título I)</a:t>
            </a:r>
          </a:p>
          <a:p>
            <a:pPr algn="just"/>
            <a:endParaRPr lang="es-AR" sz="1500" dirty="0" smtClean="0"/>
          </a:p>
        </p:txBody>
      </p:sp>
      <p:sp>
        <p:nvSpPr>
          <p:cNvPr id="7" name="6 Rectángulo"/>
          <p:cNvSpPr/>
          <p:nvPr/>
        </p:nvSpPr>
        <p:spPr>
          <a:xfrm>
            <a:off x="611560" y="1628800"/>
            <a:ext cx="7992888" cy="410445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AR" sz="1000" dirty="0" smtClean="0"/>
          </a:p>
          <a:p>
            <a:endParaRPr lang="es-AR" sz="1000" dirty="0" smtClean="0"/>
          </a:p>
          <a:p>
            <a:endParaRPr lang="es-AR" sz="1000" b="1" dirty="0" smtClean="0"/>
          </a:p>
          <a:p>
            <a:r>
              <a:rPr lang="es-AR" sz="1100" b="1" dirty="0" smtClean="0">
                <a:solidFill>
                  <a:schemeClr val="tx1"/>
                </a:solidFill>
              </a:rPr>
              <a:t>a) Un sujeto posea la totalidad o una parte mayoritaria del capital de otro.</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b) Dos o más sujetos tengan alternativamente:</a:t>
            </a:r>
          </a:p>
          <a:p>
            <a:endParaRPr lang="es-AR" sz="1100" b="1" dirty="0" smtClean="0">
              <a:solidFill>
                <a:schemeClr val="tx1"/>
              </a:solidFill>
            </a:endParaRPr>
          </a:p>
          <a:p>
            <a:r>
              <a:rPr lang="es-AR" sz="1100" b="1" dirty="0" smtClean="0">
                <a:solidFill>
                  <a:schemeClr val="tx1"/>
                </a:solidFill>
              </a:rPr>
              <a:t>1. Un sujeto en común como poseedor total o mayoritario de sus capitales.</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2. Un sujeto en común que posea participación total o mayoritaria en el capital de uno o más sujetos e influencia significativa en uno o más de los otros sujetos.</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3. Un sujeto en común que posea influencia significativa sobre ellos simultáneamente. </a:t>
            </a:r>
          </a:p>
          <a:p>
            <a:endParaRPr lang="es-AR" sz="1100" b="1" dirty="0" smtClean="0">
              <a:solidFill>
                <a:schemeClr val="tx1"/>
              </a:solidFill>
            </a:endParaRPr>
          </a:p>
          <a:p>
            <a:r>
              <a:rPr lang="es-AR" sz="1100" b="1" dirty="0" smtClean="0">
                <a:solidFill>
                  <a:schemeClr val="tx1"/>
                </a:solidFill>
              </a:rPr>
              <a:t>c) Un sujeto posea los votos necesarios para formar la voluntad social o prevalecer en la asamblea de accionistas o socios de otro.</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rgbClr val="FF0000"/>
                </a:solidFill>
              </a:rPr>
              <a:t>d) </a:t>
            </a:r>
            <a:r>
              <a:rPr lang="es-AR" sz="1100" b="1" u="sng" dirty="0" smtClean="0">
                <a:solidFill>
                  <a:srgbClr val="FF0000"/>
                </a:solidFill>
              </a:rPr>
              <a:t>Dos o más sujetos posean directores, funcionarios o administradores comunes.</a:t>
            </a: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e) Un sujeto goce de exclusividad como agente, distribuidor o concesionario para la compraventa de bienes, servicios o derechos, por parte de otro.</a:t>
            </a:r>
          </a:p>
          <a:p>
            <a:endParaRPr lang="es-AR" sz="1100" b="1" dirty="0" smtClean="0">
              <a:solidFill>
                <a:schemeClr val="tx1"/>
              </a:solidFill>
            </a:endParaRPr>
          </a:p>
          <a:p>
            <a:r>
              <a:rPr lang="es-AR" sz="1100" b="1" dirty="0" smtClean="0">
                <a:solidFill>
                  <a:schemeClr val="tx1"/>
                </a:solidFill>
              </a:rPr>
              <a:t>f) Un sujeto provea a otro la propiedad tecnológica o conocimiento técnico que constituya la base de sus actividades, sobre las cuales este último conduce sus negocios.</a:t>
            </a:r>
          </a:p>
          <a:p>
            <a:endParaRPr lang="es-AR" sz="1100" b="1" dirty="0" smtClean="0">
              <a:solidFill>
                <a:srgbClr val="FF0000"/>
              </a:solidFill>
            </a:endParaRPr>
          </a:p>
          <a:p>
            <a:endParaRPr lang="es-AR" sz="1100" b="1" dirty="0" smtClean="0">
              <a:solidFill>
                <a:srgbClr val="FF0000"/>
              </a:solidFill>
            </a:endParaRPr>
          </a:p>
          <a:p>
            <a:r>
              <a:rPr lang="es-AR" sz="1100" b="1" dirty="0" smtClean="0">
                <a:solidFill>
                  <a:srgbClr val="FF0000"/>
                </a:solidFill>
              </a:rPr>
              <a:t/>
            </a:r>
            <a:br>
              <a:rPr lang="es-AR" sz="1100" b="1" dirty="0" smtClean="0">
                <a:solidFill>
                  <a:srgbClr val="FF0000"/>
                </a:solidFill>
              </a:rPr>
            </a:br>
            <a:endParaRPr lang="es-ES" sz="1100" b="1" dirty="0">
              <a:solidFill>
                <a:srgbClr val="FF0000"/>
              </a:solidFill>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10" name="9 Marcador de número de diapositiva"/>
          <p:cNvSpPr>
            <a:spLocks noGrp="1"/>
          </p:cNvSpPr>
          <p:nvPr>
            <p:ph type="sldNum" sz="quarter" idx="12"/>
          </p:nvPr>
        </p:nvSpPr>
        <p:spPr/>
        <p:txBody>
          <a:bodyPr/>
          <a:lstStyle/>
          <a:p>
            <a:fld id="{47905A6E-3428-42CC-8A3B-D0D77FE4EB92}" type="slidenum">
              <a:rPr lang="es-ES" smtClean="0"/>
              <a:pPr/>
              <a:t>29</a:t>
            </a:fld>
            <a:endParaRPr lang="es-E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95536" y="332656"/>
            <a:ext cx="8208912" cy="646331"/>
          </a:xfrm>
          <a:prstGeom prst="rect">
            <a:avLst/>
          </a:prstGeom>
          <a:noFill/>
        </p:spPr>
        <p:txBody>
          <a:bodyPr wrap="square" rtlCol="0">
            <a:spAutoFit/>
          </a:bodyPr>
          <a:lstStyle/>
          <a:p>
            <a:pPr algn="ctr"/>
            <a:r>
              <a:rPr lang="es-AR" sz="3600" b="1" dirty="0" smtClean="0">
                <a:solidFill>
                  <a:srgbClr val="FF0000"/>
                </a:solidFill>
              </a:rPr>
              <a:t>Régimen de Información (VI) </a:t>
            </a:r>
          </a:p>
        </p:txBody>
      </p:sp>
      <p:sp>
        <p:nvSpPr>
          <p:cNvPr id="11" name="10 CuadroTexto"/>
          <p:cNvSpPr txBox="1"/>
          <p:nvPr/>
        </p:nvSpPr>
        <p:spPr>
          <a:xfrm>
            <a:off x="539552" y="908720"/>
            <a:ext cx="8136904" cy="553998"/>
          </a:xfrm>
          <a:prstGeom prst="rect">
            <a:avLst/>
          </a:prstGeom>
          <a:noFill/>
        </p:spPr>
        <p:txBody>
          <a:bodyPr wrap="square" rtlCol="0">
            <a:spAutoFit/>
          </a:bodyPr>
          <a:lstStyle/>
          <a:p>
            <a:pPr algn="ctr"/>
            <a:r>
              <a:rPr lang="es-AR" sz="1500" b="1" u="sng" dirty="0" smtClean="0">
                <a:solidFill>
                  <a:srgbClr val="163F9A"/>
                </a:solidFill>
              </a:rPr>
              <a:t>RG 3572/2013. Registro de Sujetos Vinculados (Título I)</a:t>
            </a:r>
          </a:p>
          <a:p>
            <a:pPr algn="just"/>
            <a:endParaRPr lang="es-AR" sz="1500" dirty="0" smtClean="0">
              <a:solidFill>
                <a:srgbClr val="163F9A"/>
              </a:solidFill>
            </a:endParaRPr>
          </a:p>
        </p:txBody>
      </p:sp>
      <p:sp>
        <p:nvSpPr>
          <p:cNvPr id="7" name="6 Rectángulo"/>
          <p:cNvSpPr/>
          <p:nvPr/>
        </p:nvSpPr>
        <p:spPr>
          <a:xfrm>
            <a:off x="467544" y="1268760"/>
            <a:ext cx="8136904" cy="45891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AR" sz="1000" dirty="0" smtClean="0"/>
          </a:p>
          <a:p>
            <a:r>
              <a:rPr lang="es-AR" sz="1100" b="1" dirty="0" smtClean="0">
                <a:solidFill>
                  <a:schemeClr val="tx1"/>
                </a:solidFill>
              </a:rPr>
              <a:t>g) Un sujeto participe con otro en asociaciones sin existencia legal como personas jurídicas, entre otros, condominios, uniones transitorias de empresas, agrupamientos de colaboración empresaria, agrupamientos no societarios o de cualquier otro tipo, a través de los cuales ejerza influencia significativa en la determinación de los precios.</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h) Un sujeto acuerde con otro cláusulas contractuales que asumen el carácter de preferenciales en relación con las otorgadas a terceros en similares circunstancias, tales como descuentos por volúmenes negociados, financiación de las operaciones o entrega en consignación, entre otras.</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i) Un sujeto participe significativamente en la fijación de las políticas empresariales, entre otras, el aprovisionamiento de materias primas, la producción y/o la comercialización de otro.</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j) Un sujeto desarrolle una actividad de importancia sólo con relación a otro, o su existencia se justifique únicamente en relación con otro, verificándose situaciones tales como relaciones de único proveedor o único cliente, entre otras.</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k) Un sujeto provea en forma sustancial los fondos requeridos para el desarrollo de las actividades comerciales de otro, entre otras formas, mediante la concesión de préstamos o del otorgamiento de garantías de cualquier tipo, en los casos de financiación provista por un tercero.</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l) Un sujeto se haga cargo de las pérdidas o gastos de otro.</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m) Los directores, funcionarios, administradores de un sujeto reciban instrucciones o actúen en interés de otro.</a:t>
            </a:r>
            <a:br>
              <a:rPr lang="es-AR" sz="1100" b="1" dirty="0" smtClean="0">
                <a:solidFill>
                  <a:schemeClr val="tx1"/>
                </a:solidFill>
              </a:rPr>
            </a:br>
            <a:r>
              <a:rPr lang="es-AR" sz="1100" b="1" dirty="0" smtClean="0">
                <a:solidFill>
                  <a:schemeClr val="tx1"/>
                </a:solidFill>
              </a:rPr>
              <a:t/>
            </a:r>
            <a:br>
              <a:rPr lang="es-AR" sz="1100" b="1" dirty="0" smtClean="0">
                <a:solidFill>
                  <a:schemeClr val="tx1"/>
                </a:solidFill>
              </a:rPr>
            </a:br>
            <a:r>
              <a:rPr lang="es-AR" sz="1100" b="1" dirty="0" smtClean="0">
                <a:solidFill>
                  <a:schemeClr val="tx1"/>
                </a:solidFill>
              </a:rPr>
              <a:t>n) Existan acuerdos, circunstancias o situaciones por las que se otorgue la dirección a un sujeto cuya participación en el capital social sea minoritaria.</a:t>
            </a:r>
            <a:r>
              <a:rPr lang="es-AR" sz="1100" b="1" dirty="0" smtClean="0">
                <a:solidFill>
                  <a:srgbClr val="FF0000"/>
                </a:solidFill>
              </a:rPr>
              <a:t/>
            </a:r>
            <a:br>
              <a:rPr lang="es-AR" sz="1100" b="1" dirty="0" smtClean="0">
                <a:solidFill>
                  <a:srgbClr val="FF0000"/>
                </a:solidFill>
              </a:rPr>
            </a:br>
            <a:endParaRPr lang="es-ES" sz="1100" b="1" dirty="0">
              <a:solidFill>
                <a:srgbClr val="FF0000"/>
              </a:solidFill>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6" name="5 Marcador de número de diapositiva"/>
          <p:cNvSpPr>
            <a:spLocks noGrp="1"/>
          </p:cNvSpPr>
          <p:nvPr>
            <p:ph type="sldNum" sz="quarter" idx="12"/>
          </p:nvPr>
        </p:nvSpPr>
        <p:spPr/>
        <p:txBody>
          <a:bodyPr/>
          <a:lstStyle/>
          <a:p>
            <a:fld id="{47905A6E-3428-42CC-8A3B-D0D77FE4EB92}" type="slidenum">
              <a:rPr lang="es-ES" smtClean="0"/>
              <a:pPr/>
              <a:t>30</a:t>
            </a:fld>
            <a:endParaRPr lang="es-E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95536" y="406405"/>
            <a:ext cx="8208912" cy="646331"/>
          </a:xfrm>
          <a:prstGeom prst="rect">
            <a:avLst/>
          </a:prstGeom>
          <a:noFill/>
        </p:spPr>
        <p:txBody>
          <a:bodyPr wrap="square" rtlCol="0">
            <a:spAutoFit/>
          </a:bodyPr>
          <a:lstStyle/>
          <a:p>
            <a:pPr algn="ctr"/>
            <a:r>
              <a:rPr lang="es-AR" sz="3600" b="1" dirty="0" smtClean="0">
                <a:solidFill>
                  <a:srgbClr val="FF0000"/>
                </a:solidFill>
              </a:rPr>
              <a:t>Régimen de Información (VII) </a:t>
            </a:r>
          </a:p>
        </p:txBody>
      </p:sp>
      <p:sp>
        <p:nvSpPr>
          <p:cNvPr id="11" name="10 CuadroTexto"/>
          <p:cNvSpPr txBox="1"/>
          <p:nvPr/>
        </p:nvSpPr>
        <p:spPr>
          <a:xfrm>
            <a:off x="539552" y="1146810"/>
            <a:ext cx="8136904" cy="877163"/>
          </a:xfrm>
          <a:prstGeom prst="rect">
            <a:avLst/>
          </a:prstGeom>
          <a:noFill/>
        </p:spPr>
        <p:txBody>
          <a:bodyPr wrap="square" rtlCol="0">
            <a:spAutoFit/>
          </a:bodyPr>
          <a:lstStyle/>
          <a:p>
            <a:pPr algn="ctr"/>
            <a:r>
              <a:rPr lang="es-AR" b="1" u="sng" dirty="0" smtClean="0">
                <a:solidFill>
                  <a:srgbClr val="163F9A"/>
                </a:solidFill>
              </a:rPr>
              <a:t>RG 3421/2012. </a:t>
            </a:r>
            <a:r>
              <a:rPr lang="es-AR" b="1" u="sng" dirty="0" err="1" smtClean="0">
                <a:solidFill>
                  <a:srgbClr val="163F9A"/>
                </a:solidFill>
              </a:rPr>
              <a:t>Mod</a:t>
            </a:r>
            <a:r>
              <a:rPr lang="es-AR" b="1" u="sng" dirty="0" smtClean="0">
                <a:solidFill>
                  <a:srgbClr val="163F9A"/>
                </a:solidFill>
              </a:rPr>
              <a:t>. Por RG 5662/2025. Entidades Administradoras de Tarjeta de Crédito (Anexo IV)</a:t>
            </a:r>
          </a:p>
          <a:p>
            <a:pPr algn="just"/>
            <a:endParaRPr lang="es-AR" sz="1500" dirty="0" smtClean="0"/>
          </a:p>
        </p:txBody>
      </p:sp>
      <p:sp>
        <p:nvSpPr>
          <p:cNvPr id="8" name="7 CuadroTexto"/>
          <p:cNvSpPr txBox="1"/>
          <p:nvPr/>
        </p:nvSpPr>
        <p:spPr>
          <a:xfrm>
            <a:off x="251520" y="2138314"/>
            <a:ext cx="8136904" cy="2862322"/>
          </a:xfrm>
          <a:prstGeom prst="rect">
            <a:avLst/>
          </a:prstGeom>
          <a:noFill/>
        </p:spPr>
        <p:txBody>
          <a:bodyPr wrap="square" rtlCol="0">
            <a:spAutoFit/>
          </a:bodyPr>
          <a:lstStyle/>
          <a:p>
            <a:pPr algn="ctr"/>
            <a:r>
              <a:rPr lang="es-AR" b="1" dirty="0" smtClean="0"/>
              <a:t>Se crea un Régimen de Información que deben cumplir las Administradoras de Tarjeta de Crédito. </a:t>
            </a:r>
          </a:p>
          <a:p>
            <a:pPr algn="ctr"/>
            <a:endParaRPr lang="es-AR" u="sng" dirty="0" smtClean="0"/>
          </a:p>
          <a:p>
            <a:pPr algn="ctr"/>
            <a:r>
              <a:rPr lang="es-AR" b="1" u="sng" dirty="0" smtClean="0"/>
              <a:t>Requisitos:</a:t>
            </a:r>
          </a:p>
          <a:p>
            <a:endParaRPr lang="es-AR" dirty="0" smtClean="0"/>
          </a:p>
          <a:p>
            <a:pPr marL="342900" indent="-342900">
              <a:buAutoNum type="alphaLcParenR"/>
            </a:pPr>
            <a:r>
              <a:rPr lang="es-AR" dirty="0" smtClean="0"/>
              <a:t>Datos de los Sujetos vendedores.</a:t>
            </a:r>
          </a:p>
          <a:p>
            <a:pPr marL="342900" indent="-342900">
              <a:buAutoNum type="alphaLcParenR"/>
            </a:pPr>
            <a:r>
              <a:rPr lang="es-AR" dirty="0" smtClean="0"/>
              <a:t>Datos de las Operaciones.</a:t>
            </a:r>
          </a:p>
          <a:p>
            <a:pPr marL="342900" indent="-342900">
              <a:buAutoNum type="alphaLcParenR"/>
            </a:pPr>
            <a:r>
              <a:rPr lang="es-AR" dirty="0" smtClean="0"/>
              <a:t>Datos de los titulares y adicionales de tarjeta y su consumo.</a:t>
            </a:r>
          </a:p>
          <a:p>
            <a:pPr marL="342900" indent="-342900">
              <a:buAutoNum type="alphaLcParenR"/>
            </a:pPr>
            <a:r>
              <a:rPr lang="es-AR" dirty="0" smtClean="0"/>
              <a:t>En forma mensual.</a:t>
            </a:r>
          </a:p>
          <a:p>
            <a:pPr marL="342900" indent="-342900">
              <a:buAutoNum type="alphaLcParenR"/>
            </a:pPr>
            <a:r>
              <a:rPr lang="es-AR" dirty="0" smtClean="0"/>
              <a:t>Vencimiento día 14 del segundo mes inmediato siguiente al informado.</a:t>
            </a:r>
            <a:endParaRPr lang="es-ES" dirty="0"/>
          </a:p>
        </p:txBody>
      </p:sp>
      <p:pic>
        <p:nvPicPr>
          <p:cNvPr id="9"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10" name="9 Marcador de número de diapositiva"/>
          <p:cNvSpPr>
            <a:spLocks noGrp="1"/>
          </p:cNvSpPr>
          <p:nvPr>
            <p:ph type="sldNum" sz="quarter" idx="12"/>
          </p:nvPr>
        </p:nvSpPr>
        <p:spPr/>
        <p:txBody>
          <a:bodyPr/>
          <a:lstStyle/>
          <a:p>
            <a:fld id="{47905A6E-3428-42CC-8A3B-D0D77FE4EB92}" type="slidenum">
              <a:rPr lang="es-ES" smtClean="0"/>
              <a:pPr/>
              <a:t>31</a:t>
            </a:fld>
            <a:endParaRPr lang="es-E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95536" y="-24"/>
            <a:ext cx="8208912" cy="646331"/>
          </a:xfrm>
          <a:prstGeom prst="rect">
            <a:avLst/>
          </a:prstGeom>
          <a:noFill/>
        </p:spPr>
        <p:txBody>
          <a:bodyPr wrap="square" rtlCol="0">
            <a:spAutoFit/>
          </a:bodyPr>
          <a:lstStyle/>
          <a:p>
            <a:pPr algn="ctr"/>
            <a:r>
              <a:rPr lang="es-AR" sz="3600" b="1" dirty="0" smtClean="0">
                <a:solidFill>
                  <a:srgbClr val="FF0000"/>
                </a:solidFill>
              </a:rPr>
              <a:t>Regímenes de Retención a Nivel Nacional</a:t>
            </a:r>
          </a:p>
        </p:txBody>
      </p:sp>
      <p:sp>
        <p:nvSpPr>
          <p:cNvPr id="9" name="8 CuadroTexto"/>
          <p:cNvSpPr txBox="1"/>
          <p:nvPr/>
        </p:nvSpPr>
        <p:spPr>
          <a:xfrm>
            <a:off x="107348" y="625326"/>
            <a:ext cx="9001156" cy="4893647"/>
          </a:xfrm>
          <a:prstGeom prst="rect">
            <a:avLst/>
          </a:prstGeom>
          <a:noFill/>
        </p:spPr>
        <p:txBody>
          <a:bodyPr wrap="square" rtlCol="0">
            <a:spAutoFit/>
          </a:bodyPr>
          <a:lstStyle/>
          <a:p>
            <a:pPr algn="just">
              <a:lnSpc>
                <a:spcPct val="150000"/>
              </a:lnSpc>
              <a:buFont typeface="Arial" pitchFamily="34" charset="0"/>
              <a:buChar char="•"/>
            </a:pPr>
            <a:r>
              <a:rPr lang="es-AR" sz="1600" dirty="0" smtClean="0"/>
              <a:t> </a:t>
            </a:r>
            <a:r>
              <a:rPr lang="es-AR" sz="1600" b="1" dirty="0" smtClean="0"/>
              <a:t>Régimen de retenciones de determinadas Ganancias.</a:t>
            </a:r>
            <a:r>
              <a:rPr lang="es-AR" sz="1600" dirty="0" smtClean="0"/>
              <a:t> RG 830/2000 y modificatorias. Vto. Pago a cuenta aprox. 21 c/mes y </a:t>
            </a:r>
            <a:r>
              <a:rPr lang="es-AR" sz="1600" dirty="0" err="1" smtClean="0"/>
              <a:t>ddjj</a:t>
            </a:r>
            <a:r>
              <a:rPr lang="es-AR" sz="1600" dirty="0" smtClean="0"/>
              <a:t> 9 de cada mes.</a:t>
            </a:r>
          </a:p>
          <a:p>
            <a:pPr algn="just">
              <a:lnSpc>
                <a:spcPct val="150000"/>
              </a:lnSpc>
            </a:pPr>
            <a:endParaRPr lang="es-AR" sz="1600" dirty="0" smtClean="0"/>
          </a:p>
          <a:p>
            <a:pPr algn="just">
              <a:lnSpc>
                <a:spcPct val="150000"/>
              </a:lnSpc>
              <a:buFont typeface="Arial" pitchFamily="34" charset="0"/>
              <a:buChar char="•"/>
            </a:pPr>
            <a:r>
              <a:rPr lang="es-AR" sz="1600" dirty="0" smtClean="0"/>
              <a:t> </a:t>
            </a:r>
            <a:r>
              <a:rPr lang="es-AR" sz="1600" b="1" dirty="0" smtClean="0"/>
              <a:t>Régimen de retenciones de ganancias empleados. </a:t>
            </a:r>
            <a:r>
              <a:rPr lang="es-AR" sz="1600" dirty="0" smtClean="0"/>
              <a:t>RG E 4003/17 y </a:t>
            </a:r>
            <a:r>
              <a:rPr lang="es-AR" sz="1600" dirty="0" err="1" smtClean="0"/>
              <a:t>modif</a:t>
            </a:r>
            <a:r>
              <a:rPr lang="es-AR" sz="1600" dirty="0" smtClean="0"/>
              <a:t>. Vto. Pago a cuenta aprox. 21 c/mes y </a:t>
            </a:r>
            <a:r>
              <a:rPr lang="es-AR" sz="1600" dirty="0" err="1" smtClean="0"/>
              <a:t>ddjj</a:t>
            </a:r>
            <a:r>
              <a:rPr lang="es-AR" sz="1600" dirty="0" smtClean="0"/>
              <a:t> 9 de cada mes.</a:t>
            </a:r>
          </a:p>
          <a:p>
            <a:pPr algn="just">
              <a:lnSpc>
                <a:spcPct val="150000"/>
              </a:lnSpc>
            </a:pPr>
            <a:endParaRPr lang="es-AR" sz="1600" dirty="0" smtClean="0"/>
          </a:p>
          <a:p>
            <a:pPr algn="just">
              <a:lnSpc>
                <a:spcPct val="150000"/>
              </a:lnSpc>
              <a:buFont typeface="Arial" pitchFamily="34" charset="0"/>
              <a:buChar char="•"/>
            </a:pPr>
            <a:r>
              <a:rPr lang="es-AR" sz="1600" dirty="0" smtClean="0"/>
              <a:t> </a:t>
            </a:r>
            <a:r>
              <a:rPr lang="es-AR" sz="1600" b="1" dirty="0" smtClean="0"/>
              <a:t>Régimen de retención Ganancias tarjetas de crédito. </a:t>
            </a:r>
            <a:r>
              <a:rPr lang="es-AR" sz="1600" dirty="0" smtClean="0"/>
              <a:t>RG E 4011/17 y </a:t>
            </a:r>
            <a:r>
              <a:rPr lang="es-AR" sz="1600" dirty="0" err="1" smtClean="0"/>
              <a:t>modif</a:t>
            </a:r>
            <a:r>
              <a:rPr lang="es-AR" sz="1600" dirty="0" smtClean="0"/>
              <a:t>. Vto. Pago a cuenta aprox. 21 c/mes y </a:t>
            </a:r>
            <a:r>
              <a:rPr lang="es-AR" sz="1600" dirty="0" err="1" smtClean="0"/>
              <a:t>ddjj</a:t>
            </a:r>
            <a:r>
              <a:rPr lang="es-AR" sz="1600" dirty="0" smtClean="0"/>
              <a:t> 9 de cada mes. </a:t>
            </a:r>
            <a:r>
              <a:rPr lang="es-AR" sz="1600" b="1" dirty="0" smtClean="0">
                <a:solidFill>
                  <a:srgbClr val="FF0000"/>
                </a:solidFill>
              </a:rPr>
              <a:t>(Derogada a partir de pagos 1/09/24. RG AFIP N° 5524/24).</a:t>
            </a:r>
            <a:endParaRPr lang="es-AR" sz="1600" dirty="0" smtClean="0"/>
          </a:p>
          <a:p>
            <a:pPr algn="just">
              <a:lnSpc>
                <a:spcPct val="150000"/>
              </a:lnSpc>
            </a:pPr>
            <a:endParaRPr lang="es-AR" sz="1600" dirty="0" smtClean="0"/>
          </a:p>
          <a:p>
            <a:pPr algn="just">
              <a:lnSpc>
                <a:spcPct val="150000"/>
              </a:lnSpc>
              <a:buFont typeface="Arial" pitchFamily="34" charset="0"/>
              <a:buChar char="•"/>
            </a:pPr>
            <a:r>
              <a:rPr lang="es-AR" sz="1600" dirty="0" smtClean="0"/>
              <a:t> </a:t>
            </a:r>
            <a:r>
              <a:rPr lang="es-AR" sz="1600" b="1" dirty="0" smtClean="0"/>
              <a:t>Régimen de retención </a:t>
            </a:r>
            <a:r>
              <a:rPr lang="es-AR" sz="1600" b="1" dirty="0" err="1" smtClean="0"/>
              <a:t>Iva</a:t>
            </a:r>
            <a:r>
              <a:rPr lang="es-AR" sz="1600" b="1" dirty="0" smtClean="0"/>
              <a:t> tarjetas de crédito.</a:t>
            </a:r>
            <a:r>
              <a:rPr lang="es-AR" sz="1600" dirty="0" smtClean="0"/>
              <a:t> RG 140/98 y </a:t>
            </a:r>
            <a:r>
              <a:rPr lang="es-AR" sz="1600" dirty="0" err="1" smtClean="0"/>
              <a:t>modif</a:t>
            </a:r>
            <a:r>
              <a:rPr lang="es-AR" sz="1600" dirty="0" smtClean="0"/>
              <a:t>. Vto. Pago a cuenta aprox. 21 c/mes y </a:t>
            </a:r>
            <a:r>
              <a:rPr lang="es-AR" sz="1600" dirty="0" err="1" smtClean="0"/>
              <a:t>ddjj</a:t>
            </a:r>
            <a:r>
              <a:rPr lang="es-AR" sz="1600" dirty="0" smtClean="0"/>
              <a:t> 9 de cada mes. </a:t>
            </a:r>
            <a:r>
              <a:rPr lang="es-AR" sz="1600" b="1" dirty="0" smtClean="0">
                <a:solidFill>
                  <a:srgbClr val="FF0000"/>
                </a:solidFill>
              </a:rPr>
              <a:t>(Derogada a partir de pagos 1/09/24. RG AFIP N° 5524/24).</a:t>
            </a:r>
          </a:p>
          <a:p>
            <a:pPr algn="just">
              <a:lnSpc>
                <a:spcPct val="150000"/>
              </a:lnSpc>
              <a:buFont typeface="Arial" pitchFamily="34" charset="0"/>
              <a:buChar char="•"/>
            </a:pPr>
            <a:endParaRPr lang="es-AR" sz="1600" dirty="0" smtClean="0"/>
          </a:p>
          <a:p>
            <a:pPr algn="just">
              <a:lnSpc>
                <a:spcPct val="150000"/>
              </a:lnSpc>
              <a:buFont typeface="Arial" pitchFamily="34" charset="0"/>
              <a:buChar char="•"/>
            </a:pPr>
            <a:r>
              <a:rPr lang="es-AR" sz="1600" dirty="0" smtClean="0"/>
              <a:t> </a:t>
            </a:r>
            <a:r>
              <a:rPr lang="es-AR" sz="1600" b="1" dirty="0" smtClean="0"/>
              <a:t>Régimen de Seguridad Social. Aportes.</a:t>
            </a:r>
            <a:r>
              <a:rPr lang="es-AR" sz="1600" dirty="0" smtClean="0"/>
              <a:t> F. 931. Vto. A partir 9 c/mes. </a:t>
            </a:r>
            <a:endParaRPr lang="es-ES" sz="14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6" name="5 Marcador de número de diapositiva"/>
          <p:cNvSpPr>
            <a:spLocks noGrp="1"/>
          </p:cNvSpPr>
          <p:nvPr>
            <p:ph type="sldNum" sz="quarter" idx="12"/>
          </p:nvPr>
        </p:nvSpPr>
        <p:spPr/>
        <p:txBody>
          <a:bodyPr/>
          <a:lstStyle/>
          <a:p>
            <a:fld id="{47905A6E-3428-42CC-8A3B-D0D77FE4EB92}" type="slidenum">
              <a:rPr lang="es-ES" smtClean="0"/>
              <a:pPr/>
              <a:t>32</a:t>
            </a:fld>
            <a:endParaRPr lang="es-E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0" y="116632"/>
            <a:ext cx="9144000" cy="600164"/>
          </a:xfrm>
          <a:prstGeom prst="rect">
            <a:avLst/>
          </a:prstGeom>
          <a:noFill/>
        </p:spPr>
        <p:txBody>
          <a:bodyPr wrap="square" rtlCol="0">
            <a:spAutoFit/>
          </a:bodyPr>
          <a:lstStyle/>
          <a:p>
            <a:pPr algn="ctr"/>
            <a:r>
              <a:rPr lang="es-AR" sz="3300" b="1" dirty="0" smtClean="0">
                <a:solidFill>
                  <a:srgbClr val="FF0000"/>
                </a:solidFill>
              </a:rPr>
              <a:t>Regímenes de Retención/Percepción IB General</a:t>
            </a:r>
          </a:p>
        </p:txBody>
      </p:sp>
      <p:sp>
        <p:nvSpPr>
          <p:cNvPr id="9" name="8 CuadroTexto"/>
          <p:cNvSpPr txBox="1"/>
          <p:nvPr/>
        </p:nvSpPr>
        <p:spPr>
          <a:xfrm>
            <a:off x="214282" y="660633"/>
            <a:ext cx="8786874" cy="6701835"/>
          </a:xfrm>
          <a:prstGeom prst="rect">
            <a:avLst/>
          </a:prstGeom>
          <a:noFill/>
        </p:spPr>
        <p:txBody>
          <a:bodyPr wrap="square" rtlCol="0">
            <a:spAutoFit/>
          </a:bodyPr>
          <a:lstStyle/>
          <a:p>
            <a:pPr algn="just">
              <a:lnSpc>
                <a:spcPct val="150000"/>
              </a:lnSpc>
            </a:pPr>
            <a:r>
              <a:rPr lang="es-AR" sz="1600" b="1" u="sng" dirty="0" smtClean="0"/>
              <a:t>Santa Fe</a:t>
            </a:r>
          </a:p>
          <a:p>
            <a:pPr algn="just">
              <a:lnSpc>
                <a:spcPct val="150000"/>
              </a:lnSpc>
            </a:pPr>
            <a:r>
              <a:rPr lang="es-AR" sz="1600" b="1" dirty="0" smtClean="0"/>
              <a:t>Régimen de retención de Ingresos Brutos. </a:t>
            </a:r>
            <a:r>
              <a:rPr lang="es-AR" sz="1600" dirty="0" smtClean="0"/>
              <a:t>Res. API 15/97 y Res. 19/2014. Res. 17/25. Ingresos atribuibles a Santa Fe superiores a </a:t>
            </a:r>
            <a:r>
              <a:rPr lang="es-AR" sz="1600" b="1" dirty="0" smtClean="0"/>
              <a:t>$ 1.800 m. Sta. Fe/ 2.200 m. Total </a:t>
            </a:r>
            <a:r>
              <a:rPr lang="es-AR" sz="1600" b="1" dirty="0" err="1" smtClean="0"/>
              <a:t>jurisd</a:t>
            </a:r>
            <a:r>
              <a:rPr lang="es-AR" sz="1600" b="1" dirty="0" smtClean="0"/>
              <a:t>. Importe mínimo $ 500.000.-</a:t>
            </a:r>
            <a:r>
              <a:rPr lang="es-AR" sz="1600" dirty="0" smtClean="0"/>
              <a:t> Vto. Pago a cuenta aprox. 25 cada mes y </a:t>
            </a:r>
            <a:r>
              <a:rPr lang="es-AR" sz="1600" dirty="0" err="1" smtClean="0"/>
              <a:t>ddjj</a:t>
            </a:r>
            <a:r>
              <a:rPr lang="es-AR" sz="1600" dirty="0" smtClean="0"/>
              <a:t> 10 de cada mes.  Acreditación condición: F.1276.</a:t>
            </a:r>
          </a:p>
          <a:p>
            <a:pPr algn="just">
              <a:lnSpc>
                <a:spcPct val="150000"/>
              </a:lnSpc>
            </a:pPr>
            <a:r>
              <a:rPr lang="es-AR" sz="1600" b="1" u="sng" dirty="0" smtClean="0"/>
              <a:t>Córdoba</a:t>
            </a:r>
          </a:p>
          <a:p>
            <a:pPr algn="just">
              <a:lnSpc>
                <a:spcPct val="150000"/>
              </a:lnSpc>
            </a:pPr>
            <a:r>
              <a:rPr lang="es-AR" sz="1600" b="1" dirty="0" smtClean="0"/>
              <a:t>Régimen de retención y percepción de Ingresos Brutos. </a:t>
            </a:r>
            <a:r>
              <a:rPr lang="es-AR" sz="1600" dirty="0" smtClean="0"/>
              <a:t>D.R. N° 2445/2023 y </a:t>
            </a:r>
            <a:r>
              <a:rPr lang="es-AR" sz="1600" dirty="0" err="1" smtClean="0"/>
              <a:t>modif</a:t>
            </a:r>
            <a:r>
              <a:rPr lang="es-AR" sz="1600" dirty="0" smtClean="0"/>
              <a:t>.. Res SIP 45/2023. Res. Normativa 1/2023. Sujetos </a:t>
            </a:r>
            <a:r>
              <a:rPr lang="es-AR" sz="1600" b="1" dirty="0" smtClean="0"/>
              <a:t>nominados</a:t>
            </a:r>
            <a:r>
              <a:rPr lang="es-AR" sz="1600" dirty="0" smtClean="0"/>
              <a:t> u obligados por Sec. Ingresos Públicos. Listado único de alícuotas (LUA). Pagos y </a:t>
            </a:r>
            <a:r>
              <a:rPr lang="es-AR" sz="1600" dirty="0" err="1" smtClean="0"/>
              <a:t>ddjj</a:t>
            </a:r>
            <a:r>
              <a:rPr lang="es-AR" sz="1600" dirty="0" smtClean="0"/>
              <a:t> quincenales SIRCAR. </a:t>
            </a:r>
          </a:p>
          <a:p>
            <a:pPr algn="just">
              <a:lnSpc>
                <a:spcPct val="150000"/>
              </a:lnSpc>
            </a:pPr>
            <a:r>
              <a:rPr lang="es-AR" sz="1600" b="1" u="sng" dirty="0" smtClean="0"/>
              <a:t>Ciudad de Buenos Aires</a:t>
            </a:r>
            <a:endParaRPr lang="es-AR" sz="1600" b="1" dirty="0" smtClean="0"/>
          </a:p>
          <a:p>
            <a:pPr algn="just">
              <a:lnSpc>
                <a:spcPct val="150000"/>
              </a:lnSpc>
            </a:pPr>
            <a:r>
              <a:rPr lang="es-AR" sz="1600" b="1" dirty="0" smtClean="0"/>
              <a:t>Régimen de agente de recaudación de Ingresos Brutos. </a:t>
            </a:r>
            <a:r>
              <a:rPr lang="es-AR" sz="1600" dirty="0" smtClean="0"/>
              <a:t>Res. AGIP 352/AGIP/2022. Ingresos superiores a </a:t>
            </a:r>
            <a:r>
              <a:rPr lang="es-AR" sz="1600" b="1" dirty="0" smtClean="0"/>
              <a:t>$ 500 m. </a:t>
            </a:r>
            <a:r>
              <a:rPr lang="es-AR" sz="1600" dirty="0" smtClean="0"/>
              <a:t>Sujetos nominados. </a:t>
            </a:r>
            <a:r>
              <a:rPr lang="es-AR" sz="1600" dirty="0" err="1" smtClean="0"/>
              <a:t>Alic</a:t>
            </a:r>
            <a:r>
              <a:rPr lang="es-AR" sz="1600" dirty="0" smtClean="0"/>
              <a:t>. Res 214/AGIP/2024. Vto. </a:t>
            </a:r>
            <a:r>
              <a:rPr lang="es-AR" sz="1600" dirty="0" err="1" smtClean="0"/>
              <a:t>ddjj</a:t>
            </a:r>
            <a:r>
              <a:rPr lang="es-AR" sz="1600" dirty="0" smtClean="0"/>
              <a:t> y pago 7 de cada mes. </a:t>
            </a:r>
          </a:p>
          <a:p>
            <a:pPr algn="just">
              <a:lnSpc>
                <a:spcPct val="150000"/>
              </a:lnSpc>
            </a:pPr>
            <a:r>
              <a:rPr lang="es-AR" sz="1600" b="1" u="sng" dirty="0" smtClean="0"/>
              <a:t>Provincia de Buenos Aires</a:t>
            </a:r>
            <a:endParaRPr lang="es-AR" sz="1600" b="1" dirty="0" smtClean="0"/>
          </a:p>
          <a:p>
            <a:pPr algn="just">
              <a:lnSpc>
                <a:spcPct val="150000"/>
              </a:lnSpc>
            </a:pPr>
            <a:r>
              <a:rPr lang="es-AR" sz="1600" b="1" dirty="0" smtClean="0"/>
              <a:t>Régimen de retención y percepción de Ingresos Brutos. DBN 001/04. Res. </a:t>
            </a:r>
            <a:r>
              <a:rPr lang="es-AR" sz="1600" b="1" dirty="0" err="1" smtClean="0"/>
              <a:t>Norm</a:t>
            </a:r>
            <a:r>
              <a:rPr lang="es-AR" sz="1600" b="1" dirty="0" smtClean="0"/>
              <a:t>. 4/2025</a:t>
            </a:r>
            <a:r>
              <a:rPr lang="es-AR" sz="1600" dirty="0" smtClean="0"/>
              <a:t>. Ingresos superiores a </a:t>
            </a:r>
            <a:r>
              <a:rPr lang="es-AR" sz="1600" b="1" dirty="0" smtClean="0"/>
              <a:t>$ 2.800 m. </a:t>
            </a:r>
            <a:r>
              <a:rPr lang="es-AR" sz="1600" dirty="0" smtClean="0"/>
              <a:t>Vto. </a:t>
            </a:r>
            <a:r>
              <a:rPr lang="es-AR" sz="1600" dirty="0" err="1" smtClean="0"/>
              <a:t>ddjj</a:t>
            </a:r>
            <a:r>
              <a:rPr lang="es-AR" sz="1600" dirty="0" smtClean="0"/>
              <a:t> y pago 10 de cada mes. </a:t>
            </a:r>
          </a:p>
          <a:p>
            <a:pPr algn="just">
              <a:lnSpc>
                <a:spcPct val="150000"/>
              </a:lnSpc>
            </a:pPr>
            <a:endParaRPr lang="es-AR" sz="1600" dirty="0" smtClean="0"/>
          </a:p>
          <a:p>
            <a:pPr algn="just">
              <a:lnSpc>
                <a:spcPct val="150000"/>
              </a:lnSpc>
            </a:pPr>
            <a:endParaRPr lang="es-AR" dirty="0" smtClean="0"/>
          </a:p>
          <a:p>
            <a:pPr algn="just">
              <a:lnSpc>
                <a:spcPct val="150000"/>
              </a:lnSpc>
            </a:pPr>
            <a:endParaRPr lang="es-AR" sz="1700" dirty="0" smtClean="0"/>
          </a:p>
          <a:p>
            <a:pPr>
              <a:buFont typeface="Arial" pitchFamily="34" charset="0"/>
              <a:buChar char="•"/>
            </a:pPr>
            <a:endParaRPr lang="es-ES" sz="1700" dirty="0"/>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
        <p:nvSpPr>
          <p:cNvPr id="6" name="5 Marcador de número de diapositiva"/>
          <p:cNvSpPr>
            <a:spLocks noGrp="1"/>
          </p:cNvSpPr>
          <p:nvPr>
            <p:ph type="sldNum" sz="quarter" idx="12"/>
          </p:nvPr>
        </p:nvSpPr>
        <p:spPr/>
        <p:txBody>
          <a:bodyPr/>
          <a:lstStyle/>
          <a:p>
            <a:fld id="{47905A6E-3428-42CC-8A3B-D0D77FE4EB92}" type="slidenum">
              <a:rPr lang="es-ES" smtClean="0"/>
              <a:pPr/>
              <a:t>33</a:t>
            </a:fld>
            <a:endParaRPr lang="es-E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23797</TotalTime>
  <Words>3302</Words>
  <Application>Microsoft Office PowerPoint</Application>
  <PresentationFormat>Presentación en pantalla (4:3)</PresentationFormat>
  <Paragraphs>458</Paragraphs>
  <Slides>33</Slides>
  <Notes>2</Notes>
  <HiddenSlides>0</HiddenSlides>
  <MMClips>0</MMClips>
  <ScaleCrop>false</ScaleCrop>
  <HeadingPairs>
    <vt:vector size="4" baseType="variant">
      <vt:variant>
        <vt:lpstr>Tema</vt:lpstr>
      </vt:variant>
      <vt:variant>
        <vt:i4>1</vt:i4>
      </vt:variant>
      <vt:variant>
        <vt:lpstr>Títulos de diapositiva</vt:lpstr>
      </vt:variant>
      <vt:variant>
        <vt:i4>33</vt:i4>
      </vt:variant>
    </vt:vector>
  </HeadingPairs>
  <TitlesOfParts>
    <vt:vector size="34"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Régimen Tributario de Entidades Mutuales</dc:title>
  <dc:creator>jarriola</dc:creator>
  <cp:lastModifiedBy>Usuario</cp:lastModifiedBy>
  <cp:revision>1413</cp:revision>
  <dcterms:created xsi:type="dcterms:W3CDTF">2019-06-10T17:03:10Z</dcterms:created>
  <dcterms:modified xsi:type="dcterms:W3CDTF">2025-04-30T22:25:18Z</dcterms:modified>
</cp:coreProperties>
</file>