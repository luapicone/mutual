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s-ES" sz="1800" b="0" strike="noStrike" spc="-1">
                <a:solidFill>
                  <a:schemeClr val="dk1"/>
                </a:solidFill>
                <a:latin typeface="Arial"/>
              </a:rPr>
              <a:t>Pulse para desplazar la diapositiva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s-ES" sz="2000" b="0" strike="noStrike" spc="-1">
                <a:solidFill>
                  <a:srgbClr val="000000"/>
                </a:solidFill>
                <a:latin typeface="Arial"/>
              </a:rPr>
              <a:t>Pulse para editar el formato de las notas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&lt;cabecera&gt;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27F29FE-9957-4CE5-8DB0-B28740267D7C}" type="slidenum"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‹Nº›</a:t>
            </a:fld>
            <a:endParaRPr lang="es-E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895C63D-9D11-439E-AAD2-9025A01E88BA}" type="slidenum">
              <a:rPr lang="es-E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s-E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18F15B2-8463-4BEE-9F86-7CBBC88B2334}" type="slidenum">
              <a:rPr lang="es-E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s-E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19A9219-F19E-413A-80FA-2B03331B8A78}" type="slidenum">
              <a:rPr lang="es-E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s-E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98FEE82-6583-4EEF-9096-5E44D15AFEF4}" type="slidenum">
              <a:rPr lang="es-E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s-E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11178BF-4C32-4014-9EC8-322CCF989551}" type="slidenum">
              <a:rPr lang="es-E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s-E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95F393D-9AFC-4BFC-B437-C9C26A62411C}" type="slidenum">
              <a:rPr lang="es-E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s-E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5504387-9EE6-4DA1-A5B1-C7291A69C21D}" type="slidenum">
              <a:rPr lang="es-E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s-E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799A2B7-17AE-4CCB-83A6-0EA63F65E948}" type="slidenum">
              <a:rPr lang="es-E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s-E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31FD203-6A56-425D-A8BA-9C066B40260D}" type="slidenum">
              <a:rPr lang="es-E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s-E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AD8F845-F2FE-4791-937A-C2E615D736F9}" type="slidenum">
              <a:rPr lang="es-E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s-E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F836580-1C6C-40F4-9CED-1805AFF58CD1}" type="slidenum">
              <a:rPr lang="es-E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s-E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9FF7992-94B2-4733-B0B9-D23B7BD784A0}" type="slidenum">
              <a:rPr lang="es-E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s-E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5092BC2-69CB-41DA-8AD8-EDB7AE7DDFD0}" type="slidenum">
              <a:rPr lang="es-E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es-E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33BDD1D-8FBE-445D-B8F6-123A370C6713}" type="slidenum">
              <a:rPr lang="es-E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14</a:t>
            </a:fld>
            <a:endParaRPr lang="es-E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6BBE644-B78F-4F22-A3E1-E741A3C08F34}" type="slidenum">
              <a:rPr lang="es-E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lang="es-E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C4D067D-3641-4EBE-A598-F3BE416A694E}" type="slidenum">
              <a:rPr lang="es-E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16</a:t>
            </a:fld>
            <a:endParaRPr lang="es-E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5BFDB06-BE81-43FC-A77C-857897BA65A2}" type="slidenum">
              <a:rPr lang="es-E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lang="es-E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1DF2220-8D37-4400-8A15-0F1B514078DB}" type="slidenum">
              <a:rPr lang="es-E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18</a:t>
            </a:fld>
            <a:endParaRPr lang="es-E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s-ES" sz="1800" b="0" strike="noStrike" spc="-1">
                <a:solidFill>
                  <a:schemeClr val="dk1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strike="noStrike" spc="-1">
                <a:solidFill>
                  <a:schemeClr val="dk1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strike="noStrike" spc="-1">
                <a:solidFill>
                  <a:schemeClr val="dk1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chemeClr val="dk1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strike="noStrike" spc="-1">
                <a:solidFill>
                  <a:schemeClr val="dk1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chemeClr val="dk1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chemeClr val="dk1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chemeClr val="dk1"/>
                </a:solidFill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34920" y="182880"/>
            <a:ext cx="12191400" cy="6857640"/>
          </a:xfrm>
          <a:prstGeom prst="rect">
            <a:avLst/>
          </a:prstGeom>
          <a:solidFill>
            <a:srgbClr val="FBFAF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4708800" cy="6857640"/>
          </a:xfrm>
          <a:prstGeom prst="rect">
            <a:avLst/>
          </a:prstGeom>
          <a:solidFill>
            <a:srgbClr val="142E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4709160" y="0"/>
            <a:ext cx="109440" cy="6857640"/>
          </a:xfrm>
          <a:prstGeom prst="rect">
            <a:avLst/>
          </a:prstGeom>
          <a:solidFill>
            <a:srgbClr val="F2B70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7880760" y="663120"/>
            <a:ext cx="2273400" cy="1554120"/>
          </a:xfrm>
          <a:prstGeom prst="arc">
            <a:avLst>
              <a:gd name="adj1" fmla="val 16200000"/>
              <a:gd name="adj2" fmla="val 0"/>
            </a:avLst>
          </a:prstGeom>
          <a:noFill/>
          <a:ln w="228600">
            <a:solidFill>
              <a:srgbClr val="1F7A8C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3221280" y="5257800"/>
            <a:ext cx="3108600" cy="3108600"/>
          </a:xfrm>
          <a:prstGeom prst="arc">
            <a:avLst>
              <a:gd name="adj1" fmla="val 16200000"/>
              <a:gd name="adj2" fmla="val 0"/>
            </a:avLst>
          </a:prstGeom>
          <a:noFill/>
          <a:ln w="152400">
            <a:solidFill>
              <a:srgbClr val="F2B705">
                <a:alpha val="5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1005840"/>
            <a:ext cx="34743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2B705"/>
                </a:solidFill>
                <a:latin typeface="Arial"/>
                <a:ea typeface="Arial"/>
              </a:rPr>
              <a:t>MATERIAL DE CLASE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594360" y="1417320"/>
            <a:ext cx="384012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3100" b="1" strike="noStrike" spc="-1">
                <a:solidFill>
                  <a:srgbClr val="FFFFFF"/>
                </a:solidFill>
                <a:latin typeface="Arial"/>
                <a:ea typeface="Arial"/>
              </a:rPr>
              <a:t>Aportes para la</a:t>
            </a:r>
            <a:endParaRPr lang="es-ES" sz="31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3100" b="1" strike="noStrike" spc="-1">
                <a:solidFill>
                  <a:srgbClr val="FFFFFF"/>
                </a:solidFill>
                <a:latin typeface="Arial"/>
                <a:ea typeface="Arial"/>
              </a:rPr>
              <a:t>Elaboración de un</a:t>
            </a:r>
            <a:endParaRPr lang="es-ES" sz="31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3100" b="1" strike="noStrike" spc="-1">
                <a:solidFill>
                  <a:srgbClr val="FFFFFF"/>
                </a:solidFill>
                <a:latin typeface="Arial"/>
                <a:ea typeface="Arial"/>
              </a:rPr>
              <a:t>Plan Estratégico</a:t>
            </a:r>
            <a:endParaRPr lang="es-ES" sz="3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594360" y="3822120"/>
            <a:ext cx="2011680" cy="360"/>
          </a:xfrm>
          <a:prstGeom prst="line">
            <a:avLst/>
          </a:prstGeom>
          <a:ln w="38100">
            <a:solidFill>
              <a:srgbClr val="F2B7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594360" y="413316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200" b="0" strike="noStrike" spc="-1">
                <a:solidFill>
                  <a:srgbClr val="D8E4E8"/>
                </a:solidFill>
                <a:latin typeface="Arial"/>
                <a:ea typeface="Arial"/>
              </a:rPr>
              <a:t>Docente · Cátedra · Universidad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5532120" y="96012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200" b="1" strike="noStrike" spc="-1">
                <a:solidFill>
                  <a:srgbClr val="1F7A8C"/>
                </a:solidFill>
                <a:latin typeface="Arial"/>
                <a:ea typeface="Arial"/>
              </a:rPr>
              <a:t>Planificación estratégica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5532120" y="1353240"/>
            <a:ext cx="52117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700" b="1" strike="noStrike" spc="-1">
                <a:solidFill>
                  <a:srgbClr val="142E45"/>
                </a:solidFill>
                <a:latin typeface="Arial"/>
                <a:ea typeface="Arial"/>
              </a:rPr>
              <a:t>Pensar el futuro, ordenar prioridades</a:t>
            </a:r>
            <a:endParaRPr lang="es-ES" sz="17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700" b="1" strike="noStrike" spc="-1">
                <a:solidFill>
                  <a:srgbClr val="142E45"/>
                </a:solidFill>
                <a:latin typeface="Arial"/>
                <a:ea typeface="Arial"/>
              </a:rPr>
              <a:t>y traducir la visión en acción.</a:t>
            </a:r>
            <a:endParaRPr lang="es-E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7022520" y="3090600"/>
            <a:ext cx="1737360" cy="360"/>
          </a:xfrm>
          <a:prstGeom prst="line">
            <a:avLst/>
          </a:prstGeom>
          <a:ln w="254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8759880" y="2679120"/>
            <a:ext cx="1554480" cy="685800"/>
          </a:xfrm>
          <a:prstGeom prst="line">
            <a:avLst/>
          </a:prstGeom>
          <a:ln w="254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 flipH="1">
            <a:off x="9994320" y="3364920"/>
            <a:ext cx="320040" cy="1213200"/>
          </a:xfrm>
          <a:prstGeom prst="line">
            <a:avLst/>
          </a:prstGeom>
          <a:ln w="254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754040" y="4462200"/>
            <a:ext cx="1828800" cy="228600"/>
          </a:xfrm>
          <a:prstGeom prst="line">
            <a:avLst/>
          </a:prstGeom>
          <a:ln w="254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6675120" y="2743200"/>
            <a:ext cx="804240" cy="804240"/>
          </a:xfrm>
          <a:prstGeom prst="ellipse">
            <a:avLst/>
          </a:prstGeom>
          <a:solidFill>
            <a:srgbClr val="142E45"/>
          </a:solidFill>
          <a:ln w="19050">
            <a:solidFill>
              <a:srgbClr val="1F7A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6492240" y="3657600"/>
            <a:ext cx="1170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80" b="1" strike="noStrike" spc="-1">
                <a:solidFill>
                  <a:srgbClr val="5D6770"/>
                </a:solidFill>
                <a:latin typeface="Arial"/>
                <a:ea typeface="Arial"/>
              </a:rPr>
              <a:t>Visión</a:t>
            </a:r>
            <a:endParaRPr lang="es-ES" sz="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8412480" y="2331720"/>
            <a:ext cx="804240" cy="804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7A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8229600" y="3246120"/>
            <a:ext cx="1170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80" b="1" strike="noStrike" spc="-1">
                <a:solidFill>
                  <a:srgbClr val="5D6770"/>
                </a:solidFill>
                <a:latin typeface="Arial"/>
                <a:ea typeface="Arial"/>
              </a:rPr>
              <a:t>Misión</a:t>
            </a:r>
            <a:endParaRPr lang="es-ES" sz="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9966960" y="3017520"/>
            <a:ext cx="804240" cy="804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7A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9784080" y="4078080"/>
            <a:ext cx="1170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80" b="1" strike="noStrike" spc="-1">
                <a:solidFill>
                  <a:srgbClr val="5D6770"/>
                </a:solidFill>
                <a:latin typeface="Arial"/>
                <a:ea typeface="Arial"/>
              </a:rPr>
              <a:t>Valores</a:t>
            </a:r>
            <a:endParaRPr lang="es-ES" sz="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7406640" y="4114800"/>
            <a:ext cx="804240" cy="804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7A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7223760" y="5029200"/>
            <a:ext cx="1170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80" b="1" strike="noStrike" spc="-1">
                <a:solidFill>
                  <a:srgbClr val="5D6770"/>
                </a:solidFill>
                <a:latin typeface="Arial"/>
                <a:ea typeface="Arial"/>
              </a:rPr>
              <a:t>Objetivos</a:t>
            </a:r>
            <a:endParaRPr lang="es-ES" sz="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9235440" y="4343400"/>
            <a:ext cx="804240" cy="804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7A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9052560" y="5257800"/>
            <a:ext cx="1170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80" b="1" strike="noStrike" spc="-1">
                <a:solidFill>
                  <a:srgbClr val="5D6770"/>
                </a:solidFill>
                <a:latin typeface="Arial"/>
                <a:ea typeface="Arial"/>
              </a:rPr>
              <a:t>Acción</a:t>
            </a:r>
            <a:endParaRPr lang="es-ES" sz="88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AF5"/>
          </a:solidFill>
          <a:ln w="12700">
            <a:solidFill>
              <a:srgbClr val="FBFAF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1"/>
          <p:cNvSpPr/>
          <p:nvPr/>
        </p:nvSpPr>
        <p:spPr>
          <a:xfrm>
            <a:off x="8778240" y="324720"/>
            <a:ext cx="2834280" cy="2834280"/>
          </a:xfrm>
          <a:prstGeom prst="arc">
            <a:avLst>
              <a:gd name="adj1" fmla="val 16200000"/>
              <a:gd name="adj2" fmla="val 0"/>
            </a:avLst>
          </a:prstGeom>
          <a:noFill/>
          <a:ln w="177800">
            <a:solidFill>
              <a:srgbClr val="EAF2F4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2"/>
          <p:cNvSpPr/>
          <p:nvPr/>
        </p:nvSpPr>
        <p:spPr>
          <a:xfrm>
            <a:off x="-663120" y="5349240"/>
            <a:ext cx="201132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152400">
            <a:solidFill>
              <a:srgbClr val="EEF5EE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142E45"/>
          </a:solidFill>
          <a:ln w="12700">
            <a:solidFill>
              <a:srgbClr val="142E4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4"/>
          <p:cNvSpPr/>
          <p:nvPr/>
        </p:nvSpPr>
        <p:spPr>
          <a:xfrm>
            <a:off x="146160" y="0"/>
            <a:ext cx="36360" cy="6857640"/>
          </a:xfrm>
          <a:prstGeom prst="rect">
            <a:avLst/>
          </a:prstGeom>
          <a:solidFill>
            <a:srgbClr val="F2B70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5"/>
          <p:cNvSpPr/>
          <p:nvPr/>
        </p:nvSpPr>
        <p:spPr>
          <a:xfrm>
            <a:off x="658440" y="6033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1F7A8C"/>
                </a:solidFill>
                <a:latin typeface="Arial"/>
                <a:ea typeface="Arial"/>
              </a:rPr>
              <a:t>REFLEXIÓN INICIAL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6"/>
          <p:cNvSpPr/>
          <p:nvPr/>
        </p:nvSpPr>
        <p:spPr>
          <a:xfrm>
            <a:off x="658080" y="941760"/>
            <a:ext cx="1280160" cy="360"/>
          </a:xfrm>
          <a:prstGeom prst="line">
            <a:avLst/>
          </a:prstGeom>
          <a:ln w="50800">
            <a:solidFill>
              <a:srgbClr val="F2B7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7"/>
          <p:cNvSpPr/>
          <p:nvPr/>
        </p:nvSpPr>
        <p:spPr>
          <a:xfrm>
            <a:off x="1234440" y="1600200"/>
            <a:ext cx="6397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5800" b="0" strike="noStrike" spc="-1">
                <a:solidFill>
                  <a:srgbClr val="F2B705"/>
                </a:solidFill>
                <a:latin typeface="Georgia"/>
                <a:ea typeface="Georgia"/>
              </a:rPr>
              <a:t>“</a:t>
            </a:r>
            <a:endParaRPr lang="es-ES" sz="5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8"/>
          <p:cNvSpPr/>
          <p:nvPr/>
        </p:nvSpPr>
        <p:spPr>
          <a:xfrm>
            <a:off x="2057400" y="1828800"/>
            <a:ext cx="8046360" cy="15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3400" b="1" strike="noStrike" spc="-1">
                <a:solidFill>
                  <a:srgbClr val="142E45"/>
                </a:solidFill>
                <a:latin typeface="Arial"/>
                <a:ea typeface="Arial"/>
              </a:rPr>
              <a:t>La reflexión estratégica</a:t>
            </a:r>
            <a:endParaRPr lang="es-ES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3400" b="1" strike="noStrike" spc="-1">
                <a:solidFill>
                  <a:srgbClr val="142E45"/>
                </a:solidFill>
                <a:latin typeface="Arial"/>
                <a:ea typeface="Arial"/>
              </a:rPr>
              <a:t>anticipa y orienta</a:t>
            </a:r>
            <a:endParaRPr lang="es-ES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3400" b="1" strike="noStrike" spc="-1">
                <a:solidFill>
                  <a:srgbClr val="142E45"/>
                </a:solidFill>
                <a:latin typeface="Arial"/>
                <a:ea typeface="Arial"/>
              </a:rPr>
              <a:t>la acción</a:t>
            </a:r>
            <a:endParaRPr lang="es-ES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9"/>
          <p:cNvSpPr/>
          <p:nvPr/>
        </p:nvSpPr>
        <p:spPr>
          <a:xfrm>
            <a:off x="2103120" y="3776400"/>
            <a:ext cx="71319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350" b="0" strike="noStrike" spc="-1">
                <a:solidFill>
                  <a:srgbClr val="5D6770"/>
                </a:solidFill>
                <a:latin typeface="Arial"/>
                <a:ea typeface="Arial"/>
              </a:rPr>
              <a:t>Una buena estrategia no solo define hacia dónde ir, sino cómo preparar a la organización para llegar.</a:t>
            </a:r>
            <a:endParaRPr lang="es-E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10"/>
          <p:cNvSpPr/>
          <p:nvPr/>
        </p:nvSpPr>
        <p:spPr>
          <a:xfrm>
            <a:off x="502920" y="6446520"/>
            <a:ext cx="11109960" cy="360"/>
          </a:xfrm>
          <a:prstGeom prst="line">
            <a:avLst/>
          </a:prstGeom>
          <a:ln w="9525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502920" y="6510600"/>
            <a:ext cx="393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650" b="0" strike="noStrike" spc="-1">
                <a:solidFill>
                  <a:srgbClr val="5D6770"/>
                </a:solidFill>
                <a:latin typeface="Arial"/>
                <a:ea typeface="Arial"/>
              </a:rPr>
              <a:t>Reflexión estratégica</a:t>
            </a:r>
            <a:endParaRPr lang="es-E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11109960" y="648324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42E45"/>
                </a:solidFill>
                <a:latin typeface="Arial"/>
                <a:ea typeface="Arial"/>
              </a:rPr>
              <a:t>02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AF5"/>
          </a:solidFill>
          <a:ln w="12700">
            <a:solidFill>
              <a:srgbClr val="FBFAF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2"/>
          <p:cNvSpPr/>
          <p:nvPr/>
        </p:nvSpPr>
        <p:spPr>
          <a:xfrm>
            <a:off x="-914400" y="5212080"/>
            <a:ext cx="201132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152400">
            <a:solidFill>
              <a:srgbClr val="EEF5EE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142E45"/>
          </a:solidFill>
          <a:ln w="12700">
            <a:solidFill>
              <a:srgbClr val="142E4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4"/>
          <p:cNvSpPr/>
          <p:nvPr/>
        </p:nvSpPr>
        <p:spPr>
          <a:xfrm>
            <a:off x="146160" y="0"/>
            <a:ext cx="36360" cy="6857640"/>
          </a:xfrm>
          <a:prstGeom prst="rect">
            <a:avLst/>
          </a:prstGeom>
          <a:solidFill>
            <a:srgbClr val="F2B70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5"/>
          <p:cNvSpPr/>
          <p:nvPr/>
        </p:nvSpPr>
        <p:spPr>
          <a:xfrm>
            <a:off x="502920" y="25596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F7A8C"/>
                </a:solidFill>
                <a:latin typeface="Arial"/>
                <a:ea typeface="Arial"/>
              </a:rPr>
              <a:t>PREGUNTAS GUÍA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502920" y="50292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100" b="1" strike="noStrike" spc="-1">
                <a:solidFill>
                  <a:srgbClr val="142E45"/>
                </a:solidFill>
                <a:latin typeface="Arial"/>
                <a:ea typeface="Arial"/>
              </a:rPr>
              <a:t>7 cuestiones estratégicas</a:t>
            </a:r>
            <a:endParaRPr lang="es-E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7"/>
          <p:cNvSpPr/>
          <p:nvPr/>
        </p:nvSpPr>
        <p:spPr>
          <a:xfrm>
            <a:off x="502920" y="1042200"/>
            <a:ext cx="11109960" cy="360"/>
          </a:xfrm>
          <a:prstGeom prst="line">
            <a:avLst/>
          </a:prstGeom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8"/>
          <p:cNvSpPr/>
          <p:nvPr/>
        </p:nvSpPr>
        <p:spPr>
          <a:xfrm>
            <a:off x="658440" y="1325880"/>
            <a:ext cx="521172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DDE5E4"/>
            </a:solidFill>
            <a:round/>
          </a:ln>
          <a:effectLst>
            <a:outerShdw blurRad="25560" dist="50402" dir="2700000" algn="bl" rotWithShape="0">
              <a:srgbClr val="B5C3C0">
                <a:alpha val="1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9"/>
          <p:cNvSpPr/>
          <p:nvPr/>
        </p:nvSpPr>
        <p:spPr>
          <a:xfrm>
            <a:off x="822960" y="1481400"/>
            <a:ext cx="310680" cy="31068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10"/>
          <p:cNvSpPr/>
          <p:nvPr/>
        </p:nvSpPr>
        <p:spPr>
          <a:xfrm>
            <a:off x="822960" y="1540800"/>
            <a:ext cx="310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1"/>
          <p:cNvSpPr/>
          <p:nvPr/>
        </p:nvSpPr>
        <p:spPr>
          <a:xfrm>
            <a:off x="1225440" y="1444680"/>
            <a:ext cx="44985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80" b="0" strike="noStrike" spc="-1">
                <a:solidFill>
                  <a:srgbClr val="111827"/>
                </a:solidFill>
                <a:latin typeface="Arial"/>
                <a:ea typeface="Arial"/>
              </a:rPr>
              <a:t>¿Cuál será la evolución de la cartera de actividades (tecnologías, productos, mercados, ámbitos geográficos)?</a:t>
            </a:r>
            <a:endParaRPr lang="es-E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12"/>
          <p:cNvSpPr/>
          <p:nvPr/>
        </p:nvSpPr>
        <p:spPr>
          <a:xfrm>
            <a:off x="658440" y="2404800"/>
            <a:ext cx="521172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DDE5E4"/>
            </a:solidFill>
            <a:round/>
          </a:ln>
          <a:effectLst>
            <a:outerShdw blurRad="25560" dist="50402" dir="2700000" algn="bl" rotWithShape="0">
              <a:srgbClr val="B5C3C0">
                <a:alpha val="1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13"/>
          <p:cNvSpPr/>
          <p:nvPr/>
        </p:nvSpPr>
        <p:spPr>
          <a:xfrm>
            <a:off x="822960" y="2560320"/>
            <a:ext cx="310680" cy="310680"/>
          </a:xfrm>
          <a:prstGeom prst="ellipse">
            <a:avLst/>
          </a:prstGeom>
          <a:solidFill>
            <a:srgbClr val="142E45"/>
          </a:solidFill>
          <a:ln w="12700">
            <a:solidFill>
              <a:srgbClr val="142E4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14"/>
          <p:cNvSpPr/>
          <p:nvPr/>
        </p:nvSpPr>
        <p:spPr>
          <a:xfrm>
            <a:off x="822960" y="2619720"/>
            <a:ext cx="310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5"/>
          <p:cNvSpPr/>
          <p:nvPr/>
        </p:nvSpPr>
        <p:spPr>
          <a:xfrm>
            <a:off x="1225440" y="2523600"/>
            <a:ext cx="44985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80" b="0" strike="noStrike" spc="-1">
                <a:solidFill>
                  <a:srgbClr val="111827"/>
                </a:solidFill>
                <a:latin typeface="Arial"/>
                <a:ea typeface="Arial"/>
              </a:rPr>
              <a:t>¿Qué desarrollos comunes a nuestras diversas actividades debemos considerar (estrategias horizontales)?</a:t>
            </a:r>
            <a:endParaRPr lang="es-E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16"/>
          <p:cNvSpPr/>
          <p:nvPr/>
        </p:nvSpPr>
        <p:spPr>
          <a:xfrm>
            <a:off x="658440" y="3483720"/>
            <a:ext cx="521172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DDE5E4"/>
            </a:solidFill>
            <a:round/>
          </a:ln>
          <a:effectLst>
            <a:outerShdw blurRad="25560" dist="50402" dir="2700000" algn="bl" rotWithShape="0">
              <a:srgbClr val="B5C3C0">
                <a:alpha val="1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17"/>
          <p:cNvSpPr/>
          <p:nvPr/>
        </p:nvSpPr>
        <p:spPr>
          <a:xfrm>
            <a:off x="822960" y="3639240"/>
            <a:ext cx="310680" cy="31068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18"/>
          <p:cNvSpPr/>
          <p:nvPr/>
        </p:nvSpPr>
        <p:spPr>
          <a:xfrm>
            <a:off x="822960" y="3698640"/>
            <a:ext cx="310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9"/>
          <p:cNvSpPr/>
          <p:nvPr/>
        </p:nvSpPr>
        <p:spPr>
          <a:xfrm>
            <a:off x="1225440" y="3602880"/>
            <a:ext cx="44985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80" b="0" strike="noStrike" spc="-1">
                <a:solidFill>
                  <a:srgbClr val="111827"/>
                </a:solidFill>
                <a:latin typeface="Arial"/>
                <a:ea typeface="Arial"/>
              </a:rPr>
              <a:t>¿Cuál debe ser la evolución de nuestras competencias distintivas y las que debe desarrollar la Dirección?</a:t>
            </a:r>
            <a:endParaRPr lang="es-E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20"/>
          <p:cNvSpPr/>
          <p:nvPr/>
        </p:nvSpPr>
        <p:spPr>
          <a:xfrm>
            <a:off x="658440" y="4563000"/>
            <a:ext cx="521172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DDE5E4"/>
            </a:solidFill>
            <a:round/>
          </a:ln>
          <a:effectLst>
            <a:outerShdw blurRad="25560" dist="50402" dir="2700000" algn="bl" rotWithShape="0">
              <a:srgbClr val="B5C3C0">
                <a:alpha val="1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21"/>
          <p:cNvSpPr/>
          <p:nvPr/>
        </p:nvSpPr>
        <p:spPr>
          <a:xfrm>
            <a:off x="822960" y="4718160"/>
            <a:ext cx="310680" cy="310680"/>
          </a:xfrm>
          <a:prstGeom prst="ellipse">
            <a:avLst/>
          </a:prstGeom>
          <a:solidFill>
            <a:srgbClr val="142E45"/>
          </a:solidFill>
          <a:ln w="12700">
            <a:solidFill>
              <a:srgbClr val="142E4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22"/>
          <p:cNvSpPr/>
          <p:nvPr/>
        </p:nvSpPr>
        <p:spPr>
          <a:xfrm>
            <a:off x="822960" y="4777920"/>
            <a:ext cx="310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23"/>
          <p:cNvSpPr/>
          <p:nvPr/>
        </p:nvSpPr>
        <p:spPr>
          <a:xfrm>
            <a:off x="1225440" y="4681800"/>
            <a:ext cx="44985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80" b="0" strike="noStrike" spc="-1">
                <a:solidFill>
                  <a:srgbClr val="111827"/>
                </a:solidFill>
                <a:latin typeface="Arial"/>
                <a:ea typeface="Arial"/>
              </a:rPr>
              <a:t>¿Qué estrategia debemos desarrollar y cómo desarrollar nuestros recursos humanos?</a:t>
            </a:r>
            <a:endParaRPr lang="es-E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24"/>
          <p:cNvSpPr/>
          <p:nvPr/>
        </p:nvSpPr>
        <p:spPr>
          <a:xfrm>
            <a:off x="6355080" y="1325880"/>
            <a:ext cx="521172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DDE5E4"/>
            </a:solidFill>
            <a:round/>
          </a:ln>
          <a:effectLst>
            <a:outerShdw blurRad="25560" dist="50402" dir="2700000" algn="bl" rotWithShape="0">
              <a:srgbClr val="B5C3C0">
                <a:alpha val="1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25"/>
          <p:cNvSpPr/>
          <p:nvPr/>
        </p:nvSpPr>
        <p:spPr>
          <a:xfrm>
            <a:off x="6519600" y="1481400"/>
            <a:ext cx="310680" cy="31068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26"/>
          <p:cNvSpPr/>
          <p:nvPr/>
        </p:nvSpPr>
        <p:spPr>
          <a:xfrm>
            <a:off x="6519600" y="1540800"/>
            <a:ext cx="310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5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27"/>
          <p:cNvSpPr/>
          <p:nvPr/>
        </p:nvSpPr>
        <p:spPr>
          <a:xfrm>
            <a:off x="6922080" y="1444680"/>
            <a:ext cx="44985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80" b="0" strike="noStrike" spc="-1">
                <a:solidFill>
                  <a:srgbClr val="111827"/>
                </a:solidFill>
                <a:latin typeface="Arial"/>
                <a:ea typeface="Arial"/>
              </a:rPr>
              <a:t>¿Qué estrategia financiera?</a:t>
            </a:r>
            <a:endParaRPr lang="es-E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28"/>
          <p:cNvSpPr/>
          <p:nvPr/>
        </p:nvSpPr>
        <p:spPr>
          <a:xfrm>
            <a:off x="6355080" y="2404800"/>
            <a:ext cx="521172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DDE5E4"/>
            </a:solidFill>
            <a:round/>
          </a:ln>
          <a:effectLst>
            <a:outerShdw blurRad="25560" dist="50402" dir="2700000" algn="bl" rotWithShape="0">
              <a:srgbClr val="B5C3C0">
                <a:alpha val="1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29"/>
          <p:cNvSpPr/>
          <p:nvPr/>
        </p:nvSpPr>
        <p:spPr>
          <a:xfrm>
            <a:off x="6519600" y="2560320"/>
            <a:ext cx="310680" cy="310680"/>
          </a:xfrm>
          <a:prstGeom prst="ellipse">
            <a:avLst/>
          </a:prstGeom>
          <a:solidFill>
            <a:srgbClr val="142E45"/>
          </a:solidFill>
          <a:ln w="12700">
            <a:solidFill>
              <a:srgbClr val="142E4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30"/>
          <p:cNvSpPr/>
          <p:nvPr/>
        </p:nvSpPr>
        <p:spPr>
          <a:xfrm>
            <a:off x="6519600" y="2619720"/>
            <a:ext cx="310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6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31"/>
          <p:cNvSpPr/>
          <p:nvPr/>
        </p:nvSpPr>
        <p:spPr>
          <a:xfrm>
            <a:off x="6922080" y="2523600"/>
            <a:ext cx="44985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80" b="0" strike="noStrike" spc="-1">
                <a:solidFill>
                  <a:srgbClr val="111827"/>
                </a:solidFill>
                <a:latin typeface="Arial"/>
                <a:ea typeface="Arial"/>
              </a:rPr>
              <a:t>¿Qué modo de desarrollo debemos seguir? ¿Qué alianzas contraer con otros actores del entorno?</a:t>
            </a:r>
            <a:endParaRPr lang="es-E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32"/>
          <p:cNvSpPr/>
          <p:nvPr/>
        </p:nvSpPr>
        <p:spPr>
          <a:xfrm>
            <a:off x="6355080" y="3483720"/>
            <a:ext cx="521172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430">
            <a:solidFill>
              <a:srgbClr val="DDE5E4"/>
            </a:solidFill>
            <a:round/>
          </a:ln>
          <a:effectLst>
            <a:outerShdw blurRad="25560" dist="50402" dir="2700000" algn="bl" rotWithShape="0">
              <a:srgbClr val="B5C3C0">
                <a:alpha val="1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33"/>
          <p:cNvSpPr/>
          <p:nvPr/>
        </p:nvSpPr>
        <p:spPr>
          <a:xfrm>
            <a:off x="6519600" y="3639240"/>
            <a:ext cx="310680" cy="31068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34"/>
          <p:cNvSpPr/>
          <p:nvPr/>
        </p:nvSpPr>
        <p:spPr>
          <a:xfrm>
            <a:off x="6519600" y="3698640"/>
            <a:ext cx="310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7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35"/>
          <p:cNvSpPr/>
          <p:nvPr/>
        </p:nvSpPr>
        <p:spPr>
          <a:xfrm>
            <a:off x="6922080" y="3602880"/>
            <a:ext cx="44985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80" b="0" strike="noStrike" spc="-1">
                <a:solidFill>
                  <a:srgbClr val="111827"/>
                </a:solidFill>
                <a:latin typeface="Arial"/>
                <a:ea typeface="Arial"/>
              </a:rPr>
              <a:t>¿Qué comunicación institucional debemos poner en marcha?</a:t>
            </a:r>
            <a:endParaRPr lang="es-E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36"/>
          <p:cNvSpPr/>
          <p:nvPr/>
        </p:nvSpPr>
        <p:spPr>
          <a:xfrm>
            <a:off x="6355080" y="4572000"/>
            <a:ext cx="5211720" cy="868320"/>
          </a:xfrm>
          <a:prstGeom prst="roundRect">
            <a:avLst>
              <a:gd name="adj" fmla="val 8421"/>
            </a:avLst>
          </a:prstGeom>
          <a:solidFill>
            <a:srgbClr val="EEF5EE"/>
          </a:solidFill>
          <a:ln w="15240">
            <a:solidFill>
              <a:srgbClr val="76A8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37"/>
          <p:cNvSpPr/>
          <p:nvPr/>
        </p:nvSpPr>
        <p:spPr>
          <a:xfrm>
            <a:off x="6611040" y="4736520"/>
            <a:ext cx="137124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3B6F5A"/>
                </a:solidFill>
                <a:latin typeface="Arial"/>
                <a:ea typeface="Arial"/>
              </a:rPr>
              <a:t>Idea central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38"/>
          <p:cNvSpPr/>
          <p:nvPr/>
        </p:nvSpPr>
        <p:spPr>
          <a:xfrm>
            <a:off x="6611040" y="4983480"/>
            <a:ext cx="47088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50" b="1" strike="noStrike" spc="-1">
                <a:solidFill>
                  <a:srgbClr val="142E45"/>
                </a:solidFill>
                <a:latin typeface="Arial"/>
                <a:ea typeface="Arial"/>
              </a:rPr>
              <a:t>Las preguntas estratégicas ordenan decisiones sobre actividades, recursos, alianzas y comunicación institucional.</a:t>
            </a:r>
            <a:endParaRPr lang="es-E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39"/>
          <p:cNvSpPr/>
          <p:nvPr/>
        </p:nvSpPr>
        <p:spPr>
          <a:xfrm>
            <a:off x="502920" y="6446520"/>
            <a:ext cx="11109960" cy="360"/>
          </a:xfrm>
          <a:prstGeom prst="line">
            <a:avLst/>
          </a:prstGeom>
          <a:ln w="9525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40"/>
          <p:cNvSpPr/>
          <p:nvPr/>
        </p:nvSpPr>
        <p:spPr>
          <a:xfrm>
            <a:off x="502920" y="6510600"/>
            <a:ext cx="393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650" b="0" strike="noStrike" spc="-1">
                <a:solidFill>
                  <a:srgbClr val="5D6770"/>
                </a:solidFill>
                <a:latin typeface="Arial"/>
                <a:ea typeface="Arial"/>
              </a:rPr>
              <a:t>Cuestiones estratégicas</a:t>
            </a:r>
            <a:endParaRPr lang="es-E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41"/>
          <p:cNvSpPr/>
          <p:nvPr/>
        </p:nvSpPr>
        <p:spPr>
          <a:xfrm>
            <a:off x="11109960" y="648324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42E45"/>
                </a:solidFill>
                <a:latin typeface="Arial"/>
                <a:ea typeface="Arial"/>
              </a:rPr>
              <a:t>03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AF5"/>
          </a:solidFill>
          <a:ln w="12700">
            <a:solidFill>
              <a:srgbClr val="FBFAF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2"/>
          <p:cNvSpPr/>
          <p:nvPr/>
        </p:nvSpPr>
        <p:spPr>
          <a:xfrm>
            <a:off x="-914400" y="5212080"/>
            <a:ext cx="201132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152400">
            <a:solidFill>
              <a:srgbClr val="EEF5EE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142E45"/>
          </a:solidFill>
          <a:ln w="12700">
            <a:solidFill>
              <a:srgbClr val="142E4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4"/>
          <p:cNvSpPr/>
          <p:nvPr/>
        </p:nvSpPr>
        <p:spPr>
          <a:xfrm>
            <a:off x="146160" y="0"/>
            <a:ext cx="36360" cy="6857640"/>
          </a:xfrm>
          <a:prstGeom prst="rect">
            <a:avLst/>
          </a:prstGeom>
          <a:solidFill>
            <a:srgbClr val="F2B70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502920" y="25596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F7A8C"/>
                </a:solidFill>
                <a:latin typeface="Arial"/>
                <a:ea typeface="Arial"/>
              </a:rPr>
              <a:t>CONCEPTO CENTRAL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502920" y="50292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100" b="1" strike="noStrike" spc="-1">
                <a:solidFill>
                  <a:srgbClr val="142E45"/>
                </a:solidFill>
                <a:latin typeface="Arial"/>
                <a:ea typeface="Arial"/>
              </a:rPr>
              <a:t>Definiciones</a:t>
            </a:r>
            <a:endParaRPr lang="es-E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7"/>
          <p:cNvSpPr/>
          <p:nvPr/>
        </p:nvSpPr>
        <p:spPr>
          <a:xfrm>
            <a:off x="502920" y="1042200"/>
            <a:ext cx="11109960" cy="360"/>
          </a:xfrm>
          <a:prstGeom prst="line">
            <a:avLst/>
          </a:prstGeom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8"/>
          <p:cNvSpPr/>
          <p:nvPr/>
        </p:nvSpPr>
        <p:spPr>
          <a:xfrm>
            <a:off x="685800" y="1353240"/>
            <a:ext cx="1088100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5E4"/>
            </a:solidFill>
            <a:round/>
          </a:ln>
          <a:effectLst>
            <a:outerShdw blurRad="25560" dist="50402" dir="2700000" algn="bl" rotWithShape="0">
              <a:srgbClr val="AAB9B7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9"/>
          <p:cNvSpPr/>
          <p:nvPr/>
        </p:nvSpPr>
        <p:spPr>
          <a:xfrm>
            <a:off x="685800" y="1353240"/>
            <a:ext cx="82080" cy="1142640"/>
          </a:xfrm>
          <a:prstGeom prst="rect">
            <a:avLst/>
          </a:prstGeom>
          <a:solidFill>
            <a:srgbClr val="1F7A8C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905400" y="1517760"/>
            <a:ext cx="10469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200" b="1" strike="noStrike" spc="-1">
                <a:solidFill>
                  <a:srgbClr val="142E45"/>
                </a:solidFill>
                <a:latin typeface="Arial"/>
                <a:ea typeface="Arial"/>
              </a:rPr>
              <a:t>Herramienta de gestión institucional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1"/>
          <p:cNvSpPr/>
          <p:nvPr/>
        </p:nvSpPr>
        <p:spPr>
          <a:xfrm>
            <a:off x="905400" y="1856160"/>
            <a:ext cx="10469520" cy="4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950" b="0" strike="noStrike" spc="-1">
                <a:solidFill>
                  <a:srgbClr val="111827"/>
                </a:solidFill>
                <a:latin typeface="Arial"/>
                <a:ea typeface="Arial"/>
              </a:rPr>
              <a:t>Permite conducir voluntaria y racionalmente los destinos de la organización hacia una situación objetivo, ampliamente acordada, deseada y compartida por todos sus miembros.</a:t>
            </a:r>
            <a:endParaRPr lang="es-E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12"/>
          <p:cNvSpPr/>
          <p:nvPr/>
        </p:nvSpPr>
        <p:spPr>
          <a:xfrm>
            <a:off x="685800" y="2788920"/>
            <a:ext cx="1088100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DE5E4"/>
            </a:solidFill>
            <a:round/>
          </a:ln>
          <a:effectLst>
            <a:outerShdw blurRad="25560" dist="50402" dir="2700000" algn="bl" rotWithShape="0">
              <a:srgbClr val="AAB9B7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13"/>
          <p:cNvSpPr/>
          <p:nvPr/>
        </p:nvSpPr>
        <p:spPr>
          <a:xfrm>
            <a:off x="685800" y="2788920"/>
            <a:ext cx="82080" cy="1508400"/>
          </a:xfrm>
          <a:prstGeom prst="rect">
            <a:avLst/>
          </a:prstGeom>
          <a:solidFill>
            <a:srgbClr val="142E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905400" y="2953440"/>
            <a:ext cx="10469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200" b="1" strike="noStrike" spc="-1">
                <a:solidFill>
                  <a:srgbClr val="142E45"/>
                </a:solidFill>
                <a:latin typeface="Arial"/>
                <a:ea typeface="Arial"/>
              </a:rPr>
              <a:t>Sistema de liderazgo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5"/>
          <p:cNvSpPr/>
          <p:nvPr/>
        </p:nvSpPr>
        <p:spPr>
          <a:xfrm>
            <a:off x="905400" y="3291840"/>
            <a:ext cx="10469520" cy="84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950" b="0" strike="noStrike" spc="-1">
                <a:solidFill>
                  <a:srgbClr val="111827"/>
                </a:solidFill>
                <a:latin typeface="Arial"/>
                <a:ea typeface="Arial"/>
              </a:rPr>
              <a:t>Se inicia con una visión sobre el destino al que deseamos dirigirnos y luego selecciona y pone en marcha las estrategias que nos permitirán trasladarnos desde nuestra situación actual hasta aquella que buscamos alcanzar en un futuro determinado.</a:t>
            </a:r>
            <a:endParaRPr lang="es-E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16"/>
          <p:cNvSpPr/>
          <p:nvPr/>
        </p:nvSpPr>
        <p:spPr>
          <a:xfrm>
            <a:off x="685800" y="4617720"/>
            <a:ext cx="10881000" cy="7495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DE5E4"/>
            </a:solidFill>
            <a:round/>
          </a:ln>
          <a:effectLst>
            <a:outerShdw blurRad="25560" dist="50402" dir="2700000" algn="bl" rotWithShape="0">
              <a:srgbClr val="AAB9B7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17"/>
          <p:cNvSpPr/>
          <p:nvPr/>
        </p:nvSpPr>
        <p:spPr>
          <a:xfrm>
            <a:off x="685800" y="4617720"/>
            <a:ext cx="82080" cy="749520"/>
          </a:xfrm>
          <a:prstGeom prst="rect">
            <a:avLst/>
          </a:prstGeom>
          <a:solidFill>
            <a:srgbClr val="F2B70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8"/>
          <p:cNvSpPr/>
          <p:nvPr/>
        </p:nvSpPr>
        <p:spPr>
          <a:xfrm>
            <a:off x="905400" y="4782240"/>
            <a:ext cx="10469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200" b="1" strike="noStrike" spc="-1">
                <a:solidFill>
                  <a:srgbClr val="142E45"/>
                </a:solidFill>
                <a:latin typeface="Arial"/>
                <a:ea typeface="Arial"/>
              </a:rPr>
              <a:t>Mapa para la acción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9"/>
          <p:cNvSpPr/>
          <p:nvPr/>
        </p:nvSpPr>
        <p:spPr>
          <a:xfrm>
            <a:off x="905400" y="5120640"/>
            <a:ext cx="104695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75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950" b="0" strike="noStrike" spc="-1">
                <a:solidFill>
                  <a:srgbClr val="111827"/>
                </a:solidFill>
                <a:latin typeface="Arial"/>
                <a:ea typeface="Arial"/>
              </a:rPr>
              <a:t>Guía la acción de corto y mediano plazo de una organización.</a:t>
            </a:r>
            <a:endParaRPr lang="es-E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20"/>
          <p:cNvSpPr/>
          <p:nvPr/>
        </p:nvSpPr>
        <p:spPr>
          <a:xfrm>
            <a:off x="502920" y="6446520"/>
            <a:ext cx="11109960" cy="360"/>
          </a:xfrm>
          <a:prstGeom prst="line">
            <a:avLst/>
          </a:prstGeom>
          <a:ln w="9525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21"/>
          <p:cNvSpPr/>
          <p:nvPr/>
        </p:nvSpPr>
        <p:spPr>
          <a:xfrm>
            <a:off x="502920" y="6510600"/>
            <a:ext cx="393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650" b="0" strike="noStrike" spc="-1">
                <a:solidFill>
                  <a:srgbClr val="5D6770"/>
                </a:solidFill>
                <a:latin typeface="Arial"/>
                <a:ea typeface="Arial"/>
              </a:rPr>
              <a:t>Definiciones</a:t>
            </a:r>
            <a:endParaRPr lang="es-E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22"/>
          <p:cNvSpPr/>
          <p:nvPr/>
        </p:nvSpPr>
        <p:spPr>
          <a:xfrm>
            <a:off x="11109960" y="648324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42E45"/>
                </a:solidFill>
                <a:latin typeface="Arial"/>
                <a:ea typeface="Arial"/>
              </a:rPr>
              <a:t>04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AF5"/>
          </a:solidFill>
          <a:ln w="12700">
            <a:solidFill>
              <a:srgbClr val="FBFAF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2"/>
          <p:cNvSpPr/>
          <p:nvPr/>
        </p:nvSpPr>
        <p:spPr>
          <a:xfrm>
            <a:off x="-914400" y="5212080"/>
            <a:ext cx="201132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152400">
            <a:solidFill>
              <a:srgbClr val="EEF5EE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142E45"/>
          </a:solidFill>
          <a:ln w="12700">
            <a:solidFill>
              <a:srgbClr val="142E4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4"/>
          <p:cNvSpPr/>
          <p:nvPr/>
        </p:nvSpPr>
        <p:spPr>
          <a:xfrm>
            <a:off x="146160" y="0"/>
            <a:ext cx="36360" cy="6857640"/>
          </a:xfrm>
          <a:prstGeom prst="rect">
            <a:avLst/>
          </a:prstGeom>
          <a:solidFill>
            <a:srgbClr val="F2B70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5"/>
          <p:cNvSpPr/>
          <p:nvPr/>
        </p:nvSpPr>
        <p:spPr>
          <a:xfrm>
            <a:off x="502920" y="25596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F7A8C"/>
                </a:solidFill>
                <a:latin typeface="Arial"/>
                <a:ea typeface="Arial"/>
              </a:rPr>
              <a:t>CRITERIOS DE COHERENCIA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6"/>
          <p:cNvSpPr/>
          <p:nvPr/>
        </p:nvSpPr>
        <p:spPr>
          <a:xfrm>
            <a:off x="502920" y="50292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100" b="1" strike="noStrike" spc="-1">
                <a:solidFill>
                  <a:srgbClr val="142E45"/>
                </a:solidFill>
                <a:latin typeface="Arial"/>
                <a:ea typeface="Arial"/>
              </a:rPr>
              <a:t>Filtros para evaluar una estrategia</a:t>
            </a:r>
            <a:endParaRPr lang="es-E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7"/>
          <p:cNvSpPr/>
          <p:nvPr/>
        </p:nvSpPr>
        <p:spPr>
          <a:xfrm>
            <a:off x="502920" y="1042200"/>
            <a:ext cx="11109960" cy="360"/>
          </a:xfrm>
          <a:prstGeom prst="line">
            <a:avLst/>
          </a:prstGeom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8"/>
          <p:cNvSpPr/>
          <p:nvPr/>
        </p:nvSpPr>
        <p:spPr>
          <a:xfrm>
            <a:off x="658440" y="1417320"/>
            <a:ext cx="5257440" cy="1170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9"/>
          <p:cNvSpPr/>
          <p:nvPr/>
        </p:nvSpPr>
        <p:spPr>
          <a:xfrm>
            <a:off x="868680" y="1636920"/>
            <a:ext cx="402120" cy="4021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10"/>
          <p:cNvSpPr/>
          <p:nvPr/>
        </p:nvSpPr>
        <p:spPr>
          <a:xfrm>
            <a:off x="868680" y="169632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11"/>
          <p:cNvSpPr/>
          <p:nvPr/>
        </p:nvSpPr>
        <p:spPr>
          <a:xfrm>
            <a:off x="1371600" y="1618560"/>
            <a:ext cx="4343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200" b="1" strike="noStrike" spc="-1">
                <a:solidFill>
                  <a:srgbClr val="142E45"/>
                </a:solidFill>
                <a:latin typeface="Arial"/>
                <a:ea typeface="Arial"/>
              </a:rPr>
              <a:t>Ventaja competitiva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12"/>
          <p:cNvSpPr/>
          <p:nvPr/>
        </p:nvSpPr>
        <p:spPr>
          <a:xfrm>
            <a:off x="1371600" y="1938600"/>
            <a:ext cx="43430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920" b="0" strike="noStrike" spc="-1">
                <a:solidFill>
                  <a:srgbClr val="5D6770"/>
                </a:solidFill>
                <a:latin typeface="Arial"/>
                <a:ea typeface="Arial"/>
              </a:rPr>
              <a:t>La estrategia deberá tener prevista la creación o mantenimiento de una ventaja competitiva.</a:t>
            </a:r>
            <a:endParaRPr lang="es-ES" sz="9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3"/>
          <p:cNvSpPr/>
          <p:nvPr/>
        </p:nvSpPr>
        <p:spPr>
          <a:xfrm>
            <a:off x="6327720" y="1417320"/>
            <a:ext cx="5257440" cy="1170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14"/>
          <p:cNvSpPr/>
          <p:nvPr/>
        </p:nvSpPr>
        <p:spPr>
          <a:xfrm>
            <a:off x="6537960" y="1636920"/>
            <a:ext cx="402120" cy="402120"/>
          </a:xfrm>
          <a:prstGeom prst="ellipse">
            <a:avLst/>
          </a:prstGeom>
          <a:solidFill>
            <a:srgbClr val="76A87D"/>
          </a:solidFill>
          <a:ln w="12700">
            <a:solidFill>
              <a:srgbClr val="76A87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15"/>
          <p:cNvSpPr/>
          <p:nvPr/>
        </p:nvSpPr>
        <p:spPr>
          <a:xfrm>
            <a:off x="6537960" y="169632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6"/>
          <p:cNvSpPr/>
          <p:nvPr/>
        </p:nvSpPr>
        <p:spPr>
          <a:xfrm>
            <a:off x="7040880" y="1618560"/>
            <a:ext cx="4343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200" b="1" strike="noStrike" spc="-1">
                <a:solidFill>
                  <a:srgbClr val="142E45"/>
                </a:solidFill>
                <a:latin typeface="Arial"/>
                <a:ea typeface="Arial"/>
              </a:rPr>
              <a:t>Consonancia con el entorno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7"/>
          <p:cNvSpPr/>
          <p:nvPr/>
        </p:nvSpPr>
        <p:spPr>
          <a:xfrm>
            <a:off x="7040880" y="1938600"/>
            <a:ext cx="43430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920" b="0" strike="noStrike" spc="-1">
                <a:solidFill>
                  <a:srgbClr val="5D6770"/>
                </a:solidFill>
                <a:latin typeface="Arial"/>
                <a:ea typeface="Arial"/>
              </a:rPr>
              <a:t>Debe representar una respuesta adaptable al medio externo y a los cambios críticos que ocurren en él.</a:t>
            </a:r>
            <a:endParaRPr lang="es-ES" sz="9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18"/>
          <p:cNvSpPr/>
          <p:nvPr/>
        </p:nvSpPr>
        <p:spPr>
          <a:xfrm>
            <a:off x="658440" y="3127320"/>
            <a:ext cx="5257440" cy="1170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19"/>
          <p:cNvSpPr/>
          <p:nvPr/>
        </p:nvSpPr>
        <p:spPr>
          <a:xfrm>
            <a:off x="868680" y="3346560"/>
            <a:ext cx="402120" cy="40212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20"/>
          <p:cNvSpPr/>
          <p:nvPr/>
        </p:nvSpPr>
        <p:spPr>
          <a:xfrm>
            <a:off x="868680" y="340632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21"/>
          <p:cNvSpPr/>
          <p:nvPr/>
        </p:nvSpPr>
        <p:spPr>
          <a:xfrm>
            <a:off x="1371600" y="3328560"/>
            <a:ext cx="4343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200" b="1" strike="noStrike" spc="-1">
                <a:solidFill>
                  <a:srgbClr val="142E45"/>
                </a:solidFill>
                <a:latin typeface="Arial"/>
                <a:ea typeface="Arial"/>
              </a:rPr>
              <a:t>Consistencia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22"/>
          <p:cNvSpPr/>
          <p:nvPr/>
        </p:nvSpPr>
        <p:spPr>
          <a:xfrm>
            <a:off x="1371600" y="3648600"/>
            <a:ext cx="43430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920" b="0" strike="noStrike" spc="-1">
                <a:solidFill>
                  <a:srgbClr val="5D6770"/>
                </a:solidFill>
                <a:latin typeface="Arial"/>
                <a:ea typeface="Arial"/>
              </a:rPr>
              <a:t>No deberá presentar metas y políticas inconsistentes entre sí.</a:t>
            </a:r>
            <a:endParaRPr lang="es-ES" sz="9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23"/>
          <p:cNvSpPr/>
          <p:nvPr/>
        </p:nvSpPr>
        <p:spPr>
          <a:xfrm>
            <a:off x="6327720" y="3127320"/>
            <a:ext cx="5257440" cy="1170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143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24"/>
          <p:cNvSpPr/>
          <p:nvPr/>
        </p:nvSpPr>
        <p:spPr>
          <a:xfrm>
            <a:off x="6537960" y="3346560"/>
            <a:ext cx="402120" cy="402120"/>
          </a:xfrm>
          <a:prstGeom prst="ellipse">
            <a:avLst/>
          </a:prstGeom>
          <a:solidFill>
            <a:srgbClr val="142E45"/>
          </a:solidFill>
          <a:ln w="12700">
            <a:solidFill>
              <a:srgbClr val="142E4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25"/>
          <p:cNvSpPr/>
          <p:nvPr/>
        </p:nvSpPr>
        <p:spPr>
          <a:xfrm>
            <a:off x="6537960" y="340632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26"/>
          <p:cNvSpPr/>
          <p:nvPr/>
        </p:nvSpPr>
        <p:spPr>
          <a:xfrm>
            <a:off x="7040880" y="3328560"/>
            <a:ext cx="4343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200" b="1" strike="noStrike" spc="-1">
                <a:solidFill>
                  <a:srgbClr val="142E45"/>
                </a:solidFill>
                <a:latin typeface="Arial"/>
                <a:ea typeface="Arial"/>
              </a:rPr>
              <a:t>Factibilidad</a:t>
            </a:r>
            <a:endParaRPr lang="es-E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27"/>
          <p:cNvSpPr/>
          <p:nvPr/>
        </p:nvSpPr>
        <p:spPr>
          <a:xfrm>
            <a:off x="7040880" y="3648600"/>
            <a:ext cx="43430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920" b="0" strike="noStrike" spc="-1">
                <a:solidFill>
                  <a:srgbClr val="5D6770"/>
                </a:solidFill>
                <a:latin typeface="Arial"/>
                <a:ea typeface="Arial"/>
              </a:rPr>
              <a:t>No debe sobrepasar los recursos disponibles.</a:t>
            </a:r>
            <a:endParaRPr lang="es-ES" sz="9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28"/>
          <p:cNvSpPr/>
          <p:nvPr/>
        </p:nvSpPr>
        <p:spPr>
          <a:xfrm>
            <a:off x="1097280" y="5074920"/>
            <a:ext cx="99666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700" b="1" strike="noStrike" spc="-1">
                <a:solidFill>
                  <a:srgbClr val="142E45"/>
                </a:solidFill>
                <a:latin typeface="Arial"/>
                <a:ea typeface="Arial"/>
              </a:rPr>
              <a:t>Una estrategia sólida debe ser atractiva, adaptable, coherente y realizable.</a:t>
            </a:r>
            <a:endParaRPr lang="es-E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29"/>
          <p:cNvSpPr/>
          <p:nvPr/>
        </p:nvSpPr>
        <p:spPr>
          <a:xfrm>
            <a:off x="502920" y="6446520"/>
            <a:ext cx="11109960" cy="360"/>
          </a:xfrm>
          <a:prstGeom prst="line">
            <a:avLst/>
          </a:prstGeom>
          <a:ln w="9525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30"/>
          <p:cNvSpPr/>
          <p:nvPr/>
        </p:nvSpPr>
        <p:spPr>
          <a:xfrm>
            <a:off x="502920" y="6510600"/>
            <a:ext cx="393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650" b="0" strike="noStrike" spc="-1">
                <a:solidFill>
                  <a:srgbClr val="5D6770"/>
                </a:solidFill>
                <a:latin typeface="Arial"/>
                <a:ea typeface="Arial"/>
              </a:rPr>
              <a:t>Evaluación de la estrategia</a:t>
            </a:r>
            <a:endParaRPr lang="es-E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31"/>
          <p:cNvSpPr/>
          <p:nvPr/>
        </p:nvSpPr>
        <p:spPr>
          <a:xfrm>
            <a:off x="11109960" y="648324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42E45"/>
                </a:solidFill>
                <a:latin typeface="Arial"/>
                <a:ea typeface="Arial"/>
              </a:rPr>
              <a:t>05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AF5"/>
          </a:solidFill>
          <a:ln w="12700">
            <a:solidFill>
              <a:srgbClr val="FBFAF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"/>
          <p:cNvSpPr/>
          <p:nvPr/>
        </p:nvSpPr>
        <p:spPr>
          <a:xfrm>
            <a:off x="-914400" y="5212080"/>
            <a:ext cx="201132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152400">
            <a:solidFill>
              <a:srgbClr val="EEF5EE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142E45"/>
          </a:solidFill>
          <a:ln w="12700">
            <a:solidFill>
              <a:srgbClr val="142E4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4"/>
          <p:cNvSpPr/>
          <p:nvPr/>
        </p:nvSpPr>
        <p:spPr>
          <a:xfrm>
            <a:off x="146160" y="0"/>
            <a:ext cx="36360" cy="6857640"/>
          </a:xfrm>
          <a:prstGeom prst="rect">
            <a:avLst/>
          </a:prstGeom>
          <a:solidFill>
            <a:srgbClr val="F2B70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5"/>
          <p:cNvSpPr/>
          <p:nvPr/>
        </p:nvSpPr>
        <p:spPr>
          <a:xfrm>
            <a:off x="502920" y="25596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F7A8C"/>
                </a:solidFill>
                <a:latin typeface="Arial"/>
                <a:ea typeface="Arial"/>
              </a:rPr>
              <a:t>CONCEPTO CLAVE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6"/>
          <p:cNvSpPr/>
          <p:nvPr/>
        </p:nvSpPr>
        <p:spPr>
          <a:xfrm>
            <a:off x="502920" y="50292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100" b="1" strike="noStrike" spc="-1">
                <a:solidFill>
                  <a:srgbClr val="142E45"/>
                </a:solidFill>
                <a:latin typeface="Arial"/>
                <a:ea typeface="Arial"/>
              </a:rPr>
              <a:t>Ventaja competitiva sostenible</a:t>
            </a:r>
            <a:endParaRPr lang="es-E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7"/>
          <p:cNvSpPr/>
          <p:nvPr/>
        </p:nvSpPr>
        <p:spPr>
          <a:xfrm>
            <a:off x="502920" y="1042200"/>
            <a:ext cx="11109960" cy="360"/>
          </a:xfrm>
          <a:prstGeom prst="line">
            <a:avLst/>
          </a:prstGeom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8"/>
          <p:cNvSpPr/>
          <p:nvPr/>
        </p:nvSpPr>
        <p:spPr>
          <a:xfrm>
            <a:off x="713160" y="1325880"/>
            <a:ext cx="5166000" cy="406872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8" name="Image 0" descr="/mnt/data/planestrat_assets/10000001000002F7000001F490653782.png"/>
          <p:cNvPicPr/>
          <p:nvPr/>
        </p:nvPicPr>
        <p:blipFill>
          <a:blip r:embed="rId3"/>
          <a:stretch/>
        </p:blipFill>
        <p:spPr>
          <a:xfrm>
            <a:off x="713160" y="1658880"/>
            <a:ext cx="5166000" cy="3403080"/>
          </a:xfrm>
          <a:prstGeom prst="rect">
            <a:avLst/>
          </a:prstGeom>
          <a:ln w="0">
            <a:noFill/>
          </a:ln>
        </p:spPr>
      </p:pic>
      <p:sp>
        <p:nvSpPr>
          <p:cNvPr id="149" name="Shape 9"/>
          <p:cNvSpPr/>
          <p:nvPr/>
        </p:nvSpPr>
        <p:spPr>
          <a:xfrm>
            <a:off x="6199560" y="1417320"/>
            <a:ext cx="5230080" cy="3428640"/>
          </a:xfrm>
          <a:prstGeom prst="roundRect">
            <a:avLst>
              <a:gd name="adj" fmla="val 2133"/>
            </a:avLst>
          </a:prstGeom>
          <a:solidFill>
            <a:srgbClr val="142E45"/>
          </a:solidFill>
          <a:ln w="12700">
            <a:solidFill>
              <a:srgbClr val="142E4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10"/>
          <p:cNvSpPr/>
          <p:nvPr/>
        </p:nvSpPr>
        <p:spPr>
          <a:xfrm>
            <a:off x="6537960" y="1783080"/>
            <a:ext cx="15541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900" b="1" strike="noStrike" spc="-1">
                <a:solidFill>
                  <a:srgbClr val="F2B705"/>
                </a:solidFill>
                <a:latin typeface="Arial"/>
                <a:ea typeface="Arial"/>
              </a:rPr>
              <a:t>Definición</a:t>
            </a:r>
            <a:endParaRPr lang="es-E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1"/>
          <p:cNvSpPr/>
          <p:nvPr/>
        </p:nvSpPr>
        <p:spPr>
          <a:xfrm>
            <a:off x="6537960" y="2148840"/>
            <a:ext cx="443448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7222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900" b="1" strike="noStrike" spc="-1">
                <a:solidFill>
                  <a:srgbClr val="FFFFFF"/>
                </a:solidFill>
                <a:latin typeface="Arial"/>
                <a:ea typeface="Arial"/>
              </a:rPr>
              <a:t>Una ventaja competitiva sostenible es el beneficio a largo plazo de implementar una estrategia única destinada a crear valor.</a:t>
            </a:r>
            <a:endParaRPr lang="es-E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12"/>
          <p:cNvSpPr/>
          <p:nvPr/>
        </p:nvSpPr>
        <p:spPr>
          <a:xfrm>
            <a:off x="6537960" y="3429000"/>
            <a:ext cx="1920240" cy="360"/>
          </a:xfrm>
          <a:prstGeom prst="line">
            <a:avLst/>
          </a:prstGeom>
          <a:ln w="38100">
            <a:solidFill>
              <a:srgbClr val="F2B7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3"/>
          <p:cNvSpPr/>
          <p:nvPr/>
        </p:nvSpPr>
        <p:spPr>
          <a:xfrm>
            <a:off x="6537960" y="3730680"/>
            <a:ext cx="42973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250" b="0" strike="noStrike" spc="-1">
                <a:solidFill>
                  <a:srgbClr val="D8E4E8"/>
                </a:solidFill>
                <a:latin typeface="Arial"/>
                <a:ea typeface="Arial"/>
              </a:rPr>
              <a:t>Al mismo tiempo, no es aplicada por competidores existentes o potenciales y sus beneficios no pueden copiarse.</a:t>
            </a:r>
            <a:endParaRPr lang="es-E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4"/>
          <p:cNvSpPr/>
          <p:nvPr/>
        </p:nvSpPr>
        <p:spPr>
          <a:xfrm>
            <a:off x="502920" y="6446520"/>
            <a:ext cx="11109960" cy="360"/>
          </a:xfrm>
          <a:prstGeom prst="line">
            <a:avLst/>
          </a:prstGeom>
          <a:ln w="9525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5"/>
          <p:cNvSpPr/>
          <p:nvPr/>
        </p:nvSpPr>
        <p:spPr>
          <a:xfrm>
            <a:off x="502920" y="6510600"/>
            <a:ext cx="393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650" b="0" strike="noStrike" spc="-1">
                <a:solidFill>
                  <a:srgbClr val="5D6770"/>
                </a:solidFill>
                <a:latin typeface="Arial"/>
                <a:ea typeface="Arial"/>
              </a:rPr>
              <a:t>Ventaja competitiva</a:t>
            </a:r>
            <a:endParaRPr lang="es-E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6"/>
          <p:cNvSpPr/>
          <p:nvPr/>
        </p:nvSpPr>
        <p:spPr>
          <a:xfrm>
            <a:off x="11109960" y="648324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42E45"/>
                </a:solidFill>
                <a:latin typeface="Arial"/>
                <a:ea typeface="Arial"/>
              </a:rPr>
              <a:t>06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AF5"/>
          </a:solidFill>
          <a:ln w="12700">
            <a:solidFill>
              <a:srgbClr val="FBFAF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-914400" y="5212080"/>
            <a:ext cx="201132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152400">
            <a:solidFill>
              <a:srgbClr val="EEF5EE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142E45"/>
          </a:solidFill>
          <a:ln w="12700">
            <a:solidFill>
              <a:srgbClr val="142E4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Shape 4"/>
          <p:cNvSpPr/>
          <p:nvPr/>
        </p:nvSpPr>
        <p:spPr>
          <a:xfrm>
            <a:off x="146160" y="0"/>
            <a:ext cx="36360" cy="6857640"/>
          </a:xfrm>
          <a:prstGeom prst="rect">
            <a:avLst/>
          </a:prstGeom>
          <a:solidFill>
            <a:srgbClr val="F2B70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5"/>
          <p:cNvSpPr/>
          <p:nvPr/>
        </p:nvSpPr>
        <p:spPr>
          <a:xfrm>
            <a:off x="502920" y="25596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000" b="1" strike="noStrike" spc="-1">
                <a:solidFill>
                  <a:srgbClr val="1F7A8C"/>
                </a:solidFill>
                <a:latin typeface="Arial"/>
                <a:ea typeface="Arial"/>
              </a:rPr>
              <a:t>VENTAJA COMPETITIVA</a:t>
            </a:r>
            <a:endParaRPr lang="es-E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7"/>
          <p:cNvSpPr/>
          <p:nvPr/>
        </p:nvSpPr>
        <p:spPr>
          <a:xfrm>
            <a:off x="502920" y="1042200"/>
            <a:ext cx="11109960" cy="360"/>
          </a:xfrm>
          <a:prstGeom prst="line">
            <a:avLst/>
          </a:prstGeom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8"/>
          <p:cNvSpPr/>
          <p:nvPr/>
        </p:nvSpPr>
        <p:spPr>
          <a:xfrm>
            <a:off x="822960" y="1298520"/>
            <a:ext cx="10515240" cy="480024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4" name="Image 0" descr="/mnt/data/planestrat_assets/10000001000005480000036A95C1E04F.png"/>
          <p:cNvPicPr/>
          <p:nvPr/>
        </p:nvPicPr>
        <p:blipFill>
          <a:blip r:embed="rId3"/>
          <a:stretch/>
        </p:blipFill>
        <p:spPr>
          <a:xfrm>
            <a:off x="2367720" y="1298520"/>
            <a:ext cx="7425720" cy="4800240"/>
          </a:xfrm>
          <a:prstGeom prst="rect">
            <a:avLst/>
          </a:prstGeom>
          <a:ln w="0">
            <a:noFill/>
          </a:ln>
        </p:spPr>
      </p:pic>
      <p:sp>
        <p:nvSpPr>
          <p:cNvPr id="165" name="Shape 9"/>
          <p:cNvSpPr/>
          <p:nvPr/>
        </p:nvSpPr>
        <p:spPr>
          <a:xfrm>
            <a:off x="502920" y="6446520"/>
            <a:ext cx="11109960" cy="360"/>
          </a:xfrm>
          <a:prstGeom prst="line">
            <a:avLst/>
          </a:prstGeom>
          <a:ln w="9525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10"/>
          <p:cNvSpPr/>
          <p:nvPr/>
        </p:nvSpPr>
        <p:spPr>
          <a:xfrm>
            <a:off x="502920" y="6510600"/>
            <a:ext cx="393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650" b="0" strike="noStrike" spc="-1">
                <a:solidFill>
                  <a:srgbClr val="5D6770"/>
                </a:solidFill>
                <a:latin typeface="Arial"/>
                <a:ea typeface="Arial"/>
              </a:rPr>
              <a:t>Ventaja competitiva</a:t>
            </a:r>
            <a:endParaRPr lang="es-E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11"/>
          <p:cNvSpPr/>
          <p:nvPr/>
        </p:nvSpPr>
        <p:spPr>
          <a:xfrm>
            <a:off x="11109960" y="648324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42E45"/>
                </a:solidFill>
                <a:latin typeface="Arial"/>
                <a:ea typeface="Arial"/>
              </a:rPr>
              <a:t>07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AF5"/>
          </a:solidFill>
          <a:ln w="12700">
            <a:solidFill>
              <a:srgbClr val="FBFAF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2"/>
          <p:cNvSpPr/>
          <p:nvPr/>
        </p:nvSpPr>
        <p:spPr>
          <a:xfrm>
            <a:off x="-914400" y="5212080"/>
            <a:ext cx="201132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152400">
            <a:solidFill>
              <a:srgbClr val="EEF5EE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142E45"/>
          </a:solidFill>
          <a:ln w="12700">
            <a:solidFill>
              <a:srgbClr val="142E4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Shape 4"/>
          <p:cNvSpPr/>
          <p:nvPr/>
        </p:nvSpPr>
        <p:spPr>
          <a:xfrm>
            <a:off x="146160" y="0"/>
            <a:ext cx="36360" cy="6857640"/>
          </a:xfrm>
          <a:prstGeom prst="rect">
            <a:avLst/>
          </a:prstGeom>
          <a:solidFill>
            <a:srgbClr val="F2B70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5"/>
          <p:cNvSpPr/>
          <p:nvPr/>
        </p:nvSpPr>
        <p:spPr>
          <a:xfrm>
            <a:off x="502920" y="25596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F7A8C"/>
                </a:solidFill>
                <a:latin typeface="Arial"/>
                <a:ea typeface="Arial"/>
              </a:rPr>
              <a:t>FUENTES POSIBLES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6"/>
          <p:cNvSpPr/>
          <p:nvPr/>
        </p:nvSpPr>
        <p:spPr>
          <a:xfrm>
            <a:off x="502920" y="50292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100" b="1" strike="noStrike" spc="-1">
                <a:solidFill>
                  <a:srgbClr val="142E45"/>
                </a:solidFill>
                <a:latin typeface="Arial"/>
                <a:ea typeface="Arial"/>
              </a:rPr>
              <a:t>Ventaja competitiva</a:t>
            </a:r>
            <a:endParaRPr lang="es-E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7"/>
          <p:cNvSpPr/>
          <p:nvPr/>
        </p:nvSpPr>
        <p:spPr>
          <a:xfrm>
            <a:off x="502920" y="1042200"/>
            <a:ext cx="11109960" cy="360"/>
          </a:xfrm>
          <a:prstGeom prst="line">
            <a:avLst/>
          </a:prstGeom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8"/>
          <p:cNvSpPr/>
          <p:nvPr/>
        </p:nvSpPr>
        <p:spPr>
          <a:xfrm>
            <a:off x="2103120" y="1261800"/>
            <a:ext cx="7954920" cy="480024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" name="Image 0" descr="/mnt/data/planestrat_assets/1000000100000400000002AB4A78BE89.png"/>
          <p:cNvPicPr/>
          <p:nvPr/>
        </p:nvPicPr>
        <p:blipFill>
          <a:blip r:embed="rId3"/>
          <a:stretch/>
        </p:blipFill>
        <p:spPr>
          <a:xfrm>
            <a:off x="2482200" y="1261800"/>
            <a:ext cx="7197120" cy="4800240"/>
          </a:xfrm>
          <a:prstGeom prst="rect">
            <a:avLst/>
          </a:prstGeom>
          <a:ln w="0">
            <a:noFill/>
          </a:ln>
        </p:spPr>
      </p:pic>
      <p:sp>
        <p:nvSpPr>
          <p:cNvPr id="177" name="Shape 9"/>
          <p:cNvSpPr/>
          <p:nvPr/>
        </p:nvSpPr>
        <p:spPr>
          <a:xfrm>
            <a:off x="502920" y="6446520"/>
            <a:ext cx="11109960" cy="360"/>
          </a:xfrm>
          <a:prstGeom prst="line">
            <a:avLst/>
          </a:prstGeom>
          <a:ln w="9525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10"/>
          <p:cNvSpPr/>
          <p:nvPr/>
        </p:nvSpPr>
        <p:spPr>
          <a:xfrm>
            <a:off x="502920" y="6510600"/>
            <a:ext cx="393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650" b="0" strike="noStrike" spc="-1">
                <a:solidFill>
                  <a:srgbClr val="5D6770"/>
                </a:solidFill>
                <a:latin typeface="Arial"/>
                <a:ea typeface="Arial"/>
              </a:rPr>
              <a:t>Ventaja competitiva</a:t>
            </a:r>
            <a:endParaRPr lang="es-E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1"/>
          <p:cNvSpPr/>
          <p:nvPr/>
        </p:nvSpPr>
        <p:spPr>
          <a:xfrm>
            <a:off x="11109960" y="648324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42E45"/>
                </a:solidFill>
                <a:latin typeface="Arial"/>
                <a:ea typeface="Arial"/>
              </a:rPr>
              <a:t>08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AF5"/>
          </a:solidFill>
          <a:ln w="12700">
            <a:solidFill>
              <a:srgbClr val="FBFAF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2"/>
          <p:cNvSpPr/>
          <p:nvPr/>
        </p:nvSpPr>
        <p:spPr>
          <a:xfrm>
            <a:off x="-914400" y="5212080"/>
            <a:ext cx="201132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152400">
            <a:solidFill>
              <a:srgbClr val="EEF5EE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142E45"/>
          </a:solidFill>
          <a:ln w="12700">
            <a:solidFill>
              <a:srgbClr val="142E4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4"/>
          <p:cNvSpPr/>
          <p:nvPr/>
        </p:nvSpPr>
        <p:spPr>
          <a:xfrm>
            <a:off x="146160" y="0"/>
            <a:ext cx="36360" cy="6857640"/>
          </a:xfrm>
          <a:prstGeom prst="rect">
            <a:avLst/>
          </a:prstGeom>
          <a:solidFill>
            <a:srgbClr val="F2B70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5"/>
          <p:cNvSpPr/>
          <p:nvPr/>
        </p:nvSpPr>
        <p:spPr>
          <a:xfrm>
            <a:off x="502920" y="25596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F7A8C"/>
                </a:solidFill>
                <a:latin typeface="Arial"/>
                <a:ea typeface="Arial"/>
              </a:rPr>
              <a:t>ANÁLISIS · FORMULACIÓN · IMPLEMENTACIÓN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6"/>
          <p:cNvSpPr/>
          <p:nvPr/>
        </p:nvSpPr>
        <p:spPr>
          <a:xfrm>
            <a:off x="502920" y="50292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100" b="1" strike="noStrike" spc="-1">
                <a:solidFill>
                  <a:srgbClr val="142E45"/>
                </a:solidFill>
                <a:latin typeface="Arial"/>
                <a:ea typeface="Arial"/>
              </a:rPr>
              <a:t>Proceso de planificación estratégica</a:t>
            </a:r>
            <a:endParaRPr lang="es-E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7"/>
          <p:cNvSpPr/>
          <p:nvPr/>
        </p:nvSpPr>
        <p:spPr>
          <a:xfrm>
            <a:off x="502920" y="1042200"/>
            <a:ext cx="11109960" cy="360"/>
          </a:xfrm>
          <a:prstGeom prst="line">
            <a:avLst/>
          </a:prstGeom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8"/>
          <p:cNvSpPr/>
          <p:nvPr/>
        </p:nvSpPr>
        <p:spPr>
          <a:xfrm>
            <a:off x="749880" y="2743200"/>
            <a:ext cx="191988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1F7A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9"/>
          <p:cNvSpPr/>
          <p:nvPr/>
        </p:nvSpPr>
        <p:spPr>
          <a:xfrm>
            <a:off x="1499760" y="2331720"/>
            <a:ext cx="429480" cy="42948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10"/>
          <p:cNvSpPr/>
          <p:nvPr/>
        </p:nvSpPr>
        <p:spPr>
          <a:xfrm>
            <a:off x="1499760" y="2391120"/>
            <a:ext cx="429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11"/>
          <p:cNvSpPr/>
          <p:nvPr/>
        </p:nvSpPr>
        <p:spPr>
          <a:xfrm>
            <a:off x="877680" y="3017520"/>
            <a:ext cx="16639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50" b="1" strike="noStrike" spc="-1">
                <a:solidFill>
                  <a:srgbClr val="142E45"/>
                </a:solidFill>
                <a:latin typeface="Arial"/>
                <a:ea typeface="Arial"/>
              </a:rPr>
              <a:t>ANÁLISIS</a:t>
            </a:r>
            <a:endParaRPr lang="es-E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2"/>
          <p:cNvSpPr/>
          <p:nvPr/>
        </p:nvSpPr>
        <p:spPr>
          <a:xfrm>
            <a:off x="932760" y="342000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60" b="0" strike="noStrike" spc="-1">
                <a:solidFill>
                  <a:srgbClr val="5D6770"/>
                </a:solidFill>
                <a:latin typeface="Arial"/>
                <a:ea typeface="Arial"/>
              </a:rPr>
              <a:t>Comprender el punto de partida</a:t>
            </a:r>
            <a:endParaRPr lang="es-ES" sz="76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13"/>
          <p:cNvSpPr/>
          <p:nvPr/>
        </p:nvSpPr>
        <p:spPr>
          <a:xfrm>
            <a:off x="2779920" y="3081600"/>
            <a:ext cx="548280" cy="456840"/>
          </a:xfrm>
          <a:prstGeom prst="chevron">
            <a:avLst>
              <a:gd name="adj" fmla="val 50000"/>
            </a:avLst>
          </a:prstGeom>
          <a:solidFill>
            <a:srgbClr val="2E9AA5">
              <a:alpha val="85000"/>
            </a:srgbClr>
          </a:solidFill>
          <a:ln w="12700">
            <a:solidFill>
              <a:srgbClr val="2E9AA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Shape 14"/>
          <p:cNvSpPr/>
          <p:nvPr/>
        </p:nvSpPr>
        <p:spPr>
          <a:xfrm>
            <a:off x="3547800" y="2743200"/>
            <a:ext cx="191988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76A8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15"/>
          <p:cNvSpPr/>
          <p:nvPr/>
        </p:nvSpPr>
        <p:spPr>
          <a:xfrm>
            <a:off x="4297680" y="2331720"/>
            <a:ext cx="429480" cy="429480"/>
          </a:xfrm>
          <a:prstGeom prst="ellipse">
            <a:avLst/>
          </a:prstGeom>
          <a:solidFill>
            <a:srgbClr val="76A87D"/>
          </a:solidFill>
          <a:ln w="12700">
            <a:solidFill>
              <a:srgbClr val="76A87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16"/>
          <p:cNvSpPr/>
          <p:nvPr/>
        </p:nvSpPr>
        <p:spPr>
          <a:xfrm>
            <a:off x="4297680" y="2391120"/>
            <a:ext cx="429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17"/>
          <p:cNvSpPr/>
          <p:nvPr/>
        </p:nvSpPr>
        <p:spPr>
          <a:xfrm>
            <a:off x="3675960" y="3017520"/>
            <a:ext cx="16639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50" b="1" strike="noStrike" spc="-1">
                <a:solidFill>
                  <a:srgbClr val="142E45"/>
                </a:solidFill>
                <a:latin typeface="Arial"/>
                <a:ea typeface="Arial"/>
              </a:rPr>
              <a:t>DIAGNÓSTICO</a:t>
            </a:r>
            <a:endParaRPr lang="es-E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18"/>
          <p:cNvSpPr/>
          <p:nvPr/>
        </p:nvSpPr>
        <p:spPr>
          <a:xfrm>
            <a:off x="3730680" y="342000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60" b="0" strike="noStrike" spc="-1">
                <a:solidFill>
                  <a:srgbClr val="5D6770"/>
                </a:solidFill>
                <a:latin typeface="Arial"/>
                <a:ea typeface="Arial"/>
              </a:rPr>
              <a:t>Identificar prioridades</a:t>
            </a:r>
            <a:endParaRPr lang="es-ES" sz="76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9"/>
          <p:cNvSpPr/>
          <p:nvPr/>
        </p:nvSpPr>
        <p:spPr>
          <a:xfrm>
            <a:off x="5577840" y="3081600"/>
            <a:ext cx="548280" cy="456840"/>
          </a:xfrm>
          <a:prstGeom prst="chevron">
            <a:avLst>
              <a:gd name="adj" fmla="val 50000"/>
            </a:avLst>
          </a:prstGeom>
          <a:solidFill>
            <a:srgbClr val="2E9AA5">
              <a:alpha val="85000"/>
            </a:srgbClr>
          </a:solidFill>
          <a:ln w="12700">
            <a:solidFill>
              <a:srgbClr val="2E9AA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20"/>
          <p:cNvSpPr/>
          <p:nvPr/>
        </p:nvSpPr>
        <p:spPr>
          <a:xfrm>
            <a:off x="6346080" y="2743200"/>
            <a:ext cx="191988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F2B7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21"/>
          <p:cNvSpPr/>
          <p:nvPr/>
        </p:nvSpPr>
        <p:spPr>
          <a:xfrm>
            <a:off x="7095600" y="2331720"/>
            <a:ext cx="429480" cy="42948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22"/>
          <p:cNvSpPr/>
          <p:nvPr/>
        </p:nvSpPr>
        <p:spPr>
          <a:xfrm>
            <a:off x="7095600" y="2391120"/>
            <a:ext cx="429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23"/>
          <p:cNvSpPr/>
          <p:nvPr/>
        </p:nvSpPr>
        <p:spPr>
          <a:xfrm>
            <a:off x="6473880" y="3017520"/>
            <a:ext cx="16639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6666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50" b="1" strike="noStrike" spc="-1">
                <a:solidFill>
                  <a:srgbClr val="142E45"/>
                </a:solidFill>
                <a:latin typeface="Arial"/>
                <a:ea typeface="Arial"/>
              </a:rPr>
              <a:t>ELECCIÓN DE ESTRATEGIAS</a:t>
            </a:r>
            <a:endParaRPr lang="es-E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24"/>
          <p:cNvSpPr/>
          <p:nvPr/>
        </p:nvSpPr>
        <p:spPr>
          <a:xfrm>
            <a:off x="6528960" y="342000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60" b="0" strike="noStrike" spc="-1">
                <a:solidFill>
                  <a:srgbClr val="5D6770"/>
                </a:solidFill>
                <a:latin typeface="Arial"/>
                <a:ea typeface="Arial"/>
              </a:rPr>
              <a:t>Definir el rumbo</a:t>
            </a:r>
            <a:endParaRPr lang="es-ES" sz="76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25"/>
          <p:cNvSpPr/>
          <p:nvPr/>
        </p:nvSpPr>
        <p:spPr>
          <a:xfrm>
            <a:off x="8375760" y="3081600"/>
            <a:ext cx="548280" cy="456840"/>
          </a:xfrm>
          <a:prstGeom prst="chevron">
            <a:avLst>
              <a:gd name="adj" fmla="val 50000"/>
            </a:avLst>
          </a:prstGeom>
          <a:solidFill>
            <a:srgbClr val="2E9AA5">
              <a:alpha val="85000"/>
            </a:srgbClr>
          </a:solidFill>
          <a:ln w="12700">
            <a:solidFill>
              <a:srgbClr val="2E9AA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Shape 26"/>
          <p:cNvSpPr/>
          <p:nvPr/>
        </p:nvSpPr>
        <p:spPr>
          <a:xfrm>
            <a:off x="9144000" y="2743200"/>
            <a:ext cx="191988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7780">
            <a:solidFill>
              <a:srgbClr val="142E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7"/>
          <p:cNvSpPr/>
          <p:nvPr/>
        </p:nvSpPr>
        <p:spPr>
          <a:xfrm>
            <a:off x="9893880" y="2331720"/>
            <a:ext cx="429480" cy="429480"/>
          </a:xfrm>
          <a:prstGeom prst="ellipse">
            <a:avLst/>
          </a:prstGeom>
          <a:solidFill>
            <a:srgbClr val="142E45"/>
          </a:solidFill>
          <a:ln w="12700">
            <a:solidFill>
              <a:srgbClr val="142E4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28"/>
          <p:cNvSpPr/>
          <p:nvPr/>
        </p:nvSpPr>
        <p:spPr>
          <a:xfrm>
            <a:off x="9893880" y="2391120"/>
            <a:ext cx="429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29"/>
          <p:cNvSpPr/>
          <p:nvPr/>
        </p:nvSpPr>
        <p:spPr>
          <a:xfrm>
            <a:off x="9272160" y="3017520"/>
            <a:ext cx="16639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7222"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50" b="1" strike="noStrike" spc="-1">
                <a:solidFill>
                  <a:srgbClr val="142E45"/>
                </a:solidFill>
                <a:latin typeface="Arial"/>
                <a:ea typeface="Arial"/>
              </a:rPr>
              <a:t>IMPLANTACIÓN DE ESTRATEGIA</a:t>
            </a:r>
            <a:endParaRPr lang="es-E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30"/>
          <p:cNvSpPr/>
          <p:nvPr/>
        </p:nvSpPr>
        <p:spPr>
          <a:xfrm>
            <a:off x="9326880" y="342000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60" b="0" strike="noStrike" spc="-1">
                <a:solidFill>
                  <a:srgbClr val="5D6770"/>
                </a:solidFill>
                <a:latin typeface="Arial"/>
                <a:ea typeface="Arial"/>
              </a:rPr>
              <a:t>Ejecutar y controlar</a:t>
            </a:r>
            <a:endParaRPr lang="es-ES" sz="76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31"/>
          <p:cNvSpPr/>
          <p:nvPr/>
        </p:nvSpPr>
        <p:spPr>
          <a:xfrm>
            <a:off x="1700640" y="4617720"/>
            <a:ext cx="2834640" cy="360"/>
          </a:xfrm>
          <a:prstGeom prst="line">
            <a:avLst/>
          </a:prstGeom>
          <a:ln w="38100">
            <a:solidFill>
              <a:srgbClr val="1F7A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32"/>
          <p:cNvSpPr/>
          <p:nvPr/>
        </p:nvSpPr>
        <p:spPr>
          <a:xfrm>
            <a:off x="2039040" y="4800600"/>
            <a:ext cx="11883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900" b="1" strike="noStrike" spc="-1">
                <a:solidFill>
                  <a:srgbClr val="1F7A8C"/>
                </a:solidFill>
                <a:latin typeface="Arial"/>
                <a:ea typeface="Arial"/>
              </a:rPr>
              <a:t>ANÁLISIS</a:t>
            </a:r>
            <a:endParaRPr lang="es-E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33"/>
          <p:cNvSpPr/>
          <p:nvPr/>
        </p:nvSpPr>
        <p:spPr>
          <a:xfrm>
            <a:off x="4526280" y="4617720"/>
            <a:ext cx="2852640" cy="360"/>
          </a:xfrm>
          <a:prstGeom prst="line">
            <a:avLst/>
          </a:prstGeom>
          <a:ln w="38100">
            <a:solidFill>
              <a:srgbClr val="76A8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34"/>
          <p:cNvSpPr/>
          <p:nvPr/>
        </p:nvSpPr>
        <p:spPr>
          <a:xfrm>
            <a:off x="5166360" y="4800600"/>
            <a:ext cx="1554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900" b="1" strike="noStrike" spc="-1">
                <a:solidFill>
                  <a:srgbClr val="3B6F5A"/>
                </a:solidFill>
                <a:latin typeface="Arial"/>
                <a:ea typeface="Arial"/>
              </a:rPr>
              <a:t>FORMULACIÓN</a:t>
            </a:r>
            <a:endParaRPr lang="es-E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35"/>
          <p:cNvSpPr/>
          <p:nvPr/>
        </p:nvSpPr>
        <p:spPr>
          <a:xfrm>
            <a:off x="7388280" y="4617720"/>
            <a:ext cx="2743200" cy="360"/>
          </a:xfrm>
          <a:prstGeom prst="line">
            <a:avLst/>
          </a:prstGeom>
          <a:ln w="38100">
            <a:solidFill>
              <a:srgbClr val="142E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36"/>
          <p:cNvSpPr/>
          <p:nvPr/>
        </p:nvSpPr>
        <p:spPr>
          <a:xfrm>
            <a:off x="7909560" y="480060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900" b="1" strike="noStrike" spc="-1">
                <a:solidFill>
                  <a:srgbClr val="142E45"/>
                </a:solidFill>
                <a:latin typeface="Arial"/>
                <a:ea typeface="Arial"/>
              </a:rPr>
              <a:t>IMPLEMENTACIÓN</a:t>
            </a:r>
            <a:endParaRPr lang="es-E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37"/>
          <p:cNvSpPr/>
          <p:nvPr/>
        </p:nvSpPr>
        <p:spPr>
          <a:xfrm>
            <a:off x="502920" y="6446520"/>
            <a:ext cx="11109960" cy="360"/>
          </a:xfrm>
          <a:prstGeom prst="line">
            <a:avLst/>
          </a:prstGeom>
          <a:ln w="9525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38"/>
          <p:cNvSpPr/>
          <p:nvPr/>
        </p:nvSpPr>
        <p:spPr>
          <a:xfrm>
            <a:off x="502920" y="6510600"/>
            <a:ext cx="393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650" b="0" strike="noStrike" spc="-1">
                <a:solidFill>
                  <a:srgbClr val="5D6770"/>
                </a:solidFill>
                <a:latin typeface="Arial"/>
                <a:ea typeface="Arial"/>
              </a:rPr>
              <a:t>Proceso estratégico</a:t>
            </a:r>
            <a:endParaRPr lang="es-E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39"/>
          <p:cNvSpPr/>
          <p:nvPr/>
        </p:nvSpPr>
        <p:spPr>
          <a:xfrm>
            <a:off x="11109960" y="648324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42E45"/>
                </a:solidFill>
                <a:latin typeface="Arial"/>
                <a:ea typeface="Arial"/>
              </a:rPr>
              <a:t>09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AF5"/>
          </a:solidFill>
          <a:ln w="12700">
            <a:solidFill>
              <a:srgbClr val="FBFAF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2"/>
          <p:cNvSpPr/>
          <p:nvPr/>
        </p:nvSpPr>
        <p:spPr>
          <a:xfrm>
            <a:off x="-914400" y="5212080"/>
            <a:ext cx="201132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152400">
            <a:solidFill>
              <a:srgbClr val="EEF5EE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142E45"/>
          </a:solidFill>
          <a:ln w="12700">
            <a:solidFill>
              <a:srgbClr val="142E4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Shape 4"/>
          <p:cNvSpPr/>
          <p:nvPr/>
        </p:nvSpPr>
        <p:spPr>
          <a:xfrm>
            <a:off x="146160" y="0"/>
            <a:ext cx="36360" cy="6857640"/>
          </a:xfrm>
          <a:prstGeom prst="rect">
            <a:avLst/>
          </a:prstGeom>
          <a:solidFill>
            <a:srgbClr val="F2B70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5"/>
          <p:cNvSpPr/>
          <p:nvPr/>
        </p:nvSpPr>
        <p:spPr>
          <a:xfrm>
            <a:off x="502920" y="25596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F7A8C"/>
                </a:solidFill>
                <a:latin typeface="Arial"/>
                <a:ea typeface="Arial"/>
              </a:rPr>
              <a:t>FASES 1 Y 2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6"/>
          <p:cNvSpPr/>
          <p:nvPr/>
        </p:nvSpPr>
        <p:spPr>
          <a:xfrm>
            <a:off x="502920" y="50292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100" b="1" strike="noStrike" spc="-1">
                <a:solidFill>
                  <a:srgbClr val="142E45"/>
                </a:solidFill>
                <a:latin typeface="Arial"/>
                <a:ea typeface="Arial"/>
              </a:rPr>
              <a:t>Análisis de la estrategia</a:t>
            </a:r>
            <a:endParaRPr lang="es-E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7"/>
          <p:cNvSpPr/>
          <p:nvPr/>
        </p:nvSpPr>
        <p:spPr>
          <a:xfrm>
            <a:off x="502920" y="1042200"/>
            <a:ext cx="11109960" cy="360"/>
          </a:xfrm>
          <a:prstGeom prst="line">
            <a:avLst/>
          </a:prstGeom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8"/>
          <p:cNvSpPr/>
          <p:nvPr/>
        </p:nvSpPr>
        <p:spPr>
          <a:xfrm>
            <a:off x="713160" y="1408320"/>
            <a:ext cx="5074560" cy="443448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9"/>
          <p:cNvSpPr/>
          <p:nvPr/>
        </p:nvSpPr>
        <p:spPr>
          <a:xfrm>
            <a:off x="713160" y="1408320"/>
            <a:ext cx="5074560" cy="511560"/>
          </a:xfrm>
          <a:prstGeom prst="rect">
            <a:avLst/>
          </a:prstGeom>
          <a:solidFill>
            <a:srgbClr val="1F7A8C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10"/>
          <p:cNvSpPr/>
          <p:nvPr/>
        </p:nvSpPr>
        <p:spPr>
          <a:xfrm>
            <a:off x="1005840" y="1572840"/>
            <a:ext cx="44802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100" b="1" strike="noStrike" spc="-1">
                <a:solidFill>
                  <a:srgbClr val="FFFFFF"/>
                </a:solidFill>
                <a:latin typeface="Arial"/>
                <a:ea typeface="Arial"/>
              </a:rPr>
              <a:t>Fase 1 · Metas</a:t>
            </a:r>
            <a:endParaRPr lang="es-E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11"/>
          <p:cNvSpPr/>
          <p:nvPr/>
        </p:nvSpPr>
        <p:spPr>
          <a:xfrm>
            <a:off x="1005840" y="2240280"/>
            <a:ext cx="237240" cy="2372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12"/>
          <p:cNvSpPr/>
          <p:nvPr/>
        </p:nvSpPr>
        <p:spPr>
          <a:xfrm>
            <a:off x="1005840" y="2299680"/>
            <a:ext cx="237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13"/>
          <p:cNvSpPr/>
          <p:nvPr/>
        </p:nvSpPr>
        <p:spPr>
          <a:xfrm>
            <a:off x="1389960" y="221292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50" b="0" strike="noStrike" spc="-1">
                <a:solidFill>
                  <a:srgbClr val="111827"/>
                </a:solidFill>
                <a:latin typeface="Arial"/>
                <a:ea typeface="Arial"/>
              </a:rPr>
              <a:t>Esquema del plan estratégico</a:t>
            </a:r>
            <a:endParaRPr lang="es-E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14"/>
          <p:cNvSpPr/>
          <p:nvPr/>
        </p:nvSpPr>
        <p:spPr>
          <a:xfrm>
            <a:off x="1005840" y="2971800"/>
            <a:ext cx="237240" cy="2372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15"/>
          <p:cNvSpPr/>
          <p:nvPr/>
        </p:nvSpPr>
        <p:spPr>
          <a:xfrm>
            <a:off x="1005840" y="3031200"/>
            <a:ext cx="237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16"/>
          <p:cNvSpPr/>
          <p:nvPr/>
        </p:nvSpPr>
        <p:spPr>
          <a:xfrm>
            <a:off x="1389960" y="294444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50" b="0" strike="noStrike" spc="-1">
                <a:solidFill>
                  <a:srgbClr val="111827"/>
                </a:solidFill>
                <a:latin typeface="Arial"/>
                <a:ea typeface="Arial"/>
              </a:rPr>
              <a:t>Visión, misión y valores de la organización</a:t>
            </a:r>
            <a:endParaRPr lang="es-E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17"/>
          <p:cNvSpPr/>
          <p:nvPr/>
        </p:nvSpPr>
        <p:spPr>
          <a:xfrm>
            <a:off x="1005840" y="3703320"/>
            <a:ext cx="237240" cy="2372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18"/>
          <p:cNvSpPr/>
          <p:nvPr/>
        </p:nvSpPr>
        <p:spPr>
          <a:xfrm>
            <a:off x="1005840" y="3762720"/>
            <a:ext cx="237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19"/>
          <p:cNvSpPr/>
          <p:nvPr/>
        </p:nvSpPr>
        <p:spPr>
          <a:xfrm>
            <a:off x="1389960" y="367596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50" b="0" strike="noStrike" spc="-1">
                <a:solidFill>
                  <a:srgbClr val="111827"/>
                </a:solidFill>
                <a:latin typeface="Arial"/>
                <a:ea typeface="Arial"/>
              </a:rPr>
              <a:t>Unidades Estratégicas Prestadoras de Servicios</a:t>
            </a:r>
            <a:endParaRPr lang="es-E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20"/>
          <p:cNvSpPr/>
          <p:nvPr/>
        </p:nvSpPr>
        <p:spPr>
          <a:xfrm>
            <a:off x="6355080" y="1408320"/>
            <a:ext cx="5074560" cy="443448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21"/>
          <p:cNvSpPr/>
          <p:nvPr/>
        </p:nvSpPr>
        <p:spPr>
          <a:xfrm>
            <a:off x="6355080" y="1408320"/>
            <a:ext cx="5074560" cy="511560"/>
          </a:xfrm>
          <a:prstGeom prst="rect">
            <a:avLst/>
          </a:prstGeom>
          <a:solidFill>
            <a:srgbClr val="142E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22"/>
          <p:cNvSpPr/>
          <p:nvPr/>
        </p:nvSpPr>
        <p:spPr>
          <a:xfrm>
            <a:off x="6647760" y="1572840"/>
            <a:ext cx="44802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100" b="1" strike="noStrike" spc="-1">
                <a:solidFill>
                  <a:srgbClr val="FFFFFF"/>
                </a:solidFill>
                <a:latin typeface="Arial"/>
                <a:ea typeface="Arial"/>
              </a:rPr>
              <a:t>Fase 2 · Estado actual</a:t>
            </a:r>
            <a:endParaRPr lang="es-E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23"/>
          <p:cNvSpPr/>
          <p:nvPr/>
        </p:nvSpPr>
        <p:spPr>
          <a:xfrm>
            <a:off x="6693480" y="2139840"/>
            <a:ext cx="2925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100" b="1" strike="noStrike" spc="-1">
                <a:solidFill>
                  <a:srgbClr val="1F7A8C"/>
                </a:solidFill>
                <a:latin typeface="Arial"/>
                <a:ea typeface="Arial"/>
              </a:rPr>
              <a:t>Análisis del entorno</a:t>
            </a:r>
            <a:endParaRPr lang="es-E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24"/>
          <p:cNvSpPr/>
          <p:nvPr/>
        </p:nvSpPr>
        <p:spPr>
          <a:xfrm>
            <a:off x="6766560" y="246888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100" b="0" strike="noStrike" spc="-1">
                <a:solidFill>
                  <a:srgbClr val="1F7A8C"/>
                </a:solidFill>
                <a:latin typeface="Arial"/>
                <a:ea typeface="Arial"/>
              </a:rPr>
              <a:t>•</a:t>
            </a:r>
            <a:endParaRPr lang="es-E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25"/>
          <p:cNvSpPr/>
          <p:nvPr/>
        </p:nvSpPr>
        <p:spPr>
          <a:xfrm>
            <a:off x="6995160" y="246888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80" b="0" strike="noStrike" spc="-1">
                <a:solidFill>
                  <a:srgbClr val="111827"/>
                </a:solidFill>
                <a:latin typeface="Arial"/>
                <a:ea typeface="Arial"/>
              </a:rPr>
              <a:t>Entorno general</a:t>
            </a:r>
            <a:endParaRPr lang="es-ES" sz="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26"/>
          <p:cNvSpPr/>
          <p:nvPr/>
        </p:nvSpPr>
        <p:spPr>
          <a:xfrm>
            <a:off x="6766560" y="274320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100" b="0" strike="noStrike" spc="-1">
                <a:solidFill>
                  <a:srgbClr val="1F7A8C"/>
                </a:solidFill>
                <a:latin typeface="Arial"/>
                <a:ea typeface="Arial"/>
              </a:rPr>
              <a:t>•</a:t>
            </a:r>
            <a:endParaRPr lang="es-E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27"/>
          <p:cNvSpPr/>
          <p:nvPr/>
        </p:nvSpPr>
        <p:spPr>
          <a:xfrm>
            <a:off x="6995160" y="274320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80" b="0" strike="noStrike" spc="-1">
                <a:solidFill>
                  <a:srgbClr val="111827"/>
                </a:solidFill>
                <a:latin typeface="Arial"/>
                <a:ea typeface="Arial"/>
              </a:rPr>
              <a:t>Entorno institucional - competitivo</a:t>
            </a:r>
            <a:endParaRPr lang="es-ES" sz="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28"/>
          <p:cNvSpPr/>
          <p:nvPr/>
        </p:nvSpPr>
        <p:spPr>
          <a:xfrm>
            <a:off x="6766560" y="301752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100" b="0" strike="noStrike" spc="-1">
                <a:solidFill>
                  <a:srgbClr val="1F7A8C"/>
                </a:solidFill>
                <a:latin typeface="Arial"/>
                <a:ea typeface="Arial"/>
              </a:rPr>
              <a:t>•</a:t>
            </a:r>
            <a:endParaRPr lang="es-E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29"/>
          <p:cNvSpPr/>
          <p:nvPr/>
        </p:nvSpPr>
        <p:spPr>
          <a:xfrm>
            <a:off x="6995160" y="301752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80" b="0" strike="noStrike" spc="-1">
                <a:solidFill>
                  <a:srgbClr val="111827"/>
                </a:solidFill>
                <a:latin typeface="Arial"/>
                <a:ea typeface="Arial"/>
              </a:rPr>
              <a:t>Posición institucional - competitiva</a:t>
            </a:r>
            <a:endParaRPr lang="es-ES" sz="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30"/>
          <p:cNvSpPr/>
          <p:nvPr/>
        </p:nvSpPr>
        <p:spPr>
          <a:xfrm>
            <a:off x="6693480" y="3520440"/>
            <a:ext cx="2925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100" b="1" strike="noStrike" spc="-1">
                <a:solidFill>
                  <a:srgbClr val="1F7A8C"/>
                </a:solidFill>
                <a:latin typeface="Arial"/>
                <a:ea typeface="Arial"/>
              </a:rPr>
              <a:t>Análisis interno</a:t>
            </a:r>
            <a:endParaRPr lang="es-E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31"/>
          <p:cNvSpPr/>
          <p:nvPr/>
        </p:nvSpPr>
        <p:spPr>
          <a:xfrm>
            <a:off x="6766560" y="385884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100" b="0" strike="noStrike" spc="-1">
                <a:solidFill>
                  <a:srgbClr val="1F7A8C"/>
                </a:solidFill>
                <a:latin typeface="Arial"/>
                <a:ea typeface="Arial"/>
              </a:rPr>
              <a:t>•</a:t>
            </a:r>
            <a:endParaRPr lang="es-E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32"/>
          <p:cNvSpPr/>
          <p:nvPr/>
        </p:nvSpPr>
        <p:spPr>
          <a:xfrm>
            <a:off x="6995160" y="385884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80" b="0" strike="noStrike" spc="-1">
                <a:solidFill>
                  <a:srgbClr val="111827"/>
                </a:solidFill>
                <a:latin typeface="Arial"/>
                <a:ea typeface="Arial"/>
              </a:rPr>
              <a:t>Recursos y capacidades</a:t>
            </a:r>
            <a:endParaRPr lang="es-ES" sz="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33"/>
          <p:cNvSpPr/>
          <p:nvPr/>
        </p:nvSpPr>
        <p:spPr>
          <a:xfrm>
            <a:off x="6766560" y="413316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100" b="0" strike="noStrike" spc="-1">
                <a:solidFill>
                  <a:srgbClr val="1F7A8C"/>
                </a:solidFill>
                <a:latin typeface="Arial"/>
                <a:ea typeface="Arial"/>
              </a:rPr>
              <a:t>•</a:t>
            </a:r>
            <a:endParaRPr lang="es-E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34"/>
          <p:cNvSpPr/>
          <p:nvPr/>
        </p:nvSpPr>
        <p:spPr>
          <a:xfrm>
            <a:off x="6995160" y="413316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80" b="0" strike="noStrike" spc="-1">
                <a:solidFill>
                  <a:srgbClr val="111827"/>
                </a:solidFill>
                <a:latin typeface="Arial"/>
                <a:ea typeface="Arial"/>
              </a:rPr>
              <a:t>Cadena de valor</a:t>
            </a:r>
            <a:endParaRPr lang="es-ES" sz="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35"/>
          <p:cNvSpPr/>
          <p:nvPr/>
        </p:nvSpPr>
        <p:spPr>
          <a:xfrm>
            <a:off x="6766560" y="440748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100" b="0" strike="noStrike" spc="-1">
                <a:solidFill>
                  <a:srgbClr val="1F7A8C"/>
                </a:solidFill>
                <a:latin typeface="Arial"/>
                <a:ea typeface="Arial"/>
              </a:rPr>
              <a:t>•</a:t>
            </a:r>
            <a:endParaRPr lang="es-E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36"/>
          <p:cNvSpPr/>
          <p:nvPr/>
        </p:nvSpPr>
        <p:spPr>
          <a:xfrm>
            <a:off x="6995160" y="440748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80" b="0" strike="noStrike" spc="-1">
                <a:solidFill>
                  <a:srgbClr val="111827"/>
                </a:solidFill>
                <a:latin typeface="Arial"/>
                <a:ea typeface="Arial"/>
              </a:rPr>
              <a:t>Competencias nucleares</a:t>
            </a:r>
            <a:endParaRPr lang="es-ES" sz="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37"/>
          <p:cNvSpPr/>
          <p:nvPr/>
        </p:nvSpPr>
        <p:spPr>
          <a:xfrm>
            <a:off x="6766560" y="4681800"/>
            <a:ext cx="182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100" b="0" strike="noStrike" spc="-1">
                <a:solidFill>
                  <a:srgbClr val="1F7A8C"/>
                </a:solidFill>
                <a:latin typeface="Arial"/>
                <a:ea typeface="Arial"/>
              </a:rPr>
              <a:t>•</a:t>
            </a:r>
            <a:endParaRPr lang="es-E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38"/>
          <p:cNvSpPr/>
          <p:nvPr/>
        </p:nvSpPr>
        <p:spPr>
          <a:xfrm>
            <a:off x="6995160" y="468180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80" b="0" strike="noStrike" spc="-1">
                <a:solidFill>
                  <a:srgbClr val="111827"/>
                </a:solidFill>
                <a:latin typeface="Arial"/>
                <a:ea typeface="Arial"/>
              </a:rPr>
              <a:t>Liderazgo intelectual</a:t>
            </a:r>
            <a:endParaRPr lang="es-ES" sz="8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39"/>
          <p:cNvSpPr/>
          <p:nvPr/>
        </p:nvSpPr>
        <p:spPr>
          <a:xfrm>
            <a:off x="502920" y="6446520"/>
            <a:ext cx="11109960" cy="360"/>
          </a:xfrm>
          <a:prstGeom prst="line">
            <a:avLst/>
          </a:prstGeom>
          <a:ln w="9525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40"/>
          <p:cNvSpPr/>
          <p:nvPr/>
        </p:nvSpPr>
        <p:spPr>
          <a:xfrm>
            <a:off x="502920" y="6510600"/>
            <a:ext cx="393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650" b="0" strike="noStrike" spc="-1">
                <a:solidFill>
                  <a:srgbClr val="5D6770"/>
                </a:solidFill>
                <a:latin typeface="Arial"/>
                <a:ea typeface="Arial"/>
              </a:rPr>
              <a:t>Análisis de la estrategia</a:t>
            </a:r>
            <a:endParaRPr lang="es-E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41"/>
          <p:cNvSpPr/>
          <p:nvPr/>
        </p:nvSpPr>
        <p:spPr>
          <a:xfrm>
            <a:off x="11109960" y="648324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42E45"/>
                </a:solidFill>
                <a:latin typeface="Arial"/>
                <a:ea typeface="Arial"/>
              </a:rPr>
              <a:t>10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AF5"/>
          </a:solidFill>
          <a:ln w="12700">
            <a:solidFill>
              <a:srgbClr val="FBFAF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2"/>
          <p:cNvSpPr/>
          <p:nvPr/>
        </p:nvSpPr>
        <p:spPr>
          <a:xfrm>
            <a:off x="-914400" y="5212080"/>
            <a:ext cx="201132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152400">
            <a:solidFill>
              <a:srgbClr val="EEF5EE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142E45"/>
          </a:solidFill>
          <a:ln w="12700">
            <a:solidFill>
              <a:srgbClr val="142E4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Shape 4"/>
          <p:cNvSpPr/>
          <p:nvPr/>
        </p:nvSpPr>
        <p:spPr>
          <a:xfrm>
            <a:off x="146160" y="0"/>
            <a:ext cx="36360" cy="6857640"/>
          </a:xfrm>
          <a:prstGeom prst="rect">
            <a:avLst/>
          </a:prstGeom>
          <a:solidFill>
            <a:srgbClr val="F2B70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5"/>
          <p:cNvSpPr/>
          <p:nvPr/>
        </p:nvSpPr>
        <p:spPr>
          <a:xfrm>
            <a:off x="502920" y="25596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F7A8C"/>
                </a:solidFill>
                <a:latin typeface="Arial"/>
                <a:ea typeface="Arial"/>
              </a:rPr>
              <a:t>JERARQUÍA ESTRATÉGICA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6"/>
          <p:cNvSpPr/>
          <p:nvPr/>
        </p:nvSpPr>
        <p:spPr>
          <a:xfrm>
            <a:off x="502920" y="50292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100" b="1" strike="noStrike" spc="-1">
                <a:solidFill>
                  <a:srgbClr val="142E45"/>
                </a:solidFill>
                <a:latin typeface="Arial"/>
                <a:ea typeface="Arial"/>
              </a:rPr>
              <a:t>De la visión a la acción</a:t>
            </a:r>
            <a:endParaRPr lang="es-E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7"/>
          <p:cNvSpPr/>
          <p:nvPr/>
        </p:nvSpPr>
        <p:spPr>
          <a:xfrm>
            <a:off x="502920" y="1042200"/>
            <a:ext cx="11109960" cy="360"/>
          </a:xfrm>
          <a:prstGeom prst="line">
            <a:avLst/>
          </a:prstGeom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8"/>
          <p:cNvSpPr/>
          <p:nvPr/>
        </p:nvSpPr>
        <p:spPr>
          <a:xfrm rot="10800000">
            <a:off x="1829160" y="1417320"/>
            <a:ext cx="8412120" cy="566640"/>
          </a:xfrm>
          <a:prstGeom prst="trapezoid">
            <a:avLst>
              <a:gd name="adj" fmla="val 25000"/>
            </a:avLst>
          </a:prstGeom>
          <a:solidFill>
            <a:srgbClr val="142E45"/>
          </a:solidFill>
          <a:ln w="13970">
            <a:solidFill>
              <a:srgbClr val="142E4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9"/>
          <p:cNvSpPr/>
          <p:nvPr/>
        </p:nvSpPr>
        <p:spPr>
          <a:xfrm>
            <a:off x="1920240" y="1545480"/>
            <a:ext cx="82292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1" strike="noStrike" spc="-1">
                <a:solidFill>
                  <a:srgbClr val="FFFFFF"/>
                </a:solidFill>
                <a:latin typeface="Arial"/>
                <a:ea typeface="Arial"/>
              </a:rPr>
              <a:t>VISIÓN</a:t>
            </a:r>
            <a:endParaRPr lang="es-E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10"/>
          <p:cNvSpPr/>
          <p:nvPr/>
        </p:nvSpPr>
        <p:spPr>
          <a:xfrm>
            <a:off x="1920240" y="1764720"/>
            <a:ext cx="82292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60" b="0" strike="noStrike" spc="-1">
                <a:solidFill>
                  <a:srgbClr val="D8E4E8"/>
                </a:solidFill>
                <a:latin typeface="Arial"/>
                <a:ea typeface="Arial"/>
              </a:rPr>
              <a:t>Qué queremos ser</a:t>
            </a:r>
            <a:endParaRPr lang="es-ES" sz="76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11"/>
          <p:cNvSpPr/>
          <p:nvPr/>
        </p:nvSpPr>
        <p:spPr>
          <a:xfrm rot="10800000">
            <a:off x="2446560" y="2167200"/>
            <a:ext cx="7177680" cy="566640"/>
          </a:xfrm>
          <a:prstGeom prst="trapezoid">
            <a:avLst>
              <a:gd name="adj" fmla="val 25000"/>
            </a:avLst>
          </a:prstGeom>
          <a:solidFill>
            <a:srgbClr val="FFFFFF"/>
          </a:solidFill>
          <a:ln w="13970">
            <a:solidFill>
              <a:srgbClr val="1F7A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12"/>
          <p:cNvSpPr/>
          <p:nvPr/>
        </p:nvSpPr>
        <p:spPr>
          <a:xfrm>
            <a:off x="2537640" y="2295000"/>
            <a:ext cx="6994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1" strike="noStrike" spc="-1">
                <a:solidFill>
                  <a:srgbClr val="142E45"/>
                </a:solidFill>
                <a:latin typeface="Arial"/>
                <a:ea typeface="Arial"/>
              </a:rPr>
              <a:t>MISIÓN</a:t>
            </a:r>
            <a:endParaRPr lang="es-E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13"/>
          <p:cNvSpPr/>
          <p:nvPr/>
        </p:nvSpPr>
        <p:spPr>
          <a:xfrm>
            <a:off x="2537640" y="2514600"/>
            <a:ext cx="699480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60" b="0" strike="noStrike" spc="-1">
                <a:solidFill>
                  <a:srgbClr val="5D6770"/>
                </a:solidFill>
                <a:latin typeface="Arial"/>
                <a:ea typeface="Arial"/>
              </a:rPr>
              <a:t>Por qué existimos</a:t>
            </a:r>
            <a:endParaRPr lang="es-ES" sz="76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14"/>
          <p:cNvSpPr/>
          <p:nvPr/>
        </p:nvSpPr>
        <p:spPr>
          <a:xfrm rot="10800000">
            <a:off x="3063600" y="2916720"/>
            <a:ext cx="5943240" cy="566640"/>
          </a:xfrm>
          <a:prstGeom prst="trapezoid">
            <a:avLst>
              <a:gd name="adj" fmla="val 25000"/>
            </a:avLst>
          </a:prstGeom>
          <a:solidFill>
            <a:srgbClr val="FFFFFF"/>
          </a:solidFill>
          <a:ln w="13970">
            <a:solidFill>
              <a:srgbClr val="76A8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15"/>
          <p:cNvSpPr/>
          <p:nvPr/>
        </p:nvSpPr>
        <p:spPr>
          <a:xfrm>
            <a:off x="3154680" y="3044880"/>
            <a:ext cx="5760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1" strike="noStrike" spc="-1">
                <a:solidFill>
                  <a:srgbClr val="142E45"/>
                </a:solidFill>
                <a:latin typeface="Arial"/>
                <a:ea typeface="Arial"/>
              </a:rPr>
              <a:t>VALORES</a:t>
            </a:r>
            <a:endParaRPr lang="es-E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16"/>
          <p:cNvSpPr/>
          <p:nvPr/>
        </p:nvSpPr>
        <p:spPr>
          <a:xfrm>
            <a:off x="3154680" y="3264480"/>
            <a:ext cx="576036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60" b="0" strike="noStrike" spc="-1">
                <a:solidFill>
                  <a:srgbClr val="5D6770"/>
                </a:solidFill>
                <a:latin typeface="Arial"/>
                <a:ea typeface="Arial"/>
              </a:rPr>
              <a:t>En qué creemos</a:t>
            </a:r>
            <a:endParaRPr lang="es-ES" sz="76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17"/>
          <p:cNvSpPr/>
          <p:nvPr/>
        </p:nvSpPr>
        <p:spPr>
          <a:xfrm rot="10800000">
            <a:off x="3681000" y="3666960"/>
            <a:ext cx="4708800" cy="566640"/>
          </a:xfrm>
          <a:prstGeom prst="trapezoid">
            <a:avLst>
              <a:gd name="adj" fmla="val 25000"/>
            </a:avLst>
          </a:prstGeom>
          <a:solidFill>
            <a:srgbClr val="FFFFFF"/>
          </a:solidFill>
          <a:ln w="13970">
            <a:solidFill>
              <a:srgbClr val="F2B7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18"/>
          <p:cNvSpPr/>
          <p:nvPr/>
        </p:nvSpPr>
        <p:spPr>
          <a:xfrm>
            <a:off x="3772080" y="3794760"/>
            <a:ext cx="45259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1" strike="noStrike" spc="-1">
                <a:solidFill>
                  <a:srgbClr val="142E45"/>
                </a:solidFill>
                <a:latin typeface="Arial"/>
                <a:ea typeface="Arial"/>
              </a:rPr>
              <a:t>OBJETIVOS ESTRATÉGICOS</a:t>
            </a:r>
            <a:endParaRPr lang="es-E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19"/>
          <p:cNvSpPr/>
          <p:nvPr/>
        </p:nvSpPr>
        <p:spPr>
          <a:xfrm>
            <a:off x="3772080" y="4014360"/>
            <a:ext cx="45259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60" b="0" strike="noStrike" spc="-1">
                <a:solidFill>
                  <a:srgbClr val="5D6770"/>
                </a:solidFill>
                <a:latin typeface="Arial"/>
                <a:ea typeface="Arial"/>
              </a:rPr>
              <a:t>Qué debemos hacer</a:t>
            </a:r>
            <a:endParaRPr lang="es-ES" sz="76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20"/>
          <p:cNvSpPr/>
          <p:nvPr/>
        </p:nvSpPr>
        <p:spPr>
          <a:xfrm rot="10800000">
            <a:off x="4298040" y="4416840"/>
            <a:ext cx="3474360" cy="566640"/>
          </a:xfrm>
          <a:prstGeom prst="trapezoid">
            <a:avLst>
              <a:gd name="adj" fmla="val 25000"/>
            </a:avLst>
          </a:prstGeom>
          <a:solidFill>
            <a:srgbClr val="FFFFFF"/>
          </a:solidFill>
          <a:ln w="13970">
            <a:solidFill>
              <a:srgbClr val="5D67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21"/>
          <p:cNvSpPr/>
          <p:nvPr/>
        </p:nvSpPr>
        <p:spPr>
          <a:xfrm>
            <a:off x="4389120" y="4544640"/>
            <a:ext cx="32914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1" strike="noStrike" spc="-1">
                <a:solidFill>
                  <a:srgbClr val="142E45"/>
                </a:solidFill>
                <a:latin typeface="Arial"/>
                <a:ea typeface="Arial"/>
              </a:rPr>
              <a:t>OBJETIVOS Y METAS</a:t>
            </a:r>
            <a:endParaRPr lang="es-E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22"/>
          <p:cNvSpPr/>
          <p:nvPr/>
        </p:nvSpPr>
        <p:spPr>
          <a:xfrm>
            <a:off x="4389120" y="4763880"/>
            <a:ext cx="32914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60" b="0" strike="noStrike" spc="-1">
                <a:solidFill>
                  <a:srgbClr val="5D6770"/>
                </a:solidFill>
                <a:latin typeface="Arial"/>
                <a:ea typeface="Arial"/>
              </a:rPr>
              <a:t>Qué pasos debemos dar</a:t>
            </a:r>
            <a:endParaRPr lang="es-ES" sz="76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24"/>
          <p:cNvSpPr/>
          <p:nvPr/>
        </p:nvSpPr>
        <p:spPr>
          <a:xfrm>
            <a:off x="1828800" y="5961960"/>
            <a:ext cx="84121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250" b="1" strike="noStrike" spc="-1">
                <a:solidFill>
                  <a:srgbClr val="142E45"/>
                </a:solidFill>
                <a:latin typeface="Arial"/>
                <a:ea typeface="Arial"/>
              </a:rPr>
              <a:t>La estrategia traduce ideas generales en decisiones concretas.</a:t>
            </a:r>
            <a:endParaRPr lang="es-E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25"/>
          <p:cNvSpPr/>
          <p:nvPr/>
        </p:nvSpPr>
        <p:spPr>
          <a:xfrm>
            <a:off x="502920" y="6446520"/>
            <a:ext cx="11109960" cy="360"/>
          </a:xfrm>
          <a:prstGeom prst="line">
            <a:avLst/>
          </a:prstGeom>
          <a:ln w="9525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26"/>
          <p:cNvSpPr/>
          <p:nvPr/>
        </p:nvSpPr>
        <p:spPr>
          <a:xfrm>
            <a:off x="502920" y="6510600"/>
            <a:ext cx="393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650" b="0" strike="noStrike" spc="-1">
                <a:solidFill>
                  <a:srgbClr val="5D6770"/>
                </a:solidFill>
                <a:latin typeface="Arial"/>
                <a:ea typeface="Arial"/>
              </a:rPr>
              <a:t>Visión, misión y objetivos</a:t>
            </a:r>
            <a:endParaRPr lang="es-E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27"/>
          <p:cNvSpPr/>
          <p:nvPr/>
        </p:nvSpPr>
        <p:spPr>
          <a:xfrm>
            <a:off x="11109960" y="648324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42E45"/>
                </a:solidFill>
                <a:latin typeface="Arial"/>
                <a:ea typeface="Arial"/>
              </a:rPr>
              <a:t>11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AF5"/>
          </a:solidFill>
          <a:ln w="12700">
            <a:solidFill>
              <a:srgbClr val="FBFAF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2"/>
          <p:cNvSpPr/>
          <p:nvPr/>
        </p:nvSpPr>
        <p:spPr>
          <a:xfrm>
            <a:off x="-914400" y="5212080"/>
            <a:ext cx="201132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152400">
            <a:solidFill>
              <a:srgbClr val="EEF5EE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142E45"/>
          </a:solidFill>
          <a:ln w="12700">
            <a:solidFill>
              <a:srgbClr val="142E4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Shape 4"/>
          <p:cNvSpPr/>
          <p:nvPr/>
        </p:nvSpPr>
        <p:spPr>
          <a:xfrm>
            <a:off x="146160" y="0"/>
            <a:ext cx="36360" cy="6857640"/>
          </a:xfrm>
          <a:prstGeom prst="rect">
            <a:avLst/>
          </a:prstGeom>
          <a:solidFill>
            <a:srgbClr val="F2B70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5"/>
          <p:cNvSpPr/>
          <p:nvPr/>
        </p:nvSpPr>
        <p:spPr>
          <a:xfrm>
            <a:off x="502920" y="25596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F7A8C"/>
                </a:solidFill>
                <a:latin typeface="Arial"/>
                <a:ea typeface="Arial"/>
              </a:rPr>
              <a:t>IDENTIDAD INSTITUCIONAL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6"/>
          <p:cNvSpPr/>
          <p:nvPr/>
        </p:nvSpPr>
        <p:spPr>
          <a:xfrm>
            <a:off x="502920" y="50292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100" b="1" strike="noStrike" spc="-1">
                <a:solidFill>
                  <a:srgbClr val="142E45"/>
                </a:solidFill>
                <a:latin typeface="Arial"/>
                <a:ea typeface="Arial"/>
              </a:rPr>
              <a:t>Conducta de la organización</a:t>
            </a:r>
            <a:endParaRPr lang="es-E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7"/>
          <p:cNvSpPr/>
          <p:nvPr/>
        </p:nvSpPr>
        <p:spPr>
          <a:xfrm>
            <a:off x="502920" y="1042200"/>
            <a:ext cx="11109960" cy="360"/>
          </a:xfrm>
          <a:prstGeom prst="line">
            <a:avLst/>
          </a:prstGeom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8"/>
          <p:cNvSpPr/>
          <p:nvPr/>
        </p:nvSpPr>
        <p:spPr>
          <a:xfrm>
            <a:off x="4160520" y="1417320"/>
            <a:ext cx="3885840" cy="594000"/>
          </a:xfrm>
          <a:prstGeom prst="roundRect">
            <a:avLst>
              <a:gd name="adj" fmla="val 12308"/>
            </a:avLst>
          </a:prstGeom>
          <a:solidFill>
            <a:srgbClr val="142E4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9"/>
          <p:cNvSpPr/>
          <p:nvPr/>
        </p:nvSpPr>
        <p:spPr>
          <a:xfrm>
            <a:off x="4343400" y="1627560"/>
            <a:ext cx="35200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100" b="1" strike="noStrike" spc="-1">
                <a:solidFill>
                  <a:srgbClr val="FFFFFF"/>
                </a:solidFill>
                <a:latin typeface="Arial"/>
                <a:ea typeface="Arial"/>
              </a:rPr>
              <a:t>Conducta de la Organización</a:t>
            </a:r>
            <a:endParaRPr lang="es-E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10"/>
          <p:cNvSpPr/>
          <p:nvPr/>
        </p:nvSpPr>
        <p:spPr>
          <a:xfrm>
            <a:off x="5833800" y="2139840"/>
            <a:ext cx="475200" cy="5666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F7A8C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Shape 11"/>
          <p:cNvSpPr/>
          <p:nvPr/>
        </p:nvSpPr>
        <p:spPr>
          <a:xfrm>
            <a:off x="4864680" y="2816280"/>
            <a:ext cx="2468520" cy="91404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1F7A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12"/>
          <p:cNvSpPr/>
          <p:nvPr/>
        </p:nvSpPr>
        <p:spPr>
          <a:xfrm>
            <a:off x="5139000" y="3136320"/>
            <a:ext cx="19198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50" b="1" strike="noStrike" spc="-1">
                <a:solidFill>
                  <a:srgbClr val="142E45"/>
                </a:solidFill>
                <a:latin typeface="Arial"/>
                <a:ea typeface="Arial"/>
              </a:rPr>
              <a:t>¿En Qué Creemos?</a:t>
            </a:r>
            <a:endParaRPr lang="es-E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13"/>
          <p:cNvSpPr/>
          <p:nvPr/>
        </p:nvSpPr>
        <p:spPr>
          <a:xfrm>
            <a:off x="5833800" y="3803760"/>
            <a:ext cx="475200" cy="5666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2B70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14"/>
          <p:cNvSpPr/>
          <p:nvPr/>
        </p:nvSpPr>
        <p:spPr>
          <a:xfrm>
            <a:off x="2240280" y="4663440"/>
            <a:ext cx="1206720" cy="12067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7A8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15"/>
          <p:cNvSpPr/>
          <p:nvPr/>
        </p:nvSpPr>
        <p:spPr>
          <a:xfrm>
            <a:off x="2075760" y="5111640"/>
            <a:ext cx="15357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1" strike="noStrike" spc="-1">
                <a:solidFill>
                  <a:srgbClr val="142E45"/>
                </a:solidFill>
                <a:latin typeface="Arial"/>
                <a:ea typeface="Arial"/>
              </a:rPr>
              <a:t>Valores</a:t>
            </a:r>
            <a:endParaRPr lang="es-E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16"/>
          <p:cNvSpPr/>
          <p:nvPr/>
        </p:nvSpPr>
        <p:spPr>
          <a:xfrm>
            <a:off x="5440680" y="4663440"/>
            <a:ext cx="1206720" cy="12067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B7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17"/>
          <p:cNvSpPr/>
          <p:nvPr/>
        </p:nvSpPr>
        <p:spPr>
          <a:xfrm>
            <a:off x="5276160" y="5111640"/>
            <a:ext cx="15357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1" strike="noStrike" spc="-1">
                <a:solidFill>
                  <a:srgbClr val="142E45"/>
                </a:solidFill>
                <a:latin typeface="Arial"/>
                <a:ea typeface="Arial"/>
              </a:rPr>
              <a:t>Filosofía</a:t>
            </a:r>
            <a:endParaRPr lang="es-E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18"/>
          <p:cNvSpPr/>
          <p:nvPr/>
        </p:nvSpPr>
        <p:spPr>
          <a:xfrm>
            <a:off x="8641080" y="4663440"/>
            <a:ext cx="1206720" cy="12067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6A8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19"/>
          <p:cNvSpPr/>
          <p:nvPr/>
        </p:nvSpPr>
        <p:spPr>
          <a:xfrm>
            <a:off x="8476560" y="5111640"/>
            <a:ext cx="15357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1" strike="noStrike" spc="-1">
                <a:solidFill>
                  <a:srgbClr val="142E45"/>
                </a:solidFill>
                <a:latin typeface="Arial"/>
                <a:ea typeface="Arial"/>
              </a:rPr>
              <a:t>Identidad</a:t>
            </a:r>
            <a:endParaRPr lang="es-E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20"/>
          <p:cNvSpPr/>
          <p:nvPr/>
        </p:nvSpPr>
        <p:spPr>
          <a:xfrm>
            <a:off x="3675600" y="4462200"/>
            <a:ext cx="4846320" cy="360"/>
          </a:xfrm>
          <a:prstGeom prst="line">
            <a:avLst/>
          </a:prstGeom>
          <a:ln w="254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21"/>
          <p:cNvSpPr/>
          <p:nvPr/>
        </p:nvSpPr>
        <p:spPr>
          <a:xfrm>
            <a:off x="2834640" y="4462200"/>
            <a:ext cx="360" cy="201240"/>
          </a:xfrm>
          <a:prstGeom prst="line">
            <a:avLst/>
          </a:prstGeom>
          <a:ln w="254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22"/>
          <p:cNvSpPr/>
          <p:nvPr/>
        </p:nvSpPr>
        <p:spPr>
          <a:xfrm>
            <a:off x="6035040" y="4462200"/>
            <a:ext cx="360" cy="201240"/>
          </a:xfrm>
          <a:prstGeom prst="line">
            <a:avLst/>
          </a:prstGeom>
          <a:ln w="254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23"/>
          <p:cNvSpPr/>
          <p:nvPr/>
        </p:nvSpPr>
        <p:spPr>
          <a:xfrm>
            <a:off x="9235440" y="4462200"/>
            <a:ext cx="360" cy="201240"/>
          </a:xfrm>
          <a:prstGeom prst="line">
            <a:avLst/>
          </a:prstGeom>
          <a:ln w="254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24"/>
          <p:cNvSpPr/>
          <p:nvPr/>
        </p:nvSpPr>
        <p:spPr>
          <a:xfrm>
            <a:off x="502920" y="6446520"/>
            <a:ext cx="11109960" cy="360"/>
          </a:xfrm>
          <a:prstGeom prst="line">
            <a:avLst/>
          </a:prstGeom>
          <a:ln w="9525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25"/>
          <p:cNvSpPr/>
          <p:nvPr/>
        </p:nvSpPr>
        <p:spPr>
          <a:xfrm>
            <a:off x="502920" y="6510600"/>
            <a:ext cx="393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650" b="0" strike="noStrike" spc="-1">
                <a:solidFill>
                  <a:srgbClr val="5D6770"/>
                </a:solidFill>
                <a:latin typeface="Arial"/>
                <a:ea typeface="Arial"/>
              </a:rPr>
              <a:t>Cultura organizacional</a:t>
            </a:r>
            <a:endParaRPr lang="es-E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26"/>
          <p:cNvSpPr/>
          <p:nvPr/>
        </p:nvSpPr>
        <p:spPr>
          <a:xfrm>
            <a:off x="11109960" y="648324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42E45"/>
                </a:solidFill>
                <a:latin typeface="Arial"/>
                <a:ea typeface="Arial"/>
              </a:rPr>
              <a:t>12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AF5"/>
          </a:solidFill>
          <a:ln w="12700">
            <a:solidFill>
              <a:srgbClr val="FBFAF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2"/>
          <p:cNvSpPr/>
          <p:nvPr/>
        </p:nvSpPr>
        <p:spPr>
          <a:xfrm>
            <a:off x="-914400" y="5212080"/>
            <a:ext cx="201132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152400">
            <a:solidFill>
              <a:srgbClr val="EEF5EE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3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2E45"/>
          </a:solidFill>
          <a:ln w="12700">
            <a:solidFill>
              <a:srgbClr val="142E4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Shape 4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F2B70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5"/>
          <p:cNvSpPr/>
          <p:nvPr/>
        </p:nvSpPr>
        <p:spPr>
          <a:xfrm>
            <a:off x="91440" y="411480"/>
            <a:ext cx="3840120" cy="3840120"/>
          </a:xfrm>
          <a:prstGeom prst="arc">
            <a:avLst>
              <a:gd name="adj1" fmla="val 16200000"/>
              <a:gd name="adj2" fmla="val 0"/>
            </a:avLst>
          </a:prstGeom>
          <a:noFill/>
          <a:ln w="228600">
            <a:solidFill>
              <a:srgbClr val="1F7A8C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6"/>
          <p:cNvSpPr/>
          <p:nvPr/>
        </p:nvSpPr>
        <p:spPr>
          <a:xfrm>
            <a:off x="-1664280" y="4800600"/>
            <a:ext cx="3474360" cy="3474360"/>
          </a:xfrm>
          <a:prstGeom prst="arc">
            <a:avLst>
              <a:gd name="adj1" fmla="val 16200000"/>
              <a:gd name="adj2" fmla="val 0"/>
            </a:avLst>
          </a:prstGeom>
          <a:noFill/>
          <a:ln w="152400">
            <a:solidFill>
              <a:srgbClr val="F2B705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7"/>
          <p:cNvSpPr/>
          <p:nvPr/>
        </p:nvSpPr>
        <p:spPr>
          <a:xfrm>
            <a:off x="658440" y="96012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1" strike="noStrike" spc="-1">
                <a:solidFill>
                  <a:srgbClr val="F2B705"/>
                </a:solidFill>
                <a:latin typeface="Arial"/>
                <a:ea typeface="Arial"/>
              </a:rPr>
              <a:t>Fase 3</a:t>
            </a:r>
            <a:endParaRPr lang="es-E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8"/>
          <p:cNvSpPr/>
          <p:nvPr/>
        </p:nvSpPr>
        <p:spPr>
          <a:xfrm>
            <a:off x="658440" y="1389960"/>
            <a:ext cx="64004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62222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3100" b="1" strike="noStrike" spc="-1">
                <a:solidFill>
                  <a:srgbClr val="FFFFFF"/>
                </a:solidFill>
                <a:latin typeface="Arial"/>
                <a:ea typeface="Arial"/>
              </a:rPr>
              <a:t>Diagnóstico</a:t>
            </a:r>
            <a:endParaRPr lang="es-ES" sz="31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3100" b="1" strike="noStrike" spc="-1">
                <a:solidFill>
                  <a:srgbClr val="FFFFFF"/>
                </a:solidFill>
                <a:latin typeface="Arial"/>
                <a:ea typeface="Arial"/>
              </a:rPr>
              <a:t>estratégico</a:t>
            </a:r>
            <a:endParaRPr lang="es-ES" sz="3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9"/>
          <p:cNvSpPr/>
          <p:nvPr/>
        </p:nvSpPr>
        <p:spPr>
          <a:xfrm>
            <a:off x="658080" y="2331720"/>
            <a:ext cx="2103120" cy="360"/>
          </a:xfrm>
          <a:prstGeom prst="line">
            <a:avLst/>
          </a:prstGeom>
          <a:ln w="38100">
            <a:solidFill>
              <a:srgbClr val="F2B7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10"/>
          <p:cNvSpPr/>
          <p:nvPr/>
        </p:nvSpPr>
        <p:spPr>
          <a:xfrm>
            <a:off x="713160" y="2853000"/>
            <a:ext cx="255600" cy="2556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11"/>
          <p:cNvSpPr/>
          <p:nvPr/>
        </p:nvSpPr>
        <p:spPr>
          <a:xfrm>
            <a:off x="713160" y="2912400"/>
            <a:ext cx="255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12"/>
          <p:cNvSpPr/>
          <p:nvPr/>
        </p:nvSpPr>
        <p:spPr>
          <a:xfrm>
            <a:off x="1115640" y="2834640"/>
            <a:ext cx="5486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300" b="0" strike="noStrike" spc="-1">
                <a:solidFill>
                  <a:srgbClr val="E8F1F3"/>
                </a:solidFill>
                <a:latin typeface="Arial"/>
                <a:ea typeface="Arial"/>
              </a:rPr>
              <a:t>Análisis FODA</a:t>
            </a:r>
            <a:endParaRPr lang="es-E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13"/>
          <p:cNvSpPr/>
          <p:nvPr/>
        </p:nvSpPr>
        <p:spPr>
          <a:xfrm>
            <a:off x="713160" y="3374280"/>
            <a:ext cx="255600" cy="25560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14"/>
          <p:cNvSpPr/>
          <p:nvPr/>
        </p:nvSpPr>
        <p:spPr>
          <a:xfrm>
            <a:off x="713160" y="3433680"/>
            <a:ext cx="255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15"/>
          <p:cNvSpPr/>
          <p:nvPr/>
        </p:nvSpPr>
        <p:spPr>
          <a:xfrm>
            <a:off x="1115640" y="3355920"/>
            <a:ext cx="5486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300" b="0" strike="noStrike" spc="-1">
                <a:solidFill>
                  <a:srgbClr val="E8F1F3"/>
                </a:solidFill>
                <a:latin typeface="Arial"/>
                <a:ea typeface="Arial"/>
              </a:rPr>
              <a:t>Análisis CAME</a:t>
            </a:r>
            <a:endParaRPr lang="es-E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16"/>
          <p:cNvSpPr/>
          <p:nvPr/>
        </p:nvSpPr>
        <p:spPr>
          <a:xfrm>
            <a:off x="10561320" y="5989320"/>
            <a:ext cx="776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1" strike="noStrike" spc="-1">
                <a:solidFill>
                  <a:srgbClr val="BFD1D6"/>
                </a:solidFill>
                <a:latin typeface="Arial"/>
                <a:ea typeface="Arial"/>
              </a:rPr>
              <a:t>13</a:t>
            </a:r>
            <a:endParaRPr lang="es-E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AF5"/>
          </a:solidFill>
          <a:ln w="12700">
            <a:solidFill>
              <a:srgbClr val="FBFAF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2"/>
          <p:cNvSpPr/>
          <p:nvPr/>
        </p:nvSpPr>
        <p:spPr>
          <a:xfrm>
            <a:off x="-914400" y="5212080"/>
            <a:ext cx="201132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152400">
            <a:solidFill>
              <a:srgbClr val="EEF5EE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142E45"/>
          </a:solidFill>
          <a:ln w="12700">
            <a:solidFill>
              <a:srgbClr val="142E4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Shape 4"/>
          <p:cNvSpPr/>
          <p:nvPr/>
        </p:nvSpPr>
        <p:spPr>
          <a:xfrm>
            <a:off x="146160" y="0"/>
            <a:ext cx="36360" cy="6857640"/>
          </a:xfrm>
          <a:prstGeom prst="rect">
            <a:avLst/>
          </a:prstGeom>
          <a:solidFill>
            <a:srgbClr val="F2B70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5"/>
          <p:cNvSpPr/>
          <p:nvPr/>
        </p:nvSpPr>
        <p:spPr>
          <a:xfrm>
            <a:off x="502920" y="25596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F7A8C"/>
                </a:solidFill>
                <a:latin typeface="Arial"/>
                <a:ea typeface="Arial"/>
              </a:rPr>
              <a:t>ANÁLISIS Y LECTURA DEL CONTEXTO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6"/>
          <p:cNvSpPr/>
          <p:nvPr/>
        </p:nvSpPr>
        <p:spPr>
          <a:xfrm>
            <a:off x="502920" y="50292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100" b="1" strike="noStrike" spc="-1">
                <a:solidFill>
                  <a:srgbClr val="142E45"/>
                </a:solidFill>
                <a:latin typeface="Arial"/>
                <a:ea typeface="Arial"/>
              </a:rPr>
              <a:t>Diagnóstico estratégico</a:t>
            </a:r>
            <a:endParaRPr lang="es-E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7"/>
          <p:cNvSpPr/>
          <p:nvPr/>
        </p:nvSpPr>
        <p:spPr>
          <a:xfrm>
            <a:off x="502920" y="1042200"/>
            <a:ext cx="11109960" cy="360"/>
          </a:xfrm>
          <a:prstGeom prst="line">
            <a:avLst/>
          </a:prstGeom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8"/>
          <p:cNvSpPr/>
          <p:nvPr/>
        </p:nvSpPr>
        <p:spPr>
          <a:xfrm>
            <a:off x="3154680" y="1325880"/>
            <a:ext cx="5897520" cy="443448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6" name="Image 0" descr="/mnt/data/planestrat_assets/1000000100000113000000B7FAE3E61A.png"/>
          <p:cNvPicPr/>
          <p:nvPr/>
        </p:nvPicPr>
        <p:blipFill>
          <a:blip r:embed="rId3"/>
          <a:stretch/>
        </p:blipFill>
        <p:spPr>
          <a:xfrm>
            <a:off x="3154680" y="1580760"/>
            <a:ext cx="5897520" cy="3924360"/>
          </a:xfrm>
          <a:prstGeom prst="rect">
            <a:avLst/>
          </a:prstGeom>
          <a:ln w="0">
            <a:noFill/>
          </a:ln>
        </p:spPr>
      </p:pic>
      <p:sp>
        <p:nvSpPr>
          <p:cNvPr id="337" name="Shape 9"/>
          <p:cNvSpPr/>
          <p:nvPr/>
        </p:nvSpPr>
        <p:spPr>
          <a:xfrm>
            <a:off x="502920" y="6446520"/>
            <a:ext cx="11109960" cy="360"/>
          </a:xfrm>
          <a:prstGeom prst="line">
            <a:avLst/>
          </a:prstGeom>
          <a:ln w="9525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10"/>
          <p:cNvSpPr/>
          <p:nvPr/>
        </p:nvSpPr>
        <p:spPr>
          <a:xfrm>
            <a:off x="502920" y="6510600"/>
            <a:ext cx="393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650" b="0" strike="noStrike" spc="-1">
                <a:solidFill>
                  <a:srgbClr val="5D6770"/>
                </a:solidFill>
                <a:latin typeface="Arial"/>
                <a:ea typeface="Arial"/>
              </a:rPr>
              <a:t>Diagnóstico estratégico</a:t>
            </a:r>
            <a:endParaRPr lang="es-E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11"/>
          <p:cNvSpPr/>
          <p:nvPr/>
        </p:nvSpPr>
        <p:spPr>
          <a:xfrm>
            <a:off x="11109960" y="648324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42E45"/>
                </a:solidFill>
                <a:latin typeface="Arial"/>
                <a:ea typeface="Arial"/>
              </a:rPr>
              <a:t>14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AF5"/>
          </a:solidFill>
          <a:ln w="12700">
            <a:solidFill>
              <a:srgbClr val="FBFAF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2"/>
          <p:cNvSpPr/>
          <p:nvPr/>
        </p:nvSpPr>
        <p:spPr>
          <a:xfrm>
            <a:off x="-914400" y="5212080"/>
            <a:ext cx="201132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152400">
            <a:solidFill>
              <a:srgbClr val="EEF5EE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142E45"/>
          </a:solidFill>
          <a:ln w="12700">
            <a:solidFill>
              <a:srgbClr val="142E4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Shape 4"/>
          <p:cNvSpPr/>
          <p:nvPr/>
        </p:nvSpPr>
        <p:spPr>
          <a:xfrm>
            <a:off x="146160" y="0"/>
            <a:ext cx="36360" cy="6857640"/>
          </a:xfrm>
          <a:prstGeom prst="rect">
            <a:avLst/>
          </a:prstGeom>
          <a:solidFill>
            <a:srgbClr val="F2B70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5"/>
          <p:cNvSpPr/>
          <p:nvPr/>
        </p:nvSpPr>
        <p:spPr>
          <a:xfrm>
            <a:off x="502920" y="25596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F7A8C"/>
                </a:solidFill>
                <a:latin typeface="Arial"/>
                <a:ea typeface="Arial"/>
              </a:rPr>
              <a:t>FORTALEZAS · OPORTUNIDADES · DEBILIDADES · AMENAZAS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6"/>
          <p:cNvSpPr/>
          <p:nvPr/>
        </p:nvSpPr>
        <p:spPr>
          <a:xfrm>
            <a:off x="502920" y="50292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100" b="1" strike="noStrike" spc="-1">
                <a:solidFill>
                  <a:srgbClr val="142E45"/>
                </a:solidFill>
                <a:latin typeface="Arial"/>
                <a:ea typeface="Arial"/>
              </a:rPr>
              <a:t>Análisis FODA</a:t>
            </a:r>
            <a:endParaRPr lang="es-E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7"/>
          <p:cNvSpPr/>
          <p:nvPr/>
        </p:nvSpPr>
        <p:spPr>
          <a:xfrm>
            <a:off x="502920" y="1042200"/>
            <a:ext cx="11109960" cy="360"/>
          </a:xfrm>
          <a:prstGeom prst="line">
            <a:avLst/>
          </a:prstGeom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8"/>
          <p:cNvSpPr/>
          <p:nvPr/>
        </p:nvSpPr>
        <p:spPr>
          <a:xfrm>
            <a:off x="3383280" y="1188720"/>
            <a:ext cx="5348880" cy="466308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8" name="Image 0" descr="/mnt/data/planestrat_assets/10000001000001F4000001F4C75AA80A.png"/>
          <p:cNvPicPr/>
          <p:nvPr/>
        </p:nvPicPr>
        <p:blipFill>
          <a:blip r:embed="rId3"/>
          <a:stretch/>
        </p:blipFill>
        <p:spPr>
          <a:xfrm>
            <a:off x="3726360" y="1188720"/>
            <a:ext cx="4663080" cy="4663080"/>
          </a:xfrm>
          <a:prstGeom prst="rect">
            <a:avLst/>
          </a:prstGeom>
          <a:ln w="0">
            <a:noFill/>
          </a:ln>
        </p:spPr>
      </p:pic>
      <p:sp>
        <p:nvSpPr>
          <p:cNvPr id="349" name="Shape 9"/>
          <p:cNvSpPr/>
          <p:nvPr/>
        </p:nvSpPr>
        <p:spPr>
          <a:xfrm>
            <a:off x="502920" y="6446520"/>
            <a:ext cx="11109960" cy="360"/>
          </a:xfrm>
          <a:prstGeom prst="line">
            <a:avLst/>
          </a:prstGeom>
          <a:ln w="9525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10"/>
          <p:cNvSpPr/>
          <p:nvPr/>
        </p:nvSpPr>
        <p:spPr>
          <a:xfrm>
            <a:off x="502920" y="6510600"/>
            <a:ext cx="393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650" b="0" strike="noStrike" spc="-1">
                <a:solidFill>
                  <a:srgbClr val="5D6770"/>
                </a:solidFill>
                <a:latin typeface="Arial"/>
                <a:ea typeface="Arial"/>
              </a:rPr>
              <a:t>Diagnóstico estratégico</a:t>
            </a:r>
            <a:endParaRPr lang="es-E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11"/>
          <p:cNvSpPr/>
          <p:nvPr/>
        </p:nvSpPr>
        <p:spPr>
          <a:xfrm>
            <a:off x="11109960" y="648324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42E45"/>
                </a:solidFill>
                <a:latin typeface="Arial"/>
                <a:ea typeface="Arial"/>
              </a:rPr>
              <a:t>15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AF5"/>
          </a:solidFill>
          <a:ln w="12700">
            <a:solidFill>
              <a:srgbClr val="FBFAF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2"/>
          <p:cNvSpPr/>
          <p:nvPr/>
        </p:nvSpPr>
        <p:spPr>
          <a:xfrm>
            <a:off x="-914400" y="5212080"/>
            <a:ext cx="201132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152400">
            <a:solidFill>
              <a:srgbClr val="EEF5EE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142E45"/>
          </a:solidFill>
          <a:ln w="12700">
            <a:solidFill>
              <a:srgbClr val="142E4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Shape 4"/>
          <p:cNvSpPr/>
          <p:nvPr/>
        </p:nvSpPr>
        <p:spPr>
          <a:xfrm>
            <a:off x="146160" y="0"/>
            <a:ext cx="36360" cy="6857640"/>
          </a:xfrm>
          <a:prstGeom prst="rect">
            <a:avLst/>
          </a:prstGeom>
          <a:solidFill>
            <a:srgbClr val="F2B70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 5"/>
          <p:cNvSpPr/>
          <p:nvPr/>
        </p:nvSpPr>
        <p:spPr>
          <a:xfrm>
            <a:off x="502920" y="25596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F7A8C"/>
                </a:solidFill>
                <a:latin typeface="Arial"/>
                <a:ea typeface="Arial"/>
              </a:rPr>
              <a:t>CORREGIR · AFRONTAR · MANTENER · EXPLOTAR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 6"/>
          <p:cNvSpPr/>
          <p:nvPr/>
        </p:nvSpPr>
        <p:spPr>
          <a:xfrm>
            <a:off x="502920" y="50292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100" b="1" strike="noStrike" spc="-1">
                <a:solidFill>
                  <a:srgbClr val="142E45"/>
                </a:solidFill>
                <a:latin typeface="Arial"/>
                <a:ea typeface="Arial"/>
              </a:rPr>
              <a:t>De DAFO a CAME</a:t>
            </a:r>
            <a:endParaRPr lang="es-E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7"/>
          <p:cNvSpPr/>
          <p:nvPr/>
        </p:nvSpPr>
        <p:spPr>
          <a:xfrm>
            <a:off x="502920" y="1042200"/>
            <a:ext cx="11109960" cy="360"/>
          </a:xfrm>
          <a:prstGeom prst="line">
            <a:avLst/>
          </a:prstGeom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8"/>
          <p:cNvSpPr/>
          <p:nvPr/>
        </p:nvSpPr>
        <p:spPr>
          <a:xfrm>
            <a:off x="1828800" y="1645920"/>
            <a:ext cx="8595000" cy="3611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0" name="Image 0" descr="/mnt/data/planestrat_assets/100000010000012C000000A86883D6F5.png"/>
          <p:cNvPicPr/>
          <p:nvPr/>
        </p:nvPicPr>
        <p:blipFill>
          <a:blip r:embed="rId3"/>
          <a:stretch/>
        </p:blipFill>
        <p:spPr>
          <a:xfrm>
            <a:off x="2901600" y="1645920"/>
            <a:ext cx="6449400" cy="3611520"/>
          </a:xfrm>
          <a:prstGeom prst="rect">
            <a:avLst/>
          </a:prstGeom>
          <a:ln w="0">
            <a:noFill/>
          </a:ln>
        </p:spPr>
      </p:pic>
      <p:sp>
        <p:nvSpPr>
          <p:cNvPr id="361" name="Shape 9"/>
          <p:cNvSpPr/>
          <p:nvPr/>
        </p:nvSpPr>
        <p:spPr>
          <a:xfrm>
            <a:off x="502920" y="6446520"/>
            <a:ext cx="11109960" cy="360"/>
          </a:xfrm>
          <a:prstGeom prst="line">
            <a:avLst/>
          </a:prstGeom>
          <a:ln w="9525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10"/>
          <p:cNvSpPr/>
          <p:nvPr/>
        </p:nvSpPr>
        <p:spPr>
          <a:xfrm>
            <a:off x="502920" y="6510600"/>
            <a:ext cx="393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650" b="0" strike="noStrike" spc="-1">
                <a:solidFill>
                  <a:srgbClr val="5D6770"/>
                </a:solidFill>
                <a:latin typeface="Arial"/>
                <a:ea typeface="Arial"/>
              </a:rPr>
              <a:t>Diagnóstico estratégico</a:t>
            </a:r>
            <a:endParaRPr lang="es-E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11"/>
          <p:cNvSpPr/>
          <p:nvPr/>
        </p:nvSpPr>
        <p:spPr>
          <a:xfrm>
            <a:off x="11109960" y="648324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42E45"/>
                </a:solidFill>
                <a:latin typeface="Arial"/>
                <a:ea typeface="Arial"/>
              </a:rPr>
              <a:t>16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AF5"/>
          </a:solidFill>
          <a:ln w="12700">
            <a:solidFill>
              <a:srgbClr val="FBFAF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2"/>
          <p:cNvSpPr/>
          <p:nvPr/>
        </p:nvSpPr>
        <p:spPr>
          <a:xfrm>
            <a:off x="-914400" y="5212080"/>
            <a:ext cx="201132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152400">
            <a:solidFill>
              <a:srgbClr val="EEF5EE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3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142E45"/>
          </a:solidFill>
          <a:ln w="12700">
            <a:solidFill>
              <a:srgbClr val="142E4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Shape 4"/>
          <p:cNvSpPr/>
          <p:nvPr/>
        </p:nvSpPr>
        <p:spPr>
          <a:xfrm>
            <a:off x="146160" y="0"/>
            <a:ext cx="36360" cy="6857640"/>
          </a:xfrm>
          <a:prstGeom prst="rect">
            <a:avLst/>
          </a:prstGeom>
          <a:solidFill>
            <a:srgbClr val="F2B70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 5"/>
          <p:cNvSpPr/>
          <p:nvPr/>
        </p:nvSpPr>
        <p:spPr>
          <a:xfrm>
            <a:off x="502920" y="25596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F7A8C"/>
                </a:solidFill>
                <a:latin typeface="Arial"/>
                <a:ea typeface="Arial"/>
              </a:rPr>
              <a:t>DEFINICIÓN DEL RUMBO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6"/>
          <p:cNvSpPr/>
          <p:nvPr/>
        </p:nvSpPr>
        <p:spPr>
          <a:xfrm>
            <a:off x="502920" y="50292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100" b="1" strike="noStrike" spc="-1">
                <a:solidFill>
                  <a:srgbClr val="142E45"/>
                </a:solidFill>
                <a:latin typeface="Arial"/>
                <a:ea typeface="Arial"/>
              </a:rPr>
              <a:t>Fase 4 · Elección de estrategias</a:t>
            </a:r>
            <a:endParaRPr lang="es-E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7"/>
          <p:cNvSpPr/>
          <p:nvPr/>
        </p:nvSpPr>
        <p:spPr>
          <a:xfrm>
            <a:off x="502920" y="1042200"/>
            <a:ext cx="11109960" cy="360"/>
          </a:xfrm>
          <a:prstGeom prst="line">
            <a:avLst/>
          </a:prstGeom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8"/>
          <p:cNvSpPr/>
          <p:nvPr/>
        </p:nvSpPr>
        <p:spPr>
          <a:xfrm>
            <a:off x="777240" y="1572840"/>
            <a:ext cx="489168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9"/>
          <p:cNvSpPr/>
          <p:nvPr/>
        </p:nvSpPr>
        <p:spPr>
          <a:xfrm>
            <a:off x="1033200" y="1801440"/>
            <a:ext cx="402120" cy="4021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Text 10"/>
          <p:cNvSpPr/>
          <p:nvPr/>
        </p:nvSpPr>
        <p:spPr>
          <a:xfrm>
            <a:off x="1033200" y="186084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 11"/>
          <p:cNvSpPr/>
          <p:nvPr/>
        </p:nvSpPr>
        <p:spPr>
          <a:xfrm>
            <a:off x="1581840" y="186552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300" b="1" strike="noStrike" spc="-1">
                <a:solidFill>
                  <a:srgbClr val="142E45"/>
                </a:solidFill>
                <a:latin typeface="Arial"/>
                <a:ea typeface="Arial"/>
              </a:rPr>
              <a:t>Definición de la prestación</a:t>
            </a:r>
            <a:endParaRPr lang="es-E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12"/>
          <p:cNvSpPr/>
          <p:nvPr/>
        </p:nvSpPr>
        <p:spPr>
          <a:xfrm>
            <a:off x="1581840" y="2267640"/>
            <a:ext cx="3748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950" b="0" strike="noStrike" spc="-1">
                <a:solidFill>
                  <a:srgbClr val="5D6770"/>
                </a:solidFill>
                <a:latin typeface="Arial"/>
                <a:ea typeface="Arial"/>
              </a:rPr>
              <a:t>Qué se ofrece y para quién se ofrece.</a:t>
            </a:r>
            <a:endParaRPr lang="es-E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13"/>
          <p:cNvSpPr/>
          <p:nvPr/>
        </p:nvSpPr>
        <p:spPr>
          <a:xfrm>
            <a:off x="6172200" y="1572840"/>
            <a:ext cx="489168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14"/>
          <p:cNvSpPr/>
          <p:nvPr/>
        </p:nvSpPr>
        <p:spPr>
          <a:xfrm>
            <a:off x="6428160" y="1801440"/>
            <a:ext cx="402120" cy="402120"/>
          </a:xfrm>
          <a:prstGeom prst="ellipse">
            <a:avLst/>
          </a:prstGeom>
          <a:solidFill>
            <a:srgbClr val="76A87D"/>
          </a:solidFill>
          <a:ln w="12700">
            <a:solidFill>
              <a:srgbClr val="76A87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 15"/>
          <p:cNvSpPr/>
          <p:nvPr/>
        </p:nvSpPr>
        <p:spPr>
          <a:xfrm>
            <a:off x="6428160" y="186084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16"/>
          <p:cNvSpPr/>
          <p:nvPr/>
        </p:nvSpPr>
        <p:spPr>
          <a:xfrm>
            <a:off x="6976800" y="186552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300" b="1" strike="noStrike" spc="-1">
                <a:solidFill>
                  <a:srgbClr val="142E45"/>
                </a:solidFill>
                <a:latin typeface="Arial"/>
                <a:ea typeface="Arial"/>
              </a:rPr>
              <a:t>Estrategia organizativa</a:t>
            </a:r>
            <a:endParaRPr lang="es-E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 17"/>
          <p:cNvSpPr/>
          <p:nvPr/>
        </p:nvSpPr>
        <p:spPr>
          <a:xfrm>
            <a:off x="6976800" y="2267640"/>
            <a:ext cx="3748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950" b="0" strike="noStrike" spc="-1">
                <a:solidFill>
                  <a:srgbClr val="5D6770"/>
                </a:solidFill>
                <a:latin typeface="Arial"/>
                <a:ea typeface="Arial"/>
              </a:rPr>
              <a:t>Cartera de prestaciones y arquitectura institucional.</a:t>
            </a:r>
            <a:endParaRPr lang="es-E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18"/>
          <p:cNvSpPr/>
          <p:nvPr/>
        </p:nvSpPr>
        <p:spPr>
          <a:xfrm>
            <a:off x="777240" y="3675960"/>
            <a:ext cx="489168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19"/>
          <p:cNvSpPr/>
          <p:nvPr/>
        </p:nvSpPr>
        <p:spPr>
          <a:xfrm>
            <a:off x="1033200" y="3904560"/>
            <a:ext cx="402120" cy="40212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20"/>
          <p:cNvSpPr/>
          <p:nvPr/>
        </p:nvSpPr>
        <p:spPr>
          <a:xfrm>
            <a:off x="1033200" y="396396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 21"/>
          <p:cNvSpPr/>
          <p:nvPr/>
        </p:nvSpPr>
        <p:spPr>
          <a:xfrm>
            <a:off x="1581840" y="396864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300" b="1" strike="noStrike" spc="-1">
                <a:solidFill>
                  <a:srgbClr val="142E45"/>
                </a:solidFill>
                <a:latin typeface="Arial"/>
                <a:ea typeface="Arial"/>
              </a:rPr>
              <a:t>Estrategias institucionales</a:t>
            </a:r>
            <a:endParaRPr lang="es-E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22"/>
          <p:cNvSpPr/>
          <p:nvPr/>
        </p:nvSpPr>
        <p:spPr>
          <a:xfrm>
            <a:off x="1581840" y="4370760"/>
            <a:ext cx="3748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950" b="0" strike="noStrike" spc="-1">
                <a:solidFill>
                  <a:srgbClr val="5D6770"/>
                </a:solidFill>
                <a:latin typeface="Arial"/>
                <a:ea typeface="Arial"/>
              </a:rPr>
              <a:t>Posicionamiento, alianzas y vínculos clave.</a:t>
            </a:r>
            <a:endParaRPr lang="es-E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23"/>
          <p:cNvSpPr/>
          <p:nvPr/>
        </p:nvSpPr>
        <p:spPr>
          <a:xfrm>
            <a:off x="6172200" y="3675960"/>
            <a:ext cx="489168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24"/>
          <p:cNvSpPr/>
          <p:nvPr/>
        </p:nvSpPr>
        <p:spPr>
          <a:xfrm>
            <a:off x="6428160" y="3904560"/>
            <a:ext cx="402120" cy="402120"/>
          </a:xfrm>
          <a:prstGeom prst="ellipse">
            <a:avLst/>
          </a:prstGeom>
          <a:solidFill>
            <a:srgbClr val="142E45"/>
          </a:solidFill>
          <a:ln w="12700">
            <a:solidFill>
              <a:srgbClr val="142E4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 25"/>
          <p:cNvSpPr/>
          <p:nvPr/>
        </p:nvSpPr>
        <p:spPr>
          <a:xfrm>
            <a:off x="6428160" y="396396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26"/>
          <p:cNvSpPr/>
          <p:nvPr/>
        </p:nvSpPr>
        <p:spPr>
          <a:xfrm>
            <a:off x="6976800" y="396864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300" b="1" strike="noStrike" spc="-1">
                <a:solidFill>
                  <a:srgbClr val="142E45"/>
                </a:solidFill>
                <a:latin typeface="Arial"/>
                <a:ea typeface="Arial"/>
              </a:rPr>
              <a:t>Estrategias funcionales</a:t>
            </a:r>
            <a:endParaRPr lang="es-E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 27"/>
          <p:cNvSpPr/>
          <p:nvPr/>
        </p:nvSpPr>
        <p:spPr>
          <a:xfrm>
            <a:off x="6976800" y="4370760"/>
            <a:ext cx="3748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950" b="0" strike="noStrike" spc="-1">
                <a:solidFill>
                  <a:srgbClr val="5D6770"/>
                </a:solidFill>
                <a:latin typeface="Arial"/>
                <a:ea typeface="Arial"/>
              </a:rPr>
              <a:t>Decisiones por áreas y capacidades de soporte.</a:t>
            </a:r>
            <a:endParaRPr lang="es-E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28"/>
          <p:cNvSpPr/>
          <p:nvPr/>
        </p:nvSpPr>
        <p:spPr>
          <a:xfrm>
            <a:off x="502920" y="6446520"/>
            <a:ext cx="11109960" cy="360"/>
          </a:xfrm>
          <a:prstGeom prst="line">
            <a:avLst/>
          </a:prstGeom>
          <a:ln w="9525">
            <a:solidFill>
              <a:srgbClr val="DDE5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29"/>
          <p:cNvSpPr/>
          <p:nvPr/>
        </p:nvSpPr>
        <p:spPr>
          <a:xfrm>
            <a:off x="502920" y="6510600"/>
            <a:ext cx="3931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650" b="0" strike="noStrike" spc="-1">
                <a:solidFill>
                  <a:srgbClr val="5D6770"/>
                </a:solidFill>
                <a:latin typeface="Arial"/>
                <a:ea typeface="Arial"/>
              </a:rPr>
              <a:t>Elección de estrategias</a:t>
            </a:r>
            <a:endParaRPr lang="es-E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30"/>
          <p:cNvSpPr/>
          <p:nvPr/>
        </p:nvSpPr>
        <p:spPr>
          <a:xfrm>
            <a:off x="11109960" y="648324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750" b="1" strike="noStrike" spc="-1">
                <a:solidFill>
                  <a:srgbClr val="142E45"/>
                </a:solidFill>
                <a:latin typeface="Arial"/>
                <a:ea typeface="Arial"/>
              </a:rPr>
              <a:t>17</a:t>
            </a:r>
            <a:endParaRPr lang="es-ES" sz="7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AF5"/>
          </a:solidFill>
          <a:ln w="12700">
            <a:solidFill>
              <a:srgbClr val="FBFAF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2"/>
          <p:cNvSpPr/>
          <p:nvPr/>
        </p:nvSpPr>
        <p:spPr>
          <a:xfrm>
            <a:off x="-914400" y="5212080"/>
            <a:ext cx="2011320" cy="2011320"/>
          </a:xfrm>
          <a:prstGeom prst="arc">
            <a:avLst>
              <a:gd name="adj1" fmla="val 16200000"/>
              <a:gd name="adj2" fmla="val 0"/>
            </a:avLst>
          </a:prstGeom>
          <a:noFill/>
          <a:ln w="152400">
            <a:solidFill>
              <a:srgbClr val="EEF5EE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3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2E45"/>
          </a:solidFill>
          <a:ln w="12700">
            <a:solidFill>
              <a:srgbClr val="142E4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Shape 4"/>
          <p:cNvSpPr/>
          <p:nvPr/>
        </p:nvSpPr>
        <p:spPr>
          <a:xfrm>
            <a:off x="0" y="0"/>
            <a:ext cx="145800" cy="6857640"/>
          </a:xfrm>
          <a:prstGeom prst="rect">
            <a:avLst/>
          </a:prstGeom>
          <a:solidFill>
            <a:srgbClr val="F2B705"/>
          </a:solidFill>
          <a:ln w="127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 7"/>
          <p:cNvSpPr/>
          <p:nvPr/>
        </p:nvSpPr>
        <p:spPr>
          <a:xfrm>
            <a:off x="658440" y="100584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1" strike="noStrike" spc="-1">
                <a:solidFill>
                  <a:srgbClr val="F2B705"/>
                </a:solidFill>
                <a:latin typeface="Arial"/>
                <a:ea typeface="Arial"/>
              </a:rPr>
              <a:t>Fase 5</a:t>
            </a:r>
            <a:endParaRPr lang="es-E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8"/>
          <p:cNvSpPr/>
          <p:nvPr/>
        </p:nvSpPr>
        <p:spPr>
          <a:xfrm>
            <a:off x="658440" y="1417320"/>
            <a:ext cx="612612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3400" b="1" strike="noStrike" spc="-1">
                <a:solidFill>
                  <a:srgbClr val="FFFFFF"/>
                </a:solidFill>
                <a:latin typeface="Arial"/>
                <a:ea typeface="Arial"/>
              </a:rPr>
              <a:t>Implantación</a:t>
            </a:r>
            <a:endParaRPr lang="es-ES" sz="3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3400" b="1" strike="noStrike" spc="-1">
                <a:solidFill>
                  <a:srgbClr val="FFFFFF"/>
                </a:solidFill>
                <a:latin typeface="Arial"/>
                <a:ea typeface="Arial"/>
              </a:rPr>
              <a:t>de estrategias</a:t>
            </a:r>
            <a:endParaRPr lang="es-ES" sz="3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9"/>
          <p:cNvSpPr/>
          <p:nvPr/>
        </p:nvSpPr>
        <p:spPr>
          <a:xfrm>
            <a:off x="658080" y="2743200"/>
            <a:ext cx="2103120" cy="360"/>
          </a:xfrm>
          <a:prstGeom prst="line">
            <a:avLst/>
          </a:prstGeom>
          <a:ln w="38100">
            <a:solidFill>
              <a:srgbClr val="F2B70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10"/>
          <p:cNvSpPr/>
          <p:nvPr/>
        </p:nvSpPr>
        <p:spPr>
          <a:xfrm>
            <a:off x="6858000" y="1463040"/>
            <a:ext cx="4251600" cy="1142640"/>
          </a:xfrm>
          <a:prstGeom prst="roundRect">
            <a:avLst>
              <a:gd name="adj" fmla="val 640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A8C1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11"/>
          <p:cNvSpPr/>
          <p:nvPr/>
        </p:nvSpPr>
        <p:spPr>
          <a:xfrm>
            <a:off x="7187040" y="1764720"/>
            <a:ext cx="347040" cy="34704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 12"/>
          <p:cNvSpPr/>
          <p:nvPr/>
        </p:nvSpPr>
        <p:spPr>
          <a:xfrm>
            <a:off x="7187040" y="1824120"/>
            <a:ext cx="347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13"/>
          <p:cNvSpPr/>
          <p:nvPr/>
        </p:nvSpPr>
        <p:spPr>
          <a:xfrm>
            <a:off x="7699320" y="1710000"/>
            <a:ext cx="2880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250" b="1" strike="noStrike" spc="-1">
                <a:solidFill>
                  <a:srgbClr val="142E45"/>
                </a:solidFill>
                <a:latin typeface="Arial"/>
                <a:ea typeface="Arial"/>
              </a:rPr>
              <a:t>Diseño de la organización</a:t>
            </a:r>
            <a:endParaRPr lang="es-E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 14"/>
          <p:cNvSpPr/>
          <p:nvPr/>
        </p:nvSpPr>
        <p:spPr>
          <a:xfrm>
            <a:off x="7699320" y="2030040"/>
            <a:ext cx="3090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50" b="0" strike="noStrike" spc="-1">
                <a:solidFill>
                  <a:srgbClr val="5D6770"/>
                </a:solidFill>
                <a:latin typeface="Arial"/>
                <a:ea typeface="Arial"/>
              </a:rPr>
              <a:t>Alinear estructura, roles y recursos con la estrategia definida.</a:t>
            </a:r>
            <a:endParaRPr lang="es-E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15"/>
          <p:cNvSpPr/>
          <p:nvPr/>
        </p:nvSpPr>
        <p:spPr>
          <a:xfrm>
            <a:off x="6858000" y="3154680"/>
            <a:ext cx="4251600" cy="1142640"/>
          </a:xfrm>
          <a:prstGeom prst="roundRect">
            <a:avLst>
              <a:gd name="adj" fmla="val 640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A8C1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hape 16"/>
          <p:cNvSpPr/>
          <p:nvPr/>
        </p:nvSpPr>
        <p:spPr>
          <a:xfrm>
            <a:off x="7187040" y="3456360"/>
            <a:ext cx="347040" cy="34704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 17"/>
          <p:cNvSpPr/>
          <p:nvPr/>
        </p:nvSpPr>
        <p:spPr>
          <a:xfrm>
            <a:off x="7187040" y="3515760"/>
            <a:ext cx="347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00" b="1" strike="noStrike" spc="-1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lang="es-E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18"/>
          <p:cNvSpPr/>
          <p:nvPr/>
        </p:nvSpPr>
        <p:spPr>
          <a:xfrm>
            <a:off x="7699320" y="3401640"/>
            <a:ext cx="2880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250" b="1" strike="noStrike" spc="-1">
                <a:solidFill>
                  <a:srgbClr val="142E45"/>
                </a:solidFill>
                <a:latin typeface="Arial"/>
                <a:ea typeface="Arial"/>
              </a:rPr>
              <a:t>Planes de acción</a:t>
            </a:r>
            <a:endParaRPr lang="es-E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19"/>
          <p:cNvSpPr/>
          <p:nvPr/>
        </p:nvSpPr>
        <p:spPr>
          <a:xfrm>
            <a:off x="7699320" y="3721680"/>
            <a:ext cx="30902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850" b="0" strike="noStrike" spc="-1">
                <a:solidFill>
                  <a:srgbClr val="5D6770"/>
                </a:solidFill>
                <a:latin typeface="Arial"/>
                <a:ea typeface="Arial"/>
              </a:rPr>
              <a:t>Traducir objetivos en tareas, responsables, tiempos e indicadores.</a:t>
            </a:r>
            <a:endParaRPr lang="es-E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 20"/>
          <p:cNvSpPr/>
          <p:nvPr/>
        </p:nvSpPr>
        <p:spPr>
          <a:xfrm>
            <a:off x="685800" y="4709160"/>
            <a:ext cx="53946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700" b="1" strike="noStrike" spc="-1">
                <a:solidFill>
                  <a:srgbClr val="D8E4E8"/>
                </a:solidFill>
                <a:latin typeface="Arial"/>
                <a:ea typeface="Arial"/>
              </a:rPr>
              <a:t>La estrategia se completa cuando se convierte en acción sostenida.</a:t>
            </a:r>
            <a:endParaRPr lang="es-E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21"/>
          <p:cNvSpPr/>
          <p:nvPr/>
        </p:nvSpPr>
        <p:spPr>
          <a:xfrm>
            <a:off x="10561320" y="5989320"/>
            <a:ext cx="776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1000" b="1" strike="noStrike" spc="-1">
                <a:solidFill>
                  <a:srgbClr val="BFD1D6"/>
                </a:solidFill>
                <a:latin typeface="Arial"/>
                <a:ea typeface="Arial"/>
              </a:rPr>
              <a:t>18</a:t>
            </a:r>
            <a:endParaRPr lang="es-E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790</Words>
  <Application>Microsoft Office PowerPoint</Application>
  <PresentationFormat>Panorámica</PresentationFormat>
  <Paragraphs>218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Arial</vt:lpstr>
      <vt:lpstr>Georgia</vt:lpstr>
      <vt:lpstr>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Gauss / Material académico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Aportes para la Elaboración de un Plan Estratégico</dc:title>
  <dc:subject>Plantilla aplicada para clase universitaria de planificación estratégica</dc:subject>
  <dc:creator>Pedro Soda / ChatGPT</dc:creator>
  <dc:description/>
  <cp:lastModifiedBy>user</cp:lastModifiedBy>
  <cp:revision>3</cp:revision>
  <dcterms:created xsi:type="dcterms:W3CDTF">2026-06-02T13:52:24Z</dcterms:created>
  <dcterms:modified xsi:type="dcterms:W3CDTF">2026-06-02T19:32:00Z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Panorámica</vt:lpwstr>
  </property>
  <property fmtid="{D5CDD505-2E9C-101B-9397-08002B2CF9AE}" pid="4" name="Slides">
    <vt:i4>18</vt:i4>
  </property>
</Properties>
</file>