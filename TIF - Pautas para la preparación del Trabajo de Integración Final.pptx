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85" r:id="rId2"/>
    <p:sldId id="586" r:id="rId3"/>
    <p:sldId id="639" r:id="rId4"/>
    <p:sldId id="587" r:id="rId5"/>
    <p:sldId id="588" r:id="rId6"/>
    <p:sldId id="589" r:id="rId7"/>
    <p:sldId id="640" r:id="rId8"/>
    <p:sldId id="641" r:id="rId9"/>
    <p:sldId id="645" r:id="rId10"/>
    <p:sldId id="646" r:id="rId11"/>
    <p:sldId id="638" r:id="rId12"/>
  </p:sldIdLst>
  <p:sldSz cx="9144000" cy="6858000" type="screen4x3"/>
  <p:notesSz cx="6669088" cy="9926638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29E3"/>
    <a:srgbClr val="FFFF00"/>
    <a:srgbClr val="0000FF"/>
    <a:srgbClr val="FF00FF"/>
    <a:srgbClr val="00CC00"/>
    <a:srgbClr val="6600FF"/>
    <a:srgbClr val="FF6600"/>
    <a:srgbClr val="009999"/>
    <a:srgbClr val="CC99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2" autoAdjust="0"/>
    <p:restoredTop sz="95341" autoAdjust="0"/>
  </p:normalViewPr>
  <p:slideViewPr>
    <p:cSldViewPr>
      <p:cViewPr varScale="1">
        <p:scale>
          <a:sx n="79" d="100"/>
          <a:sy n="79" d="100"/>
        </p:scale>
        <p:origin x="1286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12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777413" y="2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5D086-4F08-4AAE-9722-C2DAE5DE3ED9}" type="datetimeFigureOut">
              <a:rPr lang="es-AR" smtClean="0"/>
              <a:pPr/>
              <a:t>19/8/2024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9323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777413" y="9429323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AC37F-4CBC-49DE-820E-5608AB840C0F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4112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r">
              <a:defRPr sz="1200"/>
            </a:lvl1pPr>
          </a:lstStyle>
          <a:p>
            <a:fld id="{F4D8D38B-E485-4C7C-9FFA-DBE7FDEC11E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5" rIns="96651" bIns="48325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66910" y="4715155"/>
            <a:ext cx="5335270" cy="4466987"/>
          </a:xfrm>
          <a:prstGeom prst="rect">
            <a:avLst/>
          </a:prstGeom>
        </p:spPr>
        <p:txBody>
          <a:bodyPr vert="horz" lIns="96651" tIns="48325" rIns="96651" bIns="48325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r">
              <a:defRPr sz="1200"/>
            </a:lvl1pPr>
          </a:lstStyle>
          <a:p>
            <a:fld id="{642CD49D-23CD-4411-9779-B795DC2C055D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723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E1002-0056-4C89-9D24-C12C003693D9}" type="datetimeFigureOut">
              <a:rPr lang="es-AR" smtClean="0"/>
              <a:pPr/>
              <a:t>19/8/2024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reatestescapist.com/2018/07/no-thank-you-to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reatestescapist.com/2018/07/no-thank-you-to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eatestescapist.com/2018/07/no-thank-you-to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efquintana@gmail.com" TargetMode="Externa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dineroexperto.com/blog/wp-content/uploads/2012/10/riesg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7" y="-144463"/>
            <a:ext cx="9347049" cy="701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 redondeado"/>
          <p:cNvSpPr/>
          <p:nvPr/>
        </p:nvSpPr>
        <p:spPr>
          <a:xfrm>
            <a:off x="-393780" y="-139774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144016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s-AR" sz="3600" b="1" dirty="0">
                <a:latin typeface="+mj-lt"/>
              </a:rPr>
              <a:t>Trabajo de Integración Final (TIF)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87" y="2855577"/>
            <a:ext cx="2418548" cy="213911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08" y="5494154"/>
            <a:ext cx="90392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</a:t>
            </a:fld>
            <a:endParaRPr lang="es-ES" sz="1200" b="1" dirty="0">
              <a:latin typeface="+mn-lt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139" y="1612545"/>
            <a:ext cx="6556819" cy="5245455"/>
          </a:xfrm>
          <a:prstGeom prst="rect">
            <a:avLst/>
          </a:prstGeom>
        </p:spPr>
      </p:pic>
      <p:sp>
        <p:nvSpPr>
          <p:cNvPr id="13" name="21 Rectángulo"/>
          <p:cNvSpPr/>
          <p:nvPr/>
        </p:nvSpPr>
        <p:spPr bwMode="auto">
          <a:xfrm>
            <a:off x="54735" y="1124744"/>
            <a:ext cx="5241764" cy="14773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ES" altLang="es-AR" b="1" dirty="0">
                <a:solidFill>
                  <a:schemeClr val="bg2"/>
                </a:solidFill>
              </a:rPr>
              <a:t>El TIF tiene por objetivo lograr que los alumnos efectúen un repaso intensivo de los temas tratados a lo largo de la cursada y, en base al mismo, obtener el Certificado Universitario que avale los conocimientos adquiridos a lo largo del año de trabajo.</a:t>
            </a:r>
            <a:endParaRPr lang="es-AR" altLang="es-AR" b="1" dirty="0">
              <a:solidFill>
                <a:schemeClr val="bg2"/>
              </a:solidFill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Objetivo y Alcance del TIF</a:t>
              </a:r>
            </a:p>
          </p:txBody>
        </p:sp>
      </p:grpSp>
      <p:sp>
        <p:nvSpPr>
          <p:cNvPr id="2" name="21 Rectángulo">
            <a:extLst>
              <a:ext uri="{FF2B5EF4-FFF2-40B4-BE49-F238E27FC236}">
                <a16:creationId xmlns:a16="http://schemas.microsoft.com/office/drawing/2014/main" id="{6BF98953-0C67-1820-52E8-2F8E69B6D49C}"/>
              </a:ext>
            </a:extLst>
          </p:cNvPr>
          <p:cNvSpPr/>
          <p:nvPr/>
        </p:nvSpPr>
        <p:spPr bwMode="auto">
          <a:xfrm>
            <a:off x="827584" y="4200992"/>
            <a:ext cx="5241764" cy="9233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ES" altLang="es-AR" b="1" dirty="0">
                <a:solidFill>
                  <a:schemeClr val="bg2"/>
                </a:solidFill>
              </a:rPr>
              <a:t>El trabajo es de carácter grupal.</a:t>
            </a:r>
          </a:p>
          <a:p>
            <a:endParaRPr lang="es-ES" altLang="es-AR" b="1" dirty="0">
              <a:solidFill>
                <a:schemeClr val="bg2"/>
              </a:solidFill>
            </a:endParaRPr>
          </a:p>
          <a:p>
            <a:r>
              <a:rPr lang="es-ES" altLang="es-AR" b="1" dirty="0">
                <a:solidFill>
                  <a:schemeClr val="bg2"/>
                </a:solidFill>
              </a:rPr>
              <a:t>No se aceptan trabajos individuales.</a:t>
            </a:r>
            <a:endParaRPr lang="es-AR" altLang="es-AR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6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3</a:t>
            </a:fld>
            <a:endParaRPr lang="es-ES" sz="1200" b="1" dirty="0">
              <a:latin typeface="+mn-lt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181" y="1525482"/>
            <a:ext cx="6556819" cy="5245455"/>
          </a:xfrm>
          <a:prstGeom prst="rect">
            <a:avLst/>
          </a:prstGeom>
        </p:spPr>
      </p:pic>
      <p:sp>
        <p:nvSpPr>
          <p:cNvPr id="13" name="21 Rectángulo"/>
          <p:cNvSpPr/>
          <p:nvPr/>
        </p:nvSpPr>
        <p:spPr bwMode="auto">
          <a:xfrm>
            <a:off x="54735" y="1124744"/>
            <a:ext cx="5241764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ES" altLang="es-AR" b="1" dirty="0">
                <a:solidFill>
                  <a:schemeClr val="bg2"/>
                </a:solidFill>
              </a:rPr>
              <a:t>El TIF trata sobre un proyecto determinado que puede ser:</a:t>
            </a:r>
            <a:endParaRPr lang="es-AR" altLang="es-AR" b="1" dirty="0">
              <a:solidFill>
                <a:schemeClr val="bg2"/>
              </a:solidFill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Objetivo y Alcance del TIF</a:t>
              </a:r>
            </a:p>
          </p:txBody>
        </p:sp>
      </p:grpSp>
      <p:sp>
        <p:nvSpPr>
          <p:cNvPr id="3" name="21 Rectángulo">
            <a:extLst>
              <a:ext uri="{FF2B5EF4-FFF2-40B4-BE49-F238E27FC236}">
                <a16:creationId xmlns:a16="http://schemas.microsoft.com/office/drawing/2014/main" id="{6FD22B9D-A65A-CB87-2324-DF2B81A52247}"/>
              </a:ext>
            </a:extLst>
          </p:cNvPr>
          <p:cNvSpPr/>
          <p:nvPr/>
        </p:nvSpPr>
        <p:spPr bwMode="auto">
          <a:xfrm>
            <a:off x="775057" y="2801279"/>
            <a:ext cx="5241764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ES" altLang="es-AR" b="1" dirty="0">
                <a:solidFill>
                  <a:schemeClr val="bg2"/>
                </a:solidFill>
              </a:rPr>
              <a:t>La incorporación del servicio de ahorro </a:t>
            </a:r>
            <a:r>
              <a:rPr lang="es-ES" altLang="es-AR" b="1" dirty="0" err="1">
                <a:solidFill>
                  <a:schemeClr val="bg2"/>
                </a:solidFill>
              </a:rPr>
              <a:t>ó</a:t>
            </a:r>
            <a:endParaRPr lang="es-AR" altLang="es-AR" b="1" dirty="0">
              <a:solidFill>
                <a:schemeClr val="bg2"/>
              </a:solidFill>
            </a:endParaRPr>
          </a:p>
        </p:txBody>
      </p:sp>
      <p:sp>
        <p:nvSpPr>
          <p:cNvPr id="4" name="21 Rectángulo">
            <a:extLst>
              <a:ext uri="{FF2B5EF4-FFF2-40B4-BE49-F238E27FC236}">
                <a16:creationId xmlns:a16="http://schemas.microsoft.com/office/drawing/2014/main" id="{6F6006A6-98A0-50D4-08B0-6F959152F726}"/>
              </a:ext>
            </a:extLst>
          </p:cNvPr>
          <p:cNvSpPr/>
          <p:nvPr/>
        </p:nvSpPr>
        <p:spPr bwMode="auto">
          <a:xfrm>
            <a:off x="746807" y="4437112"/>
            <a:ext cx="5241764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ES" altLang="es-AR" b="1" dirty="0">
                <a:solidFill>
                  <a:schemeClr val="bg2"/>
                </a:solidFill>
              </a:rPr>
              <a:t>La incorporación del servicio de proveeduría.</a:t>
            </a:r>
            <a:endParaRPr lang="es-AR" altLang="es-AR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18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4_Actividad de introspección sobre mis prácticas de evaluación.">
            <a:extLst>
              <a:ext uri="{FF2B5EF4-FFF2-40B4-BE49-F238E27FC236}">
                <a16:creationId xmlns:a16="http://schemas.microsoft.com/office/drawing/2014/main" id="{0D0632A5-902A-B51A-5748-57B5DE999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203" y="1867808"/>
            <a:ext cx="4701358" cy="3529702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4</a:t>
            </a:fld>
            <a:endParaRPr lang="es-ES" sz="1200" b="1" dirty="0">
              <a:latin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9118" y="-7318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-29118" y="-731868"/>
          <a:ext cx="1057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29532" imgH="1724266" progId="">
                  <p:embed/>
                </p:oleObj>
              </mc:Choice>
              <mc:Fallback>
                <p:oleObj r:id="rId3" imgW="3629532" imgH="172426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9118" y="-731868"/>
                        <a:ext cx="10572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048089" y="23649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Temario del TI</a:t>
              </a:r>
            </a:p>
          </p:txBody>
        </p:sp>
      </p:grpSp>
      <p:sp>
        <p:nvSpPr>
          <p:cNvPr id="17" name="7 CuadroTexto"/>
          <p:cNvSpPr txBox="1"/>
          <p:nvPr/>
        </p:nvSpPr>
        <p:spPr>
          <a:xfrm>
            <a:off x="396552" y="985196"/>
            <a:ext cx="4701358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AR" altLang="es-AR" b="1" dirty="0"/>
              <a:t>El temario tiene un formato preparado para que los alumnos efectúen un repaso integral por todos los temas tratados en la cursada.</a:t>
            </a:r>
          </a:p>
        </p:txBody>
      </p:sp>
      <p:sp>
        <p:nvSpPr>
          <p:cNvPr id="2" name="7 CuadroTexto">
            <a:extLst>
              <a:ext uri="{FF2B5EF4-FFF2-40B4-BE49-F238E27FC236}">
                <a16:creationId xmlns:a16="http://schemas.microsoft.com/office/drawing/2014/main" id="{CDE4BF92-B4B0-9C18-DACD-8BA943E5B667}"/>
              </a:ext>
            </a:extLst>
          </p:cNvPr>
          <p:cNvSpPr txBox="1"/>
          <p:nvPr/>
        </p:nvSpPr>
        <p:spPr>
          <a:xfrm>
            <a:off x="4716016" y="5048016"/>
            <a:ext cx="3672408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AR" altLang="es-AR" b="1" dirty="0"/>
              <a:t>No se aceptarán trabajos que no respeten el índice elaborado por la Coordinación de la Diplomatura.</a:t>
            </a:r>
          </a:p>
        </p:txBody>
      </p:sp>
    </p:spTree>
    <p:extLst>
      <p:ext uri="{BB962C8B-B14F-4D97-AF65-F5344CB8AC3E}">
        <p14:creationId xmlns:p14="http://schemas.microsoft.com/office/powerpoint/2010/main" val="107862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4_Actividad de introspección sobre mis prácticas de evaluación.">
            <a:extLst>
              <a:ext uri="{FF2B5EF4-FFF2-40B4-BE49-F238E27FC236}">
                <a16:creationId xmlns:a16="http://schemas.microsoft.com/office/drawing/2014/main" id="{9C4D61CD-2FDE-6DA9-E92E-4877CA7F2E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158" y="2842444"/>
            <a:ext cx="1927527" cy="1447155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5</a:t>
            </a:fld>
            <a:endParaRPr lang="es-ES" sz="1200" b="1" dirty="0">
              <a:latin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9118" y="-7318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-29118" y="-731868"/>
          <a:ext cx="1057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29532" imgH="1724266" progId="">
                  <p:embed/>
                </p:oleObj>
              </mc:Choice>
              <mc:Fallback>
                <p:oleObj r:id="rId3" imgW="3629532" imgH="172426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9118" y="-731868"/>
                        <a:ext cx="10572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048089" y="23649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Temario que debe contemplar el TIF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8582" y="980728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Contexto internacional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18582" y="1556792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Las mutuales en el nuevo escenario económico financiero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07504" y="2132856"/>
            <a:ext cx="81236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Elementos normativos y jurídicos de la gestión financiera que hacen a las Mutuales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07504" y="2708920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Plan de Negocios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07504" y="5723964"/>
            <a:ext cx="61308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Control de Gestión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107504" y="3284984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Principios de Gobierno Corporativo 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07504" y="3861048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Gestión de Riesgos Corporativos</a:t>
            </a: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107504" y="4509120"/>
            <a:ext cx="71287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Administración de las tecnologías informáticas y  la seguridad tecnológica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107504" y="5147900"/>
            <a:ext cx="62646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Prevención de lavado de activos financiamiento del terrorismo</a:t>
            </a:r>
            <a:endParaRPr lang="es-A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86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8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Rectángulo redondeado"/>
          <p:cNvSpPr/>
          <p:nvPr/>
        </p:nvSpPr>
        <p:spPr>
          <a:xfrm>
            <a:off x="-285784" y="214290"/>
            <a:ext cx="7162040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2844" y="276161"/>
            <a:ext cx="7525500" cy="6858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36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Qué es lo que no hay que hacer</a:t>
            </a:r>
          </a:p>
        </p:txBody>
      </p:sp>
      <p:sp>
        <p:nvSpPr>
          <p:cNvPr id="20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6</a:t>
            </a:fld>
            <a:endParaRPr lang="es-ES" sz="1200" b="1" dirty="0">
              <a:latin typeface="+mn-lt"/>
            </a:endParaRPr>
          </a:p>
        </p:txBody>
      </p:sp>
      <p:pic>
        <p:nvPicPr>
          <p:cNvPr id="2" name="Picture 9" descr="tilde">
            <a:extLst>
              <a:ext uri="{FF2B5EF4-FFF2-40B4-BE49-F238E27FC236}">
                <a16:creationId xmlns:a16="http://schemas.microsoft.com/office/drawing/2014/main" id="{1B97EA49-6F8C-8B2E-954B-FD4F85A39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8" y="1714488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00346D24-5F7C-28DD-E8BE-32CC72828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0961" y="1772816"/>
            <a:ext cx="45026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No respetar el temario pautado</a:t>
            </a:r>
            <a:endParaRPr lang="es-AR" b="1" dirty="0">
              <a:solidFill>
                <a:srgbClr val="0070C0"/>
              </a:solidFill>
            </a:endParaRPr>
          </a:p>
        </p:txBody>
      </p:sp>
      <p:pic>
        <p:nvPicPr>
          <p:cNvPr id="4" name="Picture 9" descr="tilde">
            <a:extLst>
              <a:ext uri="{FF2B5EF4-FFF2-40B4-BE49-F238E27FC236}">
                <a16:creationId xmlns:a16="http://schemas.microsoft.com/office/drawing/2014/main" id="{DB98C359-912B-F73A-15DE-67BC7B98B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6" y="2780928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EC151AB0-77A2-3176-BF95-E1A26AD96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42" y="2636912"/>
            <a:ext cx="45026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“Llenar” hojas copiando leyes, resoluciones del </a:t>
            </a:r>
            <a:r>
              <a:rPr lang="es-ES" b="1" dirty="0" err="1">
                <a:solidFill>
                  <a:srgbClr val="0070C0"/>
                </a:solidFill>
              </a:rPr>
              <a:t>Inaes</a:t>
            </a:r>
            <a:r>
              <a:rPr lang="es-ES" b="1" dirty="0">
                <a:solidFill>
                  <a:srgbClr val="0070C0"/>
                </a:solidFill>
              </a:rPr>
              <a:t> y resoluciones de otros reguladores</a:t>
            </a:r>
            <a:endParaRPr lang="es-AR" b="1" dirty="0">
              <a:solidFill>
                <a:srgbClr val="0070C0"/>
              </a:solidFill>
            </a:endParaRPr>
          </a:p>
        </p:txBody>
      </p:sp>
      <p:pic>
        <p:nvPicPr>
          <p:cNvPr id="6" name="Picture 9" descr="tilde">
            <a:extLst>
              <a:ext uri="{FF2B5EF4-FFF2-40B4-BE49-F238E27FC236}">
                <a16:creationId xmlns:a16="http://schemas.microsoft.com/office/drawing/2014/main" id="{17B1FA9D-A1CF-4999-181E-5B7AEB107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6" y="3933056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AF26F8F8-949D-4F3C-417E-D26DB385F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654" y="3748249"/>
            <a:ext cx="45026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“Llenar” hojas con actas del Consejo Directivo sobre el proyecto del TIF.</a:t>
            </a:r>
          </a:p>
        </p:txBody>
      </p:sp>
      <p:pic>
        <p:nvPicPr>
          <p:cNvPr id="8" name="Picture 9" descr="tilde">
            <a:extLst>
              <a:ext uri="{FF2B5EF4-FFF2-40B4-BE49-F238E27FC236}">
                <a16:creationId xmlns:a16="http://schemas.microsoft.com/office/drawing/2014/main" id="{4CA8D211-C36C-6E80-D628-B1CC5C25D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08" y="5075581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C44D6191-A3D1-741C-E78A-811B04D29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938" y="4987439"/>
            <a:ext cx="52133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“Llenar” hojas copiando literalmente textos de las filminas o de material suministrado por los docentes</a:t>
            </a:r>
          </a:p>
        </p:txBody>
      </p:sp>
      <p:pic>
        <p:nvPicPr>
          <p:cNvPr id="10" name="Imagen 9" descr="Una señal de alto y nubes en el cielo&#10;&#10;Descripción generada automáticamente con confianza media">
            <a:extLst>
              <a:ext uri="{FF2B5EF4-FFF2-40B4-BE49-F238E27FC236}">
                <a16:creationId xmlns:a16="http://schemas.microsoft.com/office/drawing/2014/main" id="{1FC65A39-C8A7-F2D5-8B37-E1BB18ED8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184669" y="1531349"/>
            <a:ext cx="2380150" cy="12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5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Rectángulo redondeado"/>
          <p:cNvSpPr/>
          <p:nvPr/>
        </p:nvSpPr>
        <p:spPr>
          <a:xfrm>
            <a:off x="-285784" y="214290"/>
            <a:ext cx="7162040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2844" y="276161"/>
            <a:ext cx="7525500" cy="6858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36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Qué es lo que no hay que hacer</a:t>
            </a:r>
          </a:p>
        </p:txBody>
      </p:sp>
      <p:sp>
        <p:nvSpPr>
          <p:cNvPr id="20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7</a:t>
            </a:fld>
            <a:endParaRPr lang="es-ES" sz="1200" b="1" dirty="0">
              <a:latin typeface="+mn-lt"/>
            </a:endParaRPr>
          </a:p>
        </p:txBody>
      </p:sp>
      <p:pic>
        <p:nvPicPr>
          <p:cNvPr id="2" name="Picture 9" descr="tilde">
            <a:extLst>
              <a:ext uri="{FF2B5EF4-FFF2-40B4-BE49-F238E27FC236}">
                <a16:creationId xmlns:a16="http://schemas.microsoft.com/office/drawing/2014/main" id="{1B97EA49-6F8C-8B2E-954B-FD4F85A39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8" y="1714488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00346D24-5F7C-28DD-E8BE-32CC72828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0961" y="1772816"/>
            <a:ext cx="45026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Utilizar información de dominio público sin citar las fuentes (BCRA, </a:t>
            </a:r>
            <a:r>
              <a:rPr lang="es-ES" b="1" dirty="0" err="1">
                <a:solidFill>
                  <a:srgbClr val="0070C0"/>
                </a:solidFill>
              </a:rPr>
              <a:t>Indec</a:t>
            </a:r>
            <a:r>
              <a:rPr lang="es-ES" b="1" dirty="0">
                <a:solidFill>
                  <a:srgbClr val="0070C0"/>
                </a:solidFill>
              </a:rPr>
              <a:t>, etc.).</a:t>
            </a:r>
            <a:endParaRPr lang="es-AR" b="1" dirty="0">
              <a:solidFill>
                <a:srgbClr val="0070C0"/>
              </a:solidFill>
            </a:endParaRPr>
          </a:p>
        </p:txBody>
      </p:sp>
      <p:pic>
        <p:nvPicPr>
          <p:cNvPr id="4" name="Picture 9" descr="tilde">
            <a:extLst>
              <a:ext uri="{FF2B5EF4-FFF2-40B4-BE49-F238E27FC236}">
                <a16:creationId xmlns:a16="http://schemas.microsoft.com/office/drawing/2014/main" id="{DB98C359-912B-F73A-15DE-67BC7B98B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6" y="2780928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EC151AB0-77A2-3176-BF95-E1A26AD96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42" y="2636912"/>
            <a:ext cx="609731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PLAN DE NEGOCIOS: desarrollar las solapas de las proyecciones a nivel de detalle. De incorporarlas al trabajo no serán consideradas en la evaluación de la Coordinación.</a:t>
            </a:r>
            <a:endParaRPr lang="es-AR" b="1" dirty="0">
              <a:solidFill>
                <a:srgbClr val="0070C0"/>
              </a:solidFill>
            </a:endParaRPr>
          </a:p>
        </p:txBody>
      </p:sp>
      <p:pic>
        <p:nvPicPr>
          <p:cNvPr id="6" name="Picture 9" descr="tilde">
            <a:extLst>
              <a:ext uri="{FF2B5EF4-FFF2-40B4-BE49-F238E27FC236}">
                <a16:creationId xmlns:a16="http://schemas.microsoft.com/office/drawing/2014/main" id="{17B1FA9D-A1CF-4999-181E-5B7AEB107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6" y="3933056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AF26F8F8-949D-4F3C-417E-D26DB385F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509" y="3934797"/>
            <a:ext cx="45026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Copiar literalmente matrices de riesgo que han sido expuestos en clase.</a:t>
            </a:r>
          </a:p>
        </p:txBody>
      </p:sp>
      <p:pic>
        <p:nvPicPr>
          <p:cNvPr id="8" name="Picture 9" descr="tilde">
            <a:extLst>
              <a:ext uri="{FF2B5EF4-FFF2-40B4-BE49-F238E27FC236}">
                <a16:creationId xmlns:a16="http://schemas.microsoft.com/office/drawing/2014/main" id="{4CA8D211-C36C-6E80-D628-B1CC5C25D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08" y="5075581"/>
            <a:ext cx="576262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C44D6191-A3D1-741C-E78A-811B04D29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938" y="4987439"/>
            <a:ext cx="52133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Copiar literalmente otros ejemplos que han sido expuestos en clase.</a:t>
            </a:r>
          </a:p>
        </p:txBody>
      </p:sp>
      <p:pic>
        <p:nvPicPr>
          <p:cNvPr id="10" name="Imagen 9" descr="Una señal de alto y nubes en el cielo&#10;&#10;Descripción generada automáticamente con confianza media">
            <a:extLst>
              <a:ext uri="{FF2B5EF4-FFF2-40B4-BE49-F238E27FC236}">
                <a16:creationId xmlns:a16="http://schemas.microsoft.com/office/drawing/2014/main" id="{A2DADF4A-5F7C-7BC9-6F37-4CB92CD052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50277" y="1224230"/>
            <a:ext cx="2380150" cy="12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Una señal de alto y nubes en el cielo&#10;&#10;Descripción generada automáticamente con confianza media">
            <a:extLst>
              <a:ext uri="{FF2B5EF4-FFF2-40B4-BE49-F238E27FC236}">
                <a16:creationId xmlns:a16="http://schemas.microsoft.com/office/drawing/2014/main" id="{BB603AB7-D806-3E14-8B72-D4A0EE7EEA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5536" y="1124744"/>
            <a:ext cx="5616624" cy="2948728"/>
          </a:xfrm>
          <a:prstGeom prst="rect">
            <a:avLst/>
          </a:prstGeom>
        </p:spPr>
      </p:pic>
      <p:sp>
        <p:nvSpPr>
          <p:cNvPr id="22" name="21 Rectángulo redondeado"/>
          <p:cNvSpPr/>
          <p:nvPr/>
        </p:nvSpPr>
        <p:spPr>
          <a:xfrm>
            <a:off x="-285784" y="214290"/>
            <a:ext cx="7162040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2844" y="276161"/>
            <a:ext cx="7525500" cy="6858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s-AR" sz="36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Qué es lo que no hay que hacer</a:t>
            </a:r>
          </a:p>
        </p:txBody>
      </p:sp>
      <p:sp>
        <p:nvSpPr>
          <p:cNvPr id="20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8</a:t>
            </a:fld>
            <a:endParaRPr lang="es-ES" sz="1200" b="1" dirty="0">
              <a:latin typeface="+mn-lt"/>
            </a:endParaRPr>
          </a:p>
        </p:txBody>
      </p:sp>
      <p:sp>
        <p:nvSpPr>
          <p:cNvPr id="10" name="Text Box 38">
            <a:extLst>
              <a:ext uri="{FF2B5EF4-FFF2-40B4-BE49-F238E27FC236}">
                <a16:creationId xmlns:a16="http://schemas.microsoft.com/office/drawing/2014/main" id="{72893413-59FC-02BD-BAC2-73085694A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3573016"/>
            <a:ext cx="4968552" cy="230832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b="1">
                <a:solidFill>
                  <a:srgbClr val="FFFFFF"/>
                </a:solidFill>
              </a:defRPr>
            </a:lvl1pPr>
          </a:lstStyle>
          <a:p>
            <a:r>
              <a:rPr lang="es-ES" sz="2400" dirty="0"/>
              <a:t>CUALQUIERA DE LOS ELEMENTOS MENCIONADOS EN LAS DOS ANTERIORES FILMINAS NO SERAN TOMADAS EN CUENTA POR LA COORDINACION A LA HORA DE EVALUAR EL TIF.</a:t>
            </a:r>
          </a:p>
        </p:txBody>
      </p:sp>
    </p:spTree>
    <p:extLst>
      <p:ext uri="{BB962C8B-B14F-4D97-AF65-F5344CB8AC3E}">
        <p14:creationId xmlns:p14="http://schemas.microsoft.com/office/powerpoint/2010/main" val="239458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9</a:t>
            </a:fld>
            <a:endParaRPr lang="es-ES" sz="1200" b="1" dirty="0">
              <a:latin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9118" y="-7318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-29118" y="-731868"/>
          <a:ext cx="1057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29532" imgH="1724266" progId="">
                  <p:embed/>
                </p:oleObj>
              </mc:Choice>
              <mc:Fallback>
                <p:oleObj r:id="rId2" imgW="3629532" imgH="1724266" progId="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9118" y="-731868"/>
                        <a:ext cx="10572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048089" y="23649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Evaluación del TIF</a:t>
              </a: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5C4A58E-15AE-BDC9-49D3-C06DBD76A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798" y="1143217"/>
            <a:ext cx="3588084" cy="5382127"/>
          </a:xfrm>
          <a:prstGeom prst="rect">
            <a:avLst/>
          </a:prstGeom>
        </p:spPr>
      </p:pic>
      <p:sp>
        <p:nvSpPr>
          <p:cNvPr id="5" name="Text Box 35">
            <a:extLst>
              <a:ext uri="{FF2B5EF4-FFF2-40B4-BE49-F238E27FC236}">
                <a16:creationId xmlns:a16="http://schemas.microsoft.com/office/drawing/2014/main" id="{B4BBA338-CD4A-354B-7149-8F1F5C5B6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52736"/>
            <a:ext cx="5616624" cy="10156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s-ES" sz="2000" dirty="0"/>
              <a:t>Todos los elementos antes mencionados serán los que evalúe la Coordinación en relación a cada trabajo presentado.</a:t>
            </a:r>
          </a:p>
        </p:txBody>
      </p:sp>
      <p:sp>
        <p:nvSpPr>
          <p:cNvPr id="8" name="Text Box 35">
            <a:extLst>
              <a:ext uri="{FF2B5EF4-FFF2-40B4-BE49-F238E27FC236}">
                <a16:creationId xmlns:a16="http://schemas.microsoft.com/office/drawing/2014/main" id="{C267EEE9-2AA2-F343-3DEB-047AE81F7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88" y="2845385"/>
            <a:ext cx="5616623" cy="10156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s-ES" sz="2000" dirty="0"/>
              <a:t>La Coordinación estará a disposición para evacuar consultas o dudas que se le puedan presentar a los grupos en el curso de elaboración del TIF.</a:t>
            </a:r>
          </a:p>
        </p:txBody>
      </p:sp>
      <p:sp>
        <p:nvSpPr>
          <p:cNvPr id="10" name="Text Box 35">
            <a:extLst>
              <a:ext uri="{FF2B5EF4-FFF2-40B4-BE49-F238E27FC236}">
                <a16:creationId xmlns:a16="http://schemas.microsoft.com/office/drawing/2014/main" id="{BFC6ECD8-FB58-1D29-151D-CDE591E6A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49" y="4625841"/>
            <a:ext cx="5605362" cy="13234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s-ES" sz="2000" dirty="0"/>
              <a:t>Para facilitar la comunicación entre los grupos y la Coordinación, cada grupo deberá designar un vocero quien será el encargado del intercambio de las comunicaciones.</a:t>
            </a:r>
          </a:p>
        </p:txBody>
      </p:sp>
    </p:spTree>
    <p:extLst>
      <p:ext uri="{BB962C8B-B14F-4D97-AF65-F5344CB8AC3E}">
        <p14:creationId xmlns:p14="http://schemas.microsoft.com/office/powerpoint/2010/main" val="196166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10</a:t>
            </a:fld>
            <a:endParaRPr lang="es-ES" sz="1200" b="1" dirty="0">
              <a:latin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29118" y="-7318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-29118" y="-731868"/>
          <a:ext cx="1057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29532" imgH="1724266" progId="">
                  <p:embed/>
                </p:oleObj>
              </mc:Choice>
              <mc:Fallback>
                <p:oleObj r:id="rId2" imgW="3629532" imgH="1724266" progId="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9118" y="-731868"/>
                        <a:ext cx="10572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048089" y="236497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Evaluación del TIF</a:t>
              </a: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5C4A58E-15AE-BDC9-49D3-C06DBD76A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798" y="1143217"/>
            <a:ext cx="3588084" cy="5382127"/>
          </a:xfrm>
          <a:prstGeom prst="rect">
            <a:avLst/>
          </a:prstGeom>
        </p:spPr>
      </p:pic>
      <p:sp>
        <p:nvSpPr>
          <p:cNvPr id="11" name="Text Box 35">
            <a:extLst>
              <a:ext uri="{FF2B5EF4-FFF2-40B4-BE49-F238E27FC236}">
                <a16:creationId xmlns:a16="http://schemas.microsoft.com/office/drawing/2014/main" id="{B186F57B-480D-426F-A58D-4F57A2EB6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18" y="1239860"/>
            <a:ext cx="5605362" cy="10156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s-ES" sz="2000" dirty="0"/>
              <a:t>De ser necesario o conveniente se podrá combinar con cada grupo una reunión por zoom en fecha y horario fijada de común </a:t>
            </a:r>
            <a:r>
              <a:rPr lang="es-ES" sz="2000" dirty="0" err="1"/>
              <a:t>acurdo</a:t>
            </a:r>
            <a:r>
              <a:rPr lang="es-ES" sz="2000" dirty="0"/>
              <a:t>.</a:t>
            </a:r>
          </a:p>
        </p:txBody>
      </p:sp>
      <p:sp>
        <p:nvSpPr>
          <p:cNvPr id="2" name="Text Box 35">
            <a:extLst>
              <a:ext uri="{FF2B5EF4-FFF2-40B4-BE49-F238E27FC236}">
                <a16:creationId xmlns:a16="http://schemas.microsoft.com/office/drawing/2014/main" id="{5A304367-DE51-96B1-313E-4E62DA248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18" y="2917893"/>
            <a:ext cx="5605362" cy="11849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s-ES" sz="2000" dirty="0"/>
              <a:t>Los correos deben ser dirigidos </a:t>
            </a:r>
            <a:r>
              <a:rPr lang="es-ES" sz="2400" u="sng" dirty="0"/>
              <a:t>sin excepción</a:t>
            </a:r>
            <a:r>
              <a:rPr lang="es-ES" sz="2000" dirty="0"/>
              <a:t> a las siguientes direcciones:</a:t>
            </a:r>
          </a:p>
          <a:p>
            <a:r>
              <a:rPr lang="es-ES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efquintana@gmail.com</a:t>
            </a:r>
            <a:r>
              <a:rPr lang="es-ES" sz="1800" dirty="0">
                <a:solidFill>
                  <a:schemeClr val="bg1"/>
                </a:solidFill>
              </a:rPr>
              <a:t>   albertomiguelchi@gmail.com</a:t>
            </a:r>
            <a:endParaRPr lang="es-ES" sz="2400" dirty="0"/>
          </a:p>
        </p:txBody>
      </p:sp>
      <p:sp>
        <p:nvSpPr>
          <p:cNvPr id="12" name="Text Box 35">
            <a:extLst>
              <a:ext uri="{FF2B5EF4-FFF2-40B4-BE49-F238E27FC236}">
                <a16:creationId xmlns:a16="http://schemas.microsoft.com/office/drawing/2014/main" id="{C9C2A0C9-E965-B969-A2E2-85F2CE50F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18" y="4694523"/>
            <a:ext cx="5605362" cy="10156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indent="0" algn="just">
              <a:spcBef>
                <a:spcPct val="50000"/>
              </a:spcBef>
              <a:buClr>
                <a:schemeClr val="bg1">
                  <a:lumMod val="95000"/>
                </a:schemeClr>
              </a:buClr>
              <a:buFont typeface="Courier New" pitchFamily="49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s-ES" sz="2000" dirty="0"/>
              <a:t>NO SERAN TOMADOS EN CONSIDERACION LOS CORREOS QUE SEAN DIRIGIDOS A UNA SOLA DIRECCION.</a:t>
            </a:r>
          </a:p>
        </p:txBody>
      </p:sp>
    </p:spTree>
    <p:extLst>
      <p:ext uri="{BB962C8B-B14F-4D97-AF65-F5344CB8AC3E}">
        <p14:creationId xmlns:p14="http://schemas.microsoft.com/office/powerpoint/2010/main" val="376526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0"/>
            <a:ext cx="9468544" cy="7482931"/>
          </a:xfrm>
          <a:prstGeom prst="rect">
            <a:avLst/>
          </a:prstGeom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419872" y="5373216"/>
            <a:ext cx="594015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s-ES_tradnl" sz="3200" b="1" dirty="0">
                <a:solidFill>
                  <a:schemeClr val="bg1"/>
                </a:solidFill>
                <a:latin typeface="Albertus" pitchFamily="34" charset="0"/>
              </a:rPr>
              <a:t>¡Muchas Gracias por tu atención!</a:t>
            </a:r>
          </a:p>
        </p:txBody>
      </p:sp>
    </p:spTree>
    <p:extLst>
      <p:ext uri="{BB962C8B-B14F-4D97-AF65-F5344CB8AC3E}">
        <p14:creationId xmlns:p14="http://schemas.microsoft.com/office/powerpoint/2010/main" val="561938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12435</TotalTime>
  <Words>529</Words>
  <Application>Microsoft Office PowerPoint</Application>
  <PresentationFormat>Presentación en pantalla (4:3)</PresentationFormat>
  <Paragraphs>54</Paragraphs>
  <Slides>11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Albertus</vt:lpstr>
      <vt:lpstr>Arial</vt:lpstr>
      <vt:lpstr>Arial Narrow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Sony Electronics,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JULY</dc:creator>
  <cp:lastModifiedBy>Alberto Chichilnitzky</cp:lastModifiedBy>
  <cp:revision>1277</cp:revision>
  <cp:lastPrinted>2018-07-20T10:50:07Z</cp:lastPrinted>
  <dcterms:created xsi:type="dcterms:W3CDTF">2011-05-03T20:44:05Z</dcterms:created>
  <dcterms:modified xsi:type="dcterms:W3CDTF">2024-08-19T15:27:09Z</dcterms:modified>
</cp:coreProperties>
</file>