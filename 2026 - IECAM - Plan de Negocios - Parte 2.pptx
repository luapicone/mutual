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585" r:id="rId2"/>
    <p:sldId id="1531" r:id="rId3"/>
    <p:sldId id="1315" r:id="rId4"/>
    <p:sldId id="1044" r:id="rId5"/>
    <p:sldId id="1316" r:id="rId6"/>
    <p:sldId id="1317" r:id="rId7"/>
    <p:sldId id="1533" r:id="rId8"/>
    <p:sldId id="1318" r:id="rId9"/>
    <p:sldId id="1319" r:id="rId10"/>
    <p:sldId id="1320" r:id="rId11"/>
    <p:sldId id="1321" r:id="rId12"/>
    <p:sldId id="1342" r:id="rId13"/>
    <p:sldId id="1323" r:id="rId14"/>
    <p:sldId id="1325" r:id="rId15"/>
    <p:sldId id="1324" r:id="rId16"/>
    <p:sldId id="1326" r:id="rId17"/>
    <p:sldId id="1343" r:id="rId18"/>
    <p:sldId id="1327" r:id="rId19"/>
    <p:sldId id="1328" r:id="rId20"/>
    <p:sldId id="1329" r:id="rId21"/>
    <p:sldId id="1330" r:id="rId22"/>
    <p:sldId id="1331" r:id="rId23"/>
    <p:sldId id="1334" r:id="rId24"/>
    <p:sldId id="1335" r:id="rId25"/>
    <p:sldId id="1337" r:id="rId26"/>
    <p:sldId id="1338" r:id="rId27"/>
    <p:sldId id="310" r:id="rId28"/>
    <p:sldId id="1332" r:id="rId29"/>
    <p:sldId id="1339" r:id="rId30"/>
    <p:sldId id="1529" r:id="rId31"/>
    <p:sldId id="956" r:id="rId32"/>
  </p:sldIdLst>
  <p:sldSz cx="9144000" cy="6858000" type="screen4x3"/>
  <p:notesSz cx="7315200" cy="96012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cinto Gonzalez" initials="JG" lastIdx="12" clrIdx="0">
    <p:extLst>
      <p:ext uri="{19B8F6BF-5375-455C-9EA6-DF929625EA0E}">
        <p15:presenceInfo xmlns:p15="http://schemas.microsoft.com/office/powerpoint/2012/main" userId="a795235b255590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F6600"/>
    <a:srgbClr val="009999"/>
    <a:srgbClr val="6729E3"/>
    <a:srgbClr val="FFFF00"/>
    <a:srgbClr val="0000FF"/>
    <a:srgbClr val="FF00FF"/>
    <a:srgbClr val="6600FF"/>
    <a:srgbClr val="CC99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1685" autoAdjust="0"/>
  </p:normalViewPr>
  <p:slideViewPr>
    <p:cSldViewPr>
      <p:cViewPr varScale="1">
        <p:scale>
          <a:sx n="63" d="100"/>
          <a:sy n="63" d="100"/>
        </p:scale>
        <p:origin x="16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87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5-04T17:01:02.336" idx="10">
    <p:pos x="10" y="10"/>
    <p:text>• El análisis FODA es una herramienta de estudio de la situación de una empresa, institución, proyecto o persona, analizando sus características internas (Debilidades y Fortalezas) y su situación externa (Amenazas y Oportunidades) en una matriz cuadrada.
• Propuesta por Albert S. Humphrey durante los años sesenta y setenta en los Estados Unidos.
•  Produjo una revolución en el campo de la estrategia empresarial. 
• El objetivo es determinar las ventajas competitivas de la empresa bajo análisis y la estrategia genérica que más le convenga en función de sus características propias y de las del mercado en que se mueve.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5-04T17:01:39.086" idx="11">
    <p:pos x="10" y="10"/>
    <p:text>• Michael Porter, uno de los mejores economistas de todos los tiempos.
• Él nació en Norteamérica en 1947
• Creador de las 5 fuerzas de Porter.
• Hoy es un afamado profesor en Harvard.
• Las 5 fuerzas de Porter maximizan los recursos y supera a la competencia.
• Las 5 fuerzas de Porter son una de las herramientas de marketing más usadas en todo el mundo y están pensadas para dar un apoyo a los negocios.
• Todos los objetivos de la empresa deben ser muy claros y concretos.
• Deben ser objetivos flexibles de tal forma que si pasa algo inesperado se pueda reajustar.
• Se deben ir evaluando cada cierto tiempo para comprobar que se progresa en los objetivos.
• Se debe hablar con todas las personas relacionadas con esos puntos para poder lograr transmitir la idea y motivar a su vez a los empleados.
• Todos los puntos deben coincidir con la misión y valores que la empresa representa.
• Para todos los miembros de la empresa, los objetivos deben ser alcanzables.</p:text>
    <p:extLst>
      <p:ext uri="{C676402C-5697-4E1C-873F-D02D1690AC5C}">
        <p15:threadingInfo xmlns:p15="http://schemas.microsoft.com/office/powerpoint/2012/main" timeZoneBias="1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143375" y="2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5D086-4F08-4AAE-9722-C2DAE5DE3E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AC37F-4CBC-49DE-820E-5608AB840C0F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44112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r">
              <a:defRPr sz="1200"/>
            </a:lvl1pPr>
          </a:lstStyle>
          <a:p>
            <a:fld id="{F4D8D38B-E485-4C7C-9FFA-DBE7FDEC11E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5" rIns="96651" bIns="48325" rtlCol="0" anchor="ctr"/>
          <a:lstStyle/>
          <a:p>
            <a:endParaRPr lang="es-A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521" y="4560572"/>
            <a:ext cx="5852160" cy="4320540"/>
          </a:xfrm>
          <a:prstGeom prst="rect">
            <a:avLst/>
          </a:prstGeom>
        </p:spPr>
        <p:txBody>
          <a:bodyPr vert="horz" lIns="96651" tIns="48325" rIns="96651" bIns="48325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1" y="9119474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0060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r">
              <a:defRPr sz="1200"/>
            </a:lvl1pPr>
          </a:lstStyle>
          <a:p>
            <a:fld id="{642CD49D-23CD-4411-9779-B795DC2C055D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3723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CD49D-23CD-4411-9779-B795DC2C055D}" type="slidenum">
              <a:rPr lang="es-AR" smtClean="0"/>
              <a:pPr/>
              <a:t>2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0357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914400" y="277813"/>
            <a:ext cx="7772400" cy="585311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249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E1002-0056-4C89-9D24-C12C003693D9}" type="datetimeFigureOut">
              <a:rPr lang="es-AR" smtClean="0"/>
              <a:pPr/>
              <a:t>25/7/2026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97565" y="953344"/>
            <a:ext cx="9341565" cy="5904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6" name="5 Rectángulo redondeado"/>
          <p:cNvSpPr/>
          <p:nvPr/>
        </p:nvSpPr>
        <p:spPr>
          <a:xfrm>
            <a:off x="-571536" y="188639"/>
            <a:ext cx="8743936" cy="1224137"/>
          </a:xfrm>
          <a:prstGeom prst="roundRect">
            <a:avLst/>
          </a:prstGeom>
          <a:solidFill>
            <a:srgbClr val="66CCFF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508639"/>
            <a:ext cx="795637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s-AR" sz="3600" b="1" dirty="0">
                <a:latin typeface="+mj-lt"/>
              </a:rPr>
              <a:t>Plan de Negocios – Parte 2</a:t>
            </a:r>
            <a:endParaRPr lang="es-MX" sz="3600" b="1" dirty="0"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AFA27E2-1EE1-4034-AAA0-EE2B3B00C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726" y="5465631"/>
            <a:ext cx="9144000" cy="120373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BE806D0-51F1-6ADC-1ABE-084515EE2A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500" y="2463750"/>
            <a:ext cx="3390900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22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260B091-02F5-653D-1288-C2559DE61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657" y="1118910"/>
            <a:ext cx="3932476" cy="259228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3F1CF88-6214-FA7D-CAAB-07DF6E9E939F}"/>
              </a:ext>
            </a:extLst>
          </p:cNvPr>
          <p:cNvSpPr txBox="1"/>
          <p:nvPr/>
        </p:nvSpPr>
        <p:spPr>
          <a:xfrm>
            <a:off x="176442" y="260649"/>
            <a:ext cx="8791116" cy="648072"/>
          </a:xfrm>
          <a:prstGeom prst="rect">
            <a:avLst/>
          </a:prstGeom>
          <a:solidFill>
            <a:srgbClr val="92D050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1200" b="1" dirty="0">
                <a:solidFill>
                  <a:schemeClr val="tx1"/>
                </a:solidFill>
              </a:rPr>
              <a:t>Un Plan de Negocios es un documento detallado que describe los objetivos de un negocio y las estrategias que se emplearán para alcanzarlos. Actúa como una hoja de ruta para el emprendimiento, guiando su desarrollo y proporcionando una visión clara a los socios, inversionistas y otras partes interesadas</a:t>
            </a:r>
            <a:endParaRPr lang="es-AR" sz="1200" b="1" dirty="0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597BF5E-33DF-AB4E-CD98-19BDFB181960}"/>
              </a:ext>
            </a:extLst>
          </p:cNvPr>
          <p:cNvSpPr txBox="1"/>
          <p:nvPr/>
        </p:nvSpPr>
        <p:spPr>
          <a:xfrm>
            <a:off x="265502" y="1118935"/>
            <a:ext cx="468052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Resumen Ejecutivo</a:t>
            </a:r>
            <a:r>
              <a:rPr lang="es-ES" sz="1200" dirty="0"/>
              <a:t> con una visión general del negocio que incluye la misión, la visión, los objetivos principales y un resumen de los aspectos más importantes del plan.</a:t>
            </a:r>
          </a:p>
          <a:p>
            <a:pPr algn="just"/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Descripción de la Empresa </a:t>
            </a:r>
            <a:r>
              <a:rPr lang="es-ES" sz="1200" dirty="0"/>
              <a:t>con información sobre la naturaleza del negocio, la estructura legal, la historia, la visión y misión, y los objetivos a corto y largo plazo.</a:t>
            </a:r>
          </a:p>
          <a:p>
            <a:pPr algn="just"/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Análisis de Mercado</a:t>
            </a:r>
            <a:r>
              <a:rPr lang="es-ES" sz="1200" dirty="0"/>
              <a:t> con un estudio detallado del sector en el que operará la empresa, identificando el tamaño del mercado, las tendencias, los segmentos de clientes y el análisis de la competencia.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Organización y Gestión</a:t>
            </a:r>
            <a:r>
              <a:rPr lang="es-ES" sz="1200" dirty="0"/>
              <a:t> con una descripción de la estructura organizativa, el equipo de gestión y los roles y responsabilidades de cada miembro clave del equipo.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s-ES" sz="1200" dirty="0"/>
          </a:p>
          <a:p>
            <a:pPr algn="just"/>
            <a:endParaRPr lang="es-AR" sz="1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8FFEC32-9F0A-7A76-820B-37A9D520E301}"/>
              </a:ext>
            </a:extLst>
          </p:cNvPr>
          <p:cNvSpPr txBox="1"/>
          <p:nvPr/>
        </p:nvSpPr>
        <p:spPr>
          <a:xfrm>
            <a:off x="232867" y="3501008"/>
            <a:ext cx="8659613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ES" sz="800" dirty="0"/>
          </a:p>
          <a:p>
            <a:pPr algn="just"/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Detalles sobre los productos o servicios</a:t>
            </a:r>
            <a:r>
              <a:rPr lang="es-ES" sz="1200" dirty="0"/>
              <a:t> que ofrecerá la empresa, incluyendo sus características, beneficios, ciclo de vida, y la propuesta de valor única que nos diferencia de la competencia.</a:t>
            </a:r>
          </a:p>
          <a:p>
            <a:pPr algn="just"/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Estrategias de marketing y ventas</a:t>
            </a:r>
            <a:r>
              <a:rPr lang="es-ES" sz="1200" dirty="0"/>
              <a:t> que se utilizarán para atraer y retener clientes, incluyendo el análisis de precios, promoción, distribución y estrategias de venta.</a:t>
            </a:r>
          </a:p>
          <a:p>
            <a:pPr algn="just"/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Descripción de las operaciones diarias de la empresa</a:t>
            </a:r>
            <a:r>
              <a:rPr lang="es-ES" sz="1200" dirty="0"/>
              <a:t>, el proceso de producción, los proveedores, la logística, y cualquier otro aspecto operativo relevante.</a:t>
            </a:r>
          </a:p>
          <a:p>
            <a:pPr algn="just"/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Plan Financiero con proyecciones financieras</a:t>
            </a:r>
            <a:r>
              <a:rPr lang="es-ES" sz="1200" dirty="0"/>
              <a:t> a corto y largo plazo, incluyendo estados de resultados proyectados, balances, flujos de caja, análisis de punto de equilibrio, y cualquier otra información financiera pertinente.</a:t>
            </a:r>
          </a:p>
          <a:p>
            <a:pPr algn="just"/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Análisis de Riesgos</a:t>
            </a:r>
            <a:r>
              <a:rPr lang="es-ES" sz="1200" dirty="0"/>
              <a:t> identificando los posibles peligros, amenazas, riesgos y desafíos que podría enfrentar el negocio y las estrategias previstas para mitigarlos.</a:t>
            </a:r>
          </a:p>
          <a:p>
            <a:pPr algn="just"/>
            <a:endParaRPr lang="es-ES" sz="800" dirty="0"/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b="1" dirty="0"/>
              <a:t>Apéndices con documentos adicionales </a:t>
            </a:r>
            <a:r>
              <a:rPr lang="es-ES" sz="1200" dirty="0"/>
              <a:t>que respaldan el plan, como currículums de los miembros del equipo, estudios de mercado detallados, y cualquier otra información relevante.</a:t>
            </a:r>
          </a:p>
          <a:p>
            <a:pPr algn="just"/>
            <a:endParaRPr lang="es-AR" dirty="0"/>
          </a:p>
        </p:txBody>
      </p:sp>
      <p:sp>
        <p:nvSpPr>
          <p:cNvPr id="10" name="4 Marcador de número de diapositiva">
            <a:extLst>
              <a:ext uri="{FF2B5EF4-FFF2-40B4-BE49-F238E27FC236}">
                <a16:creationId xmlns:a16="http://schemas.microsoft.com/office/drawing/2014/main" id="{8496EBB6-B20C-8866-8F9A-F55FDCDA90FF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</a:t>
            </a:fld>
            <a:endParaRPr lang="es-E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37174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Resultado de imagen para el pensador de Rodin imÃ¡ge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54" y="1249674"/>
            <a:ext cx="3951813" cy="527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3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</a:t>
              </a:r>
            </a:p>
          </p:txBody>
        </p:sp>
      </p:grpSp>
      <p:sp>
        <p:nvSpPr>
          <p:cNvPr id="8" name="21 Rectángulo"/>
          <p:cNvSpPr/>
          <p:nvPr/>
        </p:nvSpPr>
        <p:spPr bwMode="auto">
          <a:xfrm>
            <a:off x="160688" y="1124744"/>
            <a:ext cx="3475208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Pero… ¿Se puede improvisar?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21 Rectángulo"/>
          <p:cNvSpPr/>
          <p:nvPr/>
        </p:nvSpPr>
        <p:spPr bwMode="auto">
          <a:xfrm>
            <a:off x="4427984" y="1833054"/>
            <a:ext cx="3475208" cy="120032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No, el Plan de Negocios requiere una reflexión previa sobre todos los aspectos que están involucrados en el mismo.</a:t>
            </a:r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" name="Picture 4" descr="C:\Users\Jacinto\AppData\Local\Microsoft\Windows\Temporary Internet Files\Content.IE5\JPGET09V\MP900422353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501008"/>
            <a:ext cx="2506366" cy="2805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07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10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4 Marcador de número de diapositiva">
            <a:extLst>
              <a:ext uri="{FF2B5EF4-FFF2-40B4-BE49-F238E27FC236}">
                <a16:creationId xmlns:a16="http://schemas.microsoft.com/office/drawing/2014/main" id="{7C54A650-02BE-4E55-BE23-1138C11019A8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4</a:t>
            </a:fld>
            <a:endParaRPr lang="es-ES" sz="1200" b="1" dirty="0">
              <a:latin typeface="+mn-lt"/>
            </a:endParaRPr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C5E1B86F-8506-479B-B948-A5B23EE9D885}"/>
              </a:ext>
            </a:extLst>
          </p:cNvPr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83" name="3 Rectángulo redondeado">
              <a:extLst>
                <a:ext uri="{FF2B5EF4-FFF2-40B4-BE49-F238E27FC236}">
                  <a16:creationId xmlns:a16="http://schemas.microsoft.com/office/drawing/2014/main" id="{FCEF490B-EB2A-4076-B41E-4DEF9C03283F}"/>
                </a:ext>
              </a:extLst>
            </p:cNvPr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86" name="Rectangle 9">
              <a:extLst>
                <a:ext uri="{FF2B5EF4-FFF2-40B4-BE49-F238E27FC236}">
                  <a16:creationId xmlns:a16="http://schemas.microsoft.com/office/drawing/2014/main" id="{9F0E13F1-29DB-48E7-8F9E-85E40AFB1C8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Análisis de los Contextos</a:t>
              </a:r>
            </a:p>
          </p:txBody>
        </p: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330B1A7E-094C-4004-971D-F8C45FA87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144000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165705"/>
            <a:ext cx="2538029" cy="3807044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5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</a:t>
              </a:r>
            </a:p>
          </p:txBody>
        </p:sp>
      </p:grpSp>
      <p:sp>
        <p:nvSpPr>
          <p:cNvPr id="8" name="21 Rectángulo"/>
          <p:cNvSpPr/>
          <p:nvPr/>
        </p:nvSpPr>
        <p:spPr bwMode="auto">
          <a:xfrm>
            <a:off x="317989" y="2642485"/>
            <a:ext cx="3096344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Pesimista</a:t>
            </a:r>
            <a:endParaRPr lang="es-A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65" y="868259"/>
            <a:ext cx="2520279" cy="167839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19654"/>
            <a:ext cx="3416325" cy="1921683"/>
          </a:xfrm>
          <a:prstGeom prst="rect">
            <a:avLst/>
          </a:prstGeom>
        </p:spPr>
      </p:pic>
      <p:sp>
        <p:nvSpPr>
          <p:cNvPr id="10" name="21 Rectángulo"/>
          <p:cNvSpPr/>
          <p:nvPr/>
        </p:nvSpPr>
        <p:spPr bwMode="auto">
          <a:xfrm>
            <a:off x="4860031" y="931455"/>
            <a:ext cx="3096344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Optimista</a:t>
            </a:r>
            <a:endParaRPr lang="es-A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21 Rectángulo"/>
          <p:cNvSpPr/>
          <p:nvPr/>
        </p:nvSpPr>
        <p:spPr bwMode="auto">
          <a:xfrm>
            <a:off x="1124490" y="6168452"/>
            <a:ext cx="3096344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Realista</a:t>
            </a:r>
            <a:endParaRPr lang="es-A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A68C24-B5A0-F0CD-A9B7-55CF3EEDF4EB}"/>
              </a:ext>
            </a:extLst>
          </p:cNvPr>
          <p:cNvSpPr txBox="1"/>
          <p:nvPr/>
        </p:nvSpPr>
        <p:spPr>
          <a:xfrm>
            <a:off x="4355975" y="4221088"/>
            <a:ext cx="4104456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/>
              <a:t>El desarrollo de escenarios es una técnica de planificación estratégica utilizada para prever y prepararse para diferentes futuros posibles. Consiste en imaginar y describir diferentes situaciones que podrían ocurrir dependiendo de cómo evolucionen las variables críticas y las incertidumbres clave en un contexto determinado. Los escenarios típicamente se categorizan como pesimista, realista y optimista. </a:t>
            </a:r>
            <a:endParaRPr lang="es-AR" sz="1200" b="1" dirty="0"/>
          </a:p>
        </p:txBody>
      </p:sp>
    </p:spTree>
    <p:extLst>
      <p:ext uri="{BB962C8B-B14F-4D97-AF65-F5344CB8AC3E}">
        <p14:creationId xmlns:p14="http://schemas.microsoft.com/office/powerpoint/2010/main" val="191680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47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00"/>
                            </p:stCondLst>
                            <p:childTnLst>
                              <p:par>
                                <p:cTn id="28" presetID="49" presetClass="entr" presetSubtype="0" decel="10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7500"/>
                            </p:stCondLst>
                            <p:childTnLst>
                              <p:par>
                                <p:cTn id="3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313" y="787598"/>
            <a:ext cx="3744416" cy="5616624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6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</a:t>
              </a:r>
            </a:p>
          </p:txBody>
        </p:sp>
      </p:grpSp>
      <p:sp>
        <p:nvSpPr>
          <p:cNvPr id="12" name="21 Rectángulo"/>
          <p:cNvSpPr/>
          <p:nvPr/>
        </p:nvSpPr>
        <p:spPr bwMode="auto">
          <a:xfrm>
            <a:off x="517396" y="3792885"/>
            <a:ext cx="4900243" cy="193899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AR" sz="2400" b="1" dirty="0">
                <a:solidFill>
                  <a:schemeClr val="bg1"/>
                </a:solidFill>
              </a:rPr>
              <a:t>Lo más recomendable es volcar expectativas realistas y luego probar distintos escenarios (análisis que pasa si…) y tomar decisiones en base a eso.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C14054-A6F1-177A-656F-0E8801A19F4F}"/>
              </a:ext>
            </a:extLst>
          </p:cNvPr>
          <p:cNvSpPr txBox="1"/>
          <p:nvPr/>
        </p:nvSpPr>
        <p:spPr>
          <a:xfrm>
            <a:off x="555496" y="1003652"/>
            <a:ext cx="560068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/>
              <a:t>Descripción: </a:t>
            </a:r>
            <a:r>
              <a:rPr lang="es-ES" sz="1400" dirty="0"/>
              <a:t>Este escenario se basa en suposiciones moderadas y plausibles. Es una visión intermedia que combina tanto elementos positivos como negativos de manera equilibrada.</a:t>
            </a:r>
          </a:p>
          <a:p>
            <a:pPr algn="just"/>
            <a:endParaRPr lang="es-ES" sz="800" b="1" dirty="0"/>
          </a:p>
          <a:p>
            <a:pPr algn="just"/>
            <a:r>
              <a:rPr lang="es-ES" sz="1400" b="1" dirty="0"/>
              <a:t>Propósito:</a:t>
            </a:r>
            <a:r>
              <a:rPr lang="es-ES" sz="1400" dirty="0"/>
              <a:t> Permite a las organizaciones planificar sobre una base más probable, ayudándoles a prepararse para un futuro que se percibe como más probable que ocurra.</a:t>
            </a:r>
          </a:p>
          <a:p>
            <a:pPr algn="just"/>
            <a:endParaRPr lang="es-ES" sz="800" b="1" dirty="0"/>
          </a:p>
          <a:p>
            <a:pPr algn="just"/>
            <a:r>
              <a:rPr lang="es-ES" sz="1400" b="1" dirty="0"/>
              <a:t>Ejemplo: </a:t>
            </a:r>
            <a:r>
              <a:rPr lang="es-ES" sz="1400" dirty="0"/>
              <a:t>Para la misma empresa, un escenario realista podría incluir un crecimiento económico lento, algunos problemas en la cadena de suministro pero no críticos, y una demanda estable o ligeramente creciente.</a:t>
            </a:r>
            <a:endParaRPr lang="es-AR" sz="1400" dirty="0"/>
          </a:p>
        </p:txBody>
      </p:sp>
      <p:sp>
        <p:nvSpPr>
          <p:cNvPr id="3" name="21 Rectángulo">
            <a:extLst>
              <a:ext uri="{FF2B5EF4-FFF2-40B4-BE49-F238E27FC236}">
                <a16:creationId xmlns:a16="http://schemas.microsoft.com/office/drawing/2014/main" id="{998EE0C5-1DB0-F5B3-486B-0F542BE05E28}"/>
              </a:ext>
            </a:extLst>
          </p:cNvPr>
          <p:cNvSpPr/>
          <p:nvPr/>
        </p:nvSpPr>
        <p:spPr bwMode="auto">
          <a:xfrm>
            <a:off x="5724128" y="5301208"/>
            <a:ext cx="3096344" cy="5232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A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Realista</a:t>
            </a:r>
            <a:endParaRPr lang="es-A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46514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10DF7B7-7577-C34F-55F3-78F48B6DA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692696"/>
            <a:ext cx="6588224" cy="4265284"/>
          </a:xfrm>
          <a:prstGeom prst="rect">
            <a:avLst/>
          </a:prstGeom>
        </p:spPr>
      </p:pic>
      <p:sp>
        <p:nvSpPr>
          <p:cNvPr id="5" name="3 Rectángulo redondeado">
            <a:extLst>
              <a:ext uri="{FF2B5EF4-FFF2-40B4-BE49-F238E27FC236}">
                <a16:creationId xmlns:a16="http://schemas.microsoft.com/office/drawing/2014/main" id="{958475C7-D650-C4FE-2494-DFDE2FB4E81E}"/>
              </a:ext>
            </a:extLst>
          </p:cNvPr>
          <p:cNvSpPr/>
          <p:nvPr/>
        </p:nvSpPr>
        <p:spPr>
          <a:xfrm>
            <a:off x="-428660" y="-27384"/>
            <a:ext cx="9249132" cy="693860"/>
          </a:xfrm>
          <a:prstGeom prst="roundRect">
            <a:avLst/>
          </a:prstGeom>
          <a:solidFill>
            <a:srgbClr val="92D050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93489D2F-4566-61F0-595B-302C7B81A46D}"/>
              </a:ext>
            </a:extLst>
          </p:cNvPr>
          <p:cNvSpPr txBox="1">
            <a:spLocks noChangeArrowheads="1"/>
          </p:cNvSpPr>
          <p:nvPr/>
        </p:nvSpPr>
        <p:spPr>
          <a:xfrm>
            <a:off x="160688" y="103522"/>
            <a:ext cx="8070435" cy="490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s-AR" sz="2800" b="1" dirty="0">
                <a:latin typeface="Arial Narrow" panose="020B0606020202030204" pitchFamily="34" charset="0"/>
              </a:rPr>
              <a:t>Análisis de Escenarios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790332-26AD-B1A4-2E8D-1C2429F82C93}"/>
              </a:ext>
            </a:extLst>
          </p:cNvPr>
          <p:cNvSpPr txBox="1"/>
          <p:nvPr/>
        </p:nvSpPr>
        <p:spPr>
          <a:xfrm>
            <a:off x="160688" y="5085184"/>
            <a:ext cx="8724896" cy="95410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La técnica de análisis de escenarios es una metodología de planificación estratégica que se utiliza para prever y evaluar diferentes futuros posibles basados en variaciones de factores clave y tendencias actuales. Ayuda a entender las posibles implicaciones de sus decisiones y a prepararse para diversas eventualidades, facilitando una mejor toma de decisiones y una mayor capacidad de adaptación.</a:t>
            </a:r>
            <a:endParaRPr lang="es-AR" sz="1400" b="1" dirty="0"/>
          </a:p>
        </p:txBody>
      </p:sp>
    </p:spTree>
    <p:extLst>
      <p:ext uri="{BB962C8B-B14F-4D97-AF65-F5344CB8AC3E}">
        <p14:creationId xmlns:p14="http://schemas.microsoft.com/office/powerpoint/2010/main" val="238595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8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</a:t>
              </a: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5374"/>
            <a:ext cx="7740352" cy="5805264"/>
          </a:xfrm>
          <a:prstGeom prst="rect">
            <a:avLst/>
          </a:prstGeom>
        </p:spPr>
      </p:pic>
      <p:sp>
        <p:nvSpPr>
          <p:cNvPr id="8" name="21 Rectángulo"/>
          <p:cNvSpPr/>
          <p:nvPr/>
        </p:nvSpPr>
        <p:spPr bwMode="auto">
          <a:xfrm>
            <a:off x="2880827" y="1052736"/>
            <a:ext cx="6264696" cy="461665"/>
          </a:xfrm>
          <a:prstGeom prst="rect">
            <a:avLst/>
          </a:prstGeom>
          <a:solidFill>
            <a:srgbClr val="FFC00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Vayamos por partes (Jack el Destripador)</a:t>
            </a:r>
          </a:p>
        </p:txBody>
      </p:sp>
    </p:spTree>
    <p:extLst>
      <p:ext uri="{BB962C8B-B14F-4D97-AF65-F5344CB8AC3E}">
        <p14:creationId xmlns:p14="http://schemas.microsoft.com/office/powerpoint/2010/main" val="317021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Sabina\AppData\Local\Microsoft\Windows\Temporary Internet Files\Low\Content.IE5\DYKZUVT1\MP90043372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13" y="2214909"/>
            <a:ext cx="6886346" cy="4643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438" y="97055"/>
            <a:ext cx="5608359" cy="4206269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9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</a:t>
              </a:r>
            </a:p>
          </p:txBody>
        </p:sp>
      </p:grpSp>
      <p:sp>
        <p:nvSpPr>
          <p:cNvPr id="8" name="21 Rectángulo"/>
          <p:cNvSpPr/>
          <p:nvPr/>
        </p:nvSpPr>
        <p:spPr bwMode="auto">
          <a:xfrm>
            <a:off x="1763688" y="3212976"/>
            <a:ext cx="6264696" cy="83099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A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Empezando por el fondeo ¿cómo pensamos captar los ahorros?</a:t>
            </a:r>
          </a:p>
        </p:txBody>
      </p:sp>
    </p:spTree>
    <p:extLst>
      <p:ext uri="{BB962C8B-B14F-4D97-AF65-F5344CB8AC3E}">
        <p14:creationId xmlns:p14="http://schemas.microsoft.com/office/powerpoint/2010/main" val="124676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395" y="3048777"/>
            <a:ext cx="5213125" cy="355882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10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Estrategia y acciones para captar el fondeo</a:t>
              </a:r>
            </a:p>
          </p:txBody>
        </p: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18582" y="980728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¿Cómo abordar a los inversores?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18582" y="1691516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¿Qué tasas les vamos a ofrecer?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07504" y="2492896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¿Dónde desarrollaremos las acciones comerciales?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07503" y="3403119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¿Qué cantidad inicial pensamos captar en $?</a:t>
            </a: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07502" y="4102953"/>
            <a:ext cx="38164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¿Qué cantidad de nuevos asociados pensamos captar?</a:t>
            </a:r>
          </a:p>
        </p:txBody>
      </p:sp>
    </p:spTree>
    <p:extLst>
      <p:ext uri="{BB962C8B-B14F-4D97-AF65-F5344CB8AC3E}">
        <p14:creationId xmlns:p14="http://schemas.microsoft.com/office/powerpoint/2010/main" val="19156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73" y="1163864"/>
            <a:ext cx="5229200" cy="5229200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11</a:t>
            </a:fld>
            <a:endParaRPr lang="es-ES" sz="1200" b="1" dirty="0">
              <a:latin typeface="+mn-l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3601" y="464936"/>
            <a:ext cx="7776797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Definiendo los parámetros de captación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425608" y="5373216"/>
            <a:ext cx="3034790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 3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2779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0FF0CB2D-3F67-47A1-96D0-10B872489C11}"/>
              </a:ext>
            </a:extLst>
          </p:cNvPr>
          <p:cNvSpPr txBox="1">
            <a:spLocks noChangeArrowheads="1"/>
          </p:cNvSpPr>
          <p:nvPr/>
        </p:nvSpPr>
        <p:spPr>
          <a:xfrm>
            <a:off x="160688" y="103522"/>
            <a:ext cx="8070435" cy="490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s-AR" sz="2800" b="1" dirty="0">
                <a:latin typeface="Arial Narrow" panose="020B0606020202030204" pitchFamily="34" charset="0"/>
              </a:rPr>
              <a:t>Puntos a considerar para el fondeo - Fortalezas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D0364185-41FF-4605-BC39-8BB87BD07C6E}"/>
              </a:ext>
            </a:extLst>
          </p:cNvPr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6" name="3 Rectángulo redondeado">
              <a:extLst>
                <a:ext uri="{FF2B5EF4-FFF2-40B4-BE49-F238E27FC236}">
                  <a16:creationId xmlns:a16="http://schemas.microsoft.com/office/drawing/2014/main" id="{869FCFC2-9F9B-409C-8BD2-56137C08247D}"/>
                </a:ext>
              </a:extLst>
            </p:cNvPr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8B024C64-3612-4E96-AD18-E3B6171E6DA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Técnicas de Análisis: FODA</a:t>
              </a:r>
            </a:p>
          </p:txBody>
        </p:sp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F057640C-B6D6-4D70-8205-83E97C52A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778"/>
            <a:ext cx="9144000" cy="5552566"/>
          </a:xfrm>
          <a:prstGeom prst="rect">
            <a:avLst/>
          </a:prstGeom>
        </p:spPr>
      </p:pic>
      <p:sp>
        <p:nvSpPr>
          <p:cNvPr id="19" name="4 Marcador de número de diapositiva">
            <a:extLst>
              <a:ext uri="{FF2B5EF4-FFF2-40B4-BE49-F238E27FC236}">
                <a16:creationId xmlns:a16="http://schemas.microsoft.com/office/drawing/2014/main" id="{7D3A99AD-2B5B-4D74-9E79-A9042DA224AA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12</a:t>
            </a:fld>
            <a:endParaRPr lang="es-E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51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3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395" y="3048777"/>
            <a:ext cx="5213125" cy="355882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13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Puntos a considerar para el fondeo - Fortalezas</a:t>
              </a:r>
            </a:p>
          </p:txBody>
        </p: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18582" y="980728"/>
            <a:ext cx="562223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Podemos captar nuevos asociados cuando éstos adviertan que a mayor fondeo la Mutual podrá dar más y mejores servicios.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57972" y="5847797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Mayor liquidez y solvencia.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07505" y="2276872"/>
            <a:ext cx="468052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Los asociados actuales son un mercado objeto ideal dado que ya están recibiendo servicios y aunque vuelquen sólo un porcentaje de su ahorro, la cantidad hará que la Mutual tenga más fondeo y  dar más y mejores servicios.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07505" y="3964414"/>
            <a:ext cx="4237394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Desde el punto de vista de la Responsabilidad Social Empresaria el mayor volumen de negocios permitirá a la Entidad tener más presencia en la comunidad.</a:t>
            </a:r>
          </a:p>
        </p:txBody>
      </p:sp>
    </p:spTree>
    <p:extLst>
      <p:ext uri="{BB962C8B-B14F-4D97-AF65-F5344CB8AC3E}">
        <p14:creationId xmlns:p14="http://schemas.microsoft.com/office/powerpoint/2010/main" val="339629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395" y="3048777"/>
            <a:ext cx="5213125" cy="355882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14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Puntos a considerar para el fondeo - Debilidades</a:t>
              </a:r>
            </a:p>
          </p:txBody>
        </p: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18582" y="980728"/>
            <a:ext cx="56222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La estructura actual no cuenta con niveles gerenciales con experiencia en la captación de fondos.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18582" y="5245901"/>
            <a:ext cx="392081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El marketing que hicimos hasta hoy puede no ser suficiente para lo que tenemos que hacer mañana.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07505" y="2060848"/>
            <a:ext cx="468052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No se cuenta con niveles gerenciales con suficiente experiencia en el mercado financiero para colocar transitoriamente los excedentes.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07505" y="3501008"/>
            <a:ext cx="423739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La dotación operativa que hasta hoy atendía el negocio casi seguramente no será suficiente para absorber la nueva operatoria.</a:t>
            </a:r>
          </a:p>
        </p:txBody>
      </p:sp>
    </p:spTree>
    <p:extLst>
      <p:ext uri="{BB962C8B-B14F-4D97-AF65-F5344CB8AC3E}">
        <p14:creationId xmlns:p14="http://schemas.microsoft.com/office/powerpoint/2010/main" val="397972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395" y="3048777"/>
            <a:ext cx="5213125" cy="355882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15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Puntos a considerar para el fondeo - Oportunidades</a:t>
              </a:r>
            </a:p>
          </p:txBody>
        </p: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18582" y="980728"/>
            <a:ext cx="562223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Mayor inserción en la comunidad.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60688" y="3645024"/>
            <a:ext cx="392081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Afirmación de la Entidad en el mercado de actuación y posibilidades de expansión geográfica mediante la apertura de Sucursales.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65237" y="1700808"/>
            <a:ext cx="4237394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Mejor posicionamiento con los proveedores por el crecimiento del negocio tal que permita renegociar contratos en condiciones más ventajosas para la Entidad.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67584" y="5191275"/>
            <a:ext cx="392081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Posibilidad de aplicar las mejores prácticas internacionales elevando el ambiente de control y la gestión de los riesgos corporativos.</a:t>
            </a:r>
          </a:p>
        </p:txBody>
      </p:sp>
    </p:spTree>
    <p:extLst>
      <p:ext uri="{BB962C8B-B14F-4D97-AF65-F5344CB8AC3E}">
        <p14:creationId xmlns:p14="http://schemas.microsoft.com/office/powerpoint/2010/main" val="303888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395" y="3048777"/>
            <a:ext cx="5213125" cy="355882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16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Puntos a considerar para el fondeo - Amenazas</a:t>
              </a:r>
            </a:p>
          </p:txBody>
        </p: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18582" y="980728"/>
            <a:ext cx="562223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La incorporación de nuevos productos conlleva nuevos riesgos que deben analizarse detenidamente.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51520" y="4005064"/>
            <a:ext cx="3920813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Entidades colegas que capten fondos pueden iniciar campañas agresivas para no padecer una fuga de asociados a nuestra Entidad o simplemente para evitar que un nuevo jugador penetre en su mercado de actuación.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190590" y="2109023"/>
            <a:ext cx="4237394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Se debe incorporar un aplicativo acorde al tamaño y complejidad de los negocios de la Entidad pero sin descuidar los aspectos críticos de la contratación de este tipo de servicios.</a:t>
            </a:r>
          </a:p>
        </p:txBody>
      </p:sp>
    </p:spTree>
    <p:extLst>
      <p:ext uri="{BB962C8B-B14F-4D97-AF65-F5344CB8AC3E}">
        <p14:creationId xmlns:p14="http://schemas.microsoft.com/office/powerpoint/2010/main" val="130731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C5685C91-0653-40A5-9E68-2ABED7A8B21F}"/>
              </a:ext>
            </a:extLst>
          </p:cNvPr>
          <p:cNvSpPr txBox="1">
            <a:spLocks noChangeArrowheads="1"/>
          </p:cNvSpPr>
          <p:nvPr/>
        </p:nvSpPr>
        <p:spPr>
          <a:xfrm>
            <a:off x="160688" y="103522"/>
            <a:ext cx="8070435" cy="490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s-AR" sz="2800" b="1" dirty="0">
                <a:latin typeface="Arial Narrow" panose="020B0606020202030204" pitchFamily="34" charset="0"/>
              </a:rPr>
              <a:t>Puntos a considerar para el fondeo - Amenazas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5A9C217-38E2-4549-89EA-D16794D8D4A4}"/>
              </a:ext>
            </a:extLst>
          </p:cNvPr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6" name="3 Rectángulo redondeado">
              <a:extLst>
                <a:ext uri="{FF2B5EF4-FFF2-40B4-BE49-F238E27FC236}">
                  <a16:creationId xmlns:a16="http://schemas.microsoft.com/office/drawing/2014/main" id="{4C63E5AB-0634-4E9C-A3CE-5452B39D3351}"/>
                </a:ext>
              </a:extLst>
            </p:cNvPr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0B5E076F-C99C-42D2-AEFA-F5E28BC2CFE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Técnicas de Análisis: 5 Fuerzas de Porter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D93F5AB-F84C-4775-A971-F32570D9E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052736"/>
            <a:ext cx="7534010" cy="4270813"/>
          </a:xfrm>
          <a:prstGeom prst="rect">
            <a:avLst/>
          </a:prstGeom>
        </p:spPr>
      </p:pic>
      <p:sp>
        <p:nvSpPr>
          <p:cNvPr id="9" name="4 Marcador de número de diapositiva">
            <a:extLst>
              <a:ext uri="{FF2B5EF4-FFF2-40B4-BE49-F238E27FC236}">
                <a16:creationId xmlns:a16="http://schemas.microsoft.com/office/drawing/2014/main" id="{F4E53A52-2FC0-4332-82ED-0FD9711EFBD5}"/>
              </a:ext>
            </a:extLst>
          </p:cNvPr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17</a:t>
            </a:fld>
            <a:endParaRPr lang="es-ES" sz="1200" b="1" dirty="0">
              <a:latin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B0EF67B-24EC-50BE-A88B-20BDBE9286A9}"/>
              </a:ext>
            </a:extLst>
          </p:cNvPr>
          <p:cNvSpPr txBox="1"/>
          <p:nvPr/>
        </p:nvSpPr>
        <p:spPr>
          <a:xfrm>
            <a:off x="395536" y="5373216"/>
            <a:ext cx="8280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/>
              <a:t>El análisis de las 5 Fuerzas de Porter es una herramienta de estrategia empresarial desarrollada por Michael E. Porter en 1979. Se utiliza para analizar el entorno competitivo de una industria y comprender los niveles de competencia dentro de ella. Este modelo identifica cinco fuerzas que determinan la intensidad de la competencia y, por lo tanto, la rentabilidad y atractivo de un mercado o segmento de mercado.</a:t>
            </a:r>
            <a:endParaRPr lang="es-AR" sz="1400" b="1" dirty="0"/>
          </a:p>
        </p:txBody>
      </p:sp>
    </p:spTree>
    <p:extLst>
      <p:ext uri="{BB962C8B-B14F-4D97-AF65-F5344CB8AC3E}">
        <p14:creationId xmlns:p14="http://schemas.microsoft.com/office/powerpoint/2010/main" val="336685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18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-27384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Proyección de cuotas y del costo de fondeo</a:t>
              </a:r>
            </a:p>
          </p:txBody>
        </p:sp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203848" y="2362942"/>
            <a:ext cx="410445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Proyectaremos la cobranza de cuotas por año ajustando el valor de la cuota por la inflación esperada. 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051720" y="3787029"/>
            <a:ext cx="39208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Estimaremos los depósitos totales.</a:t>
            </a:r>
          </a:p>
        </p:txBody>
      </p:sp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4393409" y="972852"/>
            <a:ext cx="423739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Calcularemos el crecimiento de los asociados en base a la cantidad inicial y el porcentaje de crecimiento esperado.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827584" y="4662995"/>
            <a:ext cx="392081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s-AR" b="1" dirty="0">
                <a:solidFill>
                  <a:srgbClr val="0070C0"/>
                </a:solidFill>
              </a:rPr>
              <a:t>Calcularemos los intereses a pagar por los depósitos.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22" y="797382"/>
            <a:ext cx="2741457" cy="274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4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19</a:t>
            </a:fld>
            <a:endParaRPr lang="es-ES" sz="1200" b="1" dirty="0">
              <a:latin typeface="+mn-l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3601" y="464936"/>
            <a:ext cx="7776797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Crecimiento de Asociados y Depósitos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827584" y="5566487"/>
            <a:ext cx="3034790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 4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1049710"/>
            <a:ext cx="5760639" cy="576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72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20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0" y="273758"/>
              <a:ext cx="8676456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 – Aplicación de Recursos</a:t>
              </a: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3848"/>
            <a:ext cx="9144000" cy="3630304"/>
          </a:xfrm>
          <a:prstGeom prst="rect">
            <a:avLst/>
          </a:prstGeom>
        </p:spPr>
      </p:pic>
      <p:sp>
        <p:nvSpPr>
          <p:cNvPr id="12" name="7 CuadroTexto"/>
          <p:cNvSpPr txBox="1"/>
          <p:nvPr/>
        </p:nvSpPr>
        <p:spPr>
          <a:xfrm>
            <a:off x="3203848" y="2935828"/>
            <a:ext cx="4752528" cy="230832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AR" sz="2400" b="1" dirty="0">
                <a:solidFill>
                  <a:schemeClr val="tx1"/>
                </a:solidFill>
              </a:rPr>
              <a:t>Ayuda Económica - Cartera Nueva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Servicios de Turismo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Servicio de Orden de Compra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9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21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0" y="273758"/>
              <a:ext cx="8676456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 – Aplicación de Recursos</a:t>
              </a: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3848"/>
            <a:ext cx="9144000" cy="3630304"/>
          </a:xfrm>
          <a:prstGeom prst="rect">
            <a:avLst/>
          </a:prstGeom>
        </p:spPr>
      </p:pic>
      <p:sp>
        <p:nvSpPr>
          <p:cNvPr id="12" name="7 CuadroTexto"/>
          <p:cNvSpPr txBox="1"/>
          <p:nvPr/>
        </p:nvSpPr>
        <p:spPr>
          <a:xfrm>
            <a:off x="3203848" y="2935828"/>
            <a:ext cx="4752528" cy="267765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AR" sz="2400" b="1" dirty="0">
                <a:solidFill>
                  <a:schemeClr val="tx1"/>
                </a:solidFill>
              </a:rPr>
              <a:t>Ayuda Económica - Cartera Nueva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¿Qué capacidad prestable vamos a utilizar?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¿En algo nos parecemos a los Bancos?</a:t>
            </a:r>
          </a:p>
        </p:txBody>
      </p:sp>
    </p:spTree>
    <p:extLst>
      <p:ext uri="{BB962C8B-B14F-4D97-AF65-F5344CB8AC3E}">
        <p14:creationId xmlns:p14="http://schemas.microsoft.com/office/powerpoint/2010/main" val="3948063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22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0" y="273758"/>
              <a:ext cx="8676456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 – Aplicación de Recursos</a:t>
              </a: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3848"/>
            <a:ext cx="9144000" cy="3630304"/>
          </a:xfrm>
          <a:prstGeom prst="rect">
            <a:avLst/>
          </a:prstGeom>
        </p:spPr>
      </p:pic>
      <p:sp>
        <p:nvSpPr>
          <p:cNvPr id="12" name="7 CuadroTexto"/>
          <p:cNvSpPr txBox="1"/>
          <p:nvPr/>
        </p:nvSpPr>
        <p:spPr>
          <a:xfrm>
            <a:off x="2987824" y="2935828"/>
            <a:ext cx="5940152" cy="341632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AR" sz="2400" b="1" dirty="0">
                <a:solidFill>
                  <a:schemeClr val="tx1"/>
                </a:solidFill>
              </a:rPr>
              <a:t>Servicios de Turismo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Servicio de Orden de Compra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lvl="1" algn="just"/>
            <a:r>
              <a:rPr lang="es-AR" sz="2400" b="1" dirty="0">
                <a:solidFill>
                  <a:schemeClr val="tx1"/>
                </a:solidFill>
              </a:rPr>
              <a:t>¿Los aumentamos en términos reales?</a:t>
            </a:r>
          </a:p>
          <a:p>
            <a:pPr lvl="1" algn="just"/>
            <a:endParaRPr lang="es-AR" sz="2400" b="1" dirty="0">
              <a:solidFill>
                <a:schemeClr val="tx1"/>
              </a:solidFill>
            </a:endParaRPr>
          </a:p>
          <a:p>
            <a:pPr lvl="1" algn="just"/>
            <a:r>
              <a:rPr lang="es-AR" sz="2400" b="1" dirty="0">
                <a:solidFill>
                  <a:schemeClr val="tx1"/>
                </a:solidFill>
              </a:rPr>
              <a:t>¿Los bajamos en términos reales?</a:t>
            </a:r>
          </a:p>
          <a:p>
            <a:pPr lvl="1" algn="just"/>
            <a:endParaRPr lang="es-AR" sz="2400" b="1" dirty="0">
              <a:solidFill>
                <a:schemeClr val="tx1"/>
              </a:solidFill>
            </a:endParaRPr>
          </a:p>
          <a:p>
            <a:pPr lvl="1" algn="just"/>
            <a:r>
              <a:rPr lang="es-AR" sz="2400" b="1" dirty="0">
                <a:solidFill>
                  <a:schemeClr val="tx1"/>
                </a:solidFill>
              </a:rPr>
              <a:t>¿Los ajustamos por inflación?</a:t>
            </a:r>
          </a:p>
        </p:txBody>
      </p:sp>
    </p:spTree>
    <p:extLst>
      <p:ext uri="{BB962C8B-B14F-4D97-AF65-F5344CB8AC3E}">
        <p14:creationId xmlns:p14="http://schemas.microsoft.com/office/powerpoint/2010/main" val="56705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23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0" y="273758"/>
              <a:ext cx="8676456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 – Gastos Significativos</a:t>
              </a: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3848"/>
            <a:ext cx="9144000" cy="3630304"/>
          </a:xfrm>
          <a:prstGeom prst="rect">
            <a:avLst/>
          </a:prstGeom>
        </p:spPr>
      </p:pic>
      <p:sp>
        <p:nvSpPr>
          <p:cNvPr id="12" name="7 CuadroTexto"/>
          <p:cNvSpPr txBox="1"/>
          <p:nvPr/>
        </p:nvSpPr>
        <p:spPr>
          <a:xfrm>
            <a:off x="2408633" y="2527363"/>
            <a:ext cx="6264696" cy="4154984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AR" sz="2400" b="1" dirty="0">
                <a:solidFill>
                  <a:schemeClr val="tx1"/>
                </a:solidFill>
              </a:rPr>
              <a:t>Evolución del crecimiento de los subsidios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Baja de los intereses bancarios 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Franqueo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Aumento del costo de los servicios informáticos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Sueldos y Cargas Sociales</a:t>
            </a:r>
          </a:p>
          <a:p>
            <a:pPr algn="just"/>
            <a:endParaRPr lang="es-AR" sz="2400" b="1" dirty="0">
              <a:solidFill>
                <a:schemeClr val="tx1"/>
              </a:solidFill>
            </a:endParaRPr>
          </a:p>
          <a:p>
            <a:pPr algn="just"/>
            <a:r>
              <a:rPr lang="es-AR" sz="2400" b="1" dirty="0">
                <a:solidFill>
                  <a:schemeClr val="tx1"/>
                </a:solidFill>
              </a:rPr>
              <a:t>Gastos de Verificación de datos Asoc A/E</a:t>
            </a:r>
          </a:p>
        </p:txBody>
      </p:sp>
    </p:spTree>
    <p:extLst>
      <p:ext uri="{BB962C8B-B14F-4D97-AF65-F5344CB8AC3E}">
        <p14:creationId xmlns:p14="http://schemas.microsoft.com/office/powerpoint/2010/main" val="264368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24</a:t>
            </a:fld>
            <a:endParaRPr lang="es-ES" sz="1200" b="1" dirty="0">
              <a:latin typeface="+mn-l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3601" y="464936"/>
            <a:ext cx="7776797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Tratamiento de los gastos significativos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652120" y="5788444"/>
            <a:ext cx="3034790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 6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14500"/>
            <a:ext cx="7620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3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25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0" y="273758"/>
              <a:ext cx="8676456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 – Resto de los Egresos</a:t>
              </a: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1127709"/>
            <a:ext cx="9144000" cy="3630304"/>
          </a:xfrm>
          <a:prstGeom prst="rect">
            <a:avLst/>
          </a:prstGeom>
        </p:spPr>
      </p:pic>
      <p:sp>
        <p:nvSpPr>
          <p:cNvPr id="12" name="7 CuadroTexto"/>
          <p:cNvSpPr txBox="1"/>
          <p:nvPr/>
        </p:nvSpPr>
        <p:spPr>
          <a:xfrm>
            <a:off x="2411760" y="4758013"/>
            <a:ext cx="6264696" cy="83099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AR" sz="2400" b="1" dirty="0">
                <a:solidFill>
                  <a:schemeClr val="tx1"/>
                </a:solidFill>
              </a:rPr>
              <a:t>Los ajustaremos por inflación o sea se van a mantener constantes en términos reales.</a:t>
            </a:r>
          </a:p>
        </p:txBody>
      </p:sp>
    </p:spTree>
    <p:extLst>
      <p:ext uri="{BB962C8B-B14F-4D97-AF65-F5344CB8AC3E}">
        <p14:creationId xmlns:p14="http://schemas.microsoft.com/office/powerpoint/2010/main" val="260000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26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0" y="273758"/>
              <a:ext cx="8676456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Desarrollando el Plan de Negocios – Resto de los Egresos</a:t>
              </a:r>
            </a:p>
          </p:txBody>
        </p:sp>
      </p:grp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1127709"/>
            <a:ext cx="9144000" cy="3630304"/>
          </a:xfrm>
          <a:prstGeom prst="rect">
            <a:avLst/>
          </a:prstGeom>
        </p:spPr>
      </p:pic>
      <p:sp>
        <p:nvSpPr>
          <p:cNvPr id="12" name="7 CuadroTexto"/>
          <p:cNvSpPr txBox="1"/>
          <p:nvPr/>
        </p:nvSpPr>
        <p:spPr>
          <a:xfrm>
            <a:off x="2411760" y="4758013"/>
            <a:ext cx="6264696" cy="461665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AR" sz="2400" b="1" dirty="0">
                <a:solidFill>
                  <a:schemeClr val="tx1"/>
                </a:solidFill>
              </a:rPr>
              <a:t>Veamos cómo queda el cuadro de resultados.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5148064" y="5905326"/>
            <a:ext cx="3852451" cy="340677"/>
            <a:chOff x="7236296" y="6353944"/>
            <a:chExt cx="1728192" cy="340677"/>
          </a:xfrm>
        </p:grpSpPr>
        <p:sp>
          <p:nvSpPr>
            <p:cNvPr id="10" name="Rectángulo 9"/>
            <p:cNvSpPr/>
            <p:nvPr/>
          </p:nvSpPr>
          <p:spPr>
            <a:xfrm>
              <a:off x="7241225" y="6353944"/>
              <a:ext cx="1512168" cy="3154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1" name="CuadroTexto 10"/>
            <p:cNvSpPr txBox="1"/>
            <p:nvPr/>
          </p:nvSpPr>
          <p:spPr>
            <a:xfrm>
              <a:off x="7236296" y="6356067"/>
              <a:ext cx="17281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1600" b="1" dirty="0"/>
                <a:t>07 Proyectando el Resto de los Egresos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950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echa: hacia abajo 29">
            <a:extLst>
              <a:ext uri="{FF2B5EF4-FFF2-40B4-BE49-F238E27FC236}">
                <a16:creationId xmlns:a16="http://schemas.microsoft.com/office/drawing/2014/main" id="{7E0D46C1-7466-4F32-8375-7CC5DABDCD62}"/>
              </a:ext>
            </a:extLst>
          </p:cNvPr>
          <p:cNvSpPr/>
          <p:nvPr/>
        </p:nvSpPr>
        <p:spPr>
          <a:xfrm>
            <a:off x="6626008" y="1468159"/>
            <a:ext cx="2479109" cy="4218875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350" dirty="0"/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B8B590D0-97DF-4012-8148-D7718DA4DEB0}"/>
              </a:ext>
            </a:extLst>
          </p:cNvPr>
          <p:cNvSpPr/>
          <p:nvPr/>
        </p:nvSpPr>
        <p:spPr>
          <a:xfrm>
            <a:off x="1968934" y="1479877"/>
            <a:ext cx="2479109" cy="4218875"/>
          </a:xfrm>
          <a:prstGeom prst="down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3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561E74-FED4-47D8-AA42-1E0C599167E4}"/>
              </a:ext>
            </a:extLst>
          </p:cNvPr>
          <p:cNvSpPr txBox="1"/>
          <p:nvPr/>
        </p:nvSpPr>
        <p:spPr>
          <a:xfrm>
            <a:off x="2151629" y="1836149"/>
            <a:ext cx="1970463" cy="342900"/>
          </a:xfrm>
          <a:prstGeom prst="rec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>
              <a:defRPr sz="3200"/>
            </a:lvl1pPr>
          </a:lstStyle>
          <a:p>
            <a:pPr algn="ctr"/>
            <a:r>
              <a:rPr lang="es-AR" sz="13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 Superador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1001EE3-9D76-408C-A448-45D2ECBED1B7}"/>
              </a:ext>
            </a:extLst>
          </p:cNvPr>
          <p:cNvCxnSpPr>
            <a:cxnSpLocks/>
          </p:cNvCxnSpPr>
          <p:nvPr/>
        </p:nvCxnSpPr>
        <p:spPr>
          <a:xfrm flipH="1">
            <a:off x="4571642" y="1424212"/>
            <a:ext cx="42747" cy="4306766"/>
          </a:xfrm>
          <a:prstGeom prst="line">
            <a:avLst/>
          </a:prstGeom>
          <a:ln w="762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6FDCF85-D0E5-4585-8969-F3A5D4D80745}"/>
              </a:ext>
            </a:extLst>
          </p:cNvPr>
          <p:cNvSpPr txBox="1"/>
          <p:nvPr/>
        </p:nvSpPr>
        <p:spPr>
          <a:xfrm>
            <a:off x="434968" y="2556203"/>
            <a:ext cx="3823166" cy="33470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Reducción de Gastos:</a:t>
            </a:r>
          </a:p>
          <a:p>
            <a:pPr marL="1628775" lvl="4" indent="-257175">
              <a:buFont typeface="Arial" panose="020B0604020202020204" pitchFamily="34" charset="0"/>
              <a:buChar char="•"/>
            </a:pPr>
            <a:r>
              <a:rPr lang="es-AR" sz="1050" b="1" dirty="0"/>
              <a:t>Papelería: 50 %</a:t>
            </a:r>
          </a:p>
          <a:p>
            <a:pPr marL="1628775" lvl="4" indent="-257175">
              <a:buFont typeface="Arial" panose="020B0604020202020204" pitchFamily="34" charset="0"/>
              <a:buChar char="•"/>
            </a:pPr>
            <a:r>
              <a:rPr lang="es-AR" sz="1050" b="1" dirty="0"/>
              <a:t>Franqueo: 80 %</a:t>
            </a:r>
          </a:p>
          <a:p>
            <a:pPr marL="1628775" lvl="4" indent="-257175">
              <a:buFont typeface="Arial" panose="020B0604020202020204" pitchFamily="34" charset="0"/>
              <a:buChar char="•"/>
            </a:pPr>
            <a:r>
              <a:rPr lang="es-AR" sz="1050" b="1" dirty="0"/>
              <a:t>Gs de Verificación: 100 %</a:t>
            </a:r>
          </a:p>
          <a:p>
            <a:pPr marL="1628775" lvl="4" indent="-257175">
              <a:buFont typeface="Arial" panose="020B0604020202020204" pitchFamily="34" charset="0"/>
              <a:buChar char="•"/>
            </a:pPr>
            <a:r>
              <a:rPr lang="es-AR" sz="1050" b="1" dirty="0"/>
              <a:t>Com. Int. Bancarios: A determinar.</a:t>
            </a:r>
          </a:p>
          <a:p>
            <a:pPr marL="1628775" lvl="4" indent="-257175">
              <a:buFont typeface="Arial" panose="020B0604020202020204" pitchFamily="34" charset="0"/>
              <a:buChar char="•"/>
            </a:pPr>
            <a:r>
              <a:rPr lang="es-AR" sz="1050" b="1" dirty="0"/>
              <a:t>Intereses Pagados: A determinar.</a:t>
            </a:r>
          </a:p>
          <a:p>
            <a:pPr marL="257175" indent="-257175">
              <a:buFont typeface="+mj-lt"/>
              <a:buAutoNum type="arabicPeriod"/>
            </a:pPr>
            <a:endParaRPr lang="es-AR" sz="600" b="1" dirty="0"/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Incremento de la Inversión:</a:t>
            </a:r>
          </a:p>
          <a:p>
            <a:pPr marL="1628775" lvl="4" indent="-257175">
              <a:buFont typeface="Arial" panose="020B0604020202020204" pitchFamily="34" charset="0"/>
              <a:buChar char="•"/>
            </a:pPr>
            <a:r>
              <a:rPr lang="es-AR" sz="1050" b="1" dirty="0"/>
              <a:t>Informática: 200 %</a:t>
            </a:r>
          </a:p>
          <a:p>
            <a:pPr marL="1628775" lvl="4" indent="-257175">
              <a:buFont typeface="Arial" panose="020B0604020202020204" pitchFamily="34" charset="0"/>
              <a:buChar char="•"/>
            </a:pPr>
            <a:r>
              <a:rPr lang="es-AR" sz="1050" b="1" dirty="0"/>
              <a:t>Suscripciones: 50 %</a:t>
            </a:r>
          </a:p>
          <a:p>
            <a:pPr marL="1628775" lvl="4" indent="-257175">
              <a:buFont typeface="Arial" panose="020B0604020202020204" pitchFamily="34" charset="0"/>
              <a:buChar char="•"/>
            </a:pPr>
            <a:r>
              <a:rPr lang="es-AR" sz="1050" b="1" dirty="0"/>
              <a:t>Viáticos y Movilidad: 100 % </a:t>
            </a:r>
          </a:p>
          <a:p>
            <a:pPr marL="257175" indent="-257175">
              <a:buFont typeface="+mj-lt"/>
              <a:buAutoNum type="arabicPeriod"/>
            </a:pPr>
            <a:endParaRPr lang="es-AR" sz="600" b="1" dirty="0"/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Ahorrar 14 millones</a:t>
            </a:r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Mejorar Cartera de Ayuda Económica.</a:t>
            </a:r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Incrementar Subsidios.</a:t>
            </a:r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Mejora Tecnológica.</a:t>
            </a:r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Plan de Vivienda.</a:t>
            </a:r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Incrementar Propaganda</a:t>
            </a:r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Mayor Captación y Entrenamiento.</a:t>
            </a:r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Mayor Involucramiento y concientización del personal.</a:t>
            </a:r>
          </a:p>
          <a:p>
            <a:pPr marL="257175" indent="-257175">
              <a:buFont typeface="+mj-lt"/>
              <a:buAutoNum type="arabicPeriod"/>
            </a:pPr>
            <a:r>
              <a:rPr lang="es-AR" sz="1050" b="1" dirty="0"/>
              <a:t>Seguimiento y Monitoreo estrecho y cercano</a:t>
            </a:r>
          </a:p>
        </p:txBody>
      </p:sp>
      <p:pic>
        <p:nvPicPr>
          <p:cNvPr id="8" name="Graphic 7" descr="Handshake">
            <a:extLst>
              <a:ext uri="{FF2B5EF4-FFF2-40B4-BE49-F238E27FC236}">
                <a16:creationId xmlns:a16="http://schemas.microsoft.com/office/drawing/2014/main" id="{A99D5147-E8DE-4282-8F08-36EBA7AD9C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2650" y="1840826"/>
            <a:ext cx="685800" cy="6858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45F357-22A8-4D0A-A9F0-573119455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61" y="1479877"/>
            <a:ext cx="1912913" cy="11407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EEA42A1-2F7D-4E9C-8F6F-86C02DADE572}"/>
              </a:ext>
            </a:extLst>
          </p:cNvPr>
          <p:cNvSpPr txBox="1"/>
          <p:nvPr/>
        </p:nvSpPr>
        <p:spPr>
          <a:xfrm>
            <a:off x="648986" y="1867999"/>
            <a:ext cx="9557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A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8898922-C87C-4FB4-89CF-F94194870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705" y="1435943"/>
            <a:ext cx="1912913" cy="1140798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81DF3EAF-C259-4818-A6F6-9EDBBFF081B7}"/>
              </a:ext>
            </a:extLst>
          </p:cNvPr>
          <p:cNvSpPr txBox="1"/>
          <p:nvPr/>
        </p:nvSpPr>
        <p:spPr>
          <a:xfrm>
            <a:off x="5376530" y="1824066"/>
            <a:ext cx="9557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B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6EC85099-9190-4331-823B-C7DAB2F05DC3}"/>
              </a:ext>
            </a:extLst>
          </p:cNvPr>
          <p:cNvSpPr txBox="1"/>
          <p:nvPr/>
        </p:nvSpPr>
        <p:spPr>
          <a:xfrm>
            <a:off x="6908393" y="1836149"/>
            <a:ext cx="1970463" cy="342900"/>
          </a:xfrm>
          <a:prstGeom prst="rect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AR"/>
            </a:defPPr>
            <a:lvl1pPr>
              <a:defRPr sz="3200"/>
            </a:lvl1pPr>
          </a:lstStyle>
          <a:p>
            <a:pPr algn="ctr"/>
            <a:r>
              <a:rPr lang="es-AR" sz="135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 No más Bancos</a:t>
            </a:r>
          </a:p>
        </p:txBody>
      </p:sp>
      <p:sp>
        <p:nvSpPr>
          <p:cNvPr id="27" name="TextBox 35">
            <a:extLst>
              <a:ext uri="{FF2B5EF4-FFF2-40B4-BE49-F238E27FC236}">
                <a16:creationId xmlns:a16="http://schemas.microsoft.com/office/drawing/2014/main" id="{9250FC63-0099-4767-A577-0A92F2968D33}"/>
              </a:ext>
            </a:extLst>
          </p:cNvPr>
          <p:cNvSpPr txBox="1"/>
          <p:nvPr/>
        </p:nvSpPr>
        <p:spPr>
          <a:xfrm>
            <a:off x="4819818" y="2593688"/>
            <a:ext cx="4324183" cy="29200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Migrar el fondeo de Bancos a  solo Terceros en un 100%.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Ampliar cartera de productos a los socios.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Incrementar la publicidad para mayor captación.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Incorporar paquetes de productos para competir a los Bancos.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Mejorar la relación inversión / beneficio.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Estudio de las necesidades y requerimientos de los clientes.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Estudios de mercado para líneas de crédito.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Sumar canales electrónicos.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Ampliar medios y formas de pagos.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Desarrollar equipo de seguimiento.</a:t>
            </a: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es-AR" sz="1050" b="1" dirty="0"/>
              <a:t>Monitoreo y supervisión mensual.</a:t>
            </a:r>
          </a:p>
          <a:p>
            <a:pPr marL="257175" indent="-257175">
              <a:buFont typeface="+mj-lt"/>
              <a:buAutoNum type="arabicPeriod"/>
            </a:pPr>
            <a:endParaRPr lang="es-AR" sz="1050" b="1" dirty="0"/>
          </a:p>
        </p:txBody>
      </p:sp>
      <p:sp>
        <p:nvSpPr>
          <p:cNvPr id="17" name="3 Rectángulo redondeado">
            <a:extLst>
              <a:ext uri="{FF2B5EF4-FFF2-40B4-BE49-F238E27FC236}">
                <a16:creationId xmlns:a16="http://schemas.microsoft.com/office/drawing/2014/main" id="{8D9B6FD6-C3E8-42EE-B3B1-B4688D0BA751}"/>
              </a:ext>
            </a:extLst>
          </p:cNvPr>
          <p:cNvSpPr/>
          <p:nvPr/>
        </p:nvSpPr>
        <p:spPr>
          <a:xfrm>
            <a:off x="-428660" y="142852"/>
            <a:ext cx="9249132" cy="1140798"/>
          </a:xfrm>
          <a:prstGeom prst="roundRect">
            <a:avLst/>
          </a:prstGeom>
          <a:solidFill>
            <a:srgbClr val="92D050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AE766987-3EB4-4478-ADE0-D2557686173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73758"/>
            <a:ext cx="8676456" cy="490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s-AR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Debate:</a:t>
            </a:r>
            <a:r>
              <a:rPr lang="es-AR" sz="2800" b="1" dirty="0">
                <a:latin typeface="Arial Narrow" panose="020B0606020202030204" pitchFamily="34" charset="0"/>
              </a:rPr>
              <a:t> Como lo ven los otros Profesionales del Sector Mutualista</a:t>
            </a:r>
          </a:p>
        </p:txBody>
      </p:sp>
    </p:spTree>
    <p:extLst>
      <p:ext uri="{BB962C8B-B14F-4D97-AF65-F5344CB8AC3E}">
        <p14:creationId xmlns:p14="http://schemas.microsoft.com/office/powerpoint/2010/main" val="323851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9" grpId="0" animBg="1"/>
      <p:bldP spid="16" grpId="0" animBg="1"/>
      <p:bldP spid="36" grpId="0"/>
      <p:bldP spid="6" grpId="0"/>
      <p:bldP spid="25" grpId="0"/>
      <p:bldP spid="26" grpId="0" animBg="1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28</a:t>
            </a:fld>
            <a:endParaRPr lang="es-ES" sz="1200" b="1" dirty="0">
              <a:latin typeface="+mn-l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3601" y="464936"/>
            <a:ext cx="7776797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Aplicando los Recursos a los Servicios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834" y="1412776"/>
            <a:ext cx="5411291" cy="4808319"/>
          </a:xfrm>
          <a:prstGeom prst="rect">
            <a:avLst/>
          </a:prstGeom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652120" y="5788444"/>
            <a:ext cx="3034790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Actividad 5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4137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29</a:t>
            </a:fld>
            <a:endParaRPr lang="es-ES" sz="1200" b="1" dirty="0">
              <a:latin typeface="+mn-l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683601" y="464936"/>
            <a:ext cx="7776797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Analicemos el Proyecto – Propuesta Final</a:t>
            </a:r>
            <a:endParaRPr lang="es-E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714500"/>
            <a:ext cx="7620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15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A3AE847-70CD-4178-9688-715C00A260CC}"/>
              </a:ext>
            </a:extLst>
          </p:cNvPr>
          <p:cNvSpPr txBox="1"/>
          <p:nvPr/>
        </p:nvSpPr>
        <p:spPr>
          <a:xfrm>
            <a:off x="5144715" y="260648"/>
            <a:ext cx="3483937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Preguntas y Respuestas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18115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C9CEF6-6A00-4F6A-B55A-728148E86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6" y="963566"/>
            <a:ext cx="3035882" cy="356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9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1979712" y="5157192"/>
            <a:ext cx="594015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s-ES_tradnl" sz="3200" b="1" dirty="0">
                <a:solidFill>
                  <a:schemeClr val="bg1"/>
                </a:solidFill>
                <a:latin typeface="Albertus" pitchFamily="34" charset="0"/>
              </a:rPr>
              <a:t>¡Muchas Gracias por tu atención!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0D28BF-973D-475F-B9F1-CD2A23CB26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066" y="1700808"/>
            <a:ext cx="6891934" cy="480359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1ACB0228-C658-414E-91F9-BF88AC91B894}"/>
              </a:ext>
            </a:extLst>
          </p:cNvPr>
          <p:cNvSpPr/>
          <p:nvPr/>
        </p:nvSpPr>
        <p:spPr>
          <a:xfrm>
            <a:off x="827584" y="404664"/>
            <a:ext cx="727280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2CA093-0EDB-4FF8-85FD-879B3BB22B4C}"/>
              </a:ext>
            </a:extLst>
          </p:cNvPr>
          <p:cNvSpPr txBox="1"/>
          <p:nvPr/>
        </p:nvSpPr>
        <p:spPr>
          <a:xfrm>
            <a:off x="1208458" y="548680"/>
            <a:ext cx="65318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b="1" dirty="0">
                <a:solidFill>
                  <a:schemeClr val="bg1"/>
                </a:solidFill>
              </a:rPr>
              <a:t>¡Muchas gracias por tu atención!</a:t>
            </a:r>
          </a:p>
        </p:txBody>
      </p:sp>
    </p:spTree>
    <p:extLst>
      <p:ext uri="{BB962C8B-B14F-4D97-AF65-F5344CB8AC3E}">
        <p14:creationId xmlns:p14="http://schemas.microsoft.com/office/powerpoint/2010/main" val="16575560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</TotalTime>
  <Words>1684</Words>
  <Application>Microsoft Office PowerPoint</Application>
  <PresentationFormat>Presentación en pantalla (4:3)</PresentationFormat>
  <Paragraphs>195</Paragraphs>
  <Slides>31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7" baseType="lpstr">
      <vt:lpstr>Albertus</vt:lpstr>
      <vt:lpstr>Arial</vt:lpstr>
      <vt:lpstr>Arial Narrow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Jacinto Gonzalez</dc:creator>
  <cp:lastModifiedBy>user</cp:lastModifiedBy>
  <cp:revision>21</cp:revision>
  <cp:lastPrinted>2020-05-04T20:05:12Z</cp:lastPrinted>
  <dcterms:created xsi:type="dcterms:W3CDTF">2020-05-01T01:03:00Z</dcterms:created>
  <dcterms:modified xsi:type="dcterms:W3CDTF">2026-07-25T19:05:08Z</dcterms:modified>
</cp:coreProperties>
</file>