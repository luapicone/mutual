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585" r:id="rId2"/>
    <p:sldId id="1052" r:id="rId3"/>
    <p:sldId id="1290" r:id="rId4"/>
    <p:sldId id="1298" r:id="rId5"/>
    <p:sldId id="1296" r:id="rId6"/>
    <p:sldId id="1297" r:id="rId7"/>
    <p:sldId id="1300" r:id="rId8"/>
    <p:sldId id="1299" r:id="rId9"/>
    <p:sldId id="1293" r:id="rId10"/>
    <p:sldId id="1347" r:id="rId11"/>
    <p:sldId id="1348" r:id="rId12"/>
    <p:sldId id="1350" r:id="rId13"/>
    <p:sldId id="1349" r:id="rId14"/>
    <p:sldId id="1351" r:id="rId15"/>
    <p:sldId id="262" r:id="rId16"/>
    <p:sldId id="1362" r:id="rId17"/>
    <p:sldId id="1353" r:id="rId18"/>
    <p:sldId id="1354" r:id="rId19"/>
    <p:sldId id="1355" r:id="rId20"/>
    <p:sldId id="1356" r:id="rId21"/>
    <p:sldId id="1357" r:id="rId22"/>
    <p:sldId id="1358" r:id="rId23"/>
    <p:sldId id="1359" r:id="rId24"/>
    <p:sldId id="1363" r:id="rId25"/>
    <p:sldId id="1364" r:id="rId26"/>
    <p:sldId id="1303" r:id="rId27"/>
    <p:sldId id="1054" r:id="rId28"/>
    <p:sldId id="1308" r:id="rId29"/>
    <p:sldId id="1310" r:id="rId30"/>
    <p:sldId id="1305" r:id="rId31"/>
    <p:sldId id="1361" r:id="rId32"/>
    <p:sldId id="1311" r:id="rId33"/>
  </p:sldIdLst>
  <p:sldSz cx="9144000" cy="6858000" type="screen4x3"/>
  <p:notesSz cx="7315200" cy="96012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cinto Gonzalez" initials="JG" lastIdx="11" clrIdx="0">
    <p:extLst>
      <p:ext uri="{19B8F6BF-5375-455C-9EA6-DF929625EA0E}">
        <p15:presenceInfo xmlns:p15="http://schemas.microsoft.com/office/powerpoint/2012/main" userId="a795235b255590c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00"/>
    <a:srgbClr val="FF6600"/>
    <a:srgbClr val="009999"/>
    <a:srgbClr val="6729E3"/>
    <a:srgbClr val="FFFF00"/>
    <a:srgbClr val="0000FF"/>
    <a:srgbClr val="FF00FF"/>
    <a:srgbClr val="6600FF"/>
    <a:srgbClr val="CC9900"/>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62" autoAdjust="0"/>
    <p:restoredTop sz="91685" autoAdjust="0"/>
  </p:normalViewPr>
  <p:slideViewPr>
    <p:cSldViewPr>
      <p:cViewPr varScale="1">
        <p:scale>
          <a:sx n="63" d="100"/>
          <a:sy n="63" d="100"/>
        </p:scale>
        <p:origin x="1698" y="66"/>
      </p:cViewPr>
      <p:guideLst>
        <p:guide orient="horz" pos="2160"/>
        <p:guide pos="2880"/>
      </p:guideLst>
    </p:cSldViewPr>
  </p:slideViewPr>
  <p:notesTextViewPr>
    <p:cViewPr>
      <p:scale>
        <a:sx n="100" d="100"/>
        <a:sy n="100" d="100"/>
      </p:scale>
      <p:origin x="0" y="0"/>
    </p:cViewPr>
  </p:notesTextViewPr>
  <p:sorterViewPr>
    <p:cViewPr>
      <p:scale>
        <a:sx n="110" d="100"/>
        <a:sy n="110" d="100"/>
      </p:scale>
      <p:origin x="0" y="-1645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5-04T16:52:19.424" idx="1">
    <p:pos x="10" y="10"/>
    <p:text>•No todas las ideas de negocios son buenas. 
•Por ejemplo, hemos visto videos de inventos, algunos, muy locos en donde las ideas buscan promotores o industriales que puedan desarrollarlas y lanzarlas en el mercado. Algunas pueden es un buen producto y quizás otros no.
•Muchas personas tienen ideas de negocios, pero lo importante es descubrir si esas ideas son buenas o no.
•Precisamente por eso, si nosotros queremos llevar a cabo un negocio a partir de ideas, será útil crear un plan comercial para que puedas desarrollar el concepto en detalle y comprobar si realmente puede funcionar, desde un punto de vista logístico y también financiero.
•El plan de negocios es como una prueba de laboratorio que permite identificar qué pasaría si se creara una empresa sin asumir el riesgo de hacerlo.
•En otras palabras, sirve para simular el futuro de la empresa y tomar decisiones. 
•Por eso es que la mayoría de los empresarios del mundo, sean grandes, pequeños, locales, multinacionales, etc., usan los planes de negocios en su día a día</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05-04T16:54:00.884" idx="2">
    <p:pos x="10" y="10"/>
    <p:text>•El plan es vital porque permite:
o Evaluar si una idea puede funcionar y por qué,
o Identificar sus fortalezas, pero también sus debilidades,
o Saber qué recursos va a necesitar,
o Determinar el potencial de una oportunidad de negocios en el mercado y aterrizarla para presentarla de forma clara y atractiva ante terceros,
o Entender qué equipo se requiere para llevar a cabo la iniciativa empresarial, entender qué riesgos pueden afectar la oportunidad de negocios y con qué mecanismos mitigarlos, y diseñar planes de corto, mediano y largo plazo.</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0-05-04T16:55:21.598" idx="3">
    <p:pos x="10" y="10"/>
    <p:text>• Un plan de negocios es una declaración formal
• Tiene un conjunto de objetivos de una idea o iniciativa empresarial, 
• Es un proceso de proyectar y evaluar.
• Es una hoja de ruta para planificar las tareas.
• Evalúa la necesidad de financiación o fondos a través de bancos o posibles inversores que puedan estar interesados en la idea.</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0-05-04T16:55:53.202" idx="4">
    <p:pos x="10" y="10"/>
    <p:text>• Un plan comercial es un documento vivo que establece los detalles del negocio. 
• Abarca todo tipo de información:
o Qué venderá.
o Cuál será su estructura.
o Cómo se verá el mercado.
o Cuál será el plan para vender el producto o servicio.
o Cuál será la financiación necesaria.
o Cuáles son las proyecciones financieras.
o Qué permisos, alquileres u otro tipo de documentación serán necesarias.</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0-05-04T16:56:36.199" idx="5">
    <p:pos x="10" y="10"/>
    <p:text>• ¿Son o no son lo mismo?
• Es una pregunta que muchos profesionales se hacen.
• Muchas veces en el mundo de la empresa se confunden usándose indistintamente.
• ¿Por qué? En primer lugar, porque ambos sirven para tomar decisiones y planificar estrategias. 
• En segundo lugar, porque ambos proyectan una empresa en el futuro.
• Son herramientas que se complementan, pero abordan preguntas y propósitos diferentes.
• A lo largo de los siglos, los modelos de negocio se han vuelto más sofisticados. 
• En el siglo XX fue introducido el modelo del cebo y el anzuelo. Esto involucra ofrecer un producto básico a un costo muy bajo y después realizar cargos recurrentes por servicios similares o recargas.
• Algunos ejemplos son: 
o celulares baratos (cebo) y tiempo facturable (anzuelo).
o Impresoras accesibles (cebo) y los cartuchos caros (anzuelo).
o atención personalizada (cebo) y comisiones altas (anzuelo).
•	Un modelo Es una herramienta previa al Plan de Negocios.
•	Es una representación abstracta de una organización.
•	Suele ser una descripción verbal, textual o grafica simple del negocio.
•	O una representación visual de una página del negocio.
•	Es utilizado para un amplio conjunto de descripciones.
•	Es dinámico.
•	Relaciona conceptos tales como acuerdos financieros, la cartera de productos o servicios.
•	Muestra las acciones necesarias para alcanzar las metas y objetivos estratégicos.</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0-05-04T16:57:34.822" idx="6">
    <p:pos x="10" y="10"/>
    <p:text>• Los modelos de negocio son utilizados para describir y clasificar negocios en el emprendimiento. 
• Se utiliza dentro de las empresas por los directivos para explorar las posibilidades de desarrollo en el futuro. 
• Los modelos de negocio privados, y conocidos, pueden ser como "recetas" para los directivos.
• El proceso de construcción de un modelo de negocio es parte de la estrategia de negocios.
• La forma en que se entregaran los productos y / o servicios a los clientes es lo que definirá el modelo de negocio.
• El Plan de Negocios es como un GPS.
• Una hoja de ruta de cómo se pretende llegar a destino. 
• Se resaltan las oportunidades de mercado que se quieren aprovechar,
• Contra quien se competirá, 
• La fortaleza y la experiencia de la empresa y sus equipos.
• Una descripción detallada de los productos y/o servicios que se ofrecerán,
• En definitiva, como se van a ejecutar las tácticas.</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0-05-04T16:58:11.644" idx="7">
    <p:pos x="10" y="10"/>
    <p:text>• Pensar el plan empezando por el final: adónde queremos llegar. Como el GPS que mencionamos.
• Detallar los objetivos a los que se apunta en el plan de negocios.
• Qué estrategias se van a utilizar para cumplir los objetivos.
• Qué acciones hay que desarrollar para llevar a cabo esta estrategia.
• Cómo vamos a medir los resultados.</p:text>
    <p:extLst>
      <p:ext uri="{C676402C-5697-4E1C-873F-D02D1690AC5C}">
        <p15:threadingInfo xmlns:p15="http://schemas.microsoft.com/office/powerpoint/2012/main" timeZoneBias="180"/>
      </p:ext>
    </p:extLst>
  </p:cm>
  <p:cm authorId="1" dt="2020-05-04T16:59:12.455" idx="8">
    <p:pos x="10" y="146"/>
    <p:text>Importante: 
• Si te piden presentar tú negocio y decides escribir un plan sin un modelo previo es probable que termines inventándote las respuestas y, viceversa.
• Hacer solo un modelo tampoco es la solución. 
• Sería como construir una casa sin un plan.</p:text>
    <p:extLst>
      <p:ext uri="{C676402C-5697-4E1C-873F-D02D1690AC5C}">
        <p15:threadingInfo xmlns:p15="http://schemas.microsoft.com/office/powerpoint/2012/main" timeZoneBias="180">
          <p15:parentCm authorId="1" idx="7"/>
        </p15:threadingInfo>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2"/>
            <a:ext cx="3170238" cy="479425"/>
          </a:xfrm>
          <a:prstGeom prst="rect">
            <a:avLst/>
          </a:prstGeom>
        </p:spPr>
        <p:txBody>
          <a:bodyPr vert="horz" lIns="91440" tIns="45720" rIns="91440" bIns="45720" rtlCol="0"/>
          <a:lstStyle>
            <a:lvl1pPr algn="l">
              <a:defRPr sz="1200"/>
            </a:lvl1pPr>
          </a:lstStyle>
          <a:p>
            <a:endParaRPr lang="es-AR" dirty="0"/>
          </a:p>
        </p:txBody>
      </p:sp>
      <p:sp>
        <p:nvSpPr>
          <p:cNvPr id="3" name="2 Marcador de fecha"/>
          <p:cNvSpPr>
            <a:spLocks noGrp="1"/>
          </p:cNvSpPr>
          <p:nvPr>
            <p:ph type="dt" sz="quarter" idx="1"/>
          </p:nvPr>
        </p:nvSpPr>
        <p:spPr>
          <a:xfrm>
            <a:off x="4143375" y="2"/>
            <a:ext cx="3170238" cy="479425"/>
          </a:xfrm>
          <a:prstGeom prst="rect">
            <a:avLst/>
          </a:prstGeom>
        </p:spPr>
        <p:txBody>
          <a:bodyPr vert="horz" lIns="91440" tIns="45720" rIns="91440" bIns="45720" rtlCol="0"/>
          <a:lstStyle>
            <a:lvl1pPr algn="r">
              <a:defRPr sz="1200"/>
            </a:lvl1pPr>
          </a:lstStyle>
          <a:p>
            <a:fld id="{3B95D086-4F08-4AAE-9722-C2DAE5DE3ED9}" type="datetimeFigureOut">
              <a:rPr lang="es-AR" smtClean="0"/>
              <a:pPr/>
              <a:t>25/7/2026</a:t>
            </a:fld>
            <a:endParaRPr lang="es-AR" dirty="0"/>
          </a:p>
        </p:txBody>
      </p:sp>
      <p:sp>
        <p:nvSpPr>
          <p:cNvPr id="4" name="3 Marcador de pie de página"/>
          <p:cNvSpPr>
            <a:spLocks noGrp="1"/>
          </p:cNvSpPr>
          <p:nvPr>
            <p:ph type="ftr" sz="quarter" idx="2"/>
          </p:nvPr>
        </p:nvSpPr>
        <p:spPr>
          <a:xfrm>
            <a:off x="0" y="9120189"/>
            <a:ext cx="3170238" cy="479425"/>
          </a:xfrm>
          <a:prstGeom prst="rect">
            <a:avLst/>
          </a:prstGeom>
        </p:spPr>
        <p:txBody>
          <a:bodyPr vert="horz" lIns="91440" tIns="45720" rIns="91440" bIns="45720" rtlCol="0" anchor="b"/>
          <a:lstStyle>
            <a:lvl1pPr algn="l">
              <a:defRPr sz="1200"/>
            </a:lvl1pPr>
          </a:lstStyle>
          <a:p>
            <a:endParaRPr lang="es-AR" dirty="0"/>
          </a:p>
        </p:txBody>
      </p:sp>
      <p:sp>
        <p:nvSpPr>
          <p:cNvPr id="5" name="4 Marcador de número de diapositiva"/>
          <p:cNvSpPr>
            <a:spLocks noGrp="1"/>
          </p:cNvSpPr>
          <p:nvPr>
            <p:ph type="sldNum" sz="quarter" idx="3"/>
          </p:nvPr>
        </p:nvSpPr>
        <p:spPr>
          <a:xfrm>
            <a:off x="4143375" y="9120189"/>
            <a:ext cx="3170238" cy="479425"/>
          </a:xfrm>
          <a:prstGeom prst="rect">
            <a:avLst/>
          </a:prstGeom>
        </p:spPr>
        <p:txBody>
          <a:bodyPr vert="horz" lIns="91440" tIns="45720" rIns="91440" bIns="45720" rtlCol="0" anchor="b"/>
          <a:lstStyle>
            <a:lvl1pPr algn="r">
              <a:defRPr sz="1200"/>
            </a:lvl1pPr>
          </a:lstStyle>
          <a:p>
            <a:fld id="{DE1AC37F-4CBC-49DE-820E-5608AB840C0F}" type="slidenum">
              <a:rPr lang="es-AR" smtClean="0"/>
              <a:pPr/>
              <a:t>‹Nº›</a:t>
            </a:fld>
            <a:endParaRPr lang="es-AR" dirty="0"/>
          </a:p>
        </p:txBody>
      </p:sp>
    </p:spTree>
    <p:extLst>
      <p:ext uri="{BB962C8B-B14F-4D97-AF65-F5344CB8AC3E}">
        <p14:creationId xmlns:p14="http://schemas.microsoft.com/office/powerpoint/2010/main" val="244411219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16:49:38.334"/>
    </inkml:context>
    <inkml:brush xml:id="br0">
      <inkml:brushProperty name="width" value="0.05" units="cm"/>
      <inkml:brushProperty name="height" value="0.05" units="cm"/>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17:21:43.588"/>
    </inkml:context>
    <inkml:brush xml:id="br0">
      <inkml:brushProperty name="width" value="0.05" units="cm"/>
      <inkml:brushProperty name="height" value="0.05" units="cm"/>
    </inkml:brush>
  </inkml:definitions>
  <inkml:trace contextRef="#ctx0" brushRef="#br0">135 45 24575,'20'-1'0,"-1"-1"0,0-1 0,22-5 0,26-4 0,663-7 0,-486 21 0,-218-2 0,1 1 0,-1 1 0,0 2 0,49 11 0,-66-12 0,0 0 0,0 1 0,0-1 0,-1 2 0,1-1 0,-1 1 0,0 0 0,-1 1 0,1 0 0,-1 0 0,0 1 0,-1-1 0,0 1 0,0 1 0,0-1 0,-1 1 0,5 10 0,5 18 0,-2 1 0,-1 0 0,-2 0 0,9 63 0,-2-18 0,-9-52 0,-2 0 0,4 45 0,-9 207 0,-2-142 0,0-129 0,1 0 0,-1 1 0,-1-1 0,0 0 0,0 0 0,-1 0 0,-1-1 0,0 1 0,0-1 0,-1 1 0,-12 17 0,1-7 0,-1-1 0,0 0 0,-40 33 0,34-33 0,-1-2 0,-1-1 0,0 0 0,-1-2 0,-1-1 0,0-1 0,-1-2 0,0 0 0,-53 11 0,15-7 0,0-3 0,-92 5 0,-55 4 0,-25 1 0,204-21 0,12-1 0,-1 0 0,1-1 0,-31-5 0,46 4 0,-1 0 0,1 0 0,0-1 0,-1 0 0,1 0 0,1-1 0,-1 0 0,0 0 0,1 0 0,0-1 0,0 0 0,1-1 0,-9-9 0,4 2 0,0-1 0,1 0 0,1 0 0,0-1 0,-10-28 0,-19-85 0,17 55 0,-18-46 0,21 73 0,2-1 0,2-1 0,2 0 0,2-1 0,-3-64 0,10 56 0,0 19 0,2 0 0,1 1 0,2-1 0,8-42 0,-3 54 33,2 0 1,1 0-1,18-31 0,17-41-1531,-37 70-5328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17:21:46.764"/>
    </inkml:context>
    <inkml:brush xml:id="br0">
      <inkml:brushProperty name="width" value="0.05" units="cm"/>
      <inkml:brushProperty name="height" value="0.05" units="cm"/>
    </inkml:brush>
  </inkml:definitions>
  <inkml:trace contextRef="#ctx0" brushRef="#br0">1 18 24575,'0'-8'0,"0"-1"-8191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16:49:38.334"/>
    </inkml:context>
    <inkml:brush xml:id="br0">
      <inkml:brushProperty name="width" value="0.05" units="cm"/>
      <inkml:brushProperty name="height" value="0.05" units="cm"/>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17:21:20.491"/>
    </inkml:context>
    <inkml:brush xml:id="br0">
      <inkml:brushProperty name="width" value="0.05" units="cm"/>
      <inkml:brushProperty name="height" value="0.05" units="cm"/>
    </inkml:brush>
  </inkml:definitions>
  <inkml:trace contextRef="#ctx0" brushRef="#br0">432 1 24575,'1125'0'0,"-1105"-1"0,0 2 0,-1 1 0,1 0 0,0 1 0,-1 1 0,26 9 0,-37-10 0,0 1 0,0 0 0,0 0 0,0 1 0,-1 0 0,0 0 0,0 0 0,0 1 0,0 1 0,-1-1 0,0 1 0,-1 0 0,0 0 0,0 0 0,0 1 0,4 10 0,-1 3 0,-1 0 0,0 1 0,-2 0 0,-1 0 0,2 34 0,-2-22 0,10 44 0,-3-23 0,-3 1 0,-3 0 0,-2 1 0,-5 73 0,0-44 0,2-72 0,0-1 0,-1 1 0,-1-1 0,0 0 0,-1 1 0,0-1 0,-1 0 0,-1-1 0,0 1 0,-10 16 0,11-22 0,-1-1 0,0 1 0,0-1 0,-1 0 0,0 0 0,0 0 0,0-1 0,-1 0 0,0 0 0,0-1 0,0 0 0,0 0 0,-1-1 0,1 1 0,-1-2 0,0 1 0,0-1 0,-10 1 0,-42 4 0,-1-3 0,-107-8 0,46 0 0,48 4 0,0 2 0,-127 22 0,162-17 0,23-5 0,1 0 0,0 1 0,0 1 0,1 1 0,-1 0 0,-17 9 0,6 1 0,-1 0 0,-1-2 0,0-1 0,0-1 0,-2-2 0,1-1 0,-1-1 0,0-1 0,0-2 0,-35 0 0,16-3 0,-148-5 0,190 3 0,0 0 0,1-1 0,-1 0 0,1 0 0,-1-1 0,1 0 0,0 0 0,0 0 0,0-1 0,1 0 0,-1 0 0,1 0 0,0-1 0,0 0 0,0 0 0,1 0 0,-1 0 0,1-1 0,1 0 0,-6-9 0,-5-13 0,2-1 0,0 0 0,-9-38 0,10 30 0,1-2 0,3-1 0,1 0 0,2 0 0,2 0 0,1 0 0,9-78 0,-6 108 0,0 0 0,0 0 0,1 0 0,0 0 0,1 1 0,0-1 0,0 1 0,1 0 0,0 0 0,1 1 0,9-12 0,7-5 0,2 1 0,30-24 0,11-12 0,-40 37-8,2 1 0,31-20-1,-32 25 45,-1-2-1,40-39 0,-58 51-146,-1-1 0,1 0 0,-1 0-1,-1 0 1,0-1 0,0 0 0,-1 0-1,0 0 1,0-1 0,-1 0 0,0 1-1,2-18 1,-2-7-6715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1" y="0"/>
            <a:ext cx="3169920" cy="480060"/>
          </a:xfrm>
          <a:prstGeom prst="rect">
            <a:avLst/>
          </a:prstGeom>
        </p:spPr>
        <p:txBody>
          <a:bodyPr vert="horz" lIns="96651" tIns="48325" rIns="96651" bIns="48325" rtlCol="0"/>
          <a:lstStyle>
            <a:lvl1pPr algn="l">
              <a:defRPr sz="1200"/>
            </a:lvl1pPr>
          </a:lstStyle>
          <a:p>
            <a:endParaRPr lang="es-AR" dirty="0"/>
          </a:p>
        </p:txBody>
      </p:sp>
      <p:sp>
        <p:nvSpPr>
          <p:cNvPr id="3" name="2 Marcador de fecha"/>
          <p:cNvSpPr>
            <a:spLocks noGrp="1"/>
          </p:cNvSpPr>
          <p:nvPr>
            <p:ph type="dt" idx="1"/>
          </p:nvPr>
        </p:nvSpPr>
        <p:spPr>
          <a:xfrm>
            <a:off x="4143588" y="0"/>
            <a:ext cx="3169920" cy="480060"/>
          </a:xfrm>
          <a:prstGeom prst="rect">
            <a:avLst/>
          </a:prstGeom>
        </p:spPr>
        <p:txBody>
          <a:bodyPr vert="horz" lIns="96651" tIns="48325" rIns="96651" bIns="48325" rtlCol="0"/>
          <a:lstStyle>
            <a:lvl1pPr algn="r">
              <a:defRPr sz="1200"/>
            </a:lvl1pPr>
          </a:lstStyle>
          <a:p>
            <a:fld id="{F4D8D38B-E485-4C7C-9FFA-DBE7FDEC11E9}" type="datetimeFigureOut">
              <a:rPr lang="es-AR" smtClean="0"/>
              <a:pPr/>
              <a:t>25/7/2026</a:t>
            </a:fld>
            <a:endParaRPr lang="es-AR" dirty="0"/>
          </a:p>
        </p:txBody>
      </p:sp>
      <p:sp>
        <p:nvSpPr>
          <p:cNvPr id="4" name="3 Marcador de imagen de diapositiva"/>
          <p:cNvSpPr>
            <a:spLocks noGrp="1" noRot="1" noChangeAspect="1"/>
          </p:cNvSpPr>
          <p:nvPr>
            <p:ph type="sldImg" idx="2"/>
          </p:nvPr>
        </p:nvSpPr>
        <p:spPr>
          <a:xfrm>
            <a:off x="1258888" y="720725"/>
            <a:ext cx="4797425" cy="3598863"/>
          </a:xfrm>
          <a:prstGeom prst="rect">
            <a:avLst/>
          </a:prstGeom>
          <a:noFill/>
          <a:ln w="12700">
            <a:solidFill>
              <a:prstClr val="black"/>
            </a:solidFill>
          </a:ln>
        </p:spPr>
        <p:txBody>
          <a:bodyPr vert="horz" lIns="96651" tIns="48325" rIns="96651" bIns="48325" rtlCol="0" anchor="ctr"/>
          <a:lstStyle/>
          <a:p>
            <a:endParaRPr lang="es-AR" dirty="0"/>
          </a:p>
        </p:txBody>
      </p:sp>
      <p:sp>
        <p:nvSpPr>
          <p:cNvPr id="5" name="4 Marcador de notas"/>
          <p:cNvSpPr>
            <a:spLocks noGrp="1"/>
          </p:cNvSpPr>
          <p:nvPr>
            <p:ph type="body" sz="quarter" idx="3"/>
          </p:nvPr>
        </p:nvSpPr>
        <p:spPr>
          <a:xfrm>
            <a:off x="731521" y="4560572"/>
            <a:ext cx="5852160" cy="4320540"/>
          </a:xfrm>
          <a:prstGeom prst="rect">
            <a:avLst/>
          </a:prstGeom>
        </p:spPr>
        <p:txBody>
          <a:bodyPr vert="horz" lIns="96651" tIns="48325" rIns="96651" bIns="48325"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1" y="9119474"/>
            <a:ext cx="3169920" cy="480060"/>
          </a:xfrm>
          <a:prstGeom prst="rect">
            <a:avLst/>
          </a:prstGeom>
        </p:spPr>
        <p:txBody>
          <a:bodyPr vert="horz" lIns="96651" tIns="48325" rIns="96651" bIns="48325" rtlCol="0" anchor="b"/>
          <a:lstStyle>
            <a:lvl1pPr algn="l">
              <a:defRPr sz="1200"/>
            </a:lvl1pPr>
          </a:lstStyle>
          <a:p>
            <a:endParaRPr lang="es-AR" dirty="0"/>
          </a:p>
        </p:txBody>
      </p:sp>
      <p:sp>
        <p:nvSpPr>
          <p:cNvPr id="7" name="6 Marcador de número de diapositiva"/>
          <p:cNvSpPr>
            <a:spLocks noGrp="1"/>
          </p:cNvSpPr>
          <p:nvPr>
            <p:ph type="sldNum" sz="quarter" idx="5"/>
          </p:nvPr>
        </p:nvSpPr>
        <p:spPr>
          <a:xfrm>
            <a:off x="4143588" y="9119474"/>
            <a:ext cx="3169920" cy="480060"/>
          </a:xfrm>
          <a:prstGeom prst="rect">
            <a:avLst/>
          </a:prstGeom>
        </p:spPr>
        <p:txBody>
          <a:bodyPr vert="horz" lIns="96651" tIns="48325" rIns="96651" bIns="48325" rtlCol="0" anchor="b"/>
          <a:lstStyle>
            <a:lvl1pPr algn="r">
              <a:defRPr sz="1200"/>
            </a:lvl1pPr>
          </a:lstStyle>
          <a:p>
            <a:fld id="{642CD49D-23CD-4411-9779-B795DC2C055D}" type="slidenum">
              <a:rPr lang="es-AR" smtClean="0"/>
              <a:pPr/>
              <a:t>‹Nº›</a:t>
            </a:fld>
            <a:endParaRPr lang="es-AR" dirty="0"/>
          </a:p>
        </p:txBody>
      </p:sp>
    </p:spTree>
    <p:extLst>
      <p:ext uri="{BB962C8B-B14F-4D97-AF65-F5344CB8AC3E}">
        <p14:creationId xmlns:p14="http://schemas.microsoft.com/office/powerpoint/2010/main" val="2937232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42CD49D-23CD-4411-9779-B795DC2C055D}" type="slidenum">
              <a:rPr lang="es-AR" smtClean="0"/>
              <a:pPr/>
              <a:t>21</a:t>
            </a:fld>
            <a:endParaRPr lang="es-AR" dirty="0"/>
          </a:p>
        </p:txBody>
      </p:sp>
    </p:spTree>
    <p:extLst>
      <p:ext uri="{BB962C8B-B14F-4D97-AF65-F5344CB8AC3E}">
        <p14:creationId xmlns:p14="http://schemas.microsoft.com/office/powerpoint/2010/main" val="3232386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AR"/>
          </a:p>
        </p:txBody>
      </p:sp>
      <p:sp>
        <p:nvSpPr>
          <p:cNvPr id="4" name="3 Marcador de fecha"/>
          <p:cNvSpPr>
            <a:spLocks noGrp="1"/>
          </p:cNvSpPr>
          <p:nvPr>
            <p:ph type="dt" sz="half" idx="10"/>
          </p:nvPr>
        </p:nvSpPr>
        <p:spPr/>
        <p:txBody>
          <a:bodyPr/>
          <a:lstStyle/>
          <a:p>
            <a:fld id="{0ACE1002-0056-4C89-9D24-C12C003693D9}" type="datetimeFigureOut">
              <a:rPr lang="es-AR" smtClean="0"/>
              <a:pPr/>
              <a:t>25/7/2026</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0ACE1002-0056-4C89-9D24-C12C003693D9}" type="datetimeFigureOut">
              <a:rPr lang="es-AR" smtClean="0"/>
              <a:pPr/>
              <a:t>25/7/2026</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0ACE1002-0056-4C89-9D24-C12C003693D9}" type="datetimeFigureOut">
              <a:rPr lang="es-AR" smtClean="0"/>
              <a:pPr/>
              <a:t>25/7/2026</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fecha"/>
          <p:cNvSpPr>
            <a:spLocks noGrp="1"/>
          </p:cNvSpPr>
          <p:nvPr>
            <p:ph type="dt" sz="half" idx="10"/>
          </p:nvPr>
        </p:nvSpPr>
        <p:spPr/>
        <p:txBody>
          <a:bodyPr/>
          <a:lstStyle/>
          <a:p>
            <a:fld id="{0ACE1002-0056-4C89-9D24-C12C003693D9}" type="datetimeFigureOut">
              <a:rPr lang="es-AR" smtClean="0"/>
              <a:pPr/>
              <a:t>25/7/2026</a:t>
            </a:fld>
            <a:endParaRPr lang="es-AR" dirty="0"/>
          </a:p>
        </p:txBody>
      </p:sp>
      <p:sp>
        <p:nvSpPr>
          <p:cNvPr id="6" name="5 Marcador de pie de página"/>
          <p:cNvSpPr>
            <a:spLocks noGrp="1"/>
          </p:cNvSpPr>
          <p:nvPr>
            <p:ph type="ftr" sz="quarter" idx="11"/>
          </p:nvPr>
        </p:nvSpPr>
        <p:spPr/>
        <p:txBody>
          <a:bodyPr/>
          <a:lstStyle/>
          <a:p>
            <a:endParaRPr lang="es-AR" dirty="0"/>
          </a:p>
        </p:txBody>
      </p:sp>
      <p:sp>
        <p:nvSpPr>
          <p:cNvPr id="7" name="6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6 Marcador de fecha"/>
          <p:cNvSpPr>
            <a:spLocks noGrp="1"/>
          </p:cNvSpPr>
          <p:nvPr>
            <p:ph type="dt" sz="half" idx="10"/>
          </p:nvPr>
        </p:nvSpPr>
        <p:spPr/>
        <p:txBody>
          <a:bodyPr/>
          <a:lstStyle/>
          <a:p>
            <a:fld id="{0ACE1002-0056-4C89-9D24-C12C003693D9}" type="datetimeFigureOut">
              <a:rPr lang="es-AR" smtClean="0"/>
              <a:pPr/>
              <a:t>25/7/2026</a:t>
            </a:fld>
            <a:endParaRPr lang="es-AR" dirty="0"/>
          </a:p>
        </p:txBody>
      </p:sp>
      <p:sp>
        <p:nvSpPr>
          <p:cNvPr id="8" name="7 Marcador de pie de página"/>
          <p:cNvSpPr>
            <a:spLocks noGrp="1"/>
          </p:cNvSpPr>
          <p:nvPr>
            <p:ph type="ftr" sz="quarter" idx="11"/>
          </p:nvPr>
        </p:nvSpPr>
        <p:spPr/>
        <p:txBody>
          <a:bodyPr/>
          <a:lstStyle/>
          <a:p>
            <a:endParaRPr lang="es-AR" dirty="0"/>
          </a:p>
        </p:txBody>
      </p:sp>
      <p:sp>
        <p:nvSpPr>
          <p:cNvPr id="9" name="8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fecha"/>
          <p:cNvSpPr>
            <a:spLocks noGrp="1"/>
          </p:cNvSpPr>
          <p:nvPr>
            <p:ph type="dt" sz="half" idx="10"/>
          </p:nvPr>
        </p:nvSpPr>
        <p:spPr/>
        <p:txBody>
          <a:bodyPr/>
          <a:lstStyle/>
          <a:p>
            <a:fld id="{0ACE1002-0056-4C89-9D24-C12C003693D9}" type="datetimeFigureOut">
              <a:rPr lang="es-AR" smtClean="0"/>
              <a:pPr/>
              <a:t>25/7/2026</a:t>
            </a:fld>
            <a:endParaRPr lang="es-AR" dirty="0"/>
          </a:p>
        </p:txBody>
      </p:sp>
      <p:sp>
        <p:nvSpPr>
          <p:cNvPr id="4" name="3 Marcador de pie de página"/>
          <p:cNvSpPr>
            <a:spLocks noGrp="1"/>
          </p:cNvSpPr>
          <p:nvPr>
            <p:ph type="ftr" sz="quarter" idx="11"/>
          </p:nvPr>
        </p:nvSpPr>
        <p:spPr/>
        <p:txBody>
          <a:bodyPr/>
          <a:lstStyle/>
          <a:p>
            <a:endParaRPr lang="es-AR" dirty="0"/>
          </a:p>
        </p:txBody>
      </p:sp>
      <p:sp>
        <p:nvSpPr>
          <p:cNvPr id="5" name="4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ACE1002-0056-4C89-9D24-C12C003693D9}" type="datetimeFigureOut">
              <a:rPr lang="es-AR" smtClean="0"/>
              <a:pPr/>
              <a:t>25/7/2026</a:t>
            </a:fld>
            <a:endParaRPr lang="es-AR" dirty="0"/>
          </a:p>
        </p:txBody>
      </p:sp>
      <p:sp>
        <p:nvSpPr>
          <p:cNvPr id="3" name="2 Marcador de pie de página"/>
          <p:cNvSpPr>
            <a:spLocks noGrp="1"/>
          </p:cNvSpPr>
          <p:nvPr>
            <p:ph type="ftr" sz="quarter" idx="11"/>
          </p:nvPr>
        </p:nvSpPr>
        <p:spPr/>
        <p:txBody>
          <a:bodyPr/>
          <a:lstStyle/>
          <a:p>
            <a:endParaRPr lang="es-AR" dirty="0"/>
          </a:p>
        </p:txBody>
      </p:sp>
      <p:sp>
        <p:nvSpPr>
          <p:cNvPr id="4" name="3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0ACE1002-0056-4C89-9D24-C12C003693D9}" type="datetimeFigureOut">
              <a:rPr lang="es-AR" smtClean="0"/>
              <a:pPr/>
              <a:t>25/7/2026</a:t>
            </a:fld>
            <a:endParaRPr lang="es-AR" dirty="0"/>
          </a:p>
        </p:txBody>
      </p:sp>
      <p:sp>
        <p:nvSpPr>
          <p:cNvPr id="6" name="5 Marcador de pie de página"/>
          <p:cNvSpPr>
            <a:spLocks noGrp="1"/>
          </p:cNvSpPr>
          <p:nvPr>
            <p:ph type="ftr" sz="quarter" idx="11"/>
          </p:nvPr>
        </p:nvSpPr>
        <p:spPr/>
        <p:txBody>
          <a:bodyPr/>
          <a:lstStyle/>
          <a:p>
            <a:endParaRPr lang="es-AR" dirty="0"/>
          </a:p>
        </p:txBody>
      </p:sp>
      <p:sp>
        <p:nvSpPr>
          <p:cNvPr id="7" name="6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0ACE1002-0056-4C89-9D24-C12C003693D9}" type="datetimeFigureOut">
              <a:rPr lang="es-AR" smtClean="0"/>
              <a:pPr/>
              <a:t>25/7/2026</a:t>
            </a:fld>
            <a:endParaRPr lang="es-AR" dirty="0"/>
          </a:p>
        </p:txBody>
      </p:sp>
      <p:sp>
        <p:nvSpPr>
          <p:cNvPr id="6" name="5 Marcador de pie de página"/>
          <p:cNvSpPr>
            <a:spLocks noGrp="1"/>
          </p:cNvSpPr>
          <p:nvPr>
            <p:ph type="ftr" sz="quarter" idx="11"/>
          </p:nvPr>
        </p:nvSpPr>
        <p:spPr/>
        <p:txBody>
          <a:bodyPr/>
          <a:lstStyle/>
          <a:p>
            <a:endParaRPr lang="es-AR" dirty="0"/>
          </a:p>
        </p:txBody>
      </p:sp>
      <p:sp>
        <p:nvSpPr>
          <p:cNvPr id="7" name="6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0ACE1002-0056-4C89-9D24-C12C003693D9}" type="datetimeFigureOut">
              <a:rPr lang="es-AR" smtClean="0"/>
              <a:pPr/>
              <a:t>25/7/2026</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0ACE1002-0056-4C89-9D24-C12C003693D9}" type="datetimeFigureOut">
              <a:rPr lang="es-AR" smtClean="0"/>
              <a:pPr/>
              <a:t>25/7/2026</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914400" y="277813"/>
            <a:ext cx="7772400" cy="585311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3" name="Rectangle 11"/>
          <p:cNvSpPr>
            <a:spLocks noGrp="1" noChangeArrowheads="1"/>
          </p:cNvSpPr>
          <p:nvPr>
            <p:ph type="sldNum" sz="quarter" idx="10"/>
          </p:nvPr>
        </p:nvSpPr>
        <p:spPr>
          <a:xfrm>
            <a:off x="8563708" y="6521450"/>
            <a:ext cx="580292" cy="457200"/>
          </a:xfrm>
        </p:spPr>
        <p:txBody>
          <a:bodyPr/>
          <a:lstStyle>
            <a:lvl1pPr>
              <a:defRPr sz="900" baseline="0" smtClean="0"/>
            </a:lvl1pPr>
          </a:lstStyle>
          <a:p>
            <a:pPr>
              <a:defRPr/>
            </a:pPr>
            <a:fld id="{A565677F-B55A-4D74-8EF5-FFA5A17B937F}" type="slidenum">
              <a:rPr lang="es-ES"/>
              <a:pPr>
                <a:defRPr/>
              </a:pPr>
              <a:t>‹Nº›</a:t>
            </a:fld>
            <a:endParaRPr lang="es-ES" dirty="0"/>
          </a:p>
        </p:txBody>
      </p:sp>
    </p:spTree>
    <p:extLst>
      <p:ext uri="{BB962C8B-B14F-4D97-AF65-F5344CB8AC3E}">
        <p14:creationId xmlns:p14="http://schemas.microsoft.com/office/powerpoint/2010/main" val="440559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E1002-0056-4C89-9D24-C12C003693D9}" type="datetimeFigureOut">
              <a:rPr lang="es-AR" smtClean="0"/>
              <a:pPr/>
              <a:t>25/7/2026</a:t>
            </a:fld>
            <a:endParaRPr lang="es-AR"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37B6C3-4367-4234-BEE8-B6D91C28DACF}" type="slidenum">
              <a:rPr lang="es-AR" smtClean="0"/>
              <a:pPr/>
              <a:t>‹Nº›</a:t>
            </a:fld>
            <a:endParaRPr lang="es-A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ufjf.br/secom/2014/05/07/projeto-de-extensao-torna-economia-parte-do-dia-a-dia-da-populacao/" TargetMode="External"/><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customXml" Target="../ink/ink1.xml"/><Relationship Id="rId7" Type="http://schemas.openxmlformats.org/officeDocument/2006/relationships/image" Target="../media/image18.png"/><Relationship Id="rId2" Type="http://schemas.openxmlformats.org/officeDocument/2006/relationships/image" Target="../media/image15.jpeg"/><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5.png"/><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customXml" Target="../ink/ink5.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hyperlink" Target="https://www.ufjf.br/secom/2014/05/07/projeto-de-extensao-torna-economia-parte-do-dia-a-dia-da-populacao/" TargetMode="External"/><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hyperlink" Target="http://centromujer.republica.com/trabajo/ideas-para-mejorar-tu-escritorio.html" TargetMode="External"/><Relationship Id="rId2" Type="http://schemas.openxmlformats.org/officeDocument/2006/relationships/image" Target="../media/image3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6"/>
          <p:cNvPicPr>
            <a:picLocks noChangeAspect="1" noChangeArrowheads="1"/>
          </p:cNvPicPr>
          <p:nvPr/>
        </p:nvPicPr>
        <p:blipFill>
          <a:blip r:embed="rId2" cstate="print"/>
          <a:srcRect/>
          <a:stretch>
            <a:fillRect/>
          </a:stretch>
        </p:blipFill>
        <p:spPr bwMode="auto">
          <a:xfrm>
            <a:off x="-197565" y="953344"/>
            <a:ext cx="9341565" cy="5904656"/>
          </a:xfrm>
          <a:prstGeom prst="rect">
            <a:avLst/>
          </a:prstGeom>
          <a:noFill/>
          <a:ln w="12700">
            <a:noFill/>
            <a:miter lim="800000"/>
            <a:headEnd/>
            <a:tailEnd/>
          </a:ln>
          <a:effectLst/>
        </p:spPr>
      </p:pic>
      <p:sp>
        <p:nvSpPr>
          <p:cNvPr id="6" name="5 Rectángulo redondeado"/>
          <p:cNvSpPr/>
          <p:nvPr/>
        </p:nvSpPr>
        <p:spPr>
          <a:xfrm>
            <a:off x="-571536" y="188639"/>
            <a:ext cx="8743936" cy="1224137"/>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11" name="10 CuadroTexto"/>
          <p:cNvSpPr txBox="1"/>
          <p:nvPr/>
        </p:nvSpPr>
        <p:spPr>
          <a:xfrm>
            <a:off x="0" y="508639"/>
            <a:ext cx="7956376" cy="618631"/>
          </a:xfrm>
          <a:prstGeom prst="rect">
            <a:avLst/>
          </a:prstGeom>
          <a:noFill/>
        </p:spPr>
        <p:txBody>
          <a:bodyPr wrap="square" rtlCol="0">
            <a:spAutoFit/>
          </a:bodyPr>
          <a:lstStyle/>
          <a:p>
            <a:pPr algn="ctr">
              <a:lnSpc>
                <a:spcPct val="95000"/>
              </a:lnSpc>
              <a:defRPr/>
            </a:pPr>
            <a:r>
              <a:rPr lang="es-AR" sz="3600" b="1" dirty="0">
                <a:latin typeface="+mj-lt"/>
              </a:rPr>
              <a:t>Plan de Negocios</a:t>
            </a:r>
            <a:endParaRPr lang="es-MX" sz="3600" b="1" dirty="0">
              <a:effectLst>
                <a:outerShdw blurRad="38100" dist="38100" dir="2700000" algn="tl">
                  <a:srgbClr val="C0C0C0"/>
                </a:outerShdw>
              </a:effectLst>
              <a:cs typeface="Arial" panose="020B0604020202020204" pitchFamily="34" charset="0"/>
            </a:endParaRPr>
          </a:p>
        </p:txBody>
      </p:sp>
      <p:sp>
        <p:nvSpPr>
          <p:cNvPr id="75778" name="AutoShape 2" descr="data:image/jpg;base64,/9j/4AAQSkZJRgABAQAAAQABAAD/2wCEAAkGBhQRERQUEhMWFBUVFh8YDxQYEhQYGhUbHxkYFB8VEhQYGyYeGBokGSMVIDEsJCc1LTgsHiM9NTArNSwyLikBCQoKDQwNGQ4OGTUjHiQ1KjUwMjQ1MCw0NSw1LDQ1KSk0LCwsLC82LCwtNjQsNCk0LCw2LCw0LDUyLCwsNCwsKf/AABEIADAAkAMBIgACEQEDEQH/xAAbAAACAgMBAAAAAAAAAAAAAAAABgEHAwQFAv/EADMQAAIBAwIFAgQEBgMAAAAAAAECAwAEERIhBQYTMUEiUQcyYYEUcZHBI1Jik6GiFUNT/8QAGQEAAwEBAQAAAAAAAAAAAAAAAAEDAgQF/8QAIhEAAgIBBAMBAQEAAAAAAAAAAAECEQMEEiFhEzFBYnFR/9oADAMBAAIRAxEAPwC7Kg14uGwpIOMfp9/pSrzdzk1rDG0SAu7FTqziMrjUCAd2yffGN964xZMkccXKXobRRS9y/wAzm4tUlZQrsxTSM4JXuwzuFAyT7YNc74i8zy2cEJhbTJI/cqD6QpJ9J7blK3jxvJJRX0Fki4KfwcqKqTh3MnGriPqQjqJkgMIodyNiADv3rf5H+IlxNdLb3WlteQjBNLKwBOGA2I2I7ZzXTLRzim7Trsys0W6LMqaq3nvn25t7x4beRVRFXUDGreojUdyPYisY4vx7/wAn/sQ0LSScVJtK+weZXVFq0Uh8c5ju7ThcUkp03UjgHKJ6RlmxoxjZB/mtr4a8dubyOaS4cMFcJHhFXHp1N2791/SpPTyUHk+I0sicto5VNFFQKhRRRQAUUUUAFFFFAGG6+U/t3+3ufp5pIu7qJHPXRXgOOuCCQoABEy+copX6mJh5jNPciBgQfNV9zNEyOfm1AjGkAswJYhkXsSTrIHbV1U7SCqYyGbiJucOug7gqnTUemGMLjpoCCF0/zElHb+pok8GlT4uX2q5hi8Rw5O+d3bPfzsFpn5UtzIw7jbLb50rlhu3lieoM+WMrfy0tc1cnXl1fyuIG6bOFVtSYCAKmrGrtjJ7V26Xastt1RF28fH05Q5lv7GGOAHooya4v4aZKsS2oNg75pp+G/I7K6XkrqwK6oFVtWS2QXdvcAnb3zntv2PiLyo11bJ0E1SQsOmoIBKEBSoJ/JT9vrWlyRZ3ttaXMMsDAhWa09SbsykFBhtvVpb7mqSyqeFuFJv2NQanT5K94iz3l/IYhreWZjEu2+Ccd9vlApyWXj/bGM+dNvtv3/esXw95KuYL1ZbiFkVEbSSynLEBQPSTvgk1atLU6hRajFJ8Bjxt8vgqr4xXvrtoc50qzt9SSEB/QPTZ8M7Hp8Oh95NUh+52/1ApQ595Wvbq9kkjgZkCqsTak3AXvu2fmJqz+G2giijjHaNFQfYBanmklp4wT/puCfkcmbVFRRXnnQTRRUUATRUUUDJoqKmkIiuJzXwQ3EOUUNIgOhScCQHGqJmHyhsAg+GVT4ruUVpOnYmk1TOZwHhP4eEKcFzvKwGAWwBhR4RQAqj2UUrpweY3kjyWzyS9cvBcdfRHHEF9CKFOTk7MuN8nJp6orccri2/8AROC9CLZvxRlAbqKXaESMyQZjOpmmaNRsYgulRnJyfzr3avxLNqHEhyc3G0S7GU/PIMjKxYyukZzsc9neprfm/KFs7K8u04lPDJG8cih0dWz0hkvOFGkqc6Y4MnPmsq2t9E0xQXGlrnT6eizLAqMI/wAOG2AJ0g+w8ZJNPtTR536pC2diRp4oY5GLYkjgjEcYWLTLKQTI2f6QRtsCwHjY45ZeJCJdPVZjIxA0Rq2jChVeQj0+rWwJTtscY3e6KPN+UPZ2J/PfD5pvwyRxvIiuXn0hG7LpUFGdAwJJ8+KxcPgu45I41SWOJRGYwiW4Q5y0pudTMVOdsIfyzTrRSWao7aDZzYhwScVZTnWrNoVyyw4jczetoAO8Sw5+bcnFYryPibRqpDsSZGjysBOsTfwhc59IjEY1HSO9WDRT835QbOxFvv8AlC0jI0irmfpoqw4wqqsQUtk5d9TbnZfrRLDfq7vpf1PHHK8SQmUxpBktHq2w05Yb9h2FPNTR5ukGzsTC/EetEMSaR0skiDSy7mb8QV/7OygJtnH1rocqPds0putenbpagi9yxIEYBK4GkfMQfFMVFZlltVQ1Hs//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dirty="0"/>
          </a:p>
        </p:txBody>
      </p:sp>
      <p:sp>
        <p:nvSpPr>
          <p:cNvPr id="75780" name="AutoShape 4" descr="data:image/jpg;base64,/9j/4AAQSkZJRgABAQAAAQABAAD/2wCEAAkGBhQRERQUEhMWFBUVFh8YDxQYEhQYGhUbHxkYFB8VEhQYGyYeGBokGSMVIDEsJCc1LTgsHiM9NTArNSwyLikBCQoKDQwNGQ4OGTUjHiQ1KjUwMjQ1MCw0NSw1LDQ1KSk0LCwsLC82LCwtNjQsNCk0LCw2LCw0LDUyLCwsNCwsKf/AABEIADAAkAMBIgACEQEDEQH/xAAbAAACAgMBAAAAAAAAAAAAAAAABgEHAwQFAv/EADMQAAIBAwIFAgQEBgMAAAAAAAECAwAEERIhBQYTMUEiUQcyYYEUcZHBI1Jik6GiFUNT/8QAGQEAAwEBAQAAAAAAAAAAAAAAAAEDAgQF/8QAIhEAAgIBBAMBAQEAAAAAAAAAAAECEQMEEiFhEzFBYnFR/9oADAMBAAIRAxEAPwC7Kg14uGwpIOMfp9/pSrzdzk1rDG0SAu7FTqziMrjUCAd2yffGN964xZMkccXKXobRRS9y/wAzm4tUlZQrsxTSM4JXuwzuFAyT7YNc74i8zy2cEJhbTJI/cqD6QpJ9J7blK3jxvJJRX0Fki4KfwcqKqTh3MnGriPqQjqJkgMIodyNiADv3rf5H+IlxNdLb3WlteQjBNLKwBOGA2I2I7ZzXTLRzim7Trsys0W6LMqaq3nvn25t7x4beRVRFXUDGreojUdyPYisY4vx7/wAn/sQ0LSScVJtK+weZXVFq0Uh8c5ju7ThcUkp03UjgHKJ6RlmxoxjZB/mtr4a8dubyOaS4cMFcJHhFXHp1N2791/SpPTyUHk+I0sicto5VNFFQKhRRRQAUUUUAFFFFAGG6+U/t3+3ufp5pIu7qJHPXRXgOOuCCQoABEy+copX6mJh5jNPciBgQfNV9zNEyOfm1AjGkAswJYhkXsSTrIHbV1U7SCqYyGbiJucOug7gqnTUemGMLjpoCCF0/zElHb+pok8GlT4uX2q5hi8Rw5O+d3bPfzsFpn5UtzIw7jbLb50rlhu3lieoM+WMrfy0tc1cnXl1fyuIG6bOFVtSYCAKmrGrtjJ7V26Xastt1RF28fH05Q5lv7GGOAHooya4v4aZKsS2oNg75pp+G/I7K6XkrqwK6oFVtWS2QXdvcAnb3zntv2PiLyo11bJ0E1SQsOmoIBKEBSoJ/JT9vrWlyRZ3ttaXMMsDAhWa09SbsykFBhtvVpb7mqSyqeFuFJv2NQanT5K94iz3l/IYhreWZjEu2+Ccd9vlApyWXj/bGM+dNvtv3/esXw95KuYL1ZbiFkVEbSSynLEBQPSTvgk1atLU6hRajFJ8Bjxt8vgqr4xXvrtoc50qzt9SSEB/QPTZ8M7Hp8Oh95NUh+52/1ApQ595Wvbq9kkjgZkCqsTak3AXvu2fmJqz+G2giijjHaNFQfYBanmklp4wT/puCfkcmbVFRRXnnQTRRUUATRUUUDJoqKmkIiuJzXwQ3EOUUNIgOhScCQHGqJmHyhsAg+GVT4ruUVpOnYmk1TOZwHhP4eEKcFzvKwGAWwBhR4RQAqj2UUrpweY3kjyWzyS9cvBcdfRHHEF9CKFOTk7MuN8nJp6orccri2/8AROC9CLZvxRlAbqKXaESMyQZjOpmmaNRsYgulRnJyfzr3avxLNqHEhyc3G0S7GU/PIMjKxYyukZzsc9neprfm/KFs7K8u04lPDJG8cih0dWz0hkvOFGkqc6Y4MnPmsq2t9E0xQXGlrnT6eizLAqMI/wAOG2AJ0g+w8ZJNPtTR536pC2diRp4oY5GLYkjgjEcYWLTLKQTI2f6QRtsCwHjY45ZeJCJdPVZjIxA0Rq2jChVeQj0+rWwJTtscY3e6KPN+UPZ2J/PfD5pvwyRxvIiuXn0hG7LpUFGdAwJJ8+KxcPgu45I41SWOJRGYwiW4Q5y0pudTMVOdsIfyzTrRSWao7aDZzYhwScVZTnWrNoVyyw4jczetoAO8Sw5+bcnFYryPibRqpDsSZGjysBOsTfwhc59IjEY1HSO9WDRT835QbOxFvv8AlC0jI0irmfpoqw4wqqsQUtk5d9TbnZfrRLDfq7vpf1PHHK8SQmUxpBktHq2w05Yb9h2FPNTR5ukGzsTC/EetEMSaR0skiDSy7mb8QV/7OygJtnH1rocqPds0putenbpagi9yxIEYBK4GkfMQfFMVFZlltVQ1Hs//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dirty="0"/>
          </a:p>
        </p:txBody>
      </p:sp>
      <p:pic>
        <p:nvPicPr>
          <p:cNvPr id="2" name="Imagen 1">
            <a:extLst>
              <a:ext uri="{FF2B5EF4-FFF2-40B4-BE49-F238E27FC236}">
                <a16:creationId xmlns:a16="http://schemas.microsoft.com/office/drawing/2014/main" id="{6AFA27E2-1EE1-4034-AAA0-EE2B3B00CA3E}"/>
              </a:ext>
            </a:extLst>
          </p:cNvPr>
          <p:cNvPicPr>
            <a:picLocks noChangeAspect="1"/>
          </p:cNvPicPr>
          <p:nvPr/>
        </p:nvPicPr>
        <p:blipFill>
          <a:blip r:embed="rId3"/>
          <a:stretch>
            <a:fillRect/>
          </a:stretch>
        </p:blipFill>
        <p:spPr>
          <a:xfrm>
            <a:off x="-33726" y="5465631"/>
            <a:ext cx="9144000" cy="1203730"/>
          </a:xfrm>
          <a:prstGeom prst="rect">
            <a:avLst/>
          </a:prstGeom>
        </p:spPr>
      </p:pic>
      <p:pic>
        <p:nvPicPr>
          <p:cNvPr id="3" name="Imagen 2">
            <a:extLst>
              <a:ext uri="{FF2B5EF4-FFF2-40B4-BE49-F238E27FC236}">
                <a16:creationId xmlns:a16="http://schemas.microsoft.com/office/drawing/2014/main" id="{CE370813-4185-09E7-A090-BF40832101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0072" y="2314575"/>
            <a:ext cx="3390900" cy="1114425"/>
          </a:xfrm>
          <a:prstGeom prst="rect">
            <a:avLst/>
          </a:prstGeom>
        </p:spPr>
      </p:pic>
    </p:spTree>
    <p:extLst>
      <p:ext uri="{BB962C8B-B14F-4D97-AF65-F5344CB8AC3E}">
        <p14:creationId xmlns:p14="http://schemas.microsoft.com/office/powerpoint/2010/main" val="2778322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2</a:t>
            </a:fld>
            <a:endParaRPr lang="es-ES" sz="1200" b="1" dirty="0">
              <a:latin typeface="+mn-lt"/>
            </a:endParaRPr>
          </a:p>
        </p:txBody>
      </p:sp>
      <p:grpSp>
        <p:nvGrpSpPr>
          <p:cNvPr id="14" name="Grupo 13"/>
          <p:cNvGrpSpPr/>
          <p:nvPr/>
        </p:nvGrpSpPr>
        <p:grpSpPr>
          <a:xfrm>
            <a:off x="-428660" y="142852"/>
            <a:ext cx="9249132" cy="693860"/>
            <a:chOff x="-428660" y="142852"/>
            <a:chExt cx="9249132" cy="693860"/>
          </a:xfrm>
        </p:grpSpPr>
        <p:sp>
          <p:nvSpPr>
            <p:cNvPr id="15" name="3 Rectángulo redondeado"/>
            <p:cNvSpPr/>
            <p:nvPr/>
          </p:nvSpPr>
          <p:spPr>
            <a:xfrm>
              <a:off x="-428660" y="142852"/>
              <a:ext cx="9249132" cy="693860"/>
            </a:xfrm>
            <a:prstGeom prst="roundRect">
              <a:avLst/>
            </a:prstGeom>
            <a:solidFill>
              <a:srgbClr val="92D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16" name="Rectangle 9"/>
            <p:cNvSpPr txBox="1">
              <a:spLocks noChangeArrowheads="1"/>
            </p:cNvSpPr>
            <p:nvPr/>
          </p:nvSpPr>
          <p:spPr>
            <a:xfrm>
              <a:off x="160688" y="273758"/>
              <a:ext cx="8070435" cy="490946"/>
            </a:xfrm>
            <a:prstGeom prst="rect">
              <a:avLst/>
            </a:prstGeom>
          </p:spPr>
          <p:txBody>
            <a:bodyPr vert="horz" lIns="91440" tIns="45720" rIns="91440" bIns="45720" rtlCol="0">
              <a:noAutofit/>
            </a:bodyPr>
            <a:lstStyle/>
            <a:p>
              <a:r>
                <a:rPr lang="es-AR" sz="2800" b="1" dirty="0">
                  <a:latin typeface="Arial Narrow" panose="020B0606020202030204" pitchFamily="34" charset="0"/>
                </a:rPr>
                <a:t>Desarrollando el Plan de Negocios</a:t>
              </a:r>
            </a:p>
          </p:txBody>
        </p:sp>
      </p:grpSp>
      <p:pic>
        <p:nvPicPr>
          <p:cNvPr id="2" name="Imagen 1"/>
          <p:cNvPicPr>
            <a:picLocks noChangeAspect="1"/>
          </p:cNvPicPr>
          <p:nvPr/>
        </p:nvPicPr>
        <p:blipFill>
          <a:blip r:embed="rId2"/>
          <a:stretch>
            <a:fillRect/>
          </a:stretch>
        </p:blipFill>
        <p:spPr>
          <a:xfrm>
            <a:off x="0" y="1613848"/>
            <a:ext cx="9144000" cy="3630304"/>
          </a:xfrm>
          <a:prstGeom prst="rect">
            <a:avLst/>
          </a:prstGeom>
        </p:spPr>
      </p:pic>
      <p:pic>
        <p:nvPicPr>
          <p:cNvPr id="10" name="Picture 9" descr="13097385-signos-de-interrogac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19672" y="1692822"/>
            <a:ext cx="3551330" cy="3551330"/>
          </a:xfrm>
          <a:prstGeom prst="rect">
            <a:avLst/>
          </a:prstGeom>
          <a:noFill/>
          <a:extLst>
            <a:ext uri="{909E8E84-426E-40DD-AFC4-6F175D3DCCD1}">
              <a14:hiddenFill xmlns:a14="http://schemas.microsoft.com/office/drawing/2010/main">
                <a:solidFill>
                  <a:srgbClr val="FFFFFF"/>
                </a:solidFill>
              </a14:hiddenFill>
            </a:ext>
          </a:extLst>
        </p:spPr>
      </p:pic>
      <p:sp>
        <p:nvSpPr>
          <p:cNvPr id="12" name="7 CuadroTexto"/>
          <p:cNvSpPr txBox="1"/>
          <p:nvPr/>
        </p:nvSpPr>
        <p:spPr>
          <a:xfrm>
            <a:off x="4860032" y="4828653"/>
            <a:ext cx="2482661" cy="830997"/>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just"/>
            <a:r>
              <a:rPr lang="es-AR" sz="2400" b="1" dirty="0">
                <a:solidFill>
                  <a:schemeClr val="tx1"/>
                </a:solidFill>
              </a:rPr>
              <a:t>Y… ¿Cómo se hace? </a:t>
            </a:r>
          </a:p>
        </p:txBody>
      </p:sp>
    </p:spTree>
    <p:extLst>
      <p:ext uri="{BB962C8B-B14F-4D97-AF65-F5344CB8AC3E}">
        <p14:creationId xmlns:p14="http://schemas.microsoft.com/office/powerpoint/2010/main" val="498761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par>
                          <p:cTn id="8" fill="hold">
                            <p:stCondLst>
                              <p:cond delay="1000"/>
                            </p:stCondLst>
                            <p:childTnLst>
                              <p:par>
                                <p:cTn id="9" presetID="53" presetClass="entr" presetSubtype="16" fill="hold" nodeType="afterEffect">
                                  <p:stCondLst>
                                    <p:cond delay="1000"/>
                                  </p:stCondLst>
                                  <p:childTnLst>
                                    <p:set>
                                      <p:cBhvr>
                                        <p:cTn id="10" dur="1" fill="hold">
                                          <p:stCondLst>
                                            <p:cond delay="0"/>
                                          </p:stCondLst>
                                        </p:cTn>
                                        <p:tgtEl>
                                          <p:spTgt spid="10"/>
                                        </p:tgtEl>
                                        <p:attrNameLst>
                                          <p:attrName>style.visibility</p:attrName>
                                        </p:attrNameLst>
                                      </p:cBhvr>
                                      <p:to>
                                        <p:strVal val="visible"/>
                                      </p:to>
                                    </p:set>
                                    <p:anim calcmode="lin" valueType="num">
                                      <p:cBhvr>
                                        <p:cTn id="11" dur="1000" fill="hold"/>
                                        <p:tgtEl>
                                          <p:spTgt spid="10"/>
                                        </p:tgtEl>
                                        <p:attrNameLst>
                                          <p:attrName>ppt_w</p:attrName>
                                        </p:attrNameLst>
                                      </p:cBhvr>
                                      <p:tavLst>
                                        <p:tav tm="0">
                                          <p:val>
                                            <p:fltVal val="0"/>
                                          </p:val>
                                        </p:tav>
                                        <p:tav tm="100000">
                                          <p:val>
                                            <p:strVal val="#ppt_w"/>
                                          </p:val>
                                        </p:tav>
                                      </p:tavLst>
                                    </p:anim>
                                    <p:anim calcmode="lin" valueType="num">
                                      <p:cBhvr>
                                        <p:cTn id="12" dur="1000" fill="hold"/>
                                        <p:tgtEl>
                                          <p:spTgt spid="10"/>
                                        </p:tgtEl>
                                        <p:attrNameLst>
                                          <p:attrName>ppt_h</p:attrName>
                                        </p:attrNameLst>
                                      </p:cBhvr>
                                      <p:tavLst>
                                        <p:tav tm="0">
                                          <p:val>
                                            <p:fltVal val="0"/>
                                          </p:val>
                                        </p:tav>
                                        <p:tav tm="100000">
                                          <p:val>
                                            <p:strVal val="#ppt_h"/>
                                          </p:val>
                                        </p:tav>
                                      </p:tavLst>
                                    </p:anim>
                                    <p:animEffect transition="in" filter="fade">
                                      <p:cBhvr>
                                        <p:cTn id="13" dur="1000"/>
                                        <p:tgtEl>
                                          <p:spTgt spid="10"/>
                                        </p:tgtEl>
                                      </p:cBhvr>
                                    </p:animEffect>
                                  </p:childTnLst>
                                </p:cTn>
                              </p:par>
                            </p:childTnLst>
                          </p:cTn>
                        </p:par>
                        <p:par>
                          <p:cTn id="14" fill="hold">
                            <p:stCondLst>
                              <p:cond delay="3000"/>
                            </p:stCondLst>
                            <p:childTnLst>
                              <p:par>
                                <p:cTn id="15" presetID="9" presetClass="entr" presetSubtype="0" fill="hold" grpId="0" nodeType="afterEffect">
                                  <p:stCondLst>
                                    <p:cond delay="100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544" y="128245"/>
            <a:ext cx="10420886" cy="5816309"/>
          </a:xfrm>
          <a:prstGeom prst="rect">
            <a:avLst/>
          </a:prstGeom>
        </p:spPr>
      </p:pic>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3</a:t>
            </a:fld>
            <a:endParaRPr lang="es-ES" sz="1200" b="1" dirty="0">
              <a:latin typeface="+mn-lt"/>
            </a:endParaRPr>
          </a:p>
        </p:txBody>
      </p:sp>
      <p:grpSp>
        <p:nvGrpSpPr>
          <p:cNvPr id="14" name="Grupo 13"/>
          <p:cNvGrpSpPr/>
          <p:nvPr/>
        </p:nvGrpSpPr>
        <p:grpSpPr>
          <a:xfrm>
            <a:off x="-428660" y="-27384"/>
            <a:ext cx="9249132" cy="693860"/>
            <a:chOff x="-428660" y="142852"/>
            <a:chExt cx="9249132" cy="693860"/>
          </a:xfrm>
        </p:grpSpPr>
        <p:sp>
          <p:nvSpPr>
            <p:cNvPr id="15" name="3 Rectángulo redondeado"/>
            <p:cNvSpPr/>
            <p:nvPr/>
          </p:nvSpPr>
          <p:spPr>
            <a:xfrm>
              <a:off x="-428660" y="142852"/>
              <a:ext cx="9249132" cy="693860"/>
            </a:xfrm>
            <a:prstGeom prst="roundRect">
              <a:avLst/>
            </a:prstGeom>
            <a:solidFill>
              <a:srgbClr val="92D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16" name="Rectangle 9"/>
            <p:cNvSpPr txBox="1">
              <a:spLocks noChangeArrowheads="1"/>
            </p:cNvSpPr>
            <p:nvPr/>
          </p:nvSpPr>
          <p:spPr>
            <a:xfrm>
              <a:off x="160688" y="273758"/>
              <a:ext cx="8070435" cy="490946"/>
            </a:xfrm>
            <a:prstGeom prst="rect">
              <a:avLst/>
            </a:prstGeom>
          </p:spPr>
          <p:txBody>
            <a:bodyPr vert="horz" lIns="91440" tIns="45720" rIns="91440" bIns="45720" rtlCol="0">
              <a:noAutofit/>
            </a:bodyPr>
            <a:lstStyle/>
            <a:p>
              <a:r>
                <a:rPr lang="es-AR" sz="2800" b="1" dirty="0">
                  <a:latin typeface="Arial Narrow" panose="020B0606020202030204" pitchFamily="34" charset="0"/>
                </a:rPr>
                <a:t>¿Qué es un Plan de Negocios?</a:t>
              </a:r>
            </a:p>
          </p:txBody>
        </p:sp>
      </p:grpSp>
      <p:sp>
        <p:nvSpPr>
          <p:cNvPr id="8" name="21 Rectángulo"/>
          <p:cNvSpPr/>
          <p:nvPr/>
        </p:nvSpPr>
        <p:spPr bwMode="auto">
          <a:xfrm>
            <a:off x="2771800" y="5067391"/>
            <a:ext cx="6264696" cy="1754326"/>
          </a:xfrm>
          <a:prstGeom prst="rect">
            <a:avLst/>
          </a:prstGeom>
          <a:solidFill>
            <a:schemeClr val="tx2">
              <a:lumMod val="60000"/>
              <a:lumOff val="40000"/>
            </a:schemeClr>
          </a:solidFill>
          <a:ln w="9525" algn="ctr">
            <a:noFill/>
            <a:miter lim="800000"/>
            <a:headEnd/>
            <a:tailEnd/>
          </a:ln>
          <a:effectLst/>
        </p:spPr>
        <p:txBody>
          <a:bodyPr wrap="square">
            <a:spAutoFit/>
          </a:bodyPr>
          <a:lstStyle/>
          <a:p>
            <a:r>
              <a:rPr lang="es-AR" b="1" dirty="0">
                <a:solidFill>
                  <a:schemeClr val="bg1"/>
                </a:solidFill>
              </a:rPr>
              <a:t>Un plan de negocios es una declaración formal de un conjunto de objetivos de una idea o iniciativa empresarial, que se constituye como una fase de proyección y evaluación. Se emplea internamente por la administración para la planificación de las tareas, y se evalúa la necesidad de recurrir a bancos o posibles inversores, para que aporten financiación al negocio. </a:t>
            </a:r>
            <a:r>
              <a:rPr lang="es-AR" b="1" dirty="0"/>
              <a:t> </a:t>
            </a:r>
          </a:p>
        </p:txBody>
      </p:sp>
    </p:spTree>
    <p:extLst>
      <p:ext uri="{BB962C8B-B14F-4D97-AF65-F5344CB8AC3E}">
        <p14:creationId xmlns:p14="http://schemas.microsoft.com/office/powerpoint/2010/main" val="3438776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par>
                          <p:cTn id="8" fill="hold">
                            <p:stCondLst>
                              <p:cond delay="1000"/>
                            </p:stCondLst>
                            <p:childTnLst>
                              <p:par>
                                <p:cTn id="9" presetID="45"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ppt_w</p:attrName>
                                        </p:attrNameLst>
                                      </p:cBhvr>
                                      <p:tavLst>
                                        <p:tav tm="0" fmla="#ppt_w*sin(2.5*pi*$)">
                                          <p:val>
                                            <p:fltVal val="0"/>
                                          </p:val>
                                        </p:tav>
                                        <p:tav tm="100000">
                                          <p:val>
                                            <p:fltVal val="1"/>
                                          </p:val>
                                        </p:tav>
                                      </p:tavLst>
                                    </p:anim>
                                    <p:anim calcmode="lin" valueType="num">
                                      <p:cBhvr>
                                        <p:cTn id="13" dur="1000" fill="hold"/>
                                        <p:tgtEl>
                                          <p:spTgt spid="3"/>
                                        </p:tgtEl>
                                        <p:attrNameLst>
                                          <p:attrName>ppt_h</p:attrName>
                                        </p:attrNameLst>
                                      </p:cBhvr>
                                      <p:tavLst>
                                        <p:tav tm="0">
                                          <p:val>
                                            <p:strVal val="#ppt_h"/>
                                          </p:val>
                                        </p:tav>
                                        <p:tav tm="100000">
                                          <p:val>
                                            <p:strVal val="#ppt_h"/>
                                          </p:val>
                                        </p:tav>
                                      </p:tavLst>
                                    </p:anim>
                                  </p:childTnLst>
                                </p:cTn>
                              </p:par>
                            </p:childTnLst>
                          </p:cTn>
                        </p:par>
                        <p:par>
                          <p:cTn id="14" fill="hold">
                            <p:stCondLst>
                              <p:cond delay="2000"/>
                            </p:stCondLst>
                            <p:childTnLst>
                              <p:par>
                                <p:cTn id="15" presetID="5" presetClass="entr" presetSubtype="1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checkerboard(across)">
                                      <p:cBhvr>
                                        <p:cTn id="1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agen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9395" y="3048777"/>
            <a:ext cx="5213125" cy="3558826"/>
          </a:xfrm>
          <a:prstGeom prst="rect">
            <a:avLst/>
          </a:prstGeom>
        </p:spPr>
      </p:pic>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4</a:t>
            </a:fld>
            <a:endParaRPr lang="es-ES" sz="1200" b="1" dirty="0">
              <a:latin typeface="+mn-lt"/>
            </a:endParaRPr>
          </a:p>
        </p:txBody>
      </p:sp>
      <p:grpSp>
        <p:nvGrpSpPr>
          <p:cNvPr id="14" name="Grupo 13"/>
          <p:cNvGrpSpPr/>
          <p:nvPr/>
        </p:nvGrpSpPr>
        <p:grpSpPr>
          <a:xfrm>
            <a:off x="-428660" y="-27384"/>
            <a:ext cx="9249132" cy="693860"/>
            <a:chOff x="-428660" y="142852"/>
            <a:chExt cx="9249132" cy="693860"/>
          </a:xfrm>
        </p:grpSpPr>
        <p:sp>
          <p:nvSpPr>
            <p:cNvPr id="15" name="3 Rectángulo redondeado"/>
            <p:cNvSpPr/>
            <p:nvPr/>
          </p:nvSpPr>
          <p:spPr>
            <a:xfrm>
              <a:off x="-428660" y="142852"/>
              <a:ext cx="9249132" cy="693860"/>
            </a:xfrm>
            <a:prstGeom prst="roundRect">
              <a:avLst/>
            </a:prstGeom>
            <a:solidFill>
              <a:srgbClr val="92D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16" name="Rectangle 9"/>
            <p:cNvSpPr txBox="1">
              <a:spLocks noChangeArrowheads="1"/>
            </p:cNvSpPr>
            <p:nvPr/>
          </p:nvSpPr>
          <p:spPr>
            <a:xfrm>
              <a:off x="160688" y="273758"/>
              <a:ext cx="8070435" cy="490946"/>
            </a:xfrm>
            <a:prstGeom prst="rect">
              <a:avLst/>
            </a:prstGeom>
          </p:spPr>
          <p:txBody>
            <a:bodyPr vert="horz" lIns="91440" tIns="45720" rIns="91440" bIns="45720" rtlCol="0">
              <a:noAutofit/>
            </a:bodyPr>
            <a:lstStyle/>
            <a:p>
              <a:r>
                <a:rPr lang="es-AR" sz="2800" b="1" dirty="0">
                  <a:latin typeface="Arial Narrow" panose="020B0606020202030204" pitchFamily="34" charset="0"/>
                </a:rPr>
                <a:t>¿Qué es un Plan de Negocios?</a:t>
              </a:r>
            </a:p>
          </p:txBody>
        </p:sp>
      </p:grpSp>
      <p:sp>
        <p:nvSpPr>
          <p:cNvPr id="10" name="Text Box 4"/>
          <p:cNvSpPr txBox="1">
            <a:spLocks noChangeArrowheads="1"/>
          </p:cNvSpPr>
          <p:nvPr/>
        </p:nvSpPr>
        <p:spPr bwMode="auto">
          <a:xfrm>
            <a:off x="118582" y="980728"/>
            <a:ext cx="5622235" cy="369332"/>
          </a:xfrm>
          <a:prstGeom prst="rect">
            <a:avLst/>
          </a:prstGeom>
          <a:noFill/>
          <a:ln w="9525">
            <a:noFill/>
            <a:miter lim="800000"/>
            <a:headEnd/>
            <a:tailEnd/>
          </a:ln>
        </p:spPr>
        <p:txBody>
          <a:bodyPr wrap="square">
            <a:spAutoFit/>
          </a:bodyPr>
          <a:lstStyle/>
          <a:p>
            <a:r>
              <a:rPr lang="es-AR" b="1" dirty="0">
                <a:solidFill>
                  <a:srgbClr val="0070C0"/>
                </a:solidFill>
              </a:rPr>
              <a:t>Representación comercial del modelo a implementar.</a:t>
            </a:r>
          </a:p>
        </p:txBody>
      </p:sp>
      <p:sp>
        <p:nvSpPr>
          <p:cNvPr id="11" name="Text Box 4"/>
          <p:cNvSpPr txBox="1">
            <a:spLocks noChangeArrowheads="1"/>
          </p:cNvSpPr>
          <p:nvPr/>
        </p:nvSpPr>
        <p:spPr bwMode="auto">
          <a:xfrm>
            <a:off x="118582" y="1691516"/>
            <a:ext cx="5622235" cy="369332"/>
          </a:xfrm>
          <a:prstGeom prst="rect">
            <a:avLst/>
          </a:prstGeom>
          <a:noFill/>
          <a:ln w="9525">
            <a:noFill/>
            <a:miter lim="800000"/>
            <a:headEnd/>
            <a:tailEnd/>
          </a:ln>
        </p:spPr>
        <p:txBody>
          <a:bodyPr wrap="square">
            <a:spAutoFit/>
          </a:bodyPr>
          <a:lstStyle/>
          <a:p>
            <a:r>
              <a:rPr lang="es-AR" b="1" dirty="0">
                <a:solidFill>
                  <a:srgbClr val="0070C0"/>
                </a:solidFill>
              </a:rPr>
              <a:t>Información verbal y gráfica de cómo va a ser el negocio.</a:t>
            </a:r>
          </a:p>
        </p:txBody>
      </p:sp>
      <p:sp>
        <p:nvSpPr>
          <p:cNvPr id="12" name="Text Box 4"/>
          <p:cNvSpPr txBox="1">
            <a:spLocks noChangeArrowheads="1"/>
          </p:cNvSpPr>
          <p:nvPr/>
        </p:nvSpPr>
        <p:spPr bwMode="auto">
          <a:xfrm>
            <a:off x="107504" y="2492896"/>
            <a:ext cx="5622235" cy="369332"/>
          </a:xfrm>
          <a:prstGeom prst="rect">
            <a:avLst/>
          </a:prstGeom>
          <a:noFill/>
          <a:ln w="9525">
            <a:noFill/>
            <a:miter lim="800000"/>
            <a:headEnd/>
            <a:tailEnd/>
          </a:ln>
        </p:spPr>
        <p:txBody>
          <a:bodyPr wrap="square">
            <a:spAutoFit/>
          </a:bodyPr>
          <a:lstStyle/>
          <a:p>
            <a:r>
              <a:rPr lang="es-AR" b="1" dirty="0">
                <a:solidFill>
                  <a:srgbClr val="0070C0"/>
                </a:solidFill>
              </a:rPr>
              <a:t>Síntesis de cómo vamos a organizar la actividad. </a:t>
            </a:r>
          </a:p>
        </p:txBody>
      </p:sp>
      <p:sp>
        <p:nvSpPr>
          <p:cNvPr id="17" name="Text Box 4"/>
          <p:cNvSpPr txBox="1">
            <a:spLocks noChangeArrowheads="1"/>
          </p:cNvSpPr>
          <p:nvPr/>
        </p:nvSpPr>
        <p:spPr bwMode="auto">
          <a:xfrm>
            <a:off x="107504" y="3284984"/>
            <a:ext cx="5622235" cy="369332"/>
          </a:xfrm>
          <a:prstGeom prst="rect">
            <a:avLst/>
          </a:prstGeom>
          <a:noFill/>
          <a:ln w="9525">
            <a:noFill/>
            <a:miter lim="800000"/>
            <a:headEnd/>
            <a:tailEnd/>
          </a:ln>
        </p:spPr>
        <p:txBody>
          <a:bodyPr wrap="square">
            <a:spAutoFit/>
          </a:bodyPr>
          <a:lstStyle/>
          <a:p>
            <a:r>
              <a:rPr lang="es-AR" b="1" dirty="0">
                <a:solidFill>
                  <a:srgbClr val="0070C0"/>
                </a:solidFill>
              </a:rPr>
              <a:t>Explica cómo vamos a hacer el negocio.</a:t>
            </a:r>
          </a:p>
        </p:txBody>
      </p:sp>
    </p:spTree>
    <p:extLst>
      <p:ext uri="{BB962C8B-B14F-4D97-AF65-F5344CB8AC3E}">
        <p14:creationId xmlns:p14="http://schemas.microsoft.com/office/powerpoint/2010/main" val="136472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par>
                          <p:cTn id="8" fill="hold">
                            <p:stCondLst>
                              <p:cond delay="1000"/>
                            </p:stCondLst>
                            <p:childTnLst>
                              <p:par>
                                <p:cTn id="9" presetID="21" presetClass="entr" presetSubtype="1"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1000"/>
                                        <p:tgtEl>
                                          <p:spTgt spid="20"/>
                                        </p:tgtEl>
                                      </p:cBhvr>
                                    </p:animEffect>
                                  </p:childTnLst>
                                </p:cTn>
                              </p:par>
                            </p:childTnLst>
                          </p:cTn>
                        </p:par>
                        <p:par>
                          <p:cTn id="12" fill="hold">
                            <p:stCondLst>
                              <p:cond delay="2000"/>
                            </p:stCondLst>
                            <p:childTnLst>
                              <p:par>
                                <p:cTn id="13" presetID="9"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dissolve">
                                      <p:cBhvr>
                                        <p:cTn id="15" dur="1000"/>
                                        <p:tgtEl>
                                          <p:spTgt spid="10"/>
                                        </p:tgtEl>
                                      </p:cBhvr>
                                    </p:animEffect>
                                  </p:childTnLst>
                                </p:cTn>
                              </p:par>
                            </p:childTnLst>
                          </p:cTn>
                        </p:par>
                        <p:par>
                          <p:cTn id="16" fill="hold">
                            <p:stCondLst>
                              <p:cond delay="3000"/>
                            </p:stCondLst>
                            <p:childTnLst>
                              <p:par>
                                <p:cTn id="17" presetID="9"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1000"/>
                                        <p:tgtEl>
                                          <p:spTgt spid="11"/>
                                        </p:tgtEl>
                                      </p:cBhvr>
                                    </p:animEffect>
                                  </p:childTnLst>
                                </p:cTn>
                              </p:par>
                            </p:childTnLst>
                          </p:cTn>
                        </p:par>
                        <p:par>
                          <p:cTn id="20" fill="hold">
                            <p:stCondLst>
                              <p:cond delay="4000"/>
                            </p:stCondLst>
                            <p:childTnLst>
                              <p:par>
                                <p:cTn id="21" presetID="9"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dissolve">
                                      <p:cBhvr>
                                        <p:cTn id="23" dur="1000"/>
                                        <p:tgtEl>
                                          <p:spTgt spid="12"/>
                                        </p:tgtEl>
                                      </p:cBhvr>
                                    </p:animEffect>
                                  </p:childTnLst>
                                </p:cTn>
                              </p:par>
                            </p:childTnLst>
                          </p:cTn>
                        </p:par>
                        <p:par>
                          <p:cTn id="24" fill="hold">
                            <p:stCondLst>
                              <p:cond delay="5000"/>
                            </p:stCondLst>
                            <p:childTnLst>
                              <p:par>
                                <p:cTn id="25" presetID="9"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dissolve">
                                      <p:cBhvr>
                                        <p:cTn id="2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568" y="772874"/>
            <a:ext cx="10420886" cy="5816309"/>
          </a:xfrm>
          <a:prstGeom prst="rect">
            <a:avLst/>
          </a:prstGeom>
        </p:spPr>
      </p:pic>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5</a:t>
            </a:fld>
            <a:endParaRPr lang="es-ES" sz="1200" b="1" dirty="0">
              <a:latin typeface="+mn-lt"/>
            </a:endParaRPr>
          </a:p>
        </p:txBody>
      </p:sp>
      <p:grpSp>
        <p:nvGrpSpPr>
          <p:cNvPr id="14" name="Grupo 13"/>
          <p:cNvGrpSpPr/>
          <p:nvPr/>
        </p:nvGrpSpPr>
        <p:grpSpPr>
          <a:xfrm>
            <a:off x="-428660" y="142852"/>
            <a:ext cx="9249132" cy="693860"/>
            <a:chOff x="-428660" y="142852"/>
            <a:chExt cx="9249132" cy="693860"/>
          </a:xfrm>
        </p:grpSpPr>
        <p:sp>
          <p:nvSpPr>
            <p:cNvPr id="15" name="3 Rectángulo redondeado"/>
            <p:cNvSpPr/>
            <p:nvPr/>
          </p:nvSpPr>
          <p:spPr>
            <a:xfrm>
              <a:off x="-428660" y="142852"/>
              <a:ext cx="9249132" cy="693860"/>
            </a:xfrm>
            <a:prstGeom prst="roundRect">
              <a:avLst/>
            </a:prstGeom>
            <a:solidFill>
              <a:srgbClr val="92D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16" name="Rectangle 9"/>
            <p:cNvSpPr txBox="1">
              <a:spLocks noChangeArrowheads="1"/>
            </p:cNvSpPr>
            <p:nvPr/>
          </p:nvSpPr>
          <p:spPr>
            <a:xfrm>
              <a:off x="160688" y="273758"/>
              <a:ext cx="8070435" cy="490946"/>
            </a:xfrm>
            <a:prstGeom prst="rect">
              <a:avLst/>
            </a:prstGeom>
          </p:spPr>
          <p:txBody>
            <a:bodyPr vert="horz" lIns="91440" tIns="45720" rIns="91440" bIns="45720" rtlCol="0">
              <a:noAutofit/>
            </a:bodyPr>
            <a:lstStyle/>
            <a:p>
              <a:r>
                <a:rPr lang="es-AR" sz="2800" b="1" dirty="0">
                  <a:latin typeface="Arial Narrow" panose="020B0606020202030204" pitchFamily="34" charset="0"/>
                </a:rPr>
                <a:t>¿Qué es un Plan de Negocios?</a:t>
              </a:r>
            </a:p>
          </p:txBody>
        </p:sp>
      </p:grpSp>
      <p:sp>
        <p:nvSpPr>
          <p:cNvPr id="8" name="21 Rectángulo"/>
          <p:cNvSpPr/>
          <p:nvPr/>
        </p:nvSpPr>
        <p:spPr bwMode="auto">
          <a:xfrm>
            <a:off x="2771800" y="5067391"/>
            <a:ext cx="4608512" cy="1200329"/>
          </a:xfrm>
          <a:prstGeom prst="rect">
            <a:avLst/>
          </a:prstGeom>
          <a:solidFill>
            <a:schemeClr val="tx2">
              <a:lumMod val="60000"/>
              <a:lumOff val="40000"/>
            </a:schemeClr>
          </a:solidFill>
          <a:ln w="9525" algn="ctr">
            <a:noFill/>
            <a:miter lim="800000"/>
            <a:headEnd/>
            <a:tailEnd/>
          </a:ln>
          <a:effectLst/>
        </p:spPr>
        <p:txBody>
          <a:bodyPr wrap="square">
            <a:spAutoFit/>
          </a:bodyPr>
          <a:lstStyle/>
          <a:p>
            <a:r>
              <a:rPr lang="es-AR" sz="2400" b="1" dirty="0">
                <a:solidFill>
                  <a:schemeClr val="bg1"/>
                </a:solidFill>
              </a:rPr>
              <a:t>En suma, es la representación numérica y escrita del Modelo de Negocios.</a:t>
            </a:r>
            <a:endParaRPr lang="es-AR" sz="2400" b="1" dirty="0"/>
          </a:p>
        </p:txBody>
      </p:sp>
    </p:spTree>
    <p:extLst>
      <p:ext uri="{BB962C8B-B14F-4D97-AF65-F5344CB8AC3E}">
        <p14:creationId xmlns:p14="http://schemas.microsoft.com/office/powerpoint/2010/main" val="404090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par>
                          <p:cTn id="8" fill="hold">
                            <p:stCondLst>
                              <p:cond delay="1000"/>
                            </p:stCondLst>
                            <p:childTnLst>
                              <p:par>
                                <p:cTn id="9" presetID="45"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ppt_w</p:attrName>
                                        </p:attrNameLst>
                                      </p:cBhvr>
                                      <p:tavLst>
                                        <p:tav tm="0" fmla="#ppt_w*sin(2.5*pi*$)">
                                          <p:val>
                                            <p:fltVal val="0"/>
                                          </p:val>
                                        </p:tav>
                                        <p:tav tm="100000">
                                          <p:val>
                                            <p:fltVal val="1"/>
                                          </p:val>
                                        </p:tav>
                                      </p:tavLst>
                                    </p:anim>
                                    <p:anim calcmode="lin" valueType="num">
                                      <p:cBhvr>
                                        <p:cTn id="13" dur="1000" fill="hold"/>
                                        <p:tgtEl>
                                          <p:spTgt spid="7"/>
                                        </p:tgtEl>
                                        <p:attrNameLst>
                                          <p:attrName>ppt_h</p:attrName>
                                        </p:attrNameLst>
                                      </p:cBhvr>
                                      <p:tavLst>
                                        <p:tav tm="0">
                                          <p:val>
                                            <p:strVal val="#ppt_h"/>
                                          </p:val>
                                        </p:tav>
                                        <p:tav tm="100000">
                                          <p:val>
                                            <p:strVal val="#ppt_h"/>
                                          </p:val>
                                        </p:tav>
                                      </p:tavLst>
                                    </p:anim>
                                  </p:childTnLst>
                                </p:cTn>
                              </p:par>
                            </p:childTnLst>
                          </p:cTn>
                        </p:par>
                        <p:par>
                          <p:cTn id="14" fill="hold">
                            <p:stCondLst>
                              <p:cond delay="2000"/>
                            </p:stCondLst>
                            <p:childTnLst>
                              <p:par>
                                <p:cTn id="15" presetID="5" presetClass="entr" presetSubtype="1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checkerboard(across)">
                                      <p:cBhvr>
                                        <p:cTn id="1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6</a:t>
            </a:fld>
            <a:endParaRPr lang="es-ES" sz="1200" b="1" dirty="0">
              <a:latin typeface="+mn-lt"/>
            </a:endParaRPr>
          </a:p>
        </p:txBody>
      </p:sp>
      <p:grpSp>
        <p:nvGrpSpPr>
          <p:cNvPr id="14" name="Grupo 13"/>
          <p:cNvGrpSpPr/>
          <p:nvPr/>
        </p:nvGrpSpPr>
        <p:grpSpPr>
          <a:xfrm>
            <a:off x="-428660" y="142852"/>
            <a:ext cx="9249132" cy="693860"/>
            <a:chOff x="-428660" y="142852"/>
            <a:chExt cx="9249132" cy="693860"/>
          </a:xfrm>
        </p:grpSpPr>
        <p:sp>
          <p:nvSpPr>
            <p:cNvPr id="15" name="3 Rectángulo redondeado"/>
            <p:cNvSpPr/>
            <p:nvPr/>
          </p:nvSpPr>
          <p:spPr>
            <a:xfrm>
              <a:off x="-428660" y="142852"/>
              <a:ext cx="9249132" cy="693860"/>
            </a:xfrm>
            <a:prstGeom prst="roundRect">
              <a:avLst/>
            </a:prstGeom>
            <a:solidFill>
              <a:srgbClr val="92D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16" name="Rectangle 9"/>
            <p:cNvSpPr txBox="1">
              <a:spLocks noChangeArrowheads="1"/>
            </p:cNvSpPr>
            <p:nvPr/>
          </p:nvSpPr>
          <p:spPr>
            <a:xfrm>
              <a:off x="160688" y="273758"/>
              <a:ext cx="8070435" cy="490946"/>
            </a:xfrm>
            <a:prstGeom prst="rect">
              <a:avLst/>
            </a:prstGeom>
          </p:spPr>
          <p:txBody>
            <a:bodyPr vert="horz" lIns="91440" tIns="45720" rIns="91440" bIns="45720" rtlCol="0">
              <a:noAutofit/>
            </a:bodyPr>
            <a:lstStyle/>
            <a:p>
              <a:r>
                <a:rPr lang="es-AR" sz="2800" b="1" dirty="0">
                  <a:latin typeface="Arial Narrow" panose="020B0606020202030204" pitchFamily="34" charset="0"/>
                </a:rPr>
                <a:t>Modelo de Negocios y Plan de Negocios</a:t>
              </a:r>
            </a:p>
          </p:txBody>
        </p:sp>
      </p:gr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528" y="746744"/>
            <a:ext cx="7592094" cy="5854601"/>
          </a:xfrm>
          <a:prstGeom prst="rect">
            <a:avLst/>
          </a:prstGeom>
        </p:spPr>
      </p:pic>
      <p:sp>
        <p:nvSpPr>
          <p:cNvPr id="7" name="7 CuadroTexto"/>
          <p:cNvSpPr txBox="1"/>
          <p:nvPr/>
        </p:nvSpPr>
        <p:spPr>
          <a:xfrm>
            <a:off x="160688" y="1212721"/>
            <a:ext cx="3311352" cy="40011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s-AR" altLang="es-AR" sz="2000" b="1" dirty="0"/>
              <a:t>¿Son o no son lo mismo?</a:t>
            </a:r>
          </a:p>
        </p:txBody>
      </p:sp>
      <p:sp>
        <p:nvSpPr>
          <p:cNvPr id="8" name="7 CuadroTexto"/>
          <p:cNvSpPr txBox="1"/>
          <p:nvPr/>
        </p:nvSpPr>
        <p:spPr>
          <a:xfrm>
            <a:off x="3150544" y="4640116"/>
            <a:ext cx="5985649" cy="193899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just"/>
            <a:r>
              <a:rPr lang="es-AR" sz="2000" b="1" dirty="0">
                <a:effectLst>
                  <a:outerShdw blurRad="38100" dist="38100" dir="2700000" algn="tl">
                    <a:srgbClr val="000000">
                      <a:alpha val="43137"/>
                    </a:srgbClr>
                  </a:outerShdw>
                </a:effectLst>
              </a:rPr>
              <a:t>Representación abstracta de una organización, ya sea de manera textual o gráfica, de todos los conceptos relacionados, acuerdos financieros, y el portafolio central de productos o servicios que la organización ofrece y ofrecerá con base en las acciones necesarias para alcanzar las metas y objetivos estratégicos. </a:t>
            </a:r>
            <a:endParaRPr lang="es-AR" altLang="es-AR" sz="2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38685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1000" fill="hold"/>
                                        <p:tgtEl>
                                          <p:spTgt spid="7"/>
                                        </p:tgtEl>
                                        <p:attrNameLst>
                                          <p:attrName>ppt_w</p:attrName>
                                        </p:attrNameLst>
                                      </p:cBhvr>
                                      <p:tavLst>
                                        <p:tav tm="0">
                                          <p:val>
                                            <p:fltVal val="0"/>
                                          </p:val>
                                        </p:tav>
                                        <p:tav tm="100000">
                                          <p:val>
                                            <p:strVal val="#ppt_w"/>
                                          </p:val>
                                        </p:tav>
                                      </p:tavLst>
                                    </p:anim>
                                    <p:anim calcmode="lin" valueType="num">
                                      <p:cBhvr>
                                        <p:cTn id="12" dur="1000" fill="hold"/>
                                        <p:tgtEl>
                                          <p:spTgt spid="7"/>
                                        </p:tgtEl>
                                        <p:attrNameLst>
                                          <p:attrName>ppt_h</p:attrName>
                                        </p:attrNameLst>
                                      </p:cBhvr>
                                      <p:tavLst>
                                        <p:tav tm="0">
                                          <p:val>
                                            <p:fltVal val="0"/>
                                          </p:val>
                                        </p:tav>
                                        <p:tav tm="100000">
                                          <p:val>
                                            <p:strVal val="#ppt_h"/>
                                          </p:val>
                                        </p:tav>
                                      </p:tavLst>
                                    </p:anim>
                                    <p:anim calcmode="lin" valueType="num">
                                      <p:cBhvr>
                                        <p:cTn id="13" dur="1000" fill="hold"/>
                                        <p:tgtEl>
                                          <p:spTgt spid="7"/>
                                        </p:tgtEl>
                                        <p:attrNameLst>
                                          <p:attrName>style.rotation</p:attrName>
                                        </p:attrNameLst>
                                      </p:cBhvr>
                                      <p:tavLst>
                                        <p:tav tm="0">
                                          <p:val>
                                            <p:fltVal val="90"/>
                                          </p:val>
                                        </p:tav>
                                        <p:tav tm="100000">
                                          <p:val>
                                            <p:fltVal val="0"/>
                                          </p:val>
                                        </p:tav>
                                      </p:tavLst>
                                    </p:anim>
                                    <p:animEffect transition="in" filter="fade">
                                      <p:cBhvr>
                                        <p:cTn id="14" dur="1000"/>
                                        <p:tgtEl>
                                          <p:spTgt spid="7"/>
                                        </p:tgtEl>
                                      </p:cBhvr>
                                    </p:animEffect>
                                  </p:childTnLst>
                                </p:cTn>
                              </p:par>
                            </p:childTnLst>
                          </p:cTn>
                        </p:par>
                        <p:par>
                          <p:cTn id="15" fill="hold">
                            <p:stCondLst>
                              <p:cond delay="2000"/>
                            </p:stCondLst>
                            <p:childTnLst>
                              <p:par>
                                <p:cTn id="16" presetID="12" presetClass="entr" presetSubtype="8"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1000"/>
                                        <p:tgtEl>
                                          <p:spTgt spid="6"/>
                                        </p:tgtEl>
                                        <p:attrNameLst>
                                          <p:attrName>ppt_x</p:attrName>
                                        </p:attrNameLst>
                                      </p:cBhvr>
                                      <p:tavLst>
                                        <p:tav tm="0">
                                          <p:val>
                                            <p:strVal val="#ppt_x-#ppt_w*1.125000"/>
                                          </p:val>
                                        </p:tav>
                                        <p:tav tm="100000">
                                          <p:val>
                                            <p:strVal val="#ppt_x"/>
                                          </p:val>
                                        </p:tav>
                                      </p:tavLst>
                                    </p:anim>
                                    <p:animEffect transition="in" filter="wipe(right)">
                                      <p:cBhvr>
                                        <p:cTn id="19" dur="1000"/>
                                        <p:tgtEl>
                                          <p:spTgt spid="6"/>
                                        </p:tgtEl>
                                      </p:cBhvr>
                                    </p:animEffect>
                                  </p:childTnLst>
                                </p:cTn>
                              </p:par>
                            </p:childTnLst>
                          </p:cTn>
                        </p:par>
                        <p:par>
                          <p:cTn id="20" fill="hold">
                            <p:stCondLst>
                              <p:cond delay="3000"/>
                            </p:stCondLst>
                            <p:childTnLst>
                              <p:par>
                                <p:cTn id="21" presetID="31" presetClass="entr" presetSubtype="0" fill="hold" grpId="0" nodeType="afterEffect">
                                  <p:stCondLst>
                                    <p:cond delay="1000"/>
                                  </p:stCondLst>
                                  <p:childTnLst>
                                    <p:set>
                                      <p:cBhvr>
                                        <p:cTn id="22" dur="1" fill="hold">
                                          <p:stCondLst>
                                            <p:cond delay="0"/>
                                          </p:stCondLst>
                                        </p:cTn>
                                        <p:tgtEl>
                                          <p:spTgt spid="8"/>
                                        </p:tgtEl>
                                        <p:attrNameLst>
                                          <p:attrName>style.visibility</p:attrName>
                                        </p:attrNameLst>
                                      </p:cBhvr>
                                      <p:to>
                                        <p:strVal val="visible"/>
                                      </p:to>
                                    </p:set>
                                    <p:anim calcmode="lin" valueType="num">
                                      <p:cBhvr>
                                        <p:cTn id="23" dur="1000" fill="hold"/>
                                        <p:tgtEl>
                                          <p:spTgt spid="8"/>
                                        </p:tgtEl>
                                        <p:attrNameLst>
                                          <p:attrName>ppt_w</p:attrName>
                                        </p:attrNameLst>
                                      </p:cBhvr>
                                      <p:tavLst>
                                        <p:tav tm="0">
                                          <p:val>
                                            <p:fltVal val="0"/>
                                          </p:val>
                                        </p:tav>
                                        <p:tav tm="100000">
                                          <p:val>
                                            <p:strVal val="#ppt_w"/>
                                          </p:val>
                                        </p:tav>
                                      </p:tavLst>
                                    </p:anim>
                                    <p:anim calcmode="lin" valueType="num">
                                      <p:cBhvr>
                                        <p:cTn id="24" dur="1000" fill="hold"/>
                                        <p:tgtEl>
                                          <p:spTgt spid="8"/>
                                        </p:tgtEl>
                                        <p:attrNameLst>
                                          <p:attrName>ppt_h</p:attrName>
                                        </p:attrNameLst>
                                      </p:cBhvr>
                                      <p:tavLst>
                                        <p:tav tm="0">
                                          <p:val>
                                            <p:fltVal val="0"/>
                                          </p:val>
                                        </p:tav>
                                        <p:tav tm="100000">
                                          <p:val>
                                            <p:strVal val="#ppt_h"/>
                                          </p:val>
                                        </p:tav>
                                      </p:tavLst>
                                    </p:anim>
                                    <p:anim calcmode="lin" valueType="num">
                                      <p:cBhvr>
                                        <p:cTn id="25" dur="1000" fill="hold"/>
                                        <p:tgtEl>
                                          <p:spTgt spid="8"/>
                                        </p:tgtEl>
                                        <p:attrNameLst>
                                          <p:attrName>style.rotation</p:attrName>
                                        </p:attrNameLst>
                                      </p:cBhvr>
                                      <p:tavLst>
                                        <p:tav tm="0">
                                          <p:val>
                                            <p:fltVal val="90"/>
                                          </p:val>
                                        </p:tav>
                                        <p:tav tm="100000">
                                          <p:val>
                                            <p:fltVal val="0"/>
                                          </p:val>
                                        </p:tav>
                                      </p:tavLst>
                                    </p:anim>
                                    <p:animEffect transition="in" filter="fade">
                                      <p:cBhvr>
                                        <p:cTn id="2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7</a:t>
            </a:fld>
            <a:endParaRPr lang="es-ES" sz="1200" b="1" dirty="0">
              <a:latin typeface="+mn-lt"/>
            </a:endParaRPr>
          </a:p>
        </p:txBody>
      </p:sp>
      <p:grpSp>
        <p:nvGrpSpPr>
          <p:cNvPr id="14" name="Grupo 13"/>
          <p:cNvGrpSpPr/>
          <p:nvPr/>
        </p:nvGrpSpPr>
        <p:grpSpPr>
          <a:xfrm>
            <a:off x="-428660" y="142852"/>
            <a:ext cx="9249132" cy="693860"/>
            <a:chOff x="-428660" y="142852"/>
            <a:chExt cx="9249132" cy="693860"/>
          </a:xfrm>
        </p:grpSpPr>
        <p:sp>
          <p:nvSpPr>
            <p:cNvPr id="15" name="3 Rectángulo redondeado"/>
            <p:cNvSpPr/>
            <p:nvPr/>
          </p:nvSpPr>
          <p:spPr>
            <a:xfrm>
              <a:off x="-428660" y="142852"/>
              <a:ext cx="9249132" cy="693860"/>
            </a:xfrm>
            <a:prstGeom prst="roundRect">
              <a:avLst/>
            </a:prstGeom>
            <a:solidFill>
              <a:srgbClr val="92D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16" name="Rectangle 9"/>
            <p:cNvSpPr txBox="1">
              <a:spLocks noChangeArrowheads="1"/>
            </p:cNvSpPr>
            <p:nvPr/>
          </p:nvSpPr>
          <p:spPr>
            <a:xfrm>
              <a:off x="160688" y="273758"/>
              <a:ext cx="8070435" cy="490946"/>
            </a:xfrm>
            <a:prstGeom prst="rect">
              <a:avLst/>
            </a:prstGeom>
          </p:spPr>
          <p:txBody>
            <a:bodyPr vert="horz" lIns="91440" tIns="45720" rIns="91440" bIns="45720" rtlCol="0">
              <a:noAutofit/>
            </a:bodyPr>
            <a:lstStyle/>
            <a:p>
              <a:r>
                <a:rPr lang="es-AR" sz="2800" b="1" dirty="0">
                  <a:latin typeface="Arial Narrow" panose="020B0606020202030204" pitchFamily="34" charset="0"/>
                </a:rPr>
                <a:t>Modelo de Negocios y Plan de Negocios</a:t>
              </a:r>
            </a:p>
          </p:txBody>
        </p:sp>
      </p:gr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528" y="746744"/>
            <a:ext cx="7592094" cy="5854601"/>
          </a:xfrm>
          <a:prstGeom prst="rect">
            <a:avLst/>
          </a:prstGeom>
        </p:spPr>
      </p:pic>
      <p:sp>
        <p:nvSpPr>
          <p:cNvPr id="8" name="7 CuadroTexto"/>
          <p:cNvSpPr txBox="1"/>
          <p:nvPr/>
        </p:nvSpPr>
        <p:spPr>
          <a:xfrm>
            <a:off x="3150544" y="4640116"/>
            <a:ext cx="5985649" cy="2246769"/>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s-AR" sz="2000" b="1" dirty="0">
                <a:effectLst>
                  <a:outerShdw blurRad="38100" dist="38100" dir="2700000" algn="tl">
                    <a:srgbClr val="000000">
                      <a:alpha val="43137"/>
                    </a:srgbClr>
                  </a:outerShdw>
                </a:effectLst>
              </a:rPr>
              <a:t>Los modelos de negocio son utilizados para describir y clasificar negocios, específicamente en un contexto de emprendimiento, pero también se utiliza dentro de las empresas por los directivos para explorar las posibilidades de desarrollo en el futuro. Los modelos de negocio privados, y conocidos, pueden ser como "recetas" para los directivos.</a:t>
            </a:r>
            <a:endParaRPr lang="es-AR" altLang="es-AR" sz="2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0964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par>
                          <p:cTn id="8" fill="hold">
                            <p:stCondLst>
                              <p:cond delay="1000"/>
                            </p:stCondLst>
                            <p:childTnLst>
                              <p:par>
                                <p:cTn id="9" presetID="1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p:tgtEl>
                                          <p:spTgt spid="6"/>
                                        </p:tgtEl>
                                        <p:attrNameLst>
                                          <p:attrName>ppt_x</p:attrName>
                                        </p:attrNameLst>
                                      </p:cBhvr>
                                      <p:tavLst>
                                        <p:tav tm="0">
                                          <p:val>
                                            <p:strVal val="#ppt_x-#ppt_w*1.125000"/>
                                          </p:val>
                                        </p:tav>
                                        <p:tav tm="100000">
                                          <p:val>
                                            <p:strVal val="#ppt_x"/>
                                          </p:val>
                                        </p:tav>
                                      </p:tavLst>
                                    </p:anim>
                                    <p:animEffect transition="in" filter="wipe(right)">
                                      <p:cBhvr>
                                        <p:cTn id="12" dur="1000"/>
                                        <p:tgtEl>
                                          <p:spTgt spid="6"/>
                                        </p:tgtEl>
                                      </p:cBhvr>
                                    </p:animEffect>
                                  </p:childTnLst>
                                </p:cTn>
                              </p:par>
                            </p:childTnLst>
                          </p:cTn>
                        </p:par>
                        <p:par>
                          <p:cTn id="13" fill="hold">
                            <p:stCondLst>
                              <p:cond delay="2000"/>
                            </p:stCondLst>
                            <p:childTnLst>
                              <p:par>
                                <p:cTn id="14" presetID="31"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1000" fill="hold"/>
                                        <p:tgtEl>
                                          <p:spTgt spid="8"/>
                                        </p:tgtEl>
                                        <p:attrNameLst>
                                          <p:attrName>ppt_w</p:attrName>
                                        </p:attrNameLst>
                                      </p:cBhvr>
                                      <p:tavLst>
                                        <p:tav tm="0">
                                          <p:val>
                                            <p:fltVal val="0"/>
                                          </p:val>
                                        </p:tav>
                                        <p:tav tm="100000">
                                          <p:val>
                                            <p:strVal val="#ppt_w"/>
                                          </p:val>
                                        </p:tav>
                                      </p:tavLst>
                                    </p:anim>
                                    <p:anim calcmode="lin" valueType="num">
                                      <p:cBhvr>
                                        <p:cTn id="17" dur="1000" fill="hold"/>
                                        <p:tgtEl>
                                          <p:spTgt spid="8"/>
                                        </p:tgtEl>
                                        <p:attrNameLst>
                                          <p:attrName>ppt_h</p:attrName>
                                        </p:attrNameLst>
                                      </p:cBhvr>
                                      <p:tavLst>
                                        <p:tav tm="0">
                                          <p:val>
                                            <p:fltVal val="0"/>
                                          </p:val>
                                        </p:tav>
                                        <p:tav tm="100000">
                                          <p:val>
                                            <p:strVal val="#ppt_h"/>
                                          </p:val>
                                        </p:tav>
                                      </p:tavLst>
                                    </p:anim>
                                    <p:anim calcmode="lin" valueType="num">
                                      <p:cBhvr>
                                        <p:cTn id="18" dur="1000" fill="hold"/>
                                        <p:tgtEl>
                                          <p:spTgt spid="8"/>
                                        </p:tgtEl>
                                        <p:attrNameLst>
                                          <p:attrName>style.rotation</p:attrName>
                                        </p:attrNameLst>
                                      </p:cBhvr>
                                      <p:tavLst>
                                        <p:tav tm="0">
                                          <p:val>
                                            <p:fltVal val="90"/>
                                          </p:val>
                                        </p:tav>
                                        <p:tav tm="100000">
                                          <p:val>
                                            <p:fltVal val="0"/>
                                          </p:val>
                                        </p:tav>
                                      </p:tavLst>
                                    </p:anim>
                                    <p:animEffect transition="in" filter="fade">
                                      <p:cBhvr>
                                        <p:cTn id="1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8</a:t>
            </a:fld>
            <a:endParaRPr lang="es-ES" sz="1200" b="1" dirty="0">
              <a:latin typeface="+mn-lt"/>
            </a:endParaRPr>
          </a:p>
        </p:txBody>
      </p:sp>
      <p:grpSp>
        <p:nvGrpSpPr>
          <p:cNvPr id="14" name="Grupo 13"/>
          <p:cNvGrpSpPr/>
          <p:nvPr/>
        </p:nvGrpSpPr>
        <p:grpSpPr>
          <a:xfrm>
            <a:off x="-428660" y="142852"/>
            <a:ext cx="9249132" cy="693860"/>
            <a:chOff x="-428660" y="142852"/>
            <a:chExt cx="9249132" cy="693860"/>
          </a:xfrm>
        </p:grpSpPr>
        <p:sp>
          <p:nvSpPr>
            <p:cNvPr id="15" name="3 Rectángulo redondeado"/>
            <p:cNvSpPr/>
            <p:nvPr/>
          </p:nvSpPr>
          <p:spPr>
            <a:xfrm>
              <a:off x="-428660" y="142852"/>
              <a:ext cx="9249132" cy="693860"/>
            </a:xfrm>
            <a:prstGeom prst="roundRect">
              <a:avLst/>
            </a:prstGeom>
            <a:solidFill>
              <a:srgbClr val="92D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16" name="Rectangle 9"/>
            <p:cNvSpPr txBox="1">
              <a:spLocks noChangeArrowheads="1"/>
            </p:cNvSpPr>
            <p:nvPr/>
          </p:nvSpPr>
          <p:spPr>
            <a:xfrm>
              <a:off x="160688" y="273758"/>
              <a:ext cx="8070435" cy="490946"/>
            </a:xfrm>
            <a:prstGeom prst="rect">
              <a:avLst/>
            </a:prstGeom>
          </p:spPr>
          <p:txBody>
            <a:bodyPr vert="horz" lIns="91440" tIns="45720" rIns="91440" bIns="45720" rtlCol="0">
              <a:noAutofit/>
            </a:bodyPr>
            <a:lstStyle/>
            <a:p>
              <a:r>
                <a:rPr lang="es-AR" sz="2800" b="1" dirty="0">
                  <a:latin typeface="Arial Narrow" panose="020B0606020202030204" pitchFamily="34" charset="0"/>
                </a:rPr>
                <a:t>Ideas para el armado de un Plan de Negocios</a:t>
              </a:r>
            </a:p>
          </p:txBody>
        </p:sp>
      </p:gr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990" y="1268760"/>
            <a:ext cx="3797297" cy="2592288"/>
          </a:xfrm>
          <a:prstGeom prst="rect">
            <a:avLst/>
          </a:prstGeom>
        </p:spPr>
      </p:pic>
      <p:sp>
        <p:nvSpPr>
          <p:cNvPr id="7" name="Text Box 13"/>
          <p:cNvSpPr txBox="1">
            <a:spLocks noChangeArrowheads="1"/>
          </p:cNvSpPr>
          <p:nvPr/>
        </p:nvSpPr>
        <p:spPr bwMode="auto">
          <a:xfrm>
            <a:off x="4182257" y="1424970"/>
            <a:ext cx="451924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Clr>
                <a:srgbClr val="CC1204"/>
              </a:buClr>
            </a:pPr>
            <a:r>
              <a:rPr lang="es-ES" sz="2000" b="1" dirty="0"/>
              <a:t>Pensar el plan empezando por el final: adónde queremos llegar.</a:t>
            </a:r>
          </a:p>
        </p:txBody>
      </p:sp>
      <p:sp>
        <p:nvSpPr>
          <p:cNvPr id="8" name="Text Box 13"/>
          <p:cNvSpPr txBox="1">
            <a:spLocks noChangeArrowheads="1"/>
          </p:cNvSpPr>
          <p:nvPr/>
        </p:nvSpPr>
        <p:spPr bwMode="auto">
          <a:xfrm>
            <a:off x="4224236" y="2780928"/>
            <a:ext cx="451924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Clr>
                <a:srgbClr val="CC1204"/>
              </a:buClr>
            </a:pPr>
            <a:r>
              <a:rPr lang="es-ES" sz="2000" b="1" dirty="0"/>
              <a:t>Detallar los objetivos a los que se apunta en el plan.</a:t>
            </a:r>
          </a:p>
        </p:txBody>
      </p:sp>
      <p:sp>
        <p:nvSpPr>
          <p:cNvPr id="10" name="Text Box 13"/>
          <p:cNvSpPr txBox="1">
            <a:spLocks noChangeArrowheads="1"/>
          </p:cNvSpPr>
          <p:nvPr/>
        </p:nvSpPr>
        <p:spPr bwMode="auto">
          <a:xfrm>
            <a:off x="2447898" y="4124591"/>
            <a:ext cx="66967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buClr>
                <a:srgbClr val="CC1204"/>
              </a:buClr>
            </a:pPr>
            <a:r>
              <a:rPr lang="es-ES" sz="2000" b="1" dirty="0"/>
              <a:t>Qué estrategias se van a utilizar para cumplir los objetivos.</a:t>
            </a:r>
          </a:p>
        </p:txBody>
      </p:sp>
      <p:sp>
        <p:nvSpPr>
          <p:cNvPr id="11" name="Text Box 13"/>
          <p:cNvSpPr txBox="1">
            <a:spLocks noChangeArrowheads="1"/>
          </p:cNvSpPr>
          <p:nvPr/>
        </p:nvSpPr>
        <p:spPr bwMode="auto">
          <a:xfrm>
            <a:off x="1043608" y="4829090"/>
            <a:ext cx="74168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buClr>
                <a:srgbClr val="CC1204"/>
              </a:buClr>
            </a:pPr>
            <a:r>
              <a:rPr lang="es-ES" sz="2000" b="1" dirty="0"/>
              <a:t>Qué acciones hay que desarrollar para llevar a cabo esta estrategia.</a:t>
            </a:r>
          </a:p>
        </p:txBody>
      </p:sp>
      <p:sp>
        <p:nvSpPr>
          <p:cNvPr id="12" name="Text Box 13"/>
          <p:cNvSpPr txBox="1">
            <a:spLocks noChangeArrowheads="1"/>
          </p:cNvSpPr>
          <p:nvPr/>
        </p:nvSpPr>
        <p:spPr bwMode="auto">
          <a:xfrm>
            <a:off x="814299" y="5480549"/>
            <a:ext cx="74168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buClr>
                <a:srgbClr val="CC1204"/>
              </a:buClr>
            </a:pPr>
            <a:r>
              <a:rPr lang="es-ES" sz="2000" b="1" dirty="0"/>
              <a:t>Cómo vamos a medir los resultados.</a:t>
            </a:r>
          </a:p>
        </p:txBody>
      </p:sp>
    </p:spTree>
    <p:extLst>
      <p:ext uri="{BB962C8B-B14F-4D97-AF65-F5344CB8AC3E}">
        <p14:creationId xmlns:p14="http://schemas.microsoft.com/office/powerpoint/2010/main" val="203329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par>
                          <p:cTn id="8" fill="hold">
                            <p:stCondLst>
                              <p:cond delay="1000"/>
                            </p:stCondLst>
                            <p:childTnLst>
                              <p:par>
                                <p:cTn id="9" presetID="3" presetClass="entr" presetSubtype="5"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vertical)">
                                      <p:cBhvr>
                                        <p:cTn id="11" dur="1000"/>
                                        <p:tgtEl>
                                          <p:spTgt spid="6"/>
                                        </p:tgtEl>
                                      </p:cBhvr>
                                    </p:animEffect>
                                  </p:childTnLst>
                                </p:cTn>
                              </p:par>
                            </p:childTnLst>
                          </p:cTn>
                        </p:par>
                        <p:par>
                          <p:cTn id="12" fill="hold">
                            <p:stCondLst>
                              <p:cond delay="2000"/>
                            </p:stCondLst>
                            <p:childTnLst>
                              <p:par>
                                <p:cTn id="13" presetID="2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edge">
                                      <p:cBhvr>
                                        <p:cTn id="15" dur="1000"/>
                                        <p:tgtEl>
                                          <p:spTgt spid="7"/>
                                        </p:tgtEl>
                                      </p:cBhvr>
                                    </p:animEffect>
                                  </p:childTnLst>
                                </p:cTn>
                              </p:par>
                            </p:childTnLst>
                          </p:cTn>
                        </p:par>
                        <p:par>
                          <p:cTn id="16" fill="hold">
                            <p:stCondLst>
                              <p:cond delay="3000"/>
                            </p:stCondLst>
                            <p:childTnLst>
                              <p:par>
                                <p:cTn id="17" presetID="2" presetClass="entr" presetSubtype="4"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000" fill="hold"/>
                                        <p:tgtEl>
                                          <p:spTgt spid="8"/>
                                        </p:tgtEl>
                                        <p:attrNameLst>
                                          <p:attrName>ppt_x</p:attrName>
                                        </p:attrNameLst>
                                      </p:cBhvr>
                                      <p:tavLst>
                                        <p:tav tm="0">
                                          <p:val>
                                            <p:strVal val="#ppt_x"/>
                                          </p:val>
                                        </p:tav>
                                        <p:tav tm="100000">
                                          <p:val>
                                            <p:strVal val="#ppt_x"/>
                                          </p:val>
                                        </p:tav>
                                      </p:tavLst>
                                    </p:anim>
                                    <p:anim calcmode="lin" valueType="num">
                                      <p:cBhvr additive="base">
                                        <p:cTn id="20" dur="1000" fill="hold"/>
                                        <p:tgtEl>
                                          <p:spTgt spid="8"/>
                                        </p:tgtEl>
                                        <p:attrNameLst>
                                          <p:attrName>ppt_y</p:attrName>
                                        </p:attrNameLst>
                                      </p:cBhvr>
                                      <p:tavLst>
                                        <p:tav tm="0">
                                          <p:val>
                                            <p:strVal val="1+#ppt_h/2"/>
                                          </p:val>
                                        </p:tav>
                                        <p:tav tm="100000">
                                          <p:val>
                                            <p:strVal val="#ppt_y"/>
                                          </p:val>
                                        </p:tav>
                                      </p:tavLst>
                                    </p:anim>
                                  </p:childTnLst>
                                </p:cTn>
                              </p:par>
                            </p:childTnLst>
                          </p:cTn>
                        </p:par>
                        <p:par>
                          <p:cTn id="21" fill="hold">
                            <p:stCondLst>
                              <p:cond delay="4000"/>
                            </p:stCondLst>
                            <p:childTnLst>
                              <p:par>
                                <p:cTn id="22" presetID="2" presetClass="entr" presetSubtype="8"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1000" fill="hold"/>
                                        <p:tgtEl>
                                          <p:spTgt spid="10"/>
                                        </p:tgtEl>
                                        <p:attrNameLst>
                                          <p:attrName>ppt_x</p:attrName>
                                        </p:attrNameLst>
                                      </p:cBhvr>
                                      <p:tavLst>
                                        <p:tav tm="0">
                                          <p:val>
                                            <p:strVal val="0-#ppt_w/2"/>
                                          </p:val>
                                        </p:tav>
                                        <p:tav tm="100000">
                                          <p:val>
                                            <p:strVal val="#ppt_x"/>
                                          </p:val>
                                        </p:tav>
                                      </p:tavLst>
                                    </p:anim>
                                    <p:anim calcmode="lin" valueType="num">
                                      <p:cBhvr additive="base">
                                        <p:cTn id="25" dur="1000" fill="hold"/>
                                        <p:tgtEl>
                                          <p:spTgt spid="10"/>
                                        </p:tgtEl>
                                        <p:attrNameLst>
                                          <p:attrName>ppt_y</p:attrName>
                                        </p:attrNameLst>
                                      </p:cBhvr>
                                      <p:tavLst>
                                        <p:tav tm="0">
                                          <p:val>
                                            <p:strVal val="#ppt_y"/>
                                          </p:val>
                                        </p:tav>
                                        <p:tav tm="100000">
                                          <p:val>
                                            <p:strVal val="#ppt_y"/>
                                          </p:val>
                                        </p:tav>
                                      </p:tavLst>
                                    </p:anim>
                                  </p:childTnLst>
                                </p:cTn>
                              </p:par>
                            </p:childTnLst>
                          </p:cTn>
                        </p:par>
                        <p:par>
                          <p:cTn id="26" fill="hold">
                            <p:stCondLst>
                              <p:cond delay="5000"/>
                            </p:stCondLst>
                            <p:childTnLst>
                              <p:par>
                                <p:cTn id="27" presetID="2" presetClass="entr" presetSubtype="1"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1000" fill="hold"/>
                                        <p:tgtEl>
                                          <p:spTgt spid="11"/>
                                        </p:tgtEl>
                                        <p:attrNameLst>
                                          <p:attrName>ppt_x</p:attrName>
                                        </p:attrNameLst>
                                      </p:cBhvr>
                                      <p:tavLst>
                                        <p:tav tm="0">
                                          <p:val>
                                            <p:strVal val="#ppt_x"/>
                                          </p:val>
                                        </p:tav>
                                        <p:tav tm="100000">
                                          <p:val>
                                            <p:strVal val="#ppt_x"/>
                                          </p:val>
                                        </p:tav>
                                      </p:tavLst>
                                    </p:anim>
                                    <p:anim calcmode="lin" valueType="num">
                                      <p:cBhvr additive="base">
                                        <p:cTn id="30" dur="1000" fill="hold"/>
                                        <p:tgtEl>
                                          <p:spTgt spid="11"/>
                                        </p:tgtEl>
                                        <p:attrNameLst>
                                          <p:attrName>ppt_y</p:attrName>
                                        </p:attrNameLst>
                                      </p:cBhvr>
                                      <p:tavLst>
                                        <p:tav tm="0">
                                          <p:val>
                                            <p:strVal val="0-#ppt_h/2"/>
                                          </p:val>
                                        </p:tav>
                                        <p:tav tm="100000">
                                          <p:val>
                                            <p:strVal val="#ppt_y"/>
                                          </p:val>
                                        </p:tav>
                                      </p:tavLst>
                                    </p:anim>
                                  </p:childTnLst>
                                </p:cTn>
                              </p:par>
                            </p:childTnLst>
                          </p:cTn>
                        </p:par>
                        <p:par>
                          <p:cTn id="31" fill="hold">
                            <p:stCondLst>
                              <p:cond delay="6000"/>
                            </p:stCondLst>
                            <p:childTnLst>
                              <p:par>
                                <p:cTn id="32" presetID="2" presetClass="entr" presetSubtype="2"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1000" fill="hold"/>
                                        <p:tgtEl>
                                          <p:spTgt spid="12"/>
                                        </p:tgtEl>
                                        <p:attrNameLst>
                                          <p:attrName>ppt_x</p:attrName>
                                        </p:attrNameLst>
                                      </p:cBhvr>
                                      <p:tavLst>
                                        <p:tav tm="0">
                                          <p:val>
                                            <p:strVal val="1+#ppt_w/2"/>
                                          </p:val>
                                        </p:tav>
                                        <p:tav tm="100000">
                                          <p:val>
                                            <p:strVal val="#ppt_x"/>
                                          </p:val>
                                        </p:tav>
                                      </p:tavLst>
                                    </p:anim>
                                    <p:anim calcmode="lin" valueType="num">
                                      <p:cBhvr additive="base">
                                        <p:cTn id="35" dur="1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9</a:t>
            </a:fld>
            <a:endParaRPr lang="es-ES" sz="1200" b="1" dirty="0">
              <a:latin typeface="+mn-lt"/>
            </a:endParaRPr>
          </a:p>
        </p:txBody>
      </p:sp>
      <p:pic>
        <p:nvPicPr>
          <p:cNvPr id="2" name="Imagen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1600" y="2071209"/>
            <a:ext cx="4831014" cy="3223604"/>
          </a:xfrm>
          <a:prstGeom prst="rect">
            <a:avLst/>
          </a:prstGeom>
        </p:spPr>
      </p:pic>
      <p:sp>
        <p:nvSpPr>
          <p:cNvPr id="7" name="Text Box 3"/>
          <p:cNvSpPr txBox="1">
            <a:spLocks noChangeArrowheads="1"/>
          </p:cNvSpPr>
          <p:nvPr/>
        </p:nvSpPr>
        <p:spPr bwMode="auto">
          <a:xfrm>
            <a:off x="827584" y="1268760"/>
            <a:ext cx="7776797" cy="584775"/>
          </a:xfrm>
          <a:prstGeom prst="rect">
            <a:avLst/>
          </a:prstGeom>
          <a:solidFill>
            <a:schemeClr val="tx2">
              <a:lumMod val="60000"/>
              <a:lumOff val="40000"/>
            </a:schemeClr>
          </a:solidFill>
          <a:ln w="9525" algn="ctr">
            <a:noFill/>
            <a:miter lim="800000"/>
            <a:headEnd/>
            <a:tailEnd/>
          </a:ln>
          <a:effectLst/>
        </p:spPr>
        <p:txBody>
          <a:bodyPr wrap="square">
            <a:spAutoFit/>
          </a:bodyPr>
          <a:lstStyle>
            <a:defPPr>
              <a:defRPr lang="es-AR"/>
            </a:defPPr>
            <a:lvl1pPr algn="ctr">
              <a:spcBef>
                <a:spcPct val="50000"/>
              </a:spcBef>
              <a:buClr>
                <a:srgbClr val="CC1204"/>
              </a:buClr>
              <a:defRPr b="1">
                <a:solidFill>
                  <a:srgbClr val="FFFFFF"/>
                </a:solidFill>
              </a:defRPr>
            </a:lvl1pPr>
          </a:lstStyle>
          <a:p>
            <a:r>
              <a:rPr lang="es-AR" sz="3200" dirty="0">
                <a:effectLst>
                  <a:outerShdw blurRad="38100" dist="38100" dir="2700000" algn="tl">
                    <a:srgbClr val="000000">
                      <a:alpha val="43137"/>
                    </a:srgbClr>
                  </a:outerShdw>
                </a:effectLst>
              </a:rPr>
              <a:t>¡Vamos a la tarea!</a:t>
            </a:r>
            <a:endParaRPr lang="es-ES" sz="3200" dirty="0">
              <a:effectLst>
                <a:outerShdw blurRad="38100" dist="38100" dir="2700000" algn="tl">
                  <a:srgbClr val="000000">
                    <a:alpha val="43137"/>
                  </a:srgbClr>
                </a:outerShdw>
              </a:effectLst>
            </a:endParaRPr>
          </a:p>
        </p:txBody>
      </p:sp>
      <p:sp>
        <p:nvSpPr>
          <p:cNvPr id="8" name="Text Box 3"/>
          <p:cNvSpPr txBox="1">
            <a:spLocks noChangeArrowheads="1"/>
          </p:cNvSpPr>
          <p:nvPr/>
        </p:nvSpPr>
        <p:spPr bwMode="auto">
          <a:xfrm>
            <a:off x="5811064" y="5928635"/>
            <a:ext cx="3034790" cy="584775"/>
          </a:xfrm>
          <a:prstGeom prst="rect">
            <a:avLst/>
          </a:prstGeom>
          <a:solidFill>
            <a:schemeClr val="tx2">
              <a:lumMod val="60000"/>
              <a:lumOff val="40000"/>
            </a:schemeClr>
          </a:solidFill>
          <a:ln w="9525" algn="ctr">
            <a:noFill/>
            <a:miter lim="800000"/>
            <a:headEnd/>
            <a:tailEnd/>
          </a:ln>
          <a:effectLst/>
        </p:spPr>
        <p:txBody>
          <a:bodyPr wrap="square">
            <a:spAutoFit/>
          </a:bodyPr>
          <a:lstStyle>
            <a:defPPr>
              <a:defRPr lang="es-AR"/>
            </a:defPPr>
            <a:lvl1pPr algn="ctr">
              <a:spcBef>
                <a:spcPct val="50000"/>
              </a:spcBef>
              <a:buClr>
                <a:srgbClr val="CC1204"/>
              </a:buClr>
              <a:defRPr b="1">
                <a:solidFill>
                  <a:srgbClr val="FFFFFF"/>
                </a:solidFill>
              </a:defRPr>
            </a:lvl1pPr>
          </a:lstStyle>
          <a:p>
            <a:r>
              <a:rPr lang="es-AR" sz="3200" dirty="0">
                <a:effectLst>
                  <a:outerShdw blurRad="38100" dist="38100" dir="2700000" algn="tl">
                    <a:srgbClr val="000000">
                      <a:alpha val="43137"/>
                    </a:srgbClr>
                  </a:outerShdw>
                </a:effectLst>
              </a:rPr>
              <a:t>Actividad 1</a:t>
            </a:r>
            <a:endParaRPr lang="es-ES"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84524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403954A-07F3-43AA-96E2-4FEEB418E3C5}"/>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14015" y="-108239"/>
            <a:ext cx="11172029" cy="6973915"/>
          </a:xfrm>
          <a:prstGeom prst="rect">
            <a:avLst/>
          </a:prstGeom>
        </p:spPr>
      </p:pic>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10</a:t>
            </a:fld>
            <a:endParaRPr lang="es-ES" sz="1200" b="1" dirty="0">
              <a:latin typeface="+mn-lt"/>
            </a:endParaRPr>
          </a:p>
        </p:txBody>
      </p:sp>
      <p:grpSp>
        <p:nvGrpSpPr>
          <p:cNvPr id="3" name="Grupo 2"/>
          <p:cNvGrpSpPr/>
          <p:nvPr/>
        </p:nvGrpSpPr>
        <p:grpSpPr>
          <a:xfrm>
            <a:off x="-285784" y="214290"/>
            <a:ext cx="9034248" cy="714356"/>
            <a:chOff x="-285784" y="214290"/>
            <a:chExt cx="9034248" cy="714356"/>
          </a:xfrm>
        </p:grpSpPr>
        <p:sp>
          <p:nvSpPr>
            <p:cNvPr id="6" name="9 Rectángulo redondeado"/>
            <p:cNvSpPr/>
            <p:nvPr/>
          </p:nvSpPr>
          <p:spPr>
            <a:xfrm>
              <a:off x="-285784" y="214290"/>
              <a:ext cx="9034248" cy="714356"/>
            </a:xfrm>
            <a:prstGeom prst="roundRect">
              <a:avLst/>
            </a:prstGeom>
            <a:solidFill>
              <a:schemeClr val="accent1">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2" name="CuadroTexto 1"/>
            <p:cNvSpPr txBox="1"/>
            <p:nvPr/>
          </p:nvSpPr>
          <p:spPr>
            <a:xfrm>
              <a:off x="288032" y="364594"/>
              <a:ext cx="8172400" cy="400110"/>
            </a:xfrm>
            <a:prstGeom prst="rect">
              <a:avLst/>
            </a:prstGeom>
            <a:noFill/>
          </p:spPr>
          <p:txBody>
            <a:bodyPr wrap="square" rtlCol="0">
              <a:spAutoFit/>
            </a:bodyPr>
            <a:lstStyle/>
            <a:p>
              <a:r>
                <a:rPr lang="es-AR" sz="2000" b="1" dirty="0">
                  <a:solidFill>
                    <a:schemeClr val="bg1"/>
                  </a:solidFill>
                </a:rPr>
                <a:t>Aspectos Macroeconómicos a tener en cuenta en el Plan de Negocios</a:t>
              </a:r>
            </a:p>
          </p:txBody>
        </p:sp>
      </p:grpSp>
      <p:grpSp>
        <p:nvGrpSpPr>
          <p:cNvPr id="11" name="Grupo 10">
            <a:extLst>
              <a:ext uri="{FF2B5EF4-FFF2-40B4-BE49-F238E27FC236}">
                <a16:creationId xmlns:a16="http://schemas.microsoft.com/office/drawing/2014/main" id="{A8DFAE60-E6AD-42D0-9EB4-EA784CA8EFEC}"/>
              </a:ext>
            </a:extLst>
          </p:cNvPr>
          <p:cNvGrpSpPr/>
          <p:nvPr/>
        </p:nvGrpSpPr>
        <p:grpSpPr>
          <a:xfrm>
            <a:off x="278404" y="2843082"/>
            <a:ext cx="6021788" cy="2818166"/>
            <a:chOff x="-513684" y="2843082"/>
            <a:chExt cx="6021788" cy="2818166"/>
          </a:xfrm>
        </p:grpSpPr>
        <p:sp>
          <p:nvSpPr>
            <p:cNvPr id="8" name="Rectángulo 7">
              <a:extLst>
                <a:ext uri="{FF2B5EF4-FFF2-40B4-BE49-F238E27FC236}">
                  <a16:creationId xmlns:a16="http://schemas.microsoft.com/office/drawing/2014/main" id="{0BE489BF-EDA1-4715-9714-F2680801118E}"/>
                </a:ext>
              </a:extLst>
            </p:cNvPr>
            <p:cNvSpPr/>
            <p:nvPr/>
          </p:nvSpPr>
          <p:spPr>
            <a:xfrm>
              <a:off x="-513684" y="2843082"/>
              <a:ext cx="6021788" cy="28181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CuadroTexto 9">
              <a:extLst>
                <a:ext uri="{FF2B5EF4-FFF2-40B4-BE49-F238E27FC236}">
                  <a16:creationId xmlns:a16="http://schemas.microsoft.com/office/drawing/2014/main" id="{A4E3F50F-C506-43B1-87B9-16C55D3C59F9}"/>
                </a:ext>
              </a:extLst>
            </p:cNvPr>
            <p:cNvSpPr txBox="1"/>
            <p:nvPr/>
          </p:nvSpPr>
          <p:spPr>
            <a:xfrm>
              <a:off x="-468561" y="2852936"/>
              <a:ext cx="5783800" cy="2554545"/>
            </a:xfrm>
            <a:prstGeom prst="rect">
              <a:avLst/>
            </a:prstGeom>
            <a:noFill/>
          </p:spPr>
          <p:txBody>
            <a:bodyPr wrap="square" rtlCol="0">
              <a:spAutoFit/>
            </a:bodyPr>
            <a:lstStyle/>
            <a:p>
              <a:pPr marL="342900" indent="-342900">
                <a:buFont typeface="Arial" panose="020B0604020202020204" pitchFamily="34" charset="0"/>
                <a:buChar char="•"/>
              </a:pPr>
              <a:r>
                <a:rPr lang="es-AR" sz="2000" b="1"/>
                <a:t>Producto Bruto Interno (crecimiento/disminución)</a:t>
              </a:r>
            </a:p>
            <a:p>
              <a:endParaRPr lang="es-AR" sz="2000" b="1"/>
            </a:p>
            <a:p>
              <a:pPr marL="342900" indent="-342900">
                <a:buFont typeface="Arial" panose="020B0604020202020204" pitchFamily="34" charset="0"/>
                <a:buChar char="•"/>
              </a:pPr>
              <a:r>
                <a:rPr lang="es-AR" sz="2000" b="1"/>
                <a:t>Tasa de inflación proyectada</a:t>
              </a:r>
            </a:p>
            <a:p>
              <a:endParaRPr lang="es-AR" sz="2000" b="1"/>
            </a:p>
            <a:p>
              <a:pPr marL="342900" indent="-342900">
                <a:buFont typeface="Arial" panose="020B0604020202020204" pitchFamily="34" charset="0"/>
                <a:buChar char="•"/>
              </a:pPr>
              <a:r>
                <a:rPr lang="es-AR" sz="2000" b="1"/>
                <a:t>Tasa de política monetaria</a:t>
              </a:r>
            </a:p>
            <a:p>
              <a:endParaRPr lang="es-AR" sz="2000" b="1"/>
            </a:p>
            <a:p>
              <a:pPr marL="342900" indent="-342900">
                <a:buFont typeface="Arial" panose="020B0604020202020204" pitchFamily="34" charset="0"/>
                <a:buChar char="•"/>
              </a:pPr>
              <a:r>
                <a:rPr lang="es-AR" sz="2000" b="1"/>
                <a:t>Tasa de operaciones pasivas (plazo fijo)</a:t>
              </a:r>
            </a:p>
          </p:txBody>
        </p:sp>
      </p:grpSp>
    </p:spTree>
    <p:extLst>
      <p:ext uri="{BB962C8B-B14F-4D97-AF65-F5344CB8AC3E}">
        <p14:creationId xmlns:p14="http://schemas.microsoft.com/office/powerpoint/2010/main" val="18618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360"/>
                                          </p:val>
                                        </p:tav>
                                        <p:tav tm="100000">
                                          <p:val>
                                            <p:fltVal val="0"/>
                                          </p:val>
                                        </p:tav>
                                      </p:tavLst>
                                    </p:anim>
                                    <p:animEffect transition="in" filter="fade">
                                      <p:cBhvr>
                                        <p:cTn id="10" dur="1000"/>
                                        <p:tgtEl>
                                          <p:spTgt spid="5"/>
                                        </p:tgtEl>
                                      </p:cBhvr>
                                    </p:animEffect>
                                  </p:childTnLst>
                                </p:cTn>
                              </p:par>
                            </p:childTnLst>
                          </p:cTn>
                        </p:par>
                        <p:par>
                          <p:cTn id="11" fill="hold">
                            <p:stCondLst>
                              <p:cond delay="1000"/>
                            </p:stCondLst>
                            <p:childTnLst>
                              <p:par>
                                <p:cTn id="12" presetID="9" presetClass="entr" presetSubtype="0" fill="hold"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dissolve">
                                      <p:cBhvr>
                                        <p:cTn id="1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4 Marcador de número de diapositiva"/>
          <p:cNvSpPr txBox="1">
            <a:spLocks/>
          </p:cNvSpPr>
          <p:nvPr/>
        </p:nvSpPr>
        <p:spPr>
          <a:xfrm>
            <a:off x="755576" y="6385156"/>
            <a:ext cx="299111" cy="249492"/>
          </a:xfrm>
          <a:prstGeom prst="rect">
            <a:avLst/>
          </a:prstGeom>
        </p:spPr>
        <p:txBody>
          <a:bodyPr/>
          <a:lstStyle/>
          <a:p>
            <a:pPr algn="r">
              <a:defRPr/>
            </a:pPr>
            <a:fld id="{36E559FE-78AC-4F99-BF93-3503C01DAB20}" type="slidenum">
              <a:rPr lang="es-ES" sz="900" b="1"/>
              <a:pPr algn="r">
                <a:defRPr/>
              </a:pPr>
              <a:t>11</a:t>
            </a:fld>
            <a:endParaRPr lang="es-ES" sz="900" b="1" dirty="0"/>
          </a:p>
        </p:txBody>
      </p:sp>
      <p:sp>
        <p:nvSpPr>
          <p:cNvPr id="4" name="CuadroTexto 3">
            <a:extLst>
              <a:ext uri="{FF2B5EF4-FFF2-40B4-BE49-F238E27FC236}">
                <a16:creationId xmlns:a16="http://schemas.microsoft.com/office/drawing/2014/main" id="{BFA30376-65E2-9FE5-440B-EC1CF8DA5A0B}"/>
              </a:ext>
            </a:extLst>
          </p:cNvPr>
          <p:cNvSpPr txBox="1"/>
          <p:nvPr/>
        </p:nvSpPr>
        <p:spPr>
          <a:xfrm>
            <a:off x="3635896" y="6289575"/>
            <a:ext cx="4896544" cy="307777"/>
          </a:xfrm>
          <a:prstGeom prst="rect">
            <a:avLst/>
          </a:prstGeom>
          <a:noFill/>
        </p:spPr>
        <p:txBody>
          <a:bodyPr wrap="square" rtlCol="0">
            <a:spAutoFit/>
          </a:bodyPr>
          <a:lstStyle/>
          <a:p>
            <a:r>
              <a:rPr lang="es-ES" sz="1400" b="1" i="1" u="none" strike="noStrike" baseline="0" dirty="0"/>
              <a:t>Fuente: INDEC, Dirección Nacional de Cuentas Nacionales</a:t>
            </a:r>
            <a:endParaRPr lang="es-AR" dirty="0"/>
          </a:p>
        </p:txBody>
      </p:sp>
      <p:pic>
        <p:nvPicPr>
          <p:cNvPr id="7" name="Imagen 6">
            <a:extLst>
              <a:ext uri="{FF2B5EF4-FFF2-40B4-BE49-F238E27FC236}">
                <a16:creationId xmlns:a16="http://schemas.microsoft.com/office/drawing/2014/main" id="{578D85EA-6473-25B4-BF36-EC086544E9D6}"/>
              </a:ext>
            </a:extLst>
          </p:cNvPr>
          <p:cNvPicPr>
            <a:picLocks noChangeAspect="1"/>
          </p:cNvPicPr>
          <p:nvPr/>
        </p:nvPicPr>
        <p:blipFill>
          <a:blip r:embed="rId2"/>
          <a:stretch>
            <a:fillRect/>
          </a:stretch>
        </p:blipFill>
        <p:spPr>
          <a:xfrm>
            <a:off x="471806" y="764703"/>
            <a:ext cx="8060634" cy="5237781"/>
          </a:xfrm>
          <a:prstGeom prst="rect">
            <a:avLst/>
          </a:prstGeom>
        </p:spPr>
      </p:pic>
    </p:spTree>
    <p:extLst>
      <p:ext uri="{BB962C8B-B14F-4D97-AF65-F5344CB8AC3E}">
        <p14:creationId xmlns:p14="http://schemas.microsoft.com/office/powerpoint/2010/main" val="132579169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4 Marcador de número de diapositiva"/>
          <p:cNvSpPr txBox="1">
            <a:spLocks/>
          </p:cNvSpPr>
          <p:nvPr/>
        </p:nvSpPr>
        <p:spPr>
          <a:xfrm>
            <a:off x="683568" y="6165304"/>
            <a:ext cx="299111" cy="249492"/>
          </a:xfrm>
          <a:prstGeom prst="rect">
            <a:avLst/>
          </a:prstGeom>
        </p:spPr>
        <p:txBody>
          <a:bodyPr/>
          <a:lstStyle/>
          <a:p>
            <a:pPr algn="r">
              <a:defRPr/>
            </a:pPr>
            <a:fld id="{36E559FE-78AC-4F99-BF93-3503C01DAB20}" type="slidenum">
              <a:rPr lang="es-ES" sz="900" b="1"/>
              <a:pPr algn="r">
                <a:defRPr/>
              </a:pPr>
              <a:t>12</a:t>
            </a:fld>
            <a:endParaRPr lang="es-ES" sz="900" b="1" dirty="0"/>
          </a:p>
        </p:txBody>
      </p:sp>
      <p:pic>
        <p:nvPicPr>
          <p:cNvPr id="6" name="Imagen 5">
            <a:extLst>
              <a:ext uri="{FF2B5EF4-FFF2-40B4-BE49-F238E27FC236}">
                <a16:creationId xmlns:a16="http://schemas.microsoft.com/office/drawing/2014/main" id="{2090ECD5-6427-566E-5616-ECCF84AEF59E}"/>
              </a:ext>
            </a:extLst>
          </p:cNvPr>
          <p:cNvPicPr>
            <a:picLocks noChangeAspect="1"/>
          </p:cNvPicPr>
          <p:nvPr/>
        </p:nvPicPr>
        <p:blipFill>
          <a:blip r:embed="rId2"/>
          <a:stretch>
            <a:fillRect/>
          </a:stretch>
        </p:blipFill>
        <p:spPr>
          <a:xfrm>
            <a:off x="395536" y="1578428"/>
            <a:ext cx="8621413" cy="3672407"/>
          </a:xfrm>
          <a:prstGeom prst="rect">
            <a:avLst/>
          </a:prstGeom>
        </p:spPr>
      </p:pic>
    </p:spTree>
    <p:extLst>
      <p:ext uri="{BB962C8B-B14F-4D97-AF65-F5344CB8AC3E}">
        <p14:creationId xmlns:p14="http://schemas.microsoft.com/office/powerpoint/2010/main" val="183177466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4 Marcador de número de diapositiva"/>
          <p:cNvSpPr txBox="1">
            <a:spLocks/>
          </p:cNvSpPr>
          <p:nvPr/>
        </p:nvSpPr>
        <p:spPr>
          <a:xfrm>
            <a:off x="899592" y="6309320"/>
            <a:ext cx="299111" cy="249492"/>
          </a:xfrm>
          <a:prstGeom prst="rect">
            <a:avLst/>
          </a:prstGeom>
        </p:spPr>
        <p:txBody>
          <a:bodyPr/>
          <a:lstStyle/>
          <a:p>
            <a:pPr algn="r">
              <a:defRPr/>
            </a:pPr>
            <a:fld id="{36E559FE-78AC-4F99-BF93-3503C01DAB20}" type="slidenum">
              <a:rPr lang="es-ES" sz="900" b="1"/>
              <a:pPr algn="r">
                <a:defRPr/>
              </a:pPr>
              <a:t>13</a:t>
            </a:fld>
            <a:endParaRPr lang="es-ES" sz="900" b="1" dirty="0"/>
          </a:p>
        </p:txBody>
      </p:sp>
      <p:grpSp>
        <p:nvGrpSpPr>
          <p:cNvPr id="4" name="Grupo 3">
            <a:extLst>
              <a:ext uri="{FF2B5EF4-FFF2-40B4-BE49-F238E27FC236}">
                <a16:creationId xmlns:a16="http://schemas.microsoft.com/office/drawing/2014/main" id="{AA80028C-65B8-C3B9-0FE7-08748F76ADFE}"/>
              </a:ext>
            </a:extLst>
          </p:cNvPr>
          <p:cNvGrpSpPr/>
          <p:nvPr/>
        </p:nvGrpSpPr>
        <p:grpSpPr>
          <a:xfrm>
            <a:off x="254791" y="299188"/>
            <a:ext cx="1588711" cy="1905676"/>
            <a:chOff x="-5225623" y="2630078"/>
            <a:chExt cx="1732727" cy="2366200"/>
          </a:xfrm>
        </p:grpSpPr>
        <p:sp>
          <p:nvSpPr>
            <p:cNvPr id="20" name="19 Rectángulo redondeado"/>
            <p:cNvSpPr/>
            <p:nvPr/>
          </p:nvSpPr>
          <p:spPr>
            <a:xfrm>
              <a:off x="-5225623" y="2630078"/>
              <a:ext cx="1732727" cy="2167073"/>
            </a:xfrm>
            <a:prstGeom prst="roundRect">
              <a:avLst/>
            </a:prstGeom>
            <a:solidFill>
              <a:schemeClr val="accent1">
                <a:lumMod val="75000"/>
              </a:schemeClr>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sz="1350" dirty="0"/>
            </a:p>
          </p:txBody>
        </p:sp>
        <p:sp>
          <p:nvSpPr>
            <p:cNvPr id="17" name="16 CuadroTexto"/>
            <p:cNvSpPr txBox="1"/>
            <p:nvPr/>
          </p:nvSpPr>
          <p:spPr>
            <a:xfrm>
              <a:off x="-5191741" y="2687953"/>
              <a:ext cx="1410813" cy="2308325"/>
            </a:xfrm>
            <a:prstGeom prst="rect">
              <a:avLst/>
            </a:prstGeom>
            <a:noFill/>
          </p:spPr>
          <p:txBody>
            <a:bodyPr wrap="square" rtlCol="0">
              <a:spAutoFit/>
            </a:bodyPr>
            <a:lstStyle/>
            <a:p>
              <a:pPr algn="ctr"/>
              <a:r>
                <a:rPr lang="es-AR" b="1" dirty="0">
                  <a:solidFill>
                    <a:schemeClr val="bg1"/>
                  </a:solidFill>
                  <a:ea typeface="Verdana" pitchFamily="34" charset="0"/>
                  <a:cs typeface="Verdana" pitchFamily="34" charset="0"/>
                </a:rPr>
                <a:t>¿Cómo evolucionó cada sector de la</a:t>
              </a:r>
            </a:p>
            <a:p>
              <a:pPr algn="ctr"/>
              <a:r>
                <a:rPr lang="es-AR" b="1" dirty="0">
                  <a:solidFill>
                    <a:schemeClr val="bg1"/>
                  </a:solidFill>
                  <a:ea typeface="Verdana" pitchFamily="34" charset="0"/>
                  <a:cs typeface="Verdana" pitchFamily="34" charset="0"/>
                </a:rPr>
                <a:t>Economía? </a:t>
              </a:r>
            </a:p>
            <a:p>
              <a:pPr algn="ctr"/>
              <a:endParaRPr lang="es-AR" b="1" dirty="0">
                <a:solidFill>
                  <a:schemeClr val="bg1"/>
                </a:solidFill>
                <a:latin typeface="+mj-lt"/>
                <a:ea typeface="Verdana" pitchFamily="34" charset="0"/>
                <a:cs typeface="Verdana" pitchFamily="34" charset="0"/>
              </a:endParaRPr>
            </a:p>
            <a:p>
              <a:pPr algn="ctr"/>
              <a:endParaRPr lang="es-AR" b="1" dirty="0">
                <a:solidFill>
                  <a:schemeClr val="bg1"/>
                </a:solidFill>
                <a:latin typeface="+mj-lt"/>
                <a:ea typeface="Verdana" pitchFamily="34" charset="0"/>
                <a:cs typeface="Verdana" pitchFamily="34" charset="0"/>
              </a:endParaRPr>
            </a:p>
            <a:p>
              <a:pPr algn="ctr"/>
              <a:endParaRPr lang="es-ES" dirty="0">
                <a:solidFill>
                  <a:schemeClr val="bg1"/>
                </a:solidFill>
                <a:latin typeface="+mj-lt"/>
                <a:ea typeface="Verdana" pitchFamily="34" charset="0"/>
                <a:cs typeface="Verdana" pitchFamily="34" charset="0"/>
              </a:endParaRPr>
            </a:p>
          </p:txBody>
        </p:sp>
      </p:grpSp>
      <p:sp>
        <p:nvSpPr>
          <p:cNvPr id="6" name="CuadroTexto 5">
            <a:extLst>
              <a:ext uri="{FF2B5EF4-FFF2-40B4-BE49-F238E27FC236}">
                <a16:creationId xmlns:a16="http://schemas.microsoft.com/office/drawing/2014/main" id="{830CD87E-9C26-03C2-B4E2-9883074FE9DB}"/>
              </a:ext>
            </a:extLst>
          </p:cNvPr>
          <p:cNvSpPr txBox="1"/>
          <p:nvPr/>
        </p:nvSpPr>
        <p:spPr>
          <a:xfrm>
            <a:off x="539552" y="4509120"/>
            <a:ext cx="1375784" cy="1169551"/>
          </a:xfrm>
          <a:prstGeom prst="rect">
            <a:avLst/>
          </a:prstGeom>
          <a:noFill/>
        </p:spPr>
        <p:txBody>
          <a:bodyPr wrap="square" rtlCol="0">
            <a:spAutoFit/>
          </a:bodyPr>
          <a:lstStyle/>
          <a:p>
            <a:r>
              <a:rPr lang="es-ES" sz="1400" b="1" i="1" u="none" strike="noStrike" baseline="0" dirty="0"/>
              <a:t>Fuente: INDEC, Dirección Nacional de Cuentas Nacionales</a:t>
            </a:r>
            <a:endParaRPr lang="es-AR" dirty="0"/>
          </a:p>
        </p:txBody>
      </p:sp>
      <p:pic>
        <p:nvPicPr>
          <p:cNvPr id="9" name="Imagen 8">
            <a:extLst>
              <a:ext uri="{FF2B5EF4-FFF2-40B4-BE49-F238E27FC236}">
                <a16:creationId xmlns:a16="http://schemas.microsoft.com/office/drawing/2014/main" id="{DDEDDCE3-B7F9-AC26-9936-0A348CFA1D48}"/>
              </a:ext>
            </a:extLst>
          </p:cNvPr>
          <p:cNvPicPr>
            <a:picLocks noChangeAspect="1"/>
          </p:cNvPicPr>
          <p:nvPr/>
        </p:nvPicPr>
        <p:blipFill>
          <a:blip r:embed="rId2"/>
          <a:stretch>
            <a:fillRect/>
          </a:stretch>
        </p:blipFill>
        <p:spPr>
          <a:xfrm>
            <a:off x="2276154" y="25393"/>
            <a:ext cx="5680222" cy="6787983"/>
          </a:xfrm>
          <a:prstGeom prst="rect">
            <a:avLst/>
          </a:prstGeom>
        </p:spPr>
      </p:pic>
    </p:spTree>
    <p:extLst>
      <p:ext uri="{BB962C8B-B14F-4D97-AF65-F5344CB8AC3E}">
        <p14:creationId xmlns:p14="http://schemas.microsoft.com/office/powerpoint/2010/main" val="363503677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4 Marcador de número de diapositiva"/>
          <p:cNvSpPr txBox="1">
            <a:spLocks/>
          </p:cNvSpPr>
          <p:nvPr/>
        </p:nvSpPr>
        <p:spPr>
          <a:xfrm>
            <a:off x="1231936" y="5751258"/>
            <a:ext cx="299111" cy="249492"/>
          </a:xfrm>
          <a:prstGeom prst="rect">
            <a:avLst/>
          </a:prstGeom>
        </p:spPr>
        <p:txBody>
          <a:bodyPr/>
          <a:lstStyle/>
          <a:p>
            <a:pPr algn="r">
              <a:defRPr/>
            </a:pPr>
            <a:fld id="{36E559FE-78AC-4F99-BF93-3503C01DAB20}" type="slidenum">
              <a:rPr lang="es-ES" sz="900" b="1"/>
              <a:pPr algn="r">
                <a:defRPr/>
              </a:pPr>
              <a:t>14</a:t>
            </a:fld>
            <a:endParaRPr lang="es-ES" sz="900" b="1" dirty="0"/>
          </a:p>
        </p:txBody>
      </p:sp>
      <p:pic>
        <p:nvPicPr>
          <p:cNvPr id="3" name="Imagen 2">
            <a:extLst>
              <a:ext uri="{FF2B5EF4-FFF2-40B4-BE49-F238E27FC236}">
                <a16:creationId xmlns:a16="http://schemas.microsoft.com/office/drawing/2014/main" id="{566678A0-B47B-37FC-1B0F-E76D412CBB23}"/>
              </a:ext>
            </a:extLst>
          </p:cNvPr>
          <p:cNvPicPr>
            <a:picLocks noChangeAspect="1"/>
          </p:cNvPicPr>
          <p:nvPr/>
        </p:nvPicPr>
        <p:blipFill>
          <a:blip r:embed="rId2"/>
          <a:stretch>
            <a:fillRect/>
          </a:stretch>
        </p:blipFill>
        <p:spPr>
          <a:xfrm>
            <a:off x="142257" y="1371313"/>
            <a:ext cx="8859486" cy="4115374"/>
          </a:xfrm>
          <a:prstGeom prst="rect">
            <a:avLst/>
          </a:prstGeom>
        </p:spPr>
      </p:pic>
    </p:spTree>
    <p:extLst>
      <p:ext uri="{BB962C8B-B14F-4D97-AF65-F5344CB8AC3E}">
        <p14:creationId xmlns:p14="http://schemas.microsoft.com/office/powerpoint/2010/main" val="122491514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3BCB659-B6BB-ADA9-400B-09A32D81CB39}"/>
              </a:ext>
            </a:extLst>
          </p:cNvPr>
          <p:cNvSpPr txBox="1"/>
          <p:nvPr/>
        </p:nvSpPr>
        <p:spPr>
          <a:xfrm>
            <a:off x="251520" y="5013684"/>
            <a:ext cx="4824536" cy="253916"/>
          </a:xfrm>
          <a:prstGeom prst="rect">
            <a:avLst/>
          </a:prstGeom>
          <a:noFill/>
        </p:spPr>
        <p:txBody>
          <a:bodyPr wrap="square" rtlCol="0">
            <a:spAutoFit/>
          </a:bodyPr>
          <a:lstStyle/>
          <a:p>
            <a:pPr algn="ctr"/>
            <a:r>
              <a:rPr lang="es-MX" sz="1050" i="1" dirty="0">
                <a:latin typeface="Calibri" panose="020F0502020204030204" pitchFamily="34" charset="0"/>
                <a:ea typeface="Calibri" panose="020F0502020204030204" pitchFamily="34" charset="0"/>
                <a:cs typeface="Times New Roman" panose="02020603050405020304" pitchFamily="18" charset="0"/>
              </a:rPr>
              <a:t>Fuente: INDEC – Informe del Nivel de Avance de la Actividad – 2025</a:t>
            </a:r>
            <a:endParaRPr lang="es-AR" sz="900" dirty="0"/>
          </a:p>
        </p:txBody>
      </p:sp>
      <p:pic>
        <p:nvPicPr>
          <p:cNvPr id="5" name="Imagen 4">
            <a:extLst>
              <a:ext uri="{FF2B5EF4-FFF2-40B4-BE49-F238E27FC236}">
                <a16:creationId xmlns:a16="http://schemas.microsoft.com/office/drawing/2014/main" id="{64C58F69-9EC0-0FA8-B882-26824BEDFD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1999" y="5404465"/>
            <a:ext cx="1367743" cy="1367743"/>
          </a:xfrm>
          <a:prstGeom prst="rect">
            <a:avLst/>
          </a:prstGeom>
        </p:spPr>
      </p:pic>
      <p:sp>
        <p:nvSpPr>
          <p:cNvPr id="6" name="CuadroTexto 5">
            <a:extLst>
              <a:ext uri="{FF2B5EF4-FFF2-40B4-BE49-F238E27FC236}">
                <a16:creationId xmlns:a16="http://schemas.microsoft.com/office/drawing/2014/main" id="{7D4E62E4-C317-ECD8-218F-ADEB5595CD8D}"/>
              </a:ext>
            </a:extLst>
          </p:cNvPr>
          <p:cNvSpPr txBox="1"/>
          <p:nvPr/>
        </p:nvSpPr>
        <p:spPr>
          <a:xfrm>
            <a:off x="5796136" y="4725144"/>
            <a:ext cx="2454625" cy="830997"/>
          </a:xfrm>
          <a:prstGeom prst="rect">
            <a:avLst/>
          </a:prstGeom>
          <a:noFill/>
        </p:spPr>
        <p:txBody>
          <a:bodyPr wrap="square" rtlCol="0">
            <a:spAutoFit/>
          </a:bodyPr>
          <a:lstStyle/>
          <a:p>
            <a:pPr algn="ctr"/>
            <a:r>
              <a:rPr lang="es-MX" sz="1600" b="1" dirty="0"/>
              <a:t>El consumo en la Argentina explica el 87,4 % del PIB</a:t>
            </a:r>
            <a:endParaRPr lang="en-US" sz="1600" b="1" dirty="0"/>
          </a:p>
        </p:txBody>
      </p:sp>
      <mc:AlternateContent xmlns:mc="http://schemas.openxmlformats.org/markup-compatibility/2006" xmlns:p14="http://schemas.microsoft.com/office/powerpoint/2010/main">
        <mc:Choice Requires="p14">
          <p:contentPart p14:bwMode="auto" r:id="rId3">
            <p14:nvContentPartPr>
              <p14:cNvPr id="9" name="Entrada de lápiz 8">
                <a:extLst>
                  <a:ext uri="{FF2B5EF4-FFF2-40B4-BE49-F238E27FC236}">
                    <a16:creationId xmlns:a16="http://schemas.microsoft.com/office/drawing/2014/main" id="{D62E3CB8-6C17-5A8D-3090-F30678891915}"/>
                  </a:ext>
                </a:extLst>
              </p14:cNvPr>
              <p14:cNvContentPartPr/>
              <p14:nvPr/>
            </p14:nvContentPartPr>
            <p14:xfrm>
              <a:off x="6293760" y="2910720"/>
              <a:ext cx="360" cy="360"/>
            </p14:xfrm>
          </p:contentPart>
        </mc:Choice>
        <mc:Fallback xmlns="">
          <p:pic>
            <p:nvPicPr>
              <p:cNvPr id="9" name="Entrada de lápiz 8">
                <a:extLst>
                  <a:ext uri="{FF2B5EF4-FFF2-40B4-BE49-F238E27FC236}">
                    <a16:creationId xmlns:a16="http://schemas.microsoft.com/office/drawing/2014/main" id="{D62E3CB8-6C17-5A8D-3090-F30678891915}"/>
                  </a:ext>
                </a:extLst>
              </p:cNvPr>
              <p:cNvPicPr/>
              <p:nvPr/>
            </p:nvPicPr>
            <p:blipFill>
              <a:blip r:embed="rId4"/>
              <a:stretch>
                <a:fillRect/>
              </a:stretch>
            </p:blipFill>
            <p:spPr>
              <a:xfrm>
                <a:off x="6285120" y="2901720"/>
                <a:ext cx="18000" cy="18000"/>
              </a:xfrm>
              <a:prstGeom prst="rect">
                <a:avLst/>
              </a:prstGeom>
            </p:spPr>
          </p:pic>
        </mc:Fallback>
      </mc:AlternateContent>
      <p:pic>
        <p:nvPicPr>
          <p:cNvPr id="11" name="Imagen 10">
            <a:extLst>
              <a:ext uri="{FF2B5EF4-FFF2-40B4-BE49-F238E27FC236}">
                <a16:creationId xmlns:a16="http://schemas.microsoft.com/office/drawing/2014/main" id="{EF8998E0-269A-C607-5DA7-DB545DDA2E31}"/>
              </a:ext>
            </a:extLst>
          </p:cNvPr>
          <p:cNvPicPr>
            <a:picLocks noChangeAspect="1"/>
          </p:cNvPicPr>
          <p:nvPr/>
        </p:nvPicPr>
        <p:blipFill>
          <a:blip r:embed="rId5"/>
          <a:stretch>
            <a:fillRect/>
          </a:stretch>
        </p:blipFill>
        <p:spPr>
          <a:xfrm>
            <a:off x="202880" y="238243"/>
            <a:ext cx="8659433" cy="4486901"/>
          </a:xfrm>
          <a:prstGeom prst="rect">
            <a:avLst/>
          </a:prstGeom>
        </p:spPr>
      </p:pic>
      <mc:AlternateContent xmlns:mc="http://schemas.openxmlformats.org/markup-compatibility/2006" xmlns:p14="http://schemas.microsoft.com/office/powerpoint/2010/main">
        <mc:Choice Requires="p14">
          <p:contentPart p14:bwMode="auto" r:id="rId6">
            <p14:nvContentPartPr>
              <p14:cNvPr id="12" name="Entrada de lápiz 11">
                <a:extLst>
                  <a:ext uri="{FF2B5EF4-FFF2-40B4-BE49-F238E27FC236}">
                    <a16:creationId xmlns:a16="http://schemas.microsoft.com/office/drawing/2014/main" id="{7A6253C6-C317-EDE8-F3E7-0DC59D30151B}"/>
                  </a:ext>
                </a:extLst>
              </p14:cNvPr>
              <p14:cNvContentPartPr/>
              <p14:nvPr/>
            </p14:nvContentPartPr>
            <p14:xfrm>
              <a:off x="8226600" y="2910000"/>
              <a:ext cx="613440" cy="550800"/>
            </p14:xfrm>
          </p:contentPart>
        </mc:Choice>
        <mc:Fallback xmlns="">
          <p:pic>
            <p:nvPicPr>
              <p:cNvPr id="12" name="Entrada de lápiz 11">
                <a:extLst>
                  <a:ext uri="{FF2B5EF4-FFF2-40B4-BE49-F238E27FC236}">
                    <a16:creationId xmlns:a16="http://schemas.microsoft.com/office/drawing/2014/main" id="{7A6253C6-C317-EDE8-F3E7-0DC59D30151B}"/>
                  </a:ext>
                </a:extLst>
              </p:cNvPr>
              <p:cNvPicPr/>
              <p:nvPr/>
            </p:nvPicPr>
            <p:blipFill>
              <a:blip r:embed="rId7"/>
              <a:stretch>
                <a:fillRect/>
              </a:stretch>
            </p:blipFill>
            <p:spPr>
              <a:xfrm>
                <a:off x="8217960" y="2901000"/>
                <a:ext cx="631080" cy="568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Entrada de lápiz 12">
                <a:extLst>
                  <a:ext uri="{FF2B5EF4-FFF2-40B4-BE49-F238E27FC236}">
                    <a16:creationId xmlns:a16="http://schemas.microsoft.com/office/drawing/2014/main" id="{FCD790E4-8825-1871-4910-1D72B71E3A1C}"/>
                  </a:ext>
                </a:extLst>
              </p14:cNvPr>
              <p14:cNvContentPartPr/>
              <p14:nvPr/>
            </p14:nvContentPartPr>
            <p14:xfrm>
              <a:off x="8290320" y="2919720"/>
              <a:ext cx="360" cy="6480"/>
            </p14:xfrm>
          </p:contentPart>
        </mc:Choice>
        <mc:Fallback xmlns="">
          <p:pic>
            <p:nvPicPr>
              <p:cNvPr id="13" name="Entrada de lápiz 12">
                <a:extLst>
                  <a:ext uri="{FF2B5EF4-FFF2-40B4-BE49-F238E27FC236}">
                    <a16:creationId xmlns:a16="http://schemas.microsoft.com/office/drawing/2014/main" id="{FCD790E4-8825-1871-4910-1D72B71E3A1C}"/>
                  </a:ext>
                </a:extLst>
              </p:cNvPr>
              <p:cNvPicPr/>
              <p:nvPr/>
            </p:nvPicPr>
            <p:blipFill>
              <a:blip r:embed="rId4"/>
              <a:stretch>
                <a:fillRect/>
              </a:stretch>
            </p:blipFill>
            <p:spPr>
              <a:xfrm>
                <a:off x="8281680" y="2911080"/>
                <a:ext cx="18000" cy="24120"/>
              </a:xfrm>
              <a:prstGeom prst="rect">
                <a:avLst/>
              </a:prstGeom>
            </p:spPr>
          </p:pic>
        </mc:Fallback>
      </mc:AlternateContent>
    </p:spTree>
    <p:extLst>
      <p:ext uri="{BB962C8B-B14F-4D97-AF65-F5344CB8AC3E}">
        <p14:creationId xmlns:p14="http://schemas.microsoft.com/office/powerpoint/2010/main" val="1279023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9" name="Entrada de lápiz 8">
                <a:extLst>
                  <a:ext uri="{FF2B5EF4-FFF2-40B4-BE49-F238E27FC236}">
                    <a16:creationId xmlns:a16="http://schemas.microsoft.com/office/drawing/2014/main" id="{D62E3CB8-6C17-5A8D-3090-F30678891915}"/>
                  </a:ext>
                </a:extLst>
              </p14:cNvPr>
              <p14:cNvContentPartPr/>
              <p14:nvPr/>
            </p14:nvContentPartPr>
            <p14:xfrm>
              <a:off x="6293760" y="2910720"/>
              <a:ext cx="360" cy="360"/>
            </p14:xfrm>
          </p:contentPart>
        </mc:Choice>
        <mc:Fallback xmlns="">
          <p:pic>
            <p:nvPicPr>
              <p:cNvPr id="9" name="Entrada de lápiz 8">
                <a:extLst>
                  <a:ext uri="{FF2B5EF4-FFF2-40B4-BE49-F238E27FC236}">
                    <a16:creationId xmlns:a16="http://schemas.microsoft.com/office/drawing/2014/main" id="{D62E3CB8-6C17-5A8D-3090-F30678891915}"/>
                  </a:ext>
                </a:extLst>
              </p:cNvPr>
              <p:cNvPicPr/>
              <p:nvPr/>
            </p:nvPicPr>
            <p:blipFill>
              <a:blip r:embed="rId3"/>
              <a:stretch>
                <a:fillRect/>
              </a:stretch>
            </p:blipFill>
            <p:spPr>
              <a:xfrm>
                <a:off x="6284760" y="2901720"/>
                <a:ext cx="18000" cy="18000"/>
              </a:xfrm>
              <a:prstGeom prst="rect">
                <a:avLst/>
              </a:prstGeom>
            </p:spPr>
          </p:pic>
        </mc:Fallback>
      </mc:AlternateContent>
      <p:pic>
        <p:nvPicPr>
          <p:cNvPr id="4" name="Imagen 3">
            <a:extLst>
              <a:ext uri="{FF2B5EF4-FFF2-40B4-BE49-F238E27FC236}">
                <a16:creationId xmlns:a16="http://schemas.microsoft.com/office/drawing/2014/main" id="{E799A670-B304-5BBB-FF19-13DE25DB5E21}"/>
              </a:ext>
            </a:extLst>
          </p:cNvPr>
          <p:cNvPicPr>
            <a:picLocks noChangeAspect="1"/>
          </p:cNvPicPr>
          <p:nvPr/>
        </p:nvPicPr>
        <p:blipFill>
          <a:blip r:embed="rId4"/>
          <a:stretch>
            <a:fillRect/>
          </a:stretch>
        </p:blipFill>
        <p:spPr>
          <a:xfrm>
            <a:off x="3128741" y="0"/>
            <a:ext cx="5348377" cy="6858000"/>
          </a:xfrm>
          <a:prstGeom prst="rect">
            <a:avLst/>
          </a:prstGeom>
        </p:spPr>
      </p:pic>
      <p:grpSp>
        <p:nvGrpSpPr>
          <p:cNvPr id="7" name="Grupo 6">
            <a:extLst>
              <a:ext uri="{FF2B5EF4-FFF2-40B4-BE49-F238E27FC236}">
                <a16:creationId xmlns:a16="http://schemas.microsoft.com/office/drawing/2014/main" id="{7CB42CDE-9F14-809C-E175-6990E19B3EE7}"/>
              </a:ext>
            </a:extLst>
          </p:cNvPr>
          <p:cNvGrpSpPr/>
          <p:nvPr/>
        </p:nvGrpSpPr>
        <p:grpSpPr>
          <a:xfrm>
            <a:off x="387196" y="1523324"/>
            <a:ext cx="2168580" cy="1800937"/>
            <a:chOff x="-5225623" y="2630078"/>
            <a:chExt cx="1732727" cy="2236150"/>
          </a:xfrm>
        </p:grpSpPr>
        <p:sp>
          <p:nvSpPr>
            <p:cNvPr id="8" name="19 Rectángulo redondeado">
              <a:extLst>
                <a:ext uri="{FF2B5EF4-FFF2-40B4-BE49-F238E27FC236}">
                  <a16:creationId xmlns:a16="http://schemas.microsoft.com/office/drawing/2014/main" id="{4F062254-D6AF-2291-40A2-12B181B105F3}"/>
                </a:ext>
              </a:extLst>
            </p:cNvPr>
            <p:cNvSpPr/>
            <p:nvPr/>
          </p:nvSpPr>
          <p:spPr>
            <a:xfrm>
              <a:off x="-5225623" y="2630078"/>
              <a:ext cx="1732727" cy="2167073"/>
            </a:xfrm>
            <a:prstGeom prst="roundRect">
              <a:avLst/>
            </a:prstGeom>
            <a:solidFill>
              <a:schemeClr val="accent1">
                <a:lumMod val="75000"/>
              </a:schemeClr>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sz="1350" dirty="0"/>
            </a:p>
          </p:txBody>
        </p:sp>
        <p:sp>
          <p:nvSpPr>
            <p:cNvPr id="10" name="16 CuadroTexto">
              <a:extLst>
                <a:ext uri="{FF2B5EF4-FFF2-40B4-BE49-F238E27FC236}">
                  <a16:creationId xmlns:a16="http://schemas.microsoft.com/office/drawing/2014/main" id="{C6D7400C-9453-826B-E2D7-879D3F8D3BD0}"/>
                </a:ext>
              </a:extLst>
            </p:cNvPr>
            <p:cNvSpPr txBox="1"/>
            <p:nvPr/>
          </p:nvSpPr>
          <p:spPr>
            <a:xfrm>
              <a:off x="-5191741" y="2687953"/>
              <a:ext cx="1410813" cy="2178275"/>
            </a:xfrm>
            <a:prstGeom prst="rect">
              <a:avLst/>
            </a:prstGeom>
            <a:noFill/>
          </p:spPr>
          <p:txBody>
            <a:bodyPr wrap="square" rtlCol="0">
              <a:spAutoFit/>
            </a:bodyPr>
            <a:lstStyle/>
            <a:p>
              <a:pPr algn="ctr"/>
              <a:r>
                <a:rPr lang="es-ES" b="1" dirty="0">
                  <a:solidFill>
                    <a:schemeClr val="bg1"/>
                  </a:solidFill>
                  <a:ea typeface="Verdana" pitchFamily="34" charset="0"/>
                  <a:cs typeface="Verdana" pitchFamily="34" charset="0"/>
                </a:rPr>
                <a:t>Índice de producción industrial manufacturero</a:t>
              </a:r>
            </a:p>
            <a:p>
              <a:pPr algn="ctr"/>
              <a:r>
                <a:rPr lang="es-ES" b="1" dirty="0">
                  <a:solidFill>
                    <a:schemeClr val="bg1"/>
                  </a:solidFill>
                  <a:latin typeface="+mj-lt"/>
                  <a:ea typeface="Verdana" pitchFamily="34" charset="0"/>
                  <a:cs typeface="Verdana" pitchFamily="34" charset="0"/>
                </a:rPr>
                <a:t>(IPI)</a:t>
              </a:r>
              <a:endParaRPr lang="es-AR" b="1" dirty="0">
                <a:solidFill>
                  <a:schemeClr val="bg1"/>
                </a:solidFill>
                <a:latin typeface="+mj-lt"/>
                <a:ea typeface="Verdana" pitchFamily="34" charset="0"/>
                <a:cs typeface="Verdana" pitchFamily="34" charset="0"/>
              </a:endParaRPr>
            </a:p>
            <a:p>
              <a:pPr algn="ctr"/>
              <a:endParaRPr lang="es-ES" dirty="0">
                <a:solidFill>
                  <a:schemeClr val="bg1"/>
                </a:solidFill>
                <a:latin typeface="+mj-lt"/>
                <a:ea typeface="Verdana" pitchFamily="34" charset="0"/>
                <a:cs typeface="Verdana" pitchFamily="34" charset="0"/>
              </a:endParaRPr>
            </a:p>
          </p:txBody>
        </p:sp>
      </p:grpSp>
    </p:spTree>
    <p:extLst>
      <p:ext uri="{BB962C8B-B14F-4D97-AF65-F5344CB8AC3E}">
        <p14:creationId xmlns:p14="http://schemas.microsoft.com/office/powerpoint/2010/main" val="525702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4 Marcador de número de diapositiva"/>
          <p:cNvSpPr txBox="1">
            <a:spLocks/>
          </p:cNvSpPr>
          <p:nvPr/>
        </p:nvSpPr>
        <p:spPr>
          <a:xfrm>
            <a:off x="1258199" y="6608508"/>
            <a:ext cx="299111" cy="249492"/>
          </a:xfrm>
          <a:prstGeom prst="rect">
            <a:avLst/>
          </a:prstGeom>
        </p:spPr>
        <p:txBody>
          <a:bodyPr/>
          <a:lstStyle/>
          <a:p>
            <a:pPr algn="r">
              <a:defRPr/>
            </a:pPr>
            <a:fld id="{36E559FE-78AC-4F99-BF93-3503C01DAB20}" type="slidenum">
              <a:rPr lang="es-ES" sz="900" b="1"/>
              <a:pPr algn="r">
                <a:defRPr/>
              </a:pPr>
              <a:t>17</a:t>
            </a:fld>
            <a:endParaRPr lang="es-ES" sz="900" b="1" dirty="0"/>
          </a:p>
        </p:txBody>
      </p:sp>
      <p:grpSp>
        <p:nvGrpSpPr>
          <p:cNvPr id="6" name="Grupo 5">
            <a:extLst>
              <a:ext uri="{FF2B5EF4-FFF2-40B4-BE49-F238E27FC236}">
                <a16:creationId xmlns:a16="http://schemas.microsoft.com/office/drawing/2014/main" id="{CEED3651-AC2A-4C5B-B682-506E90A4D264}"/>
              </a:ext>
            </a:extLst>
          </p:cNvPr>
          <p:cNvGrpSpPr/>
          <p:nvPr/>
        </p:nvGrpSpPr>
        <p:grpSpPr>
          <a:xfrm>
            <a:off x="1214032" y="519344"/>
            <a:ext cx="6592931" cy="611537"/>
            <a:chOff x="458228" y="653619"/>
            <a:chExt cx="8790574" cy="815383"/>
          </a:xfrm>
        </p:grpSpPr>
        <p:sp>
          <p:nvSpPr>
            <p:cNvPr id="7" name="19 Rectángulo redondeado">
              <a:extLst>
                <a:ext uri="{FF2B5EF4-FFF2-40B4-BE49-F238E27FC236}">
                  <a16:creationId xmlns:a16="http://schemas.microsoft.com/office/drawing/2014/main" id="{2C69D86B-1CDF-42F5-84A7-0636B487898B}"/>
                </a:ext>
              </a:extLst>
            </p:cNvPr>
            <p:cNvSpPr/>
            <p:nvPr/>
          </p:nvSpPr>
          <p:spPr>
            <a:xfrm>
              <a:off x="458228" y="653619"/>
              <a:ext cx="8790574" cy="815383"/>
            </a:xfrm>
            <a:prstGeom prst="roundRect">
              <a:avLst/>
            </a:prstGeom>
            <a:solidFill>
              <a:schemeClr val="accent1">
                <a:lumMod val="75000"/>
              </a:schemeClr>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sz="1350" dirty="0"/>
            </a:p>
          </p:txBody>
        </p:sp>
        <p:sp>
          <p:nvSpPr>
            <p:cNvPr id="8" name="16 CuadroTexto">
              <a:extLst>
                <a:ext uri="{FF2B5EF4-FFF2-40B4-BE49-F238E27FC236}">
                  <a16:creationId xmlns:a16="http://schemas.microsoft.com/office/drawing/2014/main" id="{E703139A-C296-484B-B634-77BC73B846D8}"/>
                </a:ext>
              </a:extLst>
            </p:cNvPr>
            <p:cNvSpPr txBox="1"/>
            <p:nvPr/>
          </p:nvSpPr>
          <p:spPr>
            <a:xfrm>
              <a:off x="605275" y="845507"/>
              <a:ext cx="8643527" cy="553998"/>
            </a:xfrm>
            <a:prstGeom prst="rect">
              <a:avLst/>
            </a:prstGeom>
            <a:noFill/>
          </p:spPr>
          <p:txBody>
            <a:bodyPr wrap="square" rtlCol="0">
              <a:spAutoFit/>
            </a:bodyPr>
            <a:lstStyle/>
            <a:p>
              <a:pPr algn="ctr"/>
              <a:r>
                <a:rPr lang="es-AR" sz="2100" b="1" dirty="0">
                  <a:solidFill>
                    <a:schemeClr val="bg1"/>
                  </a:solidFill>
                  <a:ea typeface="Verdana" pitchFamily="34" charset="0"/>
                  <a:cs typeface="Verdana" pitchFamily="34" charset="0"/>
                </a:rPr>
                <a:t>La Encuesta Permanente de Hogares (EPH)</a:t>
              </a:r>
              <a:endParaRPr lang="es-ES" sz="2100" b="1" dirty="0">
                <a:solidFill>
                  <a:schemeClr val="bg1"/>
                </a:solidFill>
                <a:ea typeface="Verdana" pitchFamily="34" charset="0"/>
                <a:cs typeface="Verdana" pitchFamily="34" charset="0"/>
              </a:endParaRPr>
            </a:p>
          </p:txBody>
        </p:sp>
      </p:grpSp>
      <p:pic>
        <p:nvPicPr>
          <p:cNvPr id="9" name="Imagen 8">
            <a:extLst>
              <a:ext uri="{FF2B5EF4-FFF2-40B4-BE49-F238E27FC236}">
                <a16:creationId xmlns:a16="http://schemas.microsoft.com/office/drawing/2014/main" id="{37A8C0F2-95CB-4D40-8083-4DF58C0CF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7874" y="1438608"/>
            <a:ext cx="4651226" cy="3260703"/>
          </a:xfrm>
          <a:prstGeom prst="rect">
            <a:avLst/>
          </a:prstGeom>
        </p:spPr>
      </p:pic>
      <p:sp>
        <p:nvSpPr>
          <p:cNvPr id="10" name="Text Box 3">
            <a:extLst>
              <a:ext uri="{FF2B5EF4-FFF2-40B4-BE49-F238E27FC236}">
                <a16:creationId xmlns:a16="http://schemas.microsoft.com/office/drawing/2014/main" id="{DF658C48-548A-4F4D-888E-E1983E3F8CF1}"/>
              </a:ext>
            </a:extLst>
          </p:cNvPr>
          <p:cNvSpPr txBox="1">
            <a:spLocks noChangeArrowheads="1"/>
          </p:cNvSpPr>
          <p:nvPr/>
        </p:nvSpPr>
        <p:spPr bwMode="auto">
          <a:xfrm>
            <a:off x="586732" y="4163732"/>
            <a:ext cx="5775943" cy="2174924"/>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square" lIns="69056" tIns="34529" rIns="69056" bIns="34529">
            <a:spAutoFit/>
            <a:flatTx/>
          </a:bodyPr>
          <a:lstStyle>
            <a:defPPr>
              <a:defRPr lang="es-AR"/>
            </a:defPPr>
            <a:lvl1pPr algn="ctr" eaLnBrk="0" hangingPunct="0">
              <a:lnSpc>
                <a:spcPct val="95000"/>
              </a:lnSpc>
              <a:spcBef>
                <a:spcPct val="50000"/>
              </a:spcBef>
              <a:defRPr b="1">
                <a:solidFill>
                  <a:schemeClr val="lt1"/>
                </a:solidFill>
                <a:latin typeface="TheSansCorrespondence"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AR" dirty="0">
                <a:latin typeface="+mn-lt"/>
              </a:rPr>
              <a:t>La EPH lleva a cabo un relevamiento exhaustivo de los ingresos de los hogares, para lo cual realiza un conjunto de preguntas destinadas a indagar las distintas fuentes de ingreso, tanto de las personas en forma individual como de los hogares en su conjunto. Los ingresos relevados provienen de fuentes laborales, ya sean de ocupados asalariados o independientes y no laborales, principalmente jubilaciones y pensiones, y subsidios. </a:t>
            </a:r>
            <a:endParaRPr lang="es-ES" dirty="0">
              <a:latin typeface="+mn-lt"/>
            </a:endParaRPr>
          </a:p>
        </p:txBody>
      </p:sp>
    </p:spTree>
    <p:extLst>
      <p:ext uri="{BB962C8B-B14F-4D97-AF65-F5344CB8AC3E}">
        <p14:creationId xmlns:p14="http://schemas.microsoft.com/office/powerpoint/2010/main" val="18934576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3"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
                                        <p:tgtEl>
                                          <p:spTgt spid="9"/>
                                        </p:tgtEl>
                                      </p:cBhvr>
                                    </p:animEffect>
                                    <p:anim calcmode="lin" valueType="num">
                                      <p:cBhvr>
                                        <p:cTn id="8" dur="400" fill="hold"/>
                                        <p:tgtEl>
                                          <p:spTgt spid="9"/>
                                        </p:tgtEl>
                                        <p:attrNameLst>
                                          <p:attrName>ppt_x</p:attrName>
                                        </p:attrNameLst>
                                      </p:cBhvr>
                                      <p:tavLst>
                                        <p:tav tm="0">
                                          <p:val>
                                            <p:strVal val="#ppt_x"/>
                                          </p:val>
                                        </p:tav>
                                        <p:tav tm="100000">
                                          <p:val>
                                            <p:strVal val="#ppt_x"/>
                                          </p:val>
                                        </p:tav>
                                      </p:tavLst>
                                    </p:anim>
                                    <p:anim calcmode="lin" valueType="num">
                                      <p:cBhvr>
                                        <p:cTn id="9" dur="400" fill="hold"/>
                                        <p:tgtEl>
                                          <p:spTgt spid="9"/>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par>
                          <p:cTn id="12" fill="hold">
                            <p:stCondLst>
                              <p:cond delay="1000"/>
                            </p:stCondLst>
                            <p:childTnLst>
                              <p:par>
                                <p:cTn id="13" presetID="47"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anim calcmode="lin" valueType="num">
                                      <p:cBhvr>
                                        <p:cTn id="16" dur="1000" fill="hold"/>
                                        <p:tgtEl>
                                          <p:spTgt spid="10"/>
                                        </p:tgtEl>
                                        <p:attrNameLst>
                                          <p:attrName>ppt_x</p:attrName>
                                        </p:attrNameLst>
                                      </p:cBhvr>
                                      <p:tavLst>
                                        <p:tav tm="0">
                                          <p:val>
                                            <p:strVal val="#ppt_x"/>
                                          </p:val>
                                        </p:tav>
                                        <p:tav tm="100000">
                                          <p:val>
                                            <p:strVal val="#ppt_x"/>
                                          </p:val>
                                        </p:tav>
                                      </p:tavLst>
                                    </p:anim>
                                    <p:anim calcmode="lin" valueType="num">
                                      <p:cBhvr>
                                        <p:cTn id="1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9" y="857251"/>
            <a:ext cx="9741959" cy="5272119"/>
          </a:xfrm>
          <a:prstGeom prst="rect">
            <a:avLst/>
          </a:prstGeom>
        </p:spPr>
      </p:pic>
      <p:sp>
        <p:nvSpPr>
          <p:cNvPr id="18" name="4 Marcador de número de diapositiva"/>
          <p:cNvSpPr txBox="1">
            <a:spLocks/>
          </p:cNvSpPr>
          <p:nvPr/>
        </p:nvSpPr>
        <p:spPr>
          <a:xfrm>
            <a:off x="1231936" y="5751258"/>
            <a:ext cx="299111" cy="249492"/>
          </a:xfrm>
          <a:prstGeom prst="rect">
            <a:avLst/>
          </a:prstGeom>
        </p:spPr>
        <p:txBody>
          <a:bodyPr/>
          <a:lstStyle/>
          <a:p>
            <a:pPr algn="r">
              <a:defRPr/>
            </a:pPr>
            <a:fld id="{36E559FE-78AC-4F99-BF93-3503C01DAB20}" type="slidenum">
              <a:rPr lang="es-ES" sz="900" b="1"/>
              <a:pPr algn="r">
                <a:defRPr/>
              </a:pPr>
              <a:t>18</a:t>
            </a:fld>
            <a:endParaRPr lang="es-ES" sz="900" b="1" dirty="0"/>
          </a:p>
        </p:txBody>
      </p:sp>
      <p:sp>
        <p:nvSpPr>
          <p:cNvPr id="14" name="Text Box 3"/>
          <p:cNvSpPr txBox="1">
            <a:spLocks noChangeArrowheads="1"/>
          </p:cNvSpPr>
          <p:nvPr/>
        </p:nvSpPr>
        <p:spPr bwMode="auto">
          <a:xfrm>
            <a:off x="659286" y="2274607"/>
            <a:ext cx="3254623" cy="3636093"/>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square" lIns="69056" tIns="34529" rIns="69056" bIns="34529">
            <a:spAutoFit/>
            <a:flatTx/>
          </a:bodyPr>
          <a:lstStyle>
            <a:defPPr>
              <a:defRPr lang="es-AR"/>
            </a:defPPr>
            <a:lvl1pPr algn="ctr" eaLnBrk="0" hangingPunct="0">
              <a:lnSpc>
                <a:spcPct val="95000"/>
              </a:lnSpc>
              <a:spcBef>
                <a:spcPct val="50000"/>
              </a:spcBef>
              <a:defRPr b="1">
                <a:solidFill>
                  <a:schemeClr val="lt1"/>
                </a:solidFill>
                <a:latin typeface="TheSansCorrespondence"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s-AR" sz="1500" dirty="0">
                <a:latin typeface="+mn-lt"/>
              </a:rPr>
              <a:t>Releva datos para informar:</a:t>
            </a:r>
          </a:p>
          <a:p>
            <a:pPr algn="l"/>
            <a:endParaRPr lang="es-AR" sz="1500" dirty="0">
              <a:latin typeface="+mn-lt"/>
            </a:endParaRPr>
          </a:p>
          <a:p>
            <a:pPr marL="214313" indent="-214313" algn="l">
              <a:buFont typeface="Arial" panose="020B0604020202020204" pitchFamily="34" charset="0"/>
              <a:buChar char="•"/>
            </a:pPr>
            <a:r>
              <a:rPr lang="es-AR" sz="1500" dirty="0">
                <a:latin typeface="+mn-lt"/>
              </a:rPr>
              <a:t>el ingreso total individual, </a:t>
            </a:r>
            <a:endParaRPr lang="es-ES" sz="1500" dirty="0">
              <a:latin typeface="+mn-lt"/>
            </a:endParaRPr>
          </a:p>
          <a:p>
            <a:pPr algn="l"/>
            <a:r>
              <a:rPr lang="es-AR" sz="1500" dirty="0">
                <a:latin typeface="+mn-lt"/>
              </a:rPr>
              <a:t> </a:t>
            </a:r>
            <a:endParaRPr lang="es-ES" sz="1500" dirty="0">
              <a:latin typeface="+mn-lt"/>
            </a:endParaRPr>
          </a:p>
          <a:p>
            <a:pPr marL="214313" indent="-214313" algn="l">
              <a:buFont typeface="Arial" panose="020B0604020202020204" pitchFamily="34" charset="0"/>
              <a:buChar char="•"/>
            </a:pPr>
            <a:r>
              <a:rPr lang="es-AR" sz="1500" dirty="0">
                <a:latin typeface="+mn-lt"/>
              </a:rPr>
              <a:t>el ingreso de la ocupación principal, </a:t>
            </a:r>
            <a:endParaRPr lang="es-ES" sz="1500" dirty="0">
              <a:latin typeface="+mn-lt"/>
            </a:endParaRPr>
          </a:p>
          <a:p>
            <a:pPr algn="l"/>
            <a:r>
              <a:rPr lang="es-AR" sz="1500" dirty="0">
                <a:latin typeface="+mn-lt"/>
              </a:rPr>
              <a:t> </a:t>
            </a:r>
            <a:endParaRPr lang="es-ES" sz="1500" dirty="0">
              <a:latin typeface="+mn-lt"/>
            </a:endParaRPr>
          </a:p>
          <a:p>
            <a:pPr marL="214313" indent="-214313" algn="l">
              <a:buFont typeface="Arial" panose="020B0604020202020204" pitchFamily="34" charset="0"/>
              <a:buChar char="•"/>
            </a:pPr>
            <a:r>
              <a:rPr lang="es-AR" sz="1500" dirty="0">
                <a:latin typeface="+mn-lt"/>
              </a:rPr>
              <a:t>el ingreso de los asalariados, </a:t>
            </a:r>
            <a:endParaRPr lang="es-ES" sz="1500" dirty="0">
              <a:latin typeface="+mn-lt"/>
            </a:endParaRPr>
          </a:p>
          <a:p>
            <a:pPr algn="l"/>
            <a:r>
              <a:rPr lang="es-AR" sz="1500" dirty="0">
                <a:latin typeface="+mn-lt"/>
              </a:rPr>
              <a:t> </a:t>
            </a:r>
            <a:endParaRPr lang="es-ES" sz="1500" dirty="0">
              <a:latin typeface="+mn-lt"/>
            </a:endParaRPr>
          </a:p>
          <a:p>
            <a:pPr marL="214313" indent="-214313" algn="l">
              <a:buFont typeface="Arial" panose="020B0604020202020204" pitchFamily="34" charset="0"/>
              <a:buChar char="•"/>
            </a:pPr>
            <a:r>
              <a:rPr lang="es-AR" sz="1500" dirty="0">
                <a:latin typeface="+mn-lt"/>
              </a:rPr>
              <a:t>el ingreso total familiar y </a:t>
            </a:r>
            <a:endParaRPr lang="es-ES" sz="1500" dirty="0">
              <a:latin typeface="+mn-lt"/>
            </a:endParaRPr>
          </a:p>
          <a:p>
            <a:pPr algn="l"/>
            <a:r>
              <a:rPr lang="es-AR" sz="1500" dirty="0">
                <a:latin typeface="+mn-lt"/>
              </a:rPr>
              <a:t> </a:t>
            </a:r>
            <a:endParaRPr lang="es-ES" sz="1500" dirty="0">
              <a:latin typeface="+mn-lt"/>
            </a:endParaRPr>
          </a:p>
          <a:p>
            <a:pPr marL="214313" indent="-214313" algn="l">
              <a:buFont typeface="Arial" panose="020B0604020202020204" pitchFamily="34" charset="0"/>
              <a:buChar char="•"/>
            </a:pPr>
            <a:r>
              <a:rPr lang="es-AR" sz="1500" dirty="0">
                <a:latin typeface="+mn-lt"/>
              </a:rPr>
              <a:t>el ingreso per cápita familiar.</a:t>
            </a:r>
            <a:endParaRPr lang="es-ES" sz="1500" dirty="0">
              <a:latin typeface="+mn-lt"/>
            </a:endParaRPr>
          </a:p>
        </p:txBody>
      </p:sp>
      <p:grpSp>
        <p:nvGrpSpPr>
          <p:cNvPr id="20" name="Grupo 19">
            <a:extLst>
              <a:ext uri="{FF2B5EF4-FFF2-40B4-BE49-F238E27FC236}">
                <a16:creationId xmlns:a16="http://schemas.microsoft.com/office/drawing/2014/main" id="{5ACAD2BF-60D0-476F-BECE-9B167EB643A4}"/>
              </a:ext>
            </a:extLst>
          </p:cNvPr>
          <p:cNvGrpSpPr/>
          <p:nvPr/>
        </p:nvGrpSpPr>
        <p:grpSpPr>
          <a:xfrm>
            <a:off x="157375" y="950773"/>
            <a:ext cx="6592931" cy="611537"/>
            <a:chOff x="458228" y="653619"/>
            <a:chExt cx="8790574" cy="815383"/>
          </a:xfrm>
        </p:grpSpPr>
        <p:sp>
          <p:nvSpPr>
            <p:cNvPr id="21" name="19 Rectángulo redondeado">
              <a:extLst>
                <a:ext uri="{FF2B5EF4-FFF2-40B4-BE49-F238E27FC236}">
                  <a16:creationId xmlns:a16="http://schemas.microsoft.com/office/drawing/2014/main" id="{A945944E-6F83-43FE-8B44-C38656BBD052}"/>
                </a:ext>
              </a:extLst>
            </p:cNvPr>
            <p:cNvSpPr/>
            <p:nvPr/>
          </p:nvSpPr>
          <p:spPr>
            <a:xfrm>
              <a:off x="458228" y="653619"/>
              <a:ext cx="8790574" cy="815383"/>
            </a:xfrm>
            <a:prstGeom prst="roundRect">
              <a:avLst/>
            </a:prstGeom>
            <a:solidFill>
              <a:schemeClr val="accent1">
                <a:lumMod val="75000"/>
              </a:schemeClr>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sz="1350" dirty="0"/>
            </a:p>
          </p:txBody>
        </p:sp>
        <p:sp>
          <p:nvSpPr>
            <p:cNvPr id="22" name="16 CuadroTexto">
              <a:extLst>
                <a:ext uri="{FF2B5EF4-FFF2-40B4-BE49-F238E27FC236}">
                  <a16:creationId xmlns:a16="http://schemas.microsoft.com/office/drawing/2014/main" id="{09F51669-EEB7-4F5C-8319-114C171588C0}"/>
                </a:ext>
              </a:extLst>
            </p:cNvPr>
            <p:cNvSpPr txBox="1"/>
            <p:nvPr/>
          </p:nvSpPr>
          <p:spPr>
            <a:xfrm>
              <a:off x="605275" y="845507"/>
              <a:ext cx="8643527" cy="553998"/>
            </a:xfrm>
            <a:prstGeom prst="rect">
              <a:avLst/>
            </a:prstGeom>
            <a:noFill/>
          </p:spPr>
          <p:txBody>
            <a:bodyPr wrap="square" rtlCol="0">
              <a:spAutoFit/>
            </a:bodyPr>
            <a:lstStyle/>
            <a:p>
              <a:pPr algn="ctr"/>
              <a:r>
                <a:rPr lang="es-AR" sz="2100" b="1" dirty="0">
                  <a:solidFill>
                    <a:schemeClr val="bg1"/>
                  </a:solidFill>
                  <a:ea typeface="Verdana" pitchFamily="34" charset="0"/>
                  <a:cs typeface="Verdana" pitchFamily="34" charset="0"/>
                </a:rPr>
                <a:t>La Encuesta Permanente de Hogares (EPH)</a:t>
              </a:r>
              <a:endParaRPr lang="es-ES" sz="2100" b="1" dirty="0">
                <a:solidFill>
                  <a:schemeClr val="bg1"/>
                </a:solidFill>
                <a:ea typeface="Verdana" pitchFamily="34" charset="0"/>
                <a:cs typeface="Verdana" pitchFamily="34" charset="0"/>
              </a:endParaRPr>
            </a:p>
          </p:txBody>
        </p:sp>
      </p:grpSp>
    </p:spTree>
    <p:extLst>
      <p:ext uri="{BB962C8B-B14F-4D97-AF65-F5344CB8AC3E}">
        <p14:creationId xmlns:p14="http://schemas.microsoft.com/office/powerpoint/2010/main" val="1684167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41A4E6C-D711-4564-B8FD-29AF7DF66F62}"/>
              </a:ext>
            </a:extLst>
          </p:cNvPr>
          <p:cNvPicPr>
            <a:picLocks noChangeAspect="1"/>
          </p:cNvPicPr>
          <p:nvPr/>
        </p:nvPicPr>
        <p:blipFill>
          <a:blip r:embed="rId2"/>
          <a:stretch>
            <a:fillRect/>
          </a:stretch>
        </p:blipFill>
        <p:spPr>
          <a:xfrm>
            <a:off x="105058" y="1180388"/>
            <a:ext cx="2851978" cy="4797137"/>
          </a:xfrm>
          <a:prstGeom prst="rect">
            <a:avLst/>
          </a:prstGeom>
        </p:spPr>
      </p:pic>
      <p:sp>
        <p:nvSpPr>
          <p:cNvPr id="26" name="4 Marcador de número de diapositiva"/>
          <p:cNvSpPr txBox="1">
            <a:spLocks/>
          </p:cNvSpPr>
          <p:nvPr/>
        </p:nvSpPr>
        <p:spPr>
          <a:xfrm>
            <a:off x="1231936" y="5751258"/>
            <a:ext cx="299111" cy="249492"/>
          </a:xfrm>
          <a:prstGeom prst="rect">
            <a:avLst/>
          </a:prstGeom>
        </p:spPr>
        <p:txBody>
          <a:bodyPr/>
          <a:lstStyle/>
          <a:p>
            <a:pPr algn="r">
              <a:defRPr/>
            </a:pPr>
            <a:fld id="{36E559FE-78AC-4F99-BF93-3503C01DAB20}" type="slidenum">
              <a:rPr lang="es-ES" sz="900" b="1"/>
              <a:pPr algn="r">
                <a:defRPr/>
              </a:pPr>
              <a:t>19</a:t>
            </a:fld>
            <a:endParaRPr lang="es-ES" sz="900" b="1" dirty="0"/>
          </a:p>
        </p:txBody>
      </p:sp>
      <p:grpSp>
        <p:nvGrpSpPr>
          <p:cNvPr id="6" name="Grupo 5">
            <a:extLst>
              <a:ext uri="{FF2B5EF4-FFF2-40B4-BE49-F238E27FC236}">
                <a16:creationId xmlns:a16="http://schemas.microsoft.com/office/drawing/2014/main" id="{CEED3651-AC2A-4C5B-B682-506E90A4D264}"/>
              </a:ext>
            </a:extLst>
          </p:cNvPr>
          <p:cNvGrpSpPr/>
          <p:nvPr/>
        </p:nvGrpSpPr>
        <p:grpSpPr>
          <a:xfrm>
            <a:off x="2995558" y="1036473"/>
            <a:ext cx="6592931" cy="611537"/>
            <a:chOff x="458228" y="653619"/>
            <a:chExt cx="8790574" cy="815383"/>
          </a:xfrm>
        </p:grpSpPr>
        <p:sp>
          <p:nvSpPr>
            <p:cNvPr id="7" name="19 Rectángulo redondeado">
              <a:extLst>
                <a:ext uri="{FF2B5EF4-FFF2-40B4-BE49-F238E27FC236}">
                  <a16:creationId xmlns:a16="http://schemas.microsoft.com/office/drawing/2014/main" id="{2C69D86B-1CDF-42F5-84A7-0636B487898B}"/>
                </a:ext>
              </a:extLst>
            </p:cNvPr>
            <p:cNvSpPr/>
            <p:nvPr/>
          </p:nvSpPr>
          <p:spPr>
            <a:xfrm>
              <a:off x="458228" y="653619"/>
              <a:ext cx="8790574" cy="815383"/>
            </a:xfrm>
            <a:prstGeom prst="roundRect">
              <a:avLst/>
            </a:prstGeom>
            <a:solidFill>
              <a:schemeClr val="accent1">
                <a:lumMod val="75000"/>
              </a:schemeClr>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sz="1350" dirty="0"/>
            </a:p>
          </p:txBody>
        </p:sp>
        <p:sp>
          <p:nvSpPr>
            <p:cNvPr id="8" name="16 CuadroTexto">
              <a:extLst>
                <a:ext uri="{FF2B5EF4-FFF2-40B4-BE49-F238E27FC236}">
                  <a16:creationId xmlns:a16="http://schemas.microsoft.com/office/drawing/2014/main" id="{E703139A-C296-484B-B634-77BC73B846D8}"/>
                </a:ext>
              </a:extLst>
            </p:cNvPr>
            <p:cNvSpPr txBox="1"/>
            <p:nvPr/>
          </p:nvSpPr>
          <p:spPr>
            <a:xfrm>
              <a:off x="605275" y="845507"/>
              <a:ext cx="8643527" cy="553998"/>
            </a:xfrm>
            <a:prstGeom prst="rect">
              <a:avLst/>
            </a:prstGeom>
            <a:noFill/>
          </p:spPr>
          <p:txBody>
            <a:bodyPr wrap="square" rtlCol="0">
              <a:spAutoFit/>
            </a:bodyPr>
            <a:lstStyle/>
            <a:p>
              <a:pPr algn="ctr"/>
              <a:r>
                <a:rPr lang="es-AR" sz="2100" b="1" dirty="0">
                  <a:solidFill>
                    <a:schemeClr val="bg1"/>
                  </a:solidFill>
                  <a:ea typeface="Verdana" pitchFamily="34" charset="0"/>
                  <a:cs typeface="Verdana" pitchFamily="34" charset="0"/>
                </a:rPr>
                <a:t>La Encuesta Permanente de Hogares (EPH)</a:t>
              </a:r>
              <a:endParaRPr lang="es-ES" sz="2100" b="1" dirty="0">
                <a:solidFill>
                  <a:schemeClr val="bg1"/>
                </a:solidFill>
                <a:ea typeface="Verdana" pitchFamily="34" charset="0"/>
                <a:cs typeface="Verdana" pitchFamily="34" charset="0"/>
              </a:endParaRPr>
            </a:p>
          </p:txBody>
        </p:sp>
      </p:grpSp>
      <p:sp>
        <p:nvSpPr>
          <p:cNvPr id="10" name="Text Box 3">
            <a:extLst>
              <a:ext uri="{FF2B5EF4-FFF2-40B4-BE49-F238E27FC236}">
                <a16:creationId xmlns:a16="http://schemas.microsoft.com/office/drawing/2014/main" id="{5677C710-26C7-47EE-90D5-A548F09FDF2F}"/>
              </a:ext>
            </a:extLst>
          </p:cNvPr>
          <p:cNvSpPr txBox="1">
            <a:spLocks noChangeArrowheads="1"/>
          </p:cNvSpPr>
          <p:nvPr/>
        </p:nvSpPr>
        <p:spPr bwMode="auto">
          <a:xfrm>
            <a:off x="3200400" y="1886680"/>
            <a:ext cx="5521037" cy="4091987"/>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square" lIns="69056" tIns="34529" rIns="69056" bIns="34529">
            <a:spAutoFit/>
            <a:flatTx/>
          </a:bodyPr>
          <a:lstStyle>
            <a:defPPr>
              <a:defRPr lang="es-AR"/>
            </a:defPPr>
            <a:lvl1pPr algn="ctr" eaLnBrk="0" hangingPunct="0">
              <a:lnSpc>
                <a:spcPct val="95000"/>
              </a:lnSpc>
              <a:spcBef>
                <a:spcPct val="50000"/>
              </a:spcBef>
              <a:defRPr b="1">
                <a:solidFill>
                  <a:schemeClr val="lt1"/>
                </a:solidFill>
                <a:latin typeface="TheSansCorrespondence"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s-AR" sz="1500" dirty="0">
                <a:latin typeface="+mn-lt"/>
              </a:rPr>
              <a:t>Los datos se relevan en 31 grandes conglomerados urbanos en las siguientes regiones estadísticas:</a:t>
            </a:r>
            <a:endParaRPr lang="es-ES" sz="1350" dirty="0"/>
          </a:p>
          <a:p>
            <a:pPr algn="l"/>
            <a:r>
              <a:rPr lang="es-AR" sz="1350" dirty="0"/>
              <a:t>— Región Gran Buenos Aires: Ciudad Autónoma de Buenos Aires y partidos del Gran Buenos Aires.</a:t>
            </a:r>
            <a:endParaRPr lang="es-ES" sz="1350" dirty="0"/>
          </a:p>
          <a:p>
            <a:pPr algn="l"/>
            <a:r>
              <a:rPr lang="es-AR" sz="1350" dirty="0"/>
              <a:t>— Región Cuyo: Gran Mendoza, Gran San Juan, Gran San Luis.</a:t>
            </a:r>
            <a:endParaRPr lang="es-ES" sz="1350" dirty="0"/>
          </a:p>
          <a:p>
            <a:pPr algn="l"/>
            <a:r>
              <a:rPr lang="es-AR" sz="1350" dirty="0"/>
              <a:t>— Región Noreste (NEA): Corrientes, Formosa, Gran Resistencia, Posadas.</a:t>
            </a:r>
            <a:endParaRPr lang="es-ES" sz="1350" dirty="0"/>
          </a:p>
          <a:p>
            <a:pPr algn="l"/>
            <a:r>
              <a:rPr lang="es-AR" sz="1350" dirty="0"/>
              <a:t>— Región Noroeste (NOA): Gran Catamarca, Gran Tucumán-Tafí Viejo, Jujuy-Palpalá, La Rioja, Salta, Santiago del Estero-La Banda.</a:t>
            </a:r>
            <a:endParaRPr lang="es-ES" sz="1350" dirty="0"/>
          </a:p>
          <a:p>
            <a:pPr algn="l"/>
            <a:r>
              <a:rPr lang="es-AR" sz="1350" dirty="0"/>
              <a:t> — Región Pampeana: Bahía Blanca-</a:t>
            </a:r>
            <a:r>
              <a:rPr lang="es-AR" sz="1350" dirty="0" err="1"/>
              <a:t>Cerri</a:t>
            </a:r>
            <a:r>
              <a:rPr lang="es-AR" sz="1350" dirty="0"/>
              <a:t>, Concordia, Gran Córdoba, Gran La Plata, Gran Rosario, Gran Paraná, Gran Santa Fe, Mar del Plata, Río Cuarto, San Nicolás-Villa Constitución, Santa Rosa-Toay.</a:t>
            </a:r>
            <a:endParaRPr lang="es-ES" sz="1350" dirty="0"/>
          </a:p>
          <a:p>
            <a:pPr algn="l"/>
            <a:r>
              <a:rPr lang="es-AR" sz="1350" dirty="0"/>
              <a:t> — Región Patagonia: Comodoro Rivadavia-Rada Tilly, Neuquén-Plottier, Rawson-Trelew, Río Gallegos, Ushuaia-Río Grande, Viedma-Carmen de Patagones.</a:t>
            </a:r>
            <a:endParaRPr lang="es-ES" sz="1350" dirty="0"/>
          </a:p>
        </p:txBody>
      </p:sp>
    </p:spTree>
    <p:extLst>
      <p:ext uri="{BB962C8B-B14F-4D97-AF65-F5344CB8AC3E}">
        <p14:creationId xmlns:p14="http://schemas.microsoft.com/office/powerpoint/2010/main" val="31305545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41A4E6C-D711-4564-B8FD-29AF7DF66F62}"/>
              </a:ext>
            </a:extLst>
          </p:cNvPr>
          <p:cNvPicPr>
            <a:picLocks noChangeAspect="1"/>
          </p:cNvPicPr>
          <p:nvPr/>
        </p:nvPicPr>
        <p:blipFill>
          <a:blip r:embed="rId2"/>
          <a:stretch>
            <a:fillRect/>
          </a:stretch>
        </p:blipFill>
        <p:spPr>
          <a:xfrm>
            <a:off x="105058" y="1180388"/>
            <a:ext cx="2851978" cy="4797137"/>
          </a:xfrm>
          <a:prstGeom prst="rect">
            <a:avLst/>
          </a:prstGeom>
        </p:spPr>
      </p:pic>
      <p:sp>
        <p:nvSpPr>
          <p:cNvPr id="26" name="4 Marcador de número de diapositiva"/>
          <p:cNvSpPr txBox="1">
            <a:spLocks/>
          </p:cNvSpPr>
          <p:nvPr/>
        </p:nvSpPr>
        <p:spPr>
          <a:xfrm>
            <a:off x="1231936" y="5751258"/>
            <a:ext cx="299111" cy="249492"/>
          </a:xfrm>
          <a:prstGeom prst="rect">
            <a:avLst/>
          </a:prstGeom>
        </p:spPr>
        <p:txBody>
          <a:bodyPr/>
          <a:lstStyle/>
          <a:p>
            <a:pPr algn="r">
              <a:defRPr/>
            </a:pPr>
            <a:fld id="{36E559FE-78AC-4F99-BF93-3503C01DAB20}" type="slidenum">
              <a:rPr lang="es-ES" sz="900" b="1"/>
              <a:pPr algn="r">
                <a:defRPr/>
              </a:pPr>
              <a:t>20</a:t>
            </a:fld>
            <a:endParaRPr lang="es-ES" sz="900" b="1" dirty="0"/>
          </a:p>
        </p:txBody>
      </p:sp>
      <p:grpSp>
        <p:nvGrpSpPr>
          <p:cNvPr id="6" name="Grupo 5">
            <a:extLst>
              <a:ext uri="{FF2B5EF4-FFF2-40B4-BE49-F238E27FC236}">
                <a16:creationId xmlns:a16="http://schemas.microsoft.com/office/drawing/2014/main" id="{CEED3651-AC2A-4C5B-B682-506E90A4D264}"/>
              </a:ext>
            </a:extLst>
          </p:cNvPr>
          <p:cNvGrpSpPr/>
          <p:nvPr/>
        </p:nvGrpSpPr>
        <p:grpSpPr>
          <a:xfrm>
            <a:off x="2995558" y="1036473"/>
            <a:ext cx="6592931" cy="611537"/>
            <a:chOff x="458228" y="653619"/>
            <a:chExt cx="8790574" cy="815383"/>
          </a:xfrm>
        </p:grpSpPr>
        <p:sp>
          <p:nvSpPr>
            <p:cNvPr id="7" name="19 Rectángulo redondeado">
              <a:extLst>
                <a:ext uri="{FF2B5EF4-FFF2-40B4-BE49-F238E27FC236}">
                  <a16:creationId xmlns:a16="http://schemas.microsoft.com/office/drawing/2014/main" id="{2C69D86B-1CDF-42F5-84A7-0636B487898B}"/>
                </a:ext>
              </a:extLst>
            </p:cNvPr>
            <p:cNvSpPr/>
            <p:nvPr/>
          </p:nvSpPr>
          <p:spPr>
            <a:xfrm>
              <a:off x="458228" y="653619"/>
              <a:ext cx="8790574" cy="815383"/>
            </a:xfrm>
            <a:prstGeom prst="roundRect">
              <a:avLst/>
            </a:prstGeom>
            <a:solidFill>
              <a:schemeClr val="accent1">
                <a:lumMod val="75000"/>
              </a:schemeClr>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sz="1350" dirty="0"/>
            </a:p>
          </p:txBody>
        </p:sp>
        <p:sp>
          <p:nvSpPr>
            <p:cNvPr id="8" name="16 CuadroTexto">
              <a:extLst>
                <a:ext uri="{FF2B5EF4-FFF2-40B4-BE49-F238E27FC236}">
                  <a16:creationId xmlns:a16="http://schemas.microsoft.com/office/drawing/2014/main" id="{E703139A-C296-484B-B634-77BC73B846D8}"/>
                </a:ext>
              </a:extLst>
            </p:cNvPr>
            <p:cNvSpPr txBox="1"/>
            <p:nvPr/>
          </p:nvSpPr>
          <p:spPr>
            <a:xfrm>
              <a:off x="605275" y="845507"/>
              <a:ext cx="8643527" cy="553998"/>
            </a:xfrm>
            <a:prstGeom prst="rect">
              <a:avLst/>
            </a:prstGeom>
            <a:noFill/>
          </p:spPr>
          <p:txBody>
            <a:bodyPr wrap="square" rtlCol="0">
              <a:spAutoFit/>
            </a:bodyPr>
            <a:lstStyle/>
            <a:p>
              <a:pPr algn="ctr"/>
              <a:r>
                <a:rPr lang="es-AR" sz="2100" b="1" dirty="0">
                  <a:solidFill>
                    <a:schemeClr val="bg1"/>
                  </a:solidFill>
                  <a:ea typeface="Verdana" pitchFamily="34" charset="0"/>
                  <a:cs typeface="Verdana" pitchFamily="34" charset="0"/>
                </a:rPr>
                <a:t>La Encuesta Permanente de Hogares (EPH)</a:t>
              </a:r>
              <a:endParaRPr lang="es-ES" sz="2100" b="1" dirty="0">
                <a:solidFill>
                  <a:schemeClr val="bg1"/>
                </a:solidFill>
                <a:ea typeface="Verdana" pitchFamily="34" charset="0"/>
                <a:cs typeface="Verdana" pitchFamily="34" charset="0"/>
              </a:endParaRPr>
            </a:p>
          </p:txBody>
        </p:sp>
      </p:grpSp>
      <p:sp>
        <p:nvSpPr>
          <p:cNvPr id="10" name="Text Box 3">
            <a:extLst>
              <a:ext uri="{FF2B5EF4-FFF2-40B4-BE49-F238E27FC236}">
                <a16:creationId xmlns:a16="http://schemas.microsoft.com/office/drawing/2014/main" id="{5677C710-26C7-47EE-90D5-A548F09FDF2F}"/>
              </a:ext>
            </a:extLst>
          </p:cNvPr>
          <p:cNvSpPr txBox="1">
            <a:spLocks noChangeArrowheads="1"/>
          </p:cNvSpPr>
          <p:nvPr/>
        </p:nvSpPr>
        <p:spPr bwMode="auto">
          <a:xfrm>
            <a:off x="3200400" y="1886679"/>
            <a:ext cx="5521037" cy="2645822"/>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square" lIns="69056" tIns="34529" rIns="69056" bIns="34529">
            <a:spAutoFit/>
            <a:flatTx/>
          </a:bodyPr>
          <a:lstStyle>
            <a:defPPr>
              <a:defRPr lang="es-AR"/>
            </a:defPPr>
            <a:lvl1pPr algn="ctr" eaLnBrk="0" hangingPunct="0">
              <a:lnSpc>
                <a:spcPct val="95000"/>
              </a:lnSpc>
              <a:spcBef>
                <a:spcPct val="50000"/>
              </a:spcBef>
              <a:defRPr b="1">
                <a:solidFill>
                  <a:schemeClr val="lt1"/>
                </a:solidFill>
                <a:latin typeface="TheSansCorrespondence"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s-AR" sz="1350" dirty="0"/>
              <a:t>• Conjunto de aglomerados con 500.000 y más habitantes: Gran Buenos </a:t>
            </a:r>
            <a:r>
              <a:rPr lang="es-AR" sz="1350" dirty="0" err="1"/>
              <a:t>Aires,Gran</a:t>
            </a:r>
            <a:r>
              <a:rPr lang="es-AR" sz="1350" dirty="0"/>
              <a:t> Córdoba, Gran La Plata, Mar del Plata, Gran Mendoza, Gran Rosario, Gran Tucumán-Tafí Viejo, Salta, Santa Fe.</a:t>
            </a:r>
            <a:endParaRPr lang="es-ES" sz="1350" dirty="0"/>
          </a:p>
          <a:p>
            <a:pPr algn="l"/>
            <a:r>
              <a:rPr lang="es-AR" sz="1350" dirty="0"/>
              <a:t> </a:t>
            </a:r>
            <a:endParaRPr lang="es-ES" sz="1350" dirty="0"/>
          </a:p>
          <a:p>
            <a:pPr algn="l"/>
            <a:r>
              <a:rPr lang="es-AR" sz="1350" dirty="0"/>
              <a:t>• Conjunto de aglomerados con menos de 500.000 habitantes: Bahía Blanca-</a:t>
            </a:r>
            <a:r>
              <a:rPr lang="es-AR" sz="1350" dirty="0" err="1"/>
              <a:t>Cerri</a:t>
            </a:r>
            <a:r>
              <a:rPr lang="es-AR" sz="1350" dirty="0"/>
              <a:t>, Gran Paraná, Posadas, Gran Resistencia, Comodoro Rivadavia-Rada Tilly, Corrientes, Concordia, Formosa, Neuquén-Plottier, Santiago del Estero-La Banda, Jujuy-Palpalá, Río Gallegos, Gran Catamarca, La Rioja, Gran San Juan, Gran San Luis, Santa Rosa-Toay, Ushuaia-Río Grande, Río Cuarto, San Nicolás-Villa Constitución, Rawson-Trelew, Viedma-Carmen de Patagones.</a:t>
            </a:r>
            <a:endParaRPr lang="es-ES" sz="1350" dirty="0"/>
          </a:p>
        </p:txBody>
      </p:sp>
    </p:spTree>
    <p:extLst>
      <p:ext uri="{BB962C8B-B14F-4D97-AF65-F5344CB8AC3E}">
        <p14:creationId xmlns:p14="http://schemas.microsoft.com/office/powerpoint/2010/main" val="18778315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4 Marcador de número de diapositiva"/>
          <p:cNvSpPr txBox="1">
            <a:spLocks/>
          </p:cNvSpPr>
          <p:nvPr/>
        </p:nvSpPr>
        <p:spPr>
          <a:xfrm>
            <a:off x="355147" y="6491876"/>
            <a:ext cx="299111" cy="249492"/>
          </a:xfrm>
          <a:prstGeom prst="rect">
            <a:avLst/>
          </a:prstGeom>
        </p:spPr>
        <p:txBody>
          <a:bodyPr/>
          <a:lstStyle/>
          <a:p>
            <a:pPr algn="r">
              <a:defRPr/>
            </a:pPr>
            <a:fld id="{36E559FE-78AC-4F99-BF93-3503C01DAB20}" type="slidenum">
              <a:rPr lang="es-ES" sz="900" b="1"/>
              <a:pPr algn="r">
                <a:defRPr/>
              </a:pPr>
              <a:t>21</a:t>
            </a:fld>
            <a:endParaRPr lang="es-ES" sz="900" b="1" dirty="0"/>
          </a:p>
        </p:txBody>
      </p:sp>
      <p:sp>
        <p:nvSpPr>
          <p:cNvPr id="5" name="CuadroTexto 4"/>
          <p:cNvSpPr txBox="1"/>
          <p:nvPr/>
        </p:nvSpPr>
        <p:spPr>
          <a:xfrm>
            <a:off x="2771800" y="6309320"/>
            <a:ext cx="5904656" cy="230832"/>
          </a:xfrm>
          <a:prstGeom prst="rect">
            <a:avLst/>
          </a:prstGeom>
          <a:noFill/>
        </p:spPr>
        <p:txBody>
          <a:bodyPr wrap="square" rtlCol="0">
            <a:spAutoFit/>
          </a:bodyPr>
          <a:lstStyle/>
          <a:p>
            <a:pPr algn="ctr"/>
            <a:r>
              <a:rPr lang="es-MX" sz="900" i="1" dirty="0"/>
              <a:t>  Resumen ejecutivo del cuarto trimestre de 20245  Fuente: </a:t>
            </a:r>
            <a:r>
              <a:rPr lang="es-MX" sz="900" i="1" dirty="0" err="1"/>
              <a:t>Indec</a:t>
            </a:r>
            <a:r>
              <a:rPr lang="es-MX" sz="900" i="1" dirty="0"/>
              <a:t> – Dirección Nacional de Cuentas Nacionales</a:t>
            </a:r>
            <a:endParaRPr lang="en-US" sz="900" i="1" dirty="0"/>
          </a:p>
        </p:txBody>
      </p:sp>
      <p:pic>
        <p:nvPicPr>
          <p:cNvPr id="4" name="Imagen 3">
            <a:extLst>
              <a:ext uri="{FF2B5EF4-FFF2-40B4-BE49-F238E27FC236}">
                <a16:creationId xmlns:a16="http://schemas.microsoft.com/office/drawing/2014/main" id="{3C25A4BB-1D77-9DCF-812C-075766ABA9AC}"/>
              </a:ext>
            </a:extLst>
          </p:cNvPr>
          <p:cNvPicPr>
            <a:picLocks noChangeAspect="1"/>
          </p:cNvPicPr>
          <p:nvPr/>
        </p:nvPicPr>
        <p:blipFill>
          <a:blip r:embed="rId3"/>
          <a:stretch>
            <a:fillRect/>
          </a:stretch>
        </p:blipFill>
        <p:spPr>
          <a:xfrm>
            <a:off x="566292" y="116632"/>
            <a:ext cx="7894139" cy="6102036"/>
          </a:xfrm>
          <a:prstGeom prst="rect">
            <a:avLst/>
          </a:prstGeom>
        </p:spPr>
      </p:pic>
    </p:spTree>
    <p:extLst>
      <p:ext uri="{BB962C8B-B14F-4D97-AF65-F5344CB8AC3E}">
        <p14:creationId xmlns:p14="http://schemas.microsoft.com/office/powerpoint/2010/main" val="309030170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4 Marcador de número de diapositiva"/>
          <p:cNvSpPr txBox="1">
            <a:spLocks/>
          </p:cNvSpPr>
          <p:nvPr/>
        </p:nvSpPr>
        <p:spPr>
          <a:xfrm>
            <a:off x="683568" y="6121975"/>
            <a:ext cx="299111" cy="249492"/>
          </a:xfrm>
          <a:prstGeom prst="rect">
            <a:avLst/>
          </a:prstGeom>
        </p:spPr>
        <p:txBody>
          <a:bodyPr/>
          <a:lstStyle/>
          <a:p>
            <a:pPr algn="r">
              <a:defRPr/>
            </a:pPr>
            <a:fld id="{36E559FE-78AC-4F99-BF93-3503C01DAB20}" type="slidenum">
              <a:rPr lang="es-ES" sz="900" b="1"/>
              <a:pPr algn="r">
                <a:defRPr/>
              </a:pPr>
              <a:t>22</a:t>
            </a:fld>
            <a:endParaRPr lang="es-ES" sz="900" b="1" dirty="0"/>
          </a:p>
        </p:txBody>
      </p:sp>
      <p:pic>
        <p:nvPicPr>
          <p:cNvPr id="4" name="Imagen 3">
            <a:extLst>
              <a:ext uri="{FF2B5EF4-FFF2-40B4-BE49-F238E27FC236}">
                <a16:creationId xmlns:a16="http://schemas.microsoft.com/office/drawing/2014/main" id="{DF3ED753-D13B-5392-3780-1831502D4DE6}"/>
              </a:ext>
            </a:extLst>
          </p:cNvPr>
          <p:cNvPicPr>
            <a:picLocks noChangeAspect="1"/>
          </p:cNvPicPr>
          <p:nvPr/>
        </p:nvPicPr>
        <p:blipFill>
          <a:blip r:embed="rId2"/>
          <a:stretch>
            <a:fillRect/>
          </a:stretch>
        </p:blipFill>
        <p:spPr>
          <a:xfrm>
            <a:off x="107504" y="773821"/>
            <a:ext cx="8963867" cy="5031443"/>
          </a:xfrm>
          <a:prstGeom prst="rect">
            <a:avLst/>
          </a:prstGeom>
        </p:spPr>
      </p:pic>
    </p:spTree>
    <p:extLst>
      <p:ext uri="{BB962C8B-B14F-4D97-AF65-F5344CB8AC3E}">
        <p14:creationId xmlns:p14="http://schemas.microsoft.com/office/powerpoint/2010/main" val="91581444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F52D047-DBC9-B164-16AE-3450D63B53CE}"/>
              </a:ext>
            </a:extLst>
          </p:cNvPr>
          <p:cNvPicPr>
            <a:picLocks noChangeAspect="1"/>
          </p:cNvPicPr>
          <p:nvPr/>
        </p:nvPicPr>
        <p:blipFill>
          <a:blip r:embed="rId2"/>
          <a:stretch>
            <a:fillRect/>
          </a:stretch>
        </p:blipFill>
        <p:spPr>
          <a:xfrm>
            <a:off x="323528" y="146374"/>
            <a:ext cx="8352928" cy="5410082"/>
          </a:xfrm>
          <a:prstGeom prst="rect">
            <a:avLst/>
          </a:prstGeom>
        </p:spPr>
      </p:pic>
      <p:sp>
        <p:nvSpPr>
          <p:cNvPr id="26" name="4 Marcador de número de diapositiva"/>
          <p:cNvSpPr txBox="1">
            <a:spLocks/>
          </p:cNvSpPr>
          <p:nvPr/>
        </p:nvSpPr>
        <p:spPr>
          <a:xfrm>
            <a:off x="683568" y="6121975"/>
            <a:ext cx="299111" cy="249492"/>
          </a:xfrm>
          <a:prstGeom prst="rect">
            <a:avLst/>
          </a:prstGeom>
        </p:spPr>
        <p:txBody>
          <a:bodyPr/>
          <a:lstStyle/>
          <a:p>
            <a:pPr algn="r">
              <a:defRPr/>
            </a:pPr>
            <a:fld id="{36E559FE-78AC-4F99-BF93-3503C01DAB20}" type="slidenum">
              <a:rPr lang="es-ES" sz="900" b="1"/>
              <a:pPr algn="r">
                <a:defRPr/>
              </a:pPr>
              <a:t>23</a:t>
            </a:fld>
            <a:endParaRPr lang="es-ES" sz="900" b="1" dirty="0"/>
          </a:p>
        </p:txBody>
      </p:sp>
      <p:pic>
        <p:nvPicPr>
          <p:cNvPr id="8" name="Imagen 7">
            <a:extLst>
              <a:ext uri="{FF2B5EF4-FFF2-40B4-BE49-F238E27FC236}">
                <a16:creationId xmlns:a16="http://schemas.microsoft.com/office/drawing/2014/main" id="{7EE680E0-1561-585A-A76B-204020E9F4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68353" y="5373216"/>
            <a:ext cx="1367743" cy="1367743"/>
          </a:xfrm>
          <a:prstGeom prst="rect">
            <a:avLst/>
          </a:prstGeom>
        </p:spPr>
      </p:pic>
      <p:sp>
        <p:nvSpPr>
          <p:cNvPr id="9" name="CuadroTexto 8">
            <a:extLst>
              <a:ext uri="{FF2B5EF4-FFF2-40B4-BE49-F238E27FC236}">
                <a16:creationId xmlns:a16="http://schemas.microsoft.com/office/drawing/2014/main" id="{DB5E67F1-8CA3-0FEF-D647-A79EBBD8A3F1}"/>
              </a:ext>
            </a:extLst>
          </p:cNvPr>
          <p:cNvSpPr txBox="1"/>
          <p:nvPr/>
        </p:nvSpPr>
        <p:spPr>
          <a:xfrm>
            <a:off x="5147499" y="5157601"/>
            <a:ext cx="3750770" cy="830997"/>
          </a:xfrm>
          <a:prstGeom prst="rect">
            <a:avLst/>
          </a:prstGeom>
          <a:noFill/>
        </p:spPr>
        <p:txBody>
          <a:bodyPr wrap="square" rtlCol="0">
            <a:spAutoFit/>
          </a:bodyPr>
          <a:lstStyle/>
          <a:p>
            <a:pPr algn="ctr"/>
            <a:r>
              <a:rPr lang="es-MX" sz="1600" b="1" dirty="0"/>
              <a:t>En diciembre de 2024 los deciles 9 y 10 sumaban el 48,7 % de la renta total, en diciembre de 2025 suman el 50,10 %</a:t>
            </a:r>
            <a:endParaRPr lang="en-US" sz="1600" b="1" dirty="0"/>
          </a:p>
        </p:txBody>
      </p:sp>
      <mc:AlternateContent xmlns:mc="http://schemas.openxmlformats.org/markup-compatibility/2006" xmlns:p14="http://schemas.microsoft.com/office/powerpoint/2010/main">
        <mc:Choice Requires="p14">
          <p:contentPart p14:bwMode="auto" r:id="rId4">
            <p14:nvContentPartPr>
              <p14:cNvPr id="5" name="Entrada de lápiz 4">
                <a:extLst>
                  <a:ext uri="{FF2B5EF4-FFF2-40B4-BE49-F238E27FC236}">
                    <a16:creationId xmlns:a16="http://schemas.microsoft.com/office/drawing/2014/main" id="{724D8510-81A2-8F37-8226-F1D036BCDE1E}"/>
                  </a:ext>
                </a:extLst>
              </p14:cNvPr>
              <p14:cNvContentPartPr/>
              <p14:nvPr/>
            </p14:nvContentPartPr>
            <p14:xfrm>
              <a:off x="5285040" y="4068840"/>
              <a:ext cx="690480" cy="459000"/>
            </p14:xfrm>
          </p:contentPart>
        </mc:Choice>
        <mc:Fallback xmlns="">
          <p:pic>
            <p:nvPicPr>
              <p:cNvPr id="5" name="Entrada de lápiz 4">
                <a:extLst>
                  <a:ext uri="{FF2B5EF4-FFF2-40B4-BE49-F238E27FC236}">
                    <a16:creationId xmlns:a16="http://schemas.microsoft.com/office/drawing/2014/main" id="{724D8510-81A2-8F37-8226-F1D036BCDE1E}"/>
                  </a:ext>
                </a:extLst>
              </p:cNvPr>
              <p:cNvPicPr/>
              <p:nvPr/>
            </p:nvPicPr>
            <p:blipFill>
              <a:blip r:embed="rId5"/>
              <a:stretch>
                <a:fillRect/>
              </a:stretch>
            </p:blipFill>
            <p:spPr>
              <a:xfrm>
                <a:off x="5276400" y="4059840"/>
                <a:ext cx="708120" cy="476640"/>
              </a:xfrm>
              <a:prstGeom prst="rect">
                <a:avLst/>
              </a:prstGeom>
            </p:spPr>
          </p:pic>
        </mc:Fallback>
      </mc:AlternateContent>
    </p:spTree>
    <p:extLst>
      <p:ext uri="{BB962C8B-B14F-4D97-AF65-F5344CB8AC3E}">
        <p14:creationId xmlns:p14="http://schemas.microsoft.com/office/powerpoint/2010/main" val="235755358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4 Marcador de número de diapositiva"/>
          <p:cNvSpPr txBox="1">
            <a:spLocks/>
          </p:cNvSpPr>
          <p:nvPr/>
        </p:nvSpPr>
        <p:spPr>
          <a:xfrm>
            <a:off x="683568" y="6121975"/>
            <a:ext cx="299111" cy="249492"/>
          </a:xfrm>
          <a:prstGeom prst="rect">
            <a:avLst/>
          </a:prstGeom>
        </p:spPr>
        <p:txBody>
          <a:bodyPr/>
          <a:lstStyle/>
          <a:p>
            <a:pPr algn="r">
              <a:defRPr/>
            </a:pPr>
            <a:fld id="{36E559FE-78AC-4F99-BF93-3503C01DAB20}" type="slidenum">
              <a:rPr lang="es-ES" sz="900" b="1"/>
              <a:pPr algn="r">
                <a:defRPr/>
              </a:pPr>
              <a:t>24</a:t>
            </a:fld>
            <a:endParaRPr lang="es-ES" sz="900" b="1" dirty="0"/>
          </a:p>
        </p:txBody>
      </p:sp>
      <p:pic>
        <p:nvPicPr>
          <p:cNvPr id="2" name="Imagen 1">
            <a:extLst>
              <a:ext uri="{FF2B5EF4-FFF2-40B4-BE49-F238E27FC236}">
                <a16:creationId xmlns:a16="http://schemas.microsoft.com/office/drawing/2014/main" id="{1C6E7447-4893-0B36-2175-06E2E00975AB}"/>
              </a:ext>
            </a:extLst>
          </p:cNvPr>
          <p:cNvPicPr>
            <a:picLocks noChangeAspect="1"/>
          </p:cNvPicPr>
          <p:nvPr/>
        </p:nvPicPr>
        <p:blipFill>
          <a:blip r:embed="rId2"/>
          <a:stretch>
            <a:fillRect/>
          </a:stretch>
        </p:blipFill>
        <p:spPr>
          <a:xfrm>
            <a:off x="955356" y="332656"/>
            <a:ext cx="7505076" cy="6048672"/>
          </a:xfrm>
          <a:prstGeom prst="rect">
            <a:avLst/>
          </a:prstGeom>
        </p:spPr>
      </p:pic>
    </p:spTree>
    <p:extLst>
      <p:ext uri="{BB962C8B-B14F-4D97-AF65-F5344CB8AC3E}">
        <p14:creationId xmlns:p14="http://schemas.microsoft.com/office/powerpoint/2010/main" val="199937655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4 Marcador de número de diapositiva"/>
          <p:cNvSpPr txBox="1">
            <a:spLocks/>
          </p:cNvSpPr>
          <p:nvPr/>
        </p:nvSpPr>
        <p:spPr>
          <a:xfrm>
            <a:off x="395536" y="6381328"/>
            <a:ext cx="299111" cy="249492"/>
          </a:xfrm>
          <a:prstGeom prst="rect">
            <a:avLst/>
          </a:prstGeom>
        </p:spPr>
        <p:txBody>
          <a:bodyPr/>
          <a:lstStyle/>
          <a:p>
            <a:pPr algn="r">
              <a:defRPr/>
            </a:pPr>
            <a:fld id="{36E559FE-78AC-4F99-BF93-3503C01DAB20}" type="slidenum">
              <a:rPr lang="es-ES" sz="900" b="1"/>
              <a:pPr algn="r">
                <a:defRPr/>
              </a:pPr>
              <a:t>25</a:t>
            </a:fld>
            <a:endParaRPr lang="es-ES" sz="900" b="1" dirty="0"/>
          </a:p>
        </p:txBody>
      </p:sp>
      <p:pic>
        <p:nvPicPr>
          <p:cNvPr id="5" name="Imagen 4">
            <a:extLst>
              <a:ext uri="{FF2B5EF4-FFF2-40B4-BE49-F238E27FC236}">
                <a16:creationId xmlns:a16="http://schemas.microsoft.com/office/drawing/2014/main" id="{B1F45C55-B62F-FBF8-6AB5-0C0443C2EBD4}"/>
              </a:ext>
            </a:extLst>
          </p:cNvPr>
          <p:cNvPicPr>
            <a:picLocks noChangeAspect="1"/>
          </p:cNvPicPr>
          <p:nvPr/>
        </p:nvPicPr>
        <p:blipFill>
          <a:blip r:embed="rId2"/>
          <a:stretch>
            <a:fillRect/>
          </a:stretch>
        </p:blipFill>
        <p:spPr>
          <a:xfrm>
            <a:off x="179512" y="959052"/>
            <a:ext cx="8737056" cy="4486172"/>
          </a:xfrm>
          <a:prstGeom prst="rect">
            <a:avLst/>
          </a:prstGeom>
        </p:spPr>
      </p:pic>
    </p:spTree>
    <p:extLst>
      <p:ext uri="{BB962C8B-B14F-4D97-AF65-F5344CB8AC3E}">
        <p14:creationId xmlns:p14="http://schemas.microsoft.com/office/powerpoint/2010/main" val="183712618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403954A-07F3-43AA-96E2-4FEEB418E3C5}"/>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14015" y="-108239"/>
            <a:ext cx="11172029" cy="6973915"/>
          </a:xfrm>
          <a:prstGeom prst="rect">
            <a:avLst/>
          </a:prstGeom>
        </p:spPr>
      </p:pic>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26</a:t>
            </a:fld>
            <a:endParaRPr lang="es-ES" sz="1200" b="1" dirty="0">
              <a:latin typeface="+mn-lt"/>
            </a:endParaRPr>
          </a:p>
        </p:txBody>
      </p:sp>
      <p:grpSp>
        <p:nvGrpSpPr>
          <p:cNvPr id="3" name="Grupo 2"/>
          <p:cNvGrpSpPr/>
          <p:nvPr/>
        </p:nvGrpSpPr>
        <p:grpSpPr>
          <a:xfrm>
            <a:off x="-285784" y="214290"/>
            <a:ext cx="9034248" cy="714356"/>
            <a:chOff x="-285784" y="214290"/>
            <a:chExt cx="9034248" cy="714356"/>
          </a:xfrm>
        </p:grpSpPr>
        <p:sp>
          <p:nvSpPr>
            <p:cNvPr id="6" name="9 Rectángulo redondeado"/>
            <p:cNvSpPr/>
            <p:nvPr/>
          </p:nvSpPr>
          <p:spPr>
            <a:xfrm>
              <a:off x="-285784" y="214290"/>
              <a:ext cx="9034248" cy="714356"/>
            </a:xfrm>
            <a:prstGeom prst="roundRect">
              <a:avLst/>
            </a:prstGeom>
            <a:solidFill>
              <a:schemeClr val="accent1">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2" name="CuadroTexto 1"/>
            <p:cNvSpPr txBox="1"/>
            <p:nvPr/>
          </p:nvSpPr>
          <p:spPr>
            <a:xfrm>
              <a:off x="288032" y="364594"/>
              <a:ext cx="8172400" cy="400110"/>
            </a:xfrm>
            <a:prstGeom prst="rect">
              <a:avLst/>
            </a:prstGeom>
            <a:noFill/>
          </p:spPr>
          <p:txBody>
            <a:bodyPr wrap="square" rtlCol="0">
              <a:spAutoFit/>
            </a:bodyPr>
            <a:lstStyle/>
            <a:p>
              <a:r>
                <a:rPr lang="es-AR" sz="2000" b="1" dirty="0">
                  <a:solidFill>
                    <a:schemeClr val="bg1"/>
                  </a:solidFill>
                </a:rPr>
                <a:t>Aspectos Macroeconómicos a tener en cuenta en el Plan de Negocios</a:t>
              </a:r>
            </a:p>
          </p:txBody>
        </p:sp>
      </p:grpSp>
      <p:grpSp>
        <p:nvGrpSpPr>
          <p:cNvPr id="11" name="Grupo 10">
            <a:extLst>
              <a:ext uri="{FF2B5EF4-FFF2-40B4-BE49-F238E27FC236}">
                <a16:creationId xmlns:a16="http://schemas.microsoft.com/office/drawing/2014/main" id="{A8DFAE60-E6AD-42D0-9EB4-EA784CA8EFEC}"/>
              </a:ext>
            </a:extLst>
          </p:cNvPr>
          <p:cNvGrpSpPr/>
          <p:nvPr/>
        </p:nvGrpSpPr>
        <p:grpSpPr>
          <a:xfrm>
            <a:off x="0" y="1809144"/>
            <a:ext cx="6021788" cy="3798631"/>
            <a:chOff x="-513684" y="2843082"/>
            <a:chExt cx="6021788" cy="2884104"/>
          </a:xfrm>
        </p:grpSpPr>
        <p:sp>
          <p:nvSpPr>
            <p:cNvPr id="8" name="Rectángulo 7">
              <a:extLst>
                <a:ext uri="{FF2B5EF4-FFF2-40B4-BE49-F238E27FC236}">
                  <a16:creationId xmlns:a16="http://schemas.microsoft.com/office/drawing/2014/main" id="{0BE489BF-EDA1-4715-9714-F2680801118E}"/>
                </a:ext>
              </a:extLst>
            </p:cNvPr>
            <p:cNvSpPr/>
            <p:nvPr/>
          </p:nvSpPr>
          <p:spPr>
            <a:xfrm>
              <a:off x="-513684" y="2843082"/>
              <a:ext cx="6021788" cy="2818166"/>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CuadroTexto 9">
              <a:extLst>
                <a:ext uri="{FF2B5EF4-FFF2-40B4-BE49-F238E27FC236}">
                  <a16:creationId xmlns:a16="http://schemas.microsoft.com/office/drawing/2014/main" id="{A4E3F50F-C506-43B1-87B9-16C55D3C59F9}"/>
                </a:ext>
              </a:extLst>
            </p:cNvPr>
            <p:cNvSpPr txBox="1"/>
            <p:nvPr/>
          </p:nvSpPr>
          <p:spPr>
            <a:xfrm>
              <a:off x="-468561" y="2852936"/>
              <a:ext cx="5783800" cy="2874250"/>
            </a:xfrm>
            <a:prstGeom prst="rect">
              <a:avLst/>
            </a:prstGeom>
            <a:noFill/>
          </p:spPr>
          <p:txBody>
            <a:bodyPr wrap="square" rtlCol="0">
              <a:spAutoFit/>
            </a:bodyPr>
            <a:lstStyle/>
            <a:p>
              <a:pPr marL="342900" indent="-342900">
                <a:buFont typeface="Arial" panose="020B0604020202020204" pitchFamily="34" charset="0"/>
                <a:buChar char="•"/>
              </a:pPr>
              <a:r>
                <a:rPr lang="es-AR" sz="2000" b="1" dirty="0"/>
                <a:t>Tasa de las operaciones activas</a:t>
              </a:r>
            </a:p>
            <a:p>
              <a:endParaRPr lang="es-AR" sz="2000" b="1" dirty="0"/>
            </a:p>
            <a:p>
              <a:pPr lvl="2"/>
              <a:r>
                <a:rPr lang="es-AR" sz="2000" b="1" dirty="0"/>
                <a:t>Factoring</a:t>
              </a:r>
            </a:p>
            <a:p>
              <a:pPr lvl="2"/>
              <a:endParaRPr lang="es-AR" sz="2000" b="1" dirty="0"/>
            </a:p>
            <a:p>
              <a:pPr lvl="2"/>
              <a:r>
                <a:rPr lang="es-AR" sz="2000" b="1" dirty="0"/>
                <a:t>Descuento de documentos</a:t>
              </a:r>
            </a:p>
            <a:p>
              <a:pPr lvl="2"/>
              <a:endParaRPr lang="es-AR" sz="2000" b="1" dirty="0"/>
            </a:p>
            <a:p>
              <a:pPr lvl="2"/>
              <a:r>
                <a:rPr lang="es-AR" sz="2000" b="1" dirty="0"/>
                <a:t>Prendarios</a:t>
              </a:r>
            </a:p>
            <a:p>
              <a:pPr lvl="2"/>
              <a:endParaRPr lang="es-AR" sz="2000" b="1" dirty="0"/>
            </a:p>
            <a:p>
              <a:pPr lvl="2"/>
              <a:r>
                <a:rPr lang="es-AR" sz="2000" b="1" dirty="0"/>
                <a:t>Adelantos en cuenta corriente</a:t>
              </a:r>
            </a:p>
            <a:p>
              <a:pPr lvl="2"/>
              <a:endParaRPr lang="es-AR" sz="2000" b="1" dirty="0"/>
            </a:p>
            <a:p>
              <a:pPr lvl="2"/>
              <a:r>
                <a:rPr lang="es-AR" sz="2000" b="1" dirty="0"/>
                <a:t>Personales</a:t>
              </a:r>
            </a:p>
            <a:p>
              <a:pPr lvl="2"/>
              <a:endParaRPr lang="es-AR" sz="2000" b="1" dirty="0"/>
            </a:p>
          </p:txBody>
        </p:sp>
      </p:grpSp>
    </p:spTree>
    <p:extLst>
      <p:ext uri="{BB962C8B-B14F-4D97-AF65-F5344CB8AC3E}">
        <p14:creationId xmlns:p14="http://schemas.microsoft.com/office/powerpoint/2010/main" val="354710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360"/>
                                          </p:val>
                                        </p:tav>
                                        <p:tav tm="100000">
                                          <p:val>
                                            <p:fltVal val="0"/>
                                          </p:val>
                                        </p:tav>
                                      </p:tavLst>
                                    </p:anim>
                                    <p:animEffect transition="in" filter="fade">
                                      <p:cBhvr>
                                        <p:cTn id="10" dur="1000"/>
                                        <p:tgtEl>
                                          <p:spTgt spid="5"/>
                                        </p:tgtEl>
                                      </p:cBhvr>
                                    </p:animEffect>
                                  </p:childTnLst>
                                </p:cTn>
                              </p:par>
                            </p:childTnLst>
                          </p:cTn>
                        </p:par>
                        <p:par>
                          <p:cTn id="11" fill="hold">
                            <p:stCondLst>
                              <p:cond delay="1000"/>
                            </p:stCondLst>
                            <p:childTnLst>
                              <p:par>
                                <p:cTn id="12" presetID="9" presetClass="entr" presetSubtype="0" fill="hold" nodeType="afterEffect">
                                  <p:stCondLst>
                                    <p:cond delay="1000"/>
                                  </p:stCondLst>
                                  <p:childTnLst>
                                    <p:set>
                                      <p:cBhvr>
                                        <p:cTn id="13" dur="1" fill="hold">
                                          <p:stCondLst>
                                            <p:cond delay="0"/>
                                          </p:stCondLst>
                                        </p:cTn>
                                        <p:tgtEl>
                                          <p:spTgt spid="11"/>
                                        </p:tgtEl>
                                        <p:attrNameLst>
                                          <p:attrName>style.visibility</p:attrName>
                                        </p:attrNameLst>
                                      </p:cBhvr>
                                      <p:to>
                                        <p:strVal val="visible"/>
                                      </p:to>
                                    </p:set>
                                    <p:animEffect transition="in" filter="dissolve">
                                      <p:cBhvr>
                                        <p:cTn id="1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27</a:t>
            </a:fld>
            <a:endParaRPr lang="es-ES" sz="1200" b="1" dirty="0">
              <a:latin typeface="+mn-lt"/>
            </a:endParaRPr>
          </a:p>
        </p:txBody>
      </p:sp>
      <p:sp>
        <p:nvSpPr>
          <p:cNvPr id="3" name="Rectangle 2"/>
          <p:cNvSpPr>
            <a:spLocks noChangeArrowheads="1"/>
          </p:cNvSpPr>
          <p:nvPr/>
        </p:nvSpPr>
        <p:spPr bwMode="auto">
          <a:xfrm>
            <a:off x="-29118" y="-73186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dirty="0"/>
          </a:p>
        </p:txBody>
      </p:sp>
      <p:graphicFrame>
        <p:nvGraphicFramePr>
          <p:cNvPr id="6" name="Objeto 5"/>
          <p:cNvGraphicFramePr>
            <a:graphicFrameLocks noChangeAspect="1"/>
          </p:cNvGraphicFramePr>
          <p:nvPr>
            <p:extLst>
              <p:ext uri="{D42A27DB-BD31-4B8C-83A1-F6EECF244321}">
                <p14:modId xmlns:p14="http://schemas.microsoft.com/office/powerpoint/2010/main" val="267657239"/>
              </p:ext>
            </p:extLst>
          </p:nvPr>
        </p:nvGraphicFramePr>
        <p:xfrm>
          <a:off x="-29118" y="-731868"/>
          <a:ext cx="1057275" cy="504825"/>
        </p:xfrm>
        <a:graphic>
          <a:graphicData uri="http://schemas.openxmlformats.org/presentationml/2006/ole">
            <mc:AlternateContent xmlns:mc="http://schemas.openxmlformats.org/markup-compatibility/2006">
              <mc:Choice xmlns:v="urn:schemas-microsoft-com:vml" Requires="v">
                <p:oleObj r:id="rId2" imgW="3629532" imgH="1724266" progId="">
                  <p:embed/>
                </p:oleObj>
              </mc:Choice>
              <mc:Fallback>
                <p:oleObj r:id="rId2" imgW="3629532" imgH="1724266" progId="">
                  <p:embed/>
                  <p:pic>
                    <p:nvPicPr>
                      <p:cNvPr id="0" name="Picture 8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18" y="-731868"/>
                        <a:ext cx="105727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4048089" y="236497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dirty="0"/>
          </a:p>
        </p:txBody>
      </p:sp>
      <p:grpSp>
        <p:nvGrpSpPr>
          <p:cNvPr id="14" name="Grupo 13"/>
          <p:cNvGrpSpPr/>
          <p:nvPr/>
        </p:nvGrpSpPr>
        <p:grpSpPr>
          <a:xfrm>
            <a:off x="-428660" y="142852"/>
            <a:ext cx="9249132" cy="693860"/>
            <a:chOff x="-428660" y="142852"/>
            <a:chExt cx="9249132" cy="693860"/>
          </a:xfrm>
        </p:grpSpPr>
        <p:sp>
          <p:nvSpPr>
            <p:cNvPr id="15" name="3 Rectángulo redondeado"/>
            <p:cNvSpPr/>
            <p:nvPr/>
          </p:nvSpPr>
          <p:spPr>
            <a:xfrm>
              <a:off x="-428660" y="142852"/>
              <a:ext cx="9249132" cy="693860"/>
            </a:xfrm>
            <a:prstGeom prst="roundRect">
              <a:avLst/>
            </a:prstGeom>
            <a:solidFill>
              <a:srgbClr val="92D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16" name="Rectangle 9"/>
            <p:cNvSpPr txBox="1">
              <a:spLocks noChangeArrowheads="1"/>
            </p:cNvSpPr>
            <p:nvPr/>
          </p:nvSpPr>
          <p:spPr>
            <a:xfrm>
              <a:off x="160688" y="273758"/>
              <a:ext cx="8070435" cy="490946"/>
            </a:xfrm>
            <a:prstGeom prst="rect">
              <a:avLst/>
            </a:prstGeom>
          </p:spPr>
          <p:txBody>
            <a:bodyPr vert="horz" lIns="91440" tIns="45720" rIns="91440" bIns="45720" rtlCol="0">
              <a:noAutofit/>
            </a:bodyPr>
            <a:lstStyle/>
            <a:p>
              <a:r>
                <a:rPr lang="es-AR" sz="2800" b="1" dirty="0">
                  <a:latin typeface="Arial Narrow" panose="020B0606020202030204" pitchFamily="34" charset="0"/>
                </a:rPr>
                <a:t>Datos  del Sistema Financiero para tener en cuenta</a:t>
              </a:r>
            </a:p>
          </p:txBody>
        </p:sp>
      </p:grpSp>
      <p:pic>
        <p:nvPicPr>
          <p:cNvPr id="2" name="Imagen 1">
            <a:extLst>
              <a:ext uri="{FF2B5EF4-FFF2-40B4-BE49-F238E27FC236}">
                <a16:creationId xmlns:a16="http://schemas.microsoft.com/office/drawing/2014/main" id="{418A906D-4103-4799-B178-875B6D165F14}"/>
              </a:ext>
            </a:extLst>
          </p:cNvPr>
          <p:cNvPicPr>
            <a:picLocks noChangeAspect="1"/>
          </p:cNvPicPr>
          <p:nvPr/>
        </p:nvPicPr>
        <p:blipFill>
          <a:blip r:embed="rId4"/>
          <a:stretch>
            <a:fillRect/>
          </a:stretch>
        </p:blipFill>
        <p:spPr>
          <a:xfrm>
            <a:off x="442912" y="1340768"/>
            <a:ext cx="8258175" cy="2114550"/>
          </a:xfrm>
          <a:prstGeom prst="rect">
            <a:avLst/>
          </a:prstGeom>
        </p:spPr>
      </p:pic>
      <p:pic>
        <p:nvPicPr>
          <p:cNvPr id="13" name="Imagen 12">
            <a:extLst>
              <a:ext uri="{FF2B5EF4-FFF2-40B4-BE49-F238E27FC236}">
                <a16:creationId xmlns:a16="http://schemas.microsoft.com/office/drawing/2014/main" id="{B7388773-0C79-4CDE-B346-A16C1BAEF445}"/>
              </a:ext>
            </a:extLst>
          </p:cNvPr>
          <p:cNvPicPr>
            <a:picLocks noChangeAspect="1"/>
          </p:cNvPicPr>
          <p:nvPr/>
        </p:nvPicPr>
        <p:blipFill>
          <a:blip r:embed="rId5"/>
          <a:stretch>
            <a:fillRect/>
          </a:stretch>
        </p:blipFill>
        <p:spPr>
          <a:xfrm>
            <a:off x="0" y="4308153"/>
            <a:ext cx="9144000" cy="921047"/>
          </a:xfrm>
          <a:prstGeom prst="rect">
            <a:avLst/>
          </a:prstGeom>
        </p:spPr>
      </p:pic>
    </p:spTree>
    <p:extLst>
      <p:ext uri="{BB962C8B-B14F-4D97-AF65-F5344CB8AC3E}">
        <p14:creationId xmlns:p14="http://schemas.microsoft.com/office/powerpoint/2010/main" val="260849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par>
                          <p:cTn id="8" fill="hold">
                            <p:stCondLst>
                              <p:cond delay="1000"/>
                            </p:stCondLst>
                            <p:childTnLst>
                              <p:par>
                                <p:cTn id="9" presetID="2" presetClass="entr" presetSubtype="4"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2500"/>
                            </p:stCondLst>
                            <p:childTnLst>
                              <p:par>
                                <p:cTn id="14" presetID="2" presetClass="entr" presetSubtype="4"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28</a:t>
            </a:fld>
            <a:endParaRPr lang="es-ES" sz="1200" b="1" dirty="0">
              <a:latin typeface="+mn-lt"/>
            </a:endParaRPr>
          </a:p>
        </p:txBody>
      </p:sp>
      <p:sp>
        <p:nvSpPr>
          <p:cNvPr id="3" name="Rectangle 2"/>
          <p:cNvSpPr>
            <a:spLocks noChangeArrowheads="1"/>
          </p:cNvSpPr>
          <p:nvPr/>
        </p:nvSpPr>
        <p:spPr bwMode="auto">
          <a:xfrm>
            <a:off x="-29118" y="-73186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dirty="0"/>
          </a:p>
        </p:txBody>
      </p:sp>
      <p:graphicFrame>
        <p:nvGraphicFramePr>
          <p:cNvPr id="6" name="Objeto 5"/>
          <p:cNvGraphicFramePr>
            <a:graphicFrameLocks noChangeAspect="1"/>
          </p:cNvGraphicFramePr>
          <p:nvPr/>
        </p:nvGraphicFramePr>
        <p:xfrm>
          <a:off x="-29118" y="-731868"/>
          <a:ext cx="1057275" cy="504825"/>
        </p:xfrm>
        <a:graphic>
          <a:graphicData uri="http://schemas.openxmlformats.org/presentationml/2006/ole">
            <mc:AlternateContent xmlns:mc="http://schemas.openxmlformats.org/markup-compatibility/2006">
              <mc:Choice xmlns:v="urn:schemas-microsoft-com:vml" Requires="v">
                <p:oleObj r:id="rId2" imgW="3629532" imgH="1724266" progId="">
                  <p:embed/>
                </p:oleObj>
              </mc:Choice>
              <mc:Fallback>
                <p:oleObj r:id="rId2" imgW="3629532" imgH="1724266" progId="">
                  <p:embed/>
                  <p:pic>
                    <p:nvPicPr>
                      <p:cNvPr id="6" name="Objeto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18" y="-731868"/>
                        <a:ext cx="105727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4048089" y="236497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dirty="0"/>
          </a:p>
        </p:txBody>
      </p:sp>
      <p:grpSp>
        <p:nvGrpSpPr>
          <p:cNvPr id="14" name="Grupo 13"/>
          <p:cNvGrpSpPr/>
          <p:nvPr/>
        </p:nvGrpSpPr>
        <p:grpSpPr>
          <a:xfrm>
            <a:off x="-428660" y="142852"/>
            <a:ext cx="9249132" cy="693860"/>
            <a:chOff x="-428660" y="142852"/>
            <a:chExt cx="9249132" cy="693860"/>
          </a:xfrm>
        </p:grpSpPr>
        <p:sp>
          <p:nvSpPr>
            <p:cNvPr id="15" name="3 Rectángulo redondeado"/>
            <p:cNvSpPr/>
            <p:nvPr/>
          </p:nvSpPr>
          <p:spPr>
            <a:xfrm>
              <a:off x="-428660" y="142852"/>
              <a:ext cx="9249132" cy="693860"/>
            </a:xfrm>
            <a:prstGeom prst="roundRect">
              <a:avLst/>
            </a:prstGeom>
            <a:solidFill>
              <a:srgbClr val="92D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16" name="Rectangle 9"/>
            <p:cNvSpPr txBox="1">
              <a:spLocks noChangeArrowheads="1"/>
            </p:cNvSpPr>
            <p:nvPr/>
          </p:nvSpPr>
          <p:spPr>
            <a:xfrm>
              <a:off x="160688" y="273758"/>
              <a:ext cx="8070435" cy="490946"/>
            </a:xfrm>
            <a:prstGeom prst="rect">
              <a:avLst/>
            </a:prstGeom>
          </p:spPr>
          <p:txBody>
            <a:bodyPr vert="horz" lIns="91440" tIns="45720" rIns="91440" bIns="45720" rtlCol="0">
              <a:noAutofit/>
            </a:bodyPr>
            <a:lstStyle/>
            <a:p>
              <a:r>
                <a:rPr lang="es-AR" sz="2800" b="1" dirty="0">
                  <a:latin typeface="Arial Narrow" panose="020B0606020202030204" pitchFamily="34" charset="0"/>
                </a:rPr>
                <a:t>Datos  del Sistema Financiero para tener en cuenta</a:t>
              </a:r>
            </a:p>
          </p:txBody>
        </p:sp>
      </p:grpSp>
      <p:pic>
        <p:nvPicPr>
          <p:cNvPr id="2" name="Imagen 1">
            <a:extLst>
              <a:ext uri="{FF2B5EF4-FFF2-40B4-BE49-F238E27FC236}">
                <a16:creationId xmlns:a16="http://schemas.microsoft.com/office/drawing/2014/main" id="{44FFB80D-06CE-426C-8C92-6DCCDC31FFF5}"/>
              </a:ext>
            </a:extLst>
          </p:cNvPr>
          <p:cNvPicPr>
            <a:picLocks noChangeAspect="1"/>
          </p:cNvPicPr>
          <p:nvPr/>
        </p:nvPicPr>
        <p:blipFill>
          <a:blip r:embed="rId4"/>
          <a:stretch>
            <a:fillRect/>
          </a:stretch>
        </p:blipFill>
        <p:spPr>
          <a:xfrm>
            <a:off x="4762" y="1700808"/>
            <a:ext cx="9134475" cy="1314450"/>
          </a:xfrm>
          <a:prstGeom prst="rect">
            <a:avLst/>
          </a:prstGeom>
        </p:spPr>
      </p:pic>
      <p:pic>
        <p:nvPicPr>
          <p:cNvPr id="4" name="Imagen 3">
            <a:extLst>
              <a:ext uri="{FF2B5EF4-FFF2-40B4-BE49-F238E27FC236}">
                <a16:creationId xmlns:a16="http://schemas.microsoft.com/office/drawing/2014/main" id="{5341C109-2E4B-4114-8607-02E5D4C6F792}"/>
              </a:ext>
            </a:extLst>
          </p:cNvPr>
          <p:cNvPicPr>
            <a:picLocks noChangeAspect="1"/>
          </p:cNvPicPr>
          <p:nvPr/>
        </p:nvPicPr>
        <p:blipFill>
          <a:blip r:embed="rId5"/>
          <a:stretch>
            <a:fillRect/>
          </a:stretch>
        </p:blipFill>
        <p:spPr>
          <a:xfrm>
            <a:off x="940344" y="4033242"/>
            <a:ext cx="7439025" cy="1123950"/>
          </a:xfrm>
          <a:prstGeom prst="rect">
            <a:avLst/>
          </a:prstGeom>
        </p:spPr>
      </p:pic>
    </p:spTree>
    <p:extLst>
      <p:ext uri="{BB962C8B-B14F-4D97-AF65-F5344CB8AC3E}">
        <p14:creationId xmlns:p14="http://schemas.microsoft.com/office/powerpoint/2010/main" val="2043870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par>
                          <p:cTn id="8" fill="hold">
                            <p:stCondLst>
                              <p:cond delay="1000"/>
                            </p:stCondLst>
                            <p:childTnLst>
                              <p:par>
                                <p:cTn id="9" presetID="2" presetClass="entr" presetSubtype="4"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2500"/>
                            </p:stCondLst>
                            <p:childTnLst>
                              <p:par>
                                <p:cTn id="14" presetID="2" presetClass="entr" presetSubtype="4"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29</a:t>
            </a:fld>
            <a:endParaRPr lang="es-ES" sz="1200" b="1" dirty="0">
              <a:latin typeface="+mn-lt"/>
            </a:endParaRPr>
          </a:p>
        </p:txBody>
      </p:sp>
      <p:sp>
        <p:nvSpPr>
          <p:cNvPr id="3" name="Rectangle 2"/>
          <p:cNvSpPr>
            <a:spLocks noChangeArrowheads="1"/>
          </p:cNvSpPr>
          <p:nvPr/>
        </p:nvSpPr>
        <p:spPr bwMode="auto">
          <a:xfrm>
            <a:off x="-29118" y="-73186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dirty="0"/>
          </a:p>
        </p:txBody>
      </p:sp>
      <p:graphicFrame>
        <p:nvGraphicFramePr>
          <p:cNvPr id="6" name="Objeto 5"/>
          <p:cNvGraphicFramePr>
            <a:graphicFrameLocks noChangeAspect="1"/>
          </p:cNvGraphicFramePr>
          <p:nvPr/>
        </p:nvGraphicFramePr>
        <p:xfrm>
          <a:off x="-29118" y="-731868"/>
          <a:ext cx="1057275" cy="504825"/>
        </p:xfrm>
        <a:graphic>
          <a:graphicData uri="http://schemas.openxmlformats.org/presentationml/2006/ole">
            <mc:AlternateContent xmlns:mc="http://schemas.openxmlformats.org/markup-compatibility/2006">
              <mc:Choice xmlns:v="urn:schemas-microsoft-com:vml" Requires="v">
                <p:oleObj r:id="rId2" imgW="3629532" imgH="1724266" progId="">
                  <p:embed/>
                </p:oleObj>
              </mc:Choice>
              <mc:Fallback>
                <p:oleObj r:id="rId2" imgW="3629532" imgH="1724266" progId="">
                  <p:embed/>
                  <p:pic>
                    <p:nvPicPr>
                      <p:cNvPr id="6" name="Objeto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18" y="-731868"/>
                        <a:ext cx="105727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4048089" y="236497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dirty="0"/>
          </a:p>
        </p:txBody>
      </p:sp>
      <p:grpSp>
        <p:nvGrpSpPr>
          <p:cNvPr id="14" name="Grupo 13"/>
          <p:cNvGrpSpPr/>
          <p:nvPr/>
        </p:nvGrpSpPr>
        <p:grpSpPr>
          <a:xfrm>
            <a:off x="-428660" y="142852"/>
            <a:ext cx="9249132" cy="693860"/>
            <a:chOff x="-428660" y="142852"/>
            <a:chExt cx="9249132" cy="693860"/>
          </a:xfrm>
        </p:grpSpPr>
        <p:sp>
          <p:nvSpPr>
            <p:cNvPr id="15" name="3 Rectángulo redondeado"/>
            <p:cNvSpPr/>
            <p:nvPr/>
          </p:nvSpPr>
          <p:spPr>
            <a:xfrm>
              <a:off x="-428660" y="142852"/>
              <a:ext cx="9249132" cy="693860"/>
            </a:xfrm>
            <a:prstGeom prst="roundRect">
              <a:avLst/>
            </a:prstGeom>
            <a:solidFill>
              <a:srgbClr val="92D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16" name="Rectangle 9"/>
            <p:cNvSpPr txBox="1">
              <a:spLocks noChangeArrowheads="1"/>
            </p:cNvSpPr>
            <p:nvPr/>
          </p:nvSpPr>
          <p:spPr>
            <a:xfrm>
              <a:off x="160688" y="273758"/>
              <a:ext cx="8070435" cy="490946"/>
            </a:xfrm>
            <a:prstGeom prst="rect">
              <a:avLst/>
            </a:prstGeom>
          </p:spPr>
          <p:txBody>
            <a:bodyPr vert="horz" lIns="91440" tIns="45720" rIns="91440" bIns="45720" rtlCol="0">
              <a:noAutofit/>
            </a:bodyPr>
            <a:lstStyle/>
            <a:p>
              <a:r>
                <a:rPr lang="es-AR" sz="2800" b="1" dirty="0">
                  <a:latin typeface="Arial Narrow" panose="020B0606020202030204" pitchFamily="34" charset="0"/>
                </a:rPr>
                <a:t>Datos  del Sistema Financiero para tener en cuenta</a:t>
              </a:r>
            </a:p>
          </p:txBody>
        </p:sp>
      </p:grpSp>
      <p:pic>
        <p:nvPicPr>
          <p:cNvPr id="2" name="Imagen 1">
            <a:extLst>
              <a:ext uri="{FF2B5EF4-FFF2-40B4-BE49-F238E27FC236}">
                <a16:creationId xmlns:a16="http://schemas.microsoft.com/office/drawing/2014/main" id="{B07C74C9-26FE-4376-BADE-03601842DCD3}"/>
              </a:ext>
            </a:extLst>
          </p:cNvPr>
          <p:cNvPicPr>
            <a:picLocks noChangeAspect="1"/>
          </p:cNvPicPr>
          <p:nvPr/>
        </p:nvPicPr>
        <p:blipFill>
          <a:blip r:embed="rId4"/>
          <a:stretch>
            <a:fillRect/>
          </a:stretch>
        </p:blipFill>
        <p:spPr>
          <a:xfrm>
            <a:off x="219075" y="2132856"/>
            <a:ext cx="8705850" cy="2076450"/>
          </a:xfrm>
          <a:prstGeom prst="rect">
            <a:avLst/>
          </a:prstGeom>
        </p:spPr>
      </p:pic>
    </p:spTree>
    <p:extLst>
      <p:ext uri="{BB962C8B-B14F-4D97-AF65-F5344CB8AC3E}">
        <p14:creationId xmlns:p14="http://schemas.microsoft.com/office/powerpoint/2010/main" val="9588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par>
                          <p:cTn id="8" fill="hold">
                            <p:stCondLst>
                              <p:cond delay="1000"/>
                            </p:stCondLst>
                            <p:childTnLst>
                              <p:par>
                                <p:cTn id="9" presetID="2" presetClass="entr" presetSubtype="4"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30</a:t>
            </a:fld>
            <a:endParaRPr lang="es-ES" sz="1200" b="1" dirty="0">
              <a:latin typeface="+mn-lt"/>
            </a:endParaRPr>
          </a:p>
        </p:txBody>
      </p:sp>
      <p:sp>
        <p:nvSpPr>
          <p:cNvPr id="3" name="Rectangle 2"/>
          <p:cNvSpPr>
            <a:spLocks noChangeArrowheads="1"/>
          </p:cNvSpPr>
          <p:nvPr/>
        </p:nvSpPr>
        <p:spPr bwMode="auto">
          <a:xfrm>
            <a:off x="-29118" y="-73186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dirty="0"/>
          </a:p>
        </p:txBody>
      </p:sp>
      <p:graphicFrame>
        <p:nvGraphicFramePr>
          <p:cNvPr id="6" name="Objeto 5"/>
          <p:cNvGraphicFramePr>
            <a:graphicFrameLocks noChangeAspect="1"/>
          </p:cNvGraphicFramePr>
          <p:nvPr/>
        </p:nvGraphicFramePr>
        <p:xfrm>
          <a:off x="-29118" y="-731868"/>
          <a:ext cx="1057275" cy="504825"/>
        </p:xfrm>
        <a:graphic>
          <a:graphicData uri="http://schemas.openxmlformats.org/presentationml/2006/ole">
            <mc:AlternateContent xmlns:mc="http://schemas.openxmlformats.org/markup-compatibility/2006">
              <mc:Choice xmlns:v="urn:schemas-microsoft-com:vml" Requires="v">
                <p:oleObj r:id="rId2" imgW="3629532" imgH="1724266" progId="">
                  <p:embed/>
                </p:oleObj>
              </mc:Choice>
              <mc:Fallback>
                <p:oleObj r:id="rId2" imgW="3629532" imgH="1724266" progId="">
                  <p:embed/>
                  <p:pic>
                    <p:nvPicPr>
                      <p:cNvPr id="6" name="Objeto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18" y="-731868"/>
                        <a:ext cx="105727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4048089" y="236497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dirty="0"/>
          </a:p>
        </p:txBody>
      </p:sp>
      <p:grpSp>
        <p:nvGrpSpPr>
          <p:cNvPr id="14" name="Grupo 13"/>
          <p:cNvGrpSpPr/>
          <p:nvPr/>
        </p:nvGrpSpPr>
        <p:grpSpPr>
          <a:xfrm>
            <a:off x="-428660" y="142852"/>
            <a:ext cx="9249132" cy="693860"/>
            <a:chOff x="-428660" y="142852"/>
            <a:chExt cx="9249132" cy="693860"/>
          </a:xfrm>
        </p:grpSpPr>
        <p:sp>
          <p:nvSpPr>
            <p:cNvPr id="15" name="3 Rectángulo redondeado"/>
            <p:cNvSpPr/>
            <p:nvPr/>
          </p:nvSpPr>
          <p:spPr>
            <a:xfrm>
              <a:off x="-428660" y="142852"/>
              <a:ext cx="9249132" cy="693860"/>
            </a:xfrm>
            <a:prstGeom prst="roundRect">
              <a:avLst/>
            </a:prstGeom>
            <a:solidFill>
              <a:srgbClr val="92D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16" name="Rectangle 9"/>
            <p:cNvSpPr txBox="1">
              <a:spLocks noChangeArrowheads="1"/>
            </p:cNvSpPr>
            <p:nvPr/>
          </p:nvSpPr>
          <p:spPr>
            <a:xfrm>
              <a:off x="160688" y="273758"/>
              <a:ext cx="8070435" cy="490946"/>
            </a:xfrm>
            <a:prstGeom prst="rect">
              <a:avLst/>
            </a:prstGeom>
          </p:spPr>
          <p:txBody>
            <a:bodyPr vert="horz" lIns="91440" tIns="45720" rIns="91440" bIns="45720" rtlCol="0">
              <a:noAutofit/>
            </a:bodyPr>
            <a:lstStyle/>
            <a:p>
              <a:r>
                <a:rPr lang="es-AR" sz="2800" b="1" dirty="0">
                  <a:latin typeface="Arial Narrow" panose="020B0606020202030204" pitchFamily="34" charset="0"/>
                </a:rPr>
                <a:t>Datos  del Sistema Financiero para tener en cuenta</a:t>
              </a:r>
            </a:p>
          </p:txBody>
        </p:sp>
      </p:grpSp>
      <p:pic>
        <p:nvPicPr>
          <p:cNvPr id="2" name="Imagen 1">
            <a:extLst>
              <a:ext uri="{FF2B5EF4-FFF2-40B4-BE49-F238E27FC236}">
                <a16:creationId xmlns:a16="http://schemas.microsoft.com/office/drawing/2014/main" id="{B0380513-A742-4635-AB3F-0D6E29F4917E}"/>
              </a:ext>
            </a:extLst>
          </p:cNvPr>
          <p:cNvPicPr>
            <a:picLocks noChangeAspect="1"/>
          </p:cNvPicPr>
          <p:nvPr/>
        </p:nvPicPr>
        <p:blipFill>
          <a:blip r:embed="rId4"/>
          <a:stretch>
            <a:fillRect/>
          </a:stretch>
        </p:blipFill>
        <p:spPr>
          <a:xfrm>
            <a:off x="266700" y="2636912"/>
            <a:ext cx="8610600" cy="1390650"/>
          </a:xfrm>
          <a:prstGeom prst="rect">
            <a:avLst/>
          </a:prstGeom>
        </p:spPr>
      </p:pic>
    </p:spTree>
    <p:extLst>
      <p:ext uri="{BB962C8B-B14F-4D97-AF65-F5344CB8AC3E}">
        <p14:creationId xmlns:p14="http://schemas.microsoft.com/office/powerpoint/2010/main" val="881977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par>
                                <p:cTn id="8" presetID="1" presetClass="entr" presetSubtype="0" fill="hold" nodeType="withEffect">
                                  <p:stCondLst>
                                    <p:cond delay="100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D6C57-2543-61B6-63A6-D36D98A99D4D}"/>
            </a:ext>
          </a:extLst>
        </p:cNvPr>
        <p:cNvGrpSpPr/>
        <p:nvPr/>
      </p:nvGrpSpPr>
      <p:grpSpPr>
        <a:xfrm>
          <a:off x="0" y="0"/>
          <a:ext cx="0" cy="0"/>
          <a:chOff x="0" y="0"/>
          <a:chExt cx="0" cy="0"/>
        </a:xfrm>
      </p:grpSpPr>
      <p:sp>
        <p:nvSpPr>
          <p:cNvPr id="9" name="4 Marcador de número de diapositiva">
            <a:extLst>
              <a:ext uri="{FF2B5EF4-FFF2-40B4-BE49-F238E27FC236}">
                <a16:creationId xmlns:a16="http://schemas.microsoft.com/office/drawing/2014/main" id="{20720C43-D321-C271-6F93-EC9B51431746}"/>
              </a:ext>
            </a:extLst>
          </p:cNvPr>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31</a:t>
            </a:fld>
            <a:endParaRPr lang="es-ES" sz="1200" b="1" dirty="0">
              <a:latin typeface="+mn-lt"/>
            </a:endParaRPr>
          </a:p>
        </p:txBody>
      </p:sp>
      <p:sp>
        <p:nvSpPr>
          <p:cNvPr id="3" name="Rectangle 2">
            <a:extLst>
              <a:ext uri="{FF2B5EF4-FFF2-40B4-BE49-F238E27FC236}">
                <a16:creationId xmlns:a16="http://schemas.microsoft.com/office/drawing/2014/main" id="{97755660-53DB-D621-3573-6186655D7743}"/>
              </a:ext>
            </a:extLst>
          </p:cNvPr>
          <p:cNvSpPr>
            <a:spLocks noChangeArrowheads="1"/>
          </p:cNvSpPr>
          <p:nvPr/>
        </p:nvSpPr>
        <p:spPr bwMode="auto">
          <a:xfrm>
            <a:off x="-29118" y="-73186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dirty="0"/>
          </a:p>
        </p:txBody>
      </p:sp>
      <p:graphicFrame>
        <p:nvGraphicFramePr>
          <p:cNvPr id="6" name="Objeto 5">
            <a:extLst>
              <a:ext uri="{FF2B5EF4-FFF2-40B4-BE49-F238E27FC236}">
                <a16:creationId xmlns:a16="http://schemas.microsoft.com/office/drawing/2014/main" id="{993D3604-296E-16C9-1ECF-C3589FA85C1B}"/>
              </a:ext>
            </a:extLst>
          </p:cNvPr>
          <p:cNvGraphicFramePr>
            <a:graphicFrameLocks noChangeAspect="1"/>
          </p:cNvGraphicFramePr>
          <p:nvPr/>
        </p:nvGraphicFramePr>
        <p:xfrm>
          <a:off x="-29118" y="-731868"/>
          <a:ext cx="1057275" cy="504825"/>
        </p:xfrm>
        <a:graphic>
          <a:graphicData uri="http://schemas.openxmlformats.org/presentationml/2006/ole">
            <mc:AlternateContent xmlns:mc="http://schemas.openxmlformats.org/markup-compatibility/2006">
              <mc:Choice xmlns:v="urn:schemas-microsoft-com:vml" Requires="v">
                <p:oleObj r:id="rId2" imgW="3629532" imgH="1724266" progId="">
                  <p:embed/>
                </p:oleObj>
              </mc:Choice>
              <mc:Fallback>
                <p:oleObj r:id="rId2" imgW="3629532" imgH="1724266" progId="">
                  <p:embed/>
                  <p:pic>
                    <p:nvPicPr>
                      <p:cNvPr id="6" name="Objeto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18" y="-731868"/>
                        <a:ext cx="105727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a:extLst>
              <a:ext uri="{FF2B5EF4-FFF2-40B4-BE49-F238E27FC236}">
                <a16:creationId xmlns:a16="http://schemas.microsoft.com/office/drawing/2014/main" id="{F0D64B95-AD5D-194B-8E06-AB105871DC31}"/>
              </a:ext>
            </a:extLst>
          </p:cNvPr>
          <p:cNvSpPr>
            <a:spLocks noChangeArrowheads="1"/>
          </p:cNvSpPr>
          <p:nvPr/>
        </p:nvSpPr>
        <p:spPr bwMode="auto">
          <a:xfrm>
            <a:off x="4048089" y="236497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dirty="0"/>
          </a:p>
        </p:txBody>
      </p:sp>
      <p:grpSp>
        <p:nvGrpSpPr>
          <p:cNvPr id="14" name="Grupo 13">
            <a:extLst>
              <a:ext uri="{FF2B5EF4-FFF2-40B4-BE49-F238E27FC236}">
                <a16:creationId xmlns:a16="http://schemas.microsoft.com/office/drawing/2014/main" id="{1D410E63-CAFA-BC30-C842-DB2F3490CB8A}"/>
              </a:ext>
            </a:extLst>
          </p:cNvPr>
          <p:cNvGrpSpPr/>
          <p:nvPr/>
        </p:nvGrpSpPr>
        <p:grpSpPr>
          <a:xfrm>
            <a:off x="-428660" y="142852"/>
            <a:ext cx="9249132" cy="693860"/>
            <a:chOff x="-428660" y="142852"/>
            <a:chExt cx="9249132" cy="693860"/>
          </a:xfrm>
        </p:grpSpPr>
        <p:sp>
          <p:nvSpPr>
            <p:cNvPr id="15" name="3 Rectángulo redondeado">
              <a:extLst>
                <a:ext uri="{FF2B5EF4-FFF2-40B4-BE49-F238E27FC236}">
                  <a16:creationId xmlns:a16="http://schemas.microsoft.com/office/drawing/2014/main" id="{77061986-A2A9-EEE4-BCC9-DAABB41E37DF}"/>
                </a:ext>
              </a:extLst>
            </p:cNvPr>
            <p:cNvSpPr/>
            <p:nvPr/>
          </p:nvSpPr>
          <p:spPr>
            <a:xfrm>
              <a:off x="-428660" y="142852"/>
              <a:ext cx="9249132" cy="693860"/>
            </a:xfrm>
            <a:prstGeom prst="roundRect">
              <a:avLst/>
            </a:prstGeom>
            <a:solidFill>
              <a:srgbClr val="92D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16" name="Rectangle 9">
              <a:extLst>
                <a:ext uri="{FF2B5EF4-FFF2-40B4-BE49-F238E27FC236}">
                  <a16:creationId xmlns:a16="http://schemas.microsoft.com/office/drawing/2014/main" id="{EA6C85DC-DBC9-3835-AB0B-E549A1DE386F}"/>
                </a:ext>
              </a:extLst>
            </p:cNvPr>
            <p:cNvSpPr txBox="1">
              <a:spLocks noChangeArrowheads="1"/>
            </p:cNvSpPr>
            <p:nvPr/>
          </p:nvSpPr>
          <p:spPr>
            <a:xfrm>
              <a:off x="160688" y="273758"/>
              <a:ext cx="8070435" cy="490946"/>
            </a:xfrm>
            <a:prstGeom prst="rect">
              <a:avLst/>
            </a:prstGeom>
          </p:spPr>
          <p:txBody>
            <a:bodyPr vert="horz" lIns="91440" tIns="45720" rIns="91440" bIns="45720" rtlCol="0">
              <a:noAutofit/>
            </a:bodyPr>
            <a:lstStyle/>
            <a:p>
              <a:r>
                <a:rPr lang="es-AR" sz="2800" b="1" dirty="0">
                  <a:latin typeface="Arial Narrow" panose="020B0606020202030204" pitchFamily="34" charset="0"/>
                </a:rPr>
                <a:t>Datos  del Sistema Financiero para tener en cuenta</a:t>
              </a:r>
            </a:p>
          </p:txBody>
        </p:sp>
      </p:grpSp>
      <p:pic>
        <p:nvPicPr>
          <p:cNvPr id="4" name="Imagen 3">
            <a:extLst>
              <a:ext uri="{FF2B5EF4-FFF2-40B4-BE49-F238E27FC236}">
                <a16:creationId xmlns:a16="http://schemas.microsoft.com/office/drawing/2014/main" id="{551933F9-7220-6C13-9DE7-A46766777FAC}"/>
              </a:ext>
            </a:extLst>
          </p:cNvPr>
          <p:cNvPicPr>
            <a:picLocks noChangeAspect="1"/>
          </p:cNvPicPr>
          <p:nvPr/>
        </p:nvPicPr>
        <p:blipFill>
          <a:blip r:embed="rId4"/>
          <a:stretch>
            <a:fillRect/>
          </a:stretch>
        </p:blipFill>
        <p:spPr>
          <a:xfrm>
            <a:off x="0" y="1594827"/>
            <a:ext cx="9144000" cy="3668346"/>
          </a:xfrm>
          <a:prstGeom prst="rect">
            <a:avLst/>
          </a:prstGeom>
        </p:spPr>
      </p:pic>
    </p:spTree>
    <p:extLst>
      <p:ext uri="{BB962C8B-B14F-4D97-AF65-F5344CB8AC3E}">
        <p14:creationId xmlns:p14="http://schemas.microsoft.com/office/powerpoint/2010/main" val="3151856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32</a:t>
            </a:fld>
            <a:endParaRPr lang="es-ES" sz="1200" b="1" dirty="0">
              <a:latin typeface="+mn-lt"/>
            </a:endParaRPr>
          </a:p>
        </p:txBody>
      </p:sp>
      <p:sp>
        <p:nvSpPr>
          <p:cNvPr id="7" name="Text Box 3"/>
          <p:cNvSpPr txBox="1">
            <a:spLocks noChangeArrowheads="1"/>
          </p:cNvSpPr>
          <p:nvPr/>
        </p:nvSpPr>
        <p:spPr bwMode="auto">
          <a:xfrm>
            <a:off x="683601" y="464936"/>
            <a:ext cx="7776797" cy="584775"/>
          </a:xfrm>
          <a:prstGeom prst="rect">
            <a:avLst/>
          </a:prstGeom>
          <a:solidFill>
            <a:schemeClr val="tx2">
              <a:lumMod val="60000"/>
              <a:lumOff val="40000"/>
            </a:schemeClr>
          </a:solidFill>
          <a:ln w="9525" algn="ctr">
            <a:noFill/>
            <a:miter lim="800000"/>
            <a:headEnd/>
            <a:tailEnd/>
          </a:ln>
          <a:effectLst/>
        </p:spPr>
        <p:txBody>
          <a:bodyPr wrap="square">
            <a:spAutoFit/>
          </a:bodyPr>
          <a:lstStyle>
            <a:defPPr>
              <a:defRPr lang="es-AR"/>
            </a:defPPr>
            <a:lvl1pPr algn="ctr">
              <a:spcBef>
                <a:spcPct val="50000"/>
              </a:spcBef>
              <a:buClr>
                <a:srgbClr val="CC1204"/>
              </a:buClr>
              <a:defRPr b="1">
                <a:solidFill>
                  <a:srgbClr val="FFFFFF"/>
                </a:solidFill>
              </a:defRPr>
            </a:lvl1pPr>
          </a:lstStyle>
          <a:p>
            <a:r>
              <a:rPr lang="es-AR" sz="3200" dirty="0">
                <a:effectLst>
                  <a:outerShdw blurRad="38100" dist="38100" dir="2700000" algn="tl">
                    <a:srgbClr val="000000">
                      <a:alpha val="43137"/>
                    </a:srgbClr>
                  </a:outerShdw>
                </a:effectLst>
              </a:rPr>
              <a:t>Y ahora.. ¡A trabajar!</a:t>
            </a:r>
            <a:endParaRPr lang="es-ES" sz="3200" dirty="0">
              <a:effectLst>
                <a:outerShdw blurRad="38100" dist="38100" dir="2700000" algn="tl">
                  <a:srgbClr val="000000">
                    <a:alpha val="43137"/>
                  </a:srgbClr>
                </a:outerShdw>
              </a:effectLst>
            </a:endParaRPr>
          </a:p>
        </p:txBody>
      </p:sp>
      <p:sp>
        <p:nvSpPr>
          <p:cNvPr id="8" name="Text Box 3"/>
          <p:cNvSpPr txBox="1">
            <a:spLocks noChangeArrowheads="1"/>
          </p:cNvSpPr>
          <p:nvPr/>
        </p:nvSpPr>
        <p:spPr bwMode="auto">
          <a:xfrm>
            <a:off x="5811064" y="5928635"/>
            <a:ext cx="3034790" cy="584775"/>
          </a:xfrm>
          <a:prstGeom prst="rect">
            <a:avLst/>
          </a:prstGeom>
          <a:solidFill>
            <a:schemeClr val="tx2">
              <a:lumMod val="60000"/>
              <a:lumOff val="40000"/>
            </a:schemeClr>
          </a:solidFill>
          <a:ln w="9525" algn="ctr">
            <a:noFill/>
            <a:miter lim="800000"/>
            <a:headEnd/>
            <a:tailEnd/>
          </a:ln>
          <a:effectLst/>
        </p:spPr>
        <p:txBody>
          <a:bodyPr wrap="square">
            <a:spAutoFit/>
          </a:bodyPr>
          <a:lstStyle>
            <a:defPPr>
              <a:defRPr lang="es-AR"/>
            </a:defPPr>
            <a:lvl1pPr algn="ctr">
              <a:spcBef>
                <a:spcPct val="50000"/>
              </a:spcBef>
              <a:buClr>
                <a:srgbClr val="CC1204"/>
              </a:buClr>
              <a:defRPr b="1">
                <a:solidFill>
                  <a:srgbClr val="FFFFFF"/>
                </a:solidFill>
              </a:defRPr>
            </a:lvl1pPr>
          </a:lstStyle>
          <a:p>
            <a:r>
              <a:rPr lang="es-AR" sz="3200" dirty="0">
                <a:effectLst>
                  <a:outerShdw blurRad="38100" dist="38100" dir="2700000" algn="tl">
                    <a:srgbClr val="000000">
                      <a:alpha val="43137"/>
                    </a:srgbClr>
                  </a:outerShdw>
                </a:effectLst>
              </a:rPr>
              <a:t>Actividad 2</a:t>
            </a:r>
            <a:endParaRPr lang="es-ES" sz="3200" dirty="0">
              <a:effectLst>
                <a:outerShdw blurRad="38100" dist="38100" dir="2700000" algn="tl">
                  <a:srgbClr val="000000">
                    <a:alpha val="43137"/>
                  </a:srgbClr>
                </a:outerShdw>
              </a:effectLst>
            </a:endParaRPr>
          </a:p>
        </p:txBody>
      </p:sp>
      <p:pic>
        <p:nvPicPr>
          <p:cNvPr id="4" name="Imagen 3">
            <a:extLst>
              <a:ext uri="{FF2B5EF4-FFF2-40B4-BE49-F238E27FC236}">
                <a16:creationId xmlns:a16="http://schemas.microsoft.com/office/drawing/2014/main" id="{6E72CCF2-2CF7-4F67-A828-B20CAAD32FE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27584" y="1293168"/>
            <a:ext cx="5852368" cy="4389276"/>
          </a:xfrm>
          <a:prstGeom prst="rect">
            <a:avLst/>
          </a:prstGeom>
        </p:spPr>
      </p:pic>
    </p:spTree>
    <p:extLst>
      <p:ext uri="{BB962C8B-B14F-4D97-AF65-F5344CB8AC3E}">
        <p14:creationId xmlns:p14="http://schemas.microsoft.com/office/powerpoint/2010/main" val="303944034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1372</TotalTime>
  <Words>1012</Words>
  <Application>Microsoft Office PowerPoint</Application>
  <PresentationFormat>Presentación en pantalla (4:3)</PresentationFormat>
  <Paragraphs>119</Paragraphs>
  <Slides>32</Slides>
  <Notes>1</Notes>
  <HiddenSlides>0</HiddenSlides>
  <MMClips>0</MMClips>
  <ScaleCrop>false</ScaleCrop>
  <HeadingPairs>
    <vt:vector size="8" baseType="variant">
      <vt:variant>
        <vt:lpstr>Fuentes usadas</vt:lpstr>
      </vt:variant>
      <vt:variant>
        <vt:i4>4</vt:i4>
      </vt:variant>
      <vt:variant>
        <vt:lpstr>Tema</vt:lpstr>
      </vt:variant>
      <vt:variant>
        <vt:i4>1</vt:i4>
      </vt:variant>
      <vt:variant>
        <vt:lpstr>Servidores OLE incrustados</vt:lpstr>
      </vt:variant>
      <vt:variant>
        <vt:i4>0</vt:i4>
      </vt:variant>
      <vt:variant>
        <vt:lpstr>Títulos de diapositiva</vt:lpstr>
      </vt:variant>
      <vt:variant>
        <vt:i4>32</vt:i4>
      </vt:variant>
    </vt:vector>
  </HeadingPairs>
  <TitlesOfParts>
    <vt:vector size="37" baseType="lpstr">
      <vt:lpstr>Arial</vt:lpstr>
      <vt:lpstr>Arial Narrow</vt:lpstr>
      <vt:lpstr>Calibri</vt:lpstr>
      <vt:lpstr>TheSansCorrespondence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Jacinto Gonzalez</dc:creator>
  <cp:lastModifiedBy>user</cp:lastModifiedBy>
  <cp:revision>61</cp:revision>
  <cp:lastPrinted>2020-05-04T20:05:12Z</cp:lastPrinted>
  <dcterms:created xsi:type="dcterms:W3CDTF">2020-05-01T01:03:00Z</dcterms:created>
  <dcterms:modified xsi:type="dcterms:W3CDTF">2026-07-25T19:05:04Z</dcterms:modified>
</cp:coreProperties>
</file>